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0:00. This slide sits on the screen while people arrive; do not start talking until the room is at the Deploy Button on the Land slide. Six hours: five of class, one of live hacking in three twenty-minute sprints. Room path: Claude Desktop app, GitHub Desktop, a browser. No terminal. DECIDE BEFORE STAGE: date, venue, seat count, price, and whether lunch is inside the six hours (this deck assumes it is, 30 minutes at 2:45).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0:20–0:25. Keep it to a minute. The credential that matters today is that I have shipped the mistakes I am about to show you. Part One recap in one breath: what vibe coding is, brief the AI like a contractor, describe-look-react, GitHub plus Vercel for free. Today goes deeper on every one of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0:20–0:25. Say the money line out loud before anyone asks. The tool you leave with has no subscription to a builder. The AI you build it with is $20 a month while you use it, and a business site on Vercel is $20 a month by Vercel’s own rules. That is the whole bill, and it is less than any builder once you count what it costs to get your code out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0:20–0:25. Thirty seconds on this slide, no more. The shape: we build before we talk, we ship before the first break, the tool goes through a gate before lunch, and the afternoon makes it real with a database, an email, the bill, and a skill. The orange rows are live hacking: three twenty-minute sprints where you work on your own tool and I hack on mine on the projector. Sprint one is on a branch with no merge. Sprint two goes through the gate. Sprint three ships and demos. If lunch is outside the six hours at your venue, give those thirty minutes to sprints two and three, fifteen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0:20–0:25. Carpentries rules. Red and green stickies so I can see the state of the room from the front and nobody has to hold a hand up. Pairs: the more nervous person types, the confident one reads. One path: Claude Desktop app, GitHub Desktop, a browser. No terminal today. I will build live on the projector at about twice your speed, and my mistakes are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In practice this slide is up while people arrive. I budget the first twenty minutes for setup because it happens whether I plan for it or not, and the people who most needed the prework are the ones who did not get to it. The one thing I want by 0:20: every person owns a repository and a live URL. That is the whole day in miniature. The code landed in your account, not mine. Starter repo and Deploy Button link: create github.com/mrhinkle/unstuck-starter as a Template repo before the class, with spec.md, CLAUDE.md, AGENTS.md, .gitignore excluding .env.local, a placeholder tool page, and checkpoint branches, including checkpoint-5-database and checkpoint-6-email for the two afternoon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Helpers carry the triage card and stop after step three. Anyone failing the OS check goes straight to the browser and loses nothing, because every session at claude.ai/code clones their repo into a cloud machine and pushes a branch back to their GitHub. That is also a nice proof of ownership. Do not debug a laptop for more than five minutes in a full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0:25–0:40. Fifteen minutes, and it is deliberately a second setup window while helpers clear reds. The arc: the man who coined the term walked it back inside a year and picked a new word, engineering, with oversight as the defining idea. Feb 2 2025, the post: fully give in to the vibes, forget the code exists. Nov 6 2025, Collins word of the year. Feb 4 2026, he calls the original a shower-of-thoughts throwaway tweet and says his current favorite term is agentic engineering: you orchestrate agents and act as oversight. Apr 30 2026 at Sequoia: vibe coding raises the floor for everyone, agentic engineering preserves the quality bar. I am not here to talk you out of vibe coding. Part One got you a working thing. This is the other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0:25–0:40. Three numbers so nobody thinks this is a hobbyist thing. Lovable raised at $13.3 billion in August on $500 million of annualized revenue, 60 million projects. Replit at $9 billion in March. Wix paid about $80 million for Base44 when it was six months old and had one founder. Then the pivot: the same Lovable that is worth $13 billion told the researcher who found the CVE that security is the customer’s responsibility. Hold that 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0:25–0:40. Great for proof of concept, bad for production. The receipts, all primary sources. July 2025: Replit’s agent deleted a founder’s production database during a declared code freeze, records on more than 1,200 executives. The CEO called it unacceptable, and Replit’s docs now say the agent is not able to modify the production database. They changed their architecture because a non-engineer lost his data. May 2025: CVE on Lovable apps, 170 of 1,645 scanned, about one in ten, database open to anyone because a checkbox called row level security was off. Feb 2026: Moltbook, founder said he did not write a single line, 1.5 million API keys exposed, same checkbox. May 2026: RedAccess found about 5,000 of 380,000 vibe-coded apps leaking data, including pediatric records, with no exploit, just Google. Do NOT put the Tea app on this slide; that was a legacy Firebase bucket from before 2024 and Simon Willison is confident vibe coding was not to blame. If someone raises it,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0:25–0:40. Here is the number that kills “the next model will fix it.” Veracode, March 2026, 150-plus models, 80 tasks: 45 percent of AI-written code carries a known vulnerability when no security guidance is given. That number has not moved in two years. In the same two years, the code got dramatically better at simply running: roughly 50 percent to 95 percent syntactically correct. Better at working, not safer. The phrase that matters is “when no security guidance is given.” You are the guidance. That is what a spec, a test, and a skill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0:25–0:40. The vendors have told you, in writing, that the other half is your job. Lovable: customers are responsible for their application data. Replit’s CEO on 380,000 public apps: public apps being accessible on the internet is expected behavior. He is right. On a hosted builder, public is the default and the vendor calls that expected. On your own Vercel project you decide. So the lifecycle is not a nice-to-have. It is the part of the product they are not selling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0:25–0:40. The map for the day. Every way vibe-coded apps break in production has one plain practice that prevents it, and you will do every one of them on your own repo before you leave. Deleted database → every change on a branch, in GitHub, with a rollback. Silent bug → one test that runs on every push. Leaked key → environment variables, never the code. Vanished platform → your host, your domain; Google shut down its own vibe-coding IDE inside a year. Inconsistent AI → a skill file. Point at the strip at the bottom: spec, build, test, review, ship, monitor. It will be in the footer of every slide from here on, with the stage we are in lit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0:25–0:40. Six words. A spec says what to build. Build on a branch, never on the live site. Test with a check the machine can run. Review by a fresh reader, human or model, never the author. Ship by merging, with a rollback in reach. Monitor so you hear about the breakage before your customer does. That is a development lifecycle, and none of it needs a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0:40–1:00. In Part One you learned to brief the AI like a contractor. Now the brief lives in the repo, where the AI reads it every session, so you stop re-explaining your business every morning. GitHub open-sourced Spec Kit a year ago and their own words were: vibe coding is great for quick prototypes, less reliable for serious applications. The spec is, in their phrase, a binding contract for code behavior. Five headings. Plain English. Fifteen lines max. The last heading, how we know it works, becomes your test before lunch.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0:40–1:00. Scope rule: one screen, one form, one result. No login, no database today. That is the spreadsheet you brought. Plan mode is the discipline I skipped in Part One: make it tell you what it is going to do before it touches a file. Read the plan like a contractor’s quote. If the plan has more than one screen, cut it. Helpers: anyone whose spec has six screens gets cut down now, not in the build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1:00–1:25. Four words and you know GitHub. A repository is the folder and its whole history. A branch is a photocopy you can scribble on. A commit is a saved snapshot with a note. A pull request is asking to merge the photocopy back. You will never type a git command today. Claude runs them; you read what it did on github.com. GitHub Free is zero dollars, unlimited private repos, and 2,000 minutes a month of the test runner we use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1:00–1:25. This loop is the whole method from here on. Branch, pull request, preview URL, merge, live. And the arrow back: rollback. Vercel deploys every push and posts the preview as a comment on the pull request. The preview is the thing you never had in a builder: a copy of the app you can hand to someone before it is real. Only main gets the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1:00–1:25. Participatory live coding: I type this on the projector, you type it on yours, and we watch Claude make the branch, the commit, and the pull request. I go about twice your speed. When the PR exists, open it on github.com, wait for the Vercel bot comment, click Visit Preview. Then merge. By 1:25 everyone in this room has shipped a change to a production site in their own account. Whatever happens after the break, you have already done the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1:25–1:35. Two stickies each on the front table: one thing you learned, one thing that is still confusing. I read every one during the break and I will re-teach at 1:35 if half the room writes “what is a branch.” Helpers use the ten minutes to get any red sticky to a merged title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1:35–2:00. Here is where the day pays off. You have a repo, a live site, and a merge behind you, so you can afford to let the AI try things. The prompt is constrained on purpose: one page, the starter’s form and table, do not change anything else. That constraint is what keeps a room of fifteen from wandering into a room full of different messes. The plan you argued with in the spec block is the brief. The live-hacking sprint that follows is where they make it theirs, so hold the line on scope here. Fallback: anyone behind re-templates from checkpoint-2 and builds from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1:35–2:00. While Claude works on the projector, narrate. When it does something surprising, that is the lesson. Wrong file, an unrequested refactor, a broken build: I diagnose it out loud. Close the PR, roll back, point at plan mode. The real risk in this room is not the AI making a mistake. It is me going ten times your speed with slides instead of twice your speed with a keyboard.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2:00–2:20. First sprint. They have a working page on the my-tool branch and a preview URL; now it becomes theirs. Twenty minutes, their keyboard. I hack on my own tool on the projector at the same time and narrate only when something goes wrong, because that is the part they cannot get from a slide. Rules that matter: stay on the branch, one change per prompt, look at the preview before the next prompt, and if a change alters what the form does, spec.md changes first, because the test in the next block is written from the spec. Nobody merges. Helpers: anyone without a preview URL at 2:00 re-templates from checkpoint-3-tool and hacks from there. At 2:17 call time: commit and push whatever works; close the PR on anything that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2:20–2:45. Anthropic’s own line for working with Claude Code: give it a check it can run. Tests, a build, a screenshot. If you cannot verify it, do not ship it. Your spec already has the check: the last heading, how we know it works. That sentence becomes one automated test, and GitHub runs it on every push and every pull request, for free, whether or not you remember. That is most of what a development lifecycle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2:20–2:45. The check goes yellow, then green or red, on the my-tool PR you left open. If red, paste the failure to Claude and say fix the code so the test passes, do not change the test. That last clause matters: an AI will happily make a test pass by deleting the test. When it is green, merge. Now your tool is live, and it went live through a gate. If Playwright’s browser download stalls on the Wi-Fi, checkpoint-4-tests already has the test and the workflow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2:20–2:45. Now the part that makes the gate real. Break it on purpose. A branch called break-it that renames a form field label. Push, open the PR, and watch the red X. Do not merge. Close the PR. A red X on a pull request is the cheapest bug you will ever find. The red one you just made on purpose is what a production incident looks like when nobody has this. Everyone should have seen one green and one red on their own repo before lunch.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2:20–2:45. One more reason the check matters: code ages. In May 2026, Next.js, the framework almost every AI tool writes, shipped a high-severity fix for a login bypass in middleware. The advisory’s own workaround is to check login in the page, not only in middleware. On your own Vercel project, Vercel now refuses to deploy versions with a known-bad Next.js from the December 2025 advisory. A hosted sandbox may not. Monthly chore, on the calendar: ask Claude to run npm audit and update.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2:45–3:15. Thirty minutes. Every tool should be merged and live, and it went live through a green check. Anyone who is not merged eats with a helper: the first block after lunch rolls production back, and you cannot roll back what you have not shipped. Helpers: anyone without a merged my-tool gets checkpoint-4-tests. Read the break-one stickies again over lunch and decide whether the afternoon needs a five-minute re-teach at 3:15.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3:15–3:35. Rollback is the feature nobody in the builders showed you: one click and yesterday’s site is back. I want you to see it work on your own project. Three gotchas that strand beginners, all on the cheat sheet: the first deploy is always production; on the free Hobby plan Instant Rollback only reaches the immediately previous deployment, Pro reaches any; and after a rollback, new merges do not go live until you click Undo Rollback. The exercise includes the Undo step so nobody leaves with a frozen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3:15–3:35. Live demo, on MY deliberately broken demo repo, never a stranger’s app: open DevTools on the site, search the JavaScript for sk_ or supabase. There is the key, sitting in the browser where anyone can read it. Escape.tech did exactly this, read-only, across 5,600 live vibe-coded apps: 400-plus exposed secrets, 2,000-plus high-impact vulnerabilities, medical records, bank accounts. Where keys go instead: .env.local, which the starter already ignores, and Vercel environment variables, encrypted, scoped to Production, Preview, or Development, marked Sensitive. Leave your real keys in your password manager today; the exercise uses a placeholder.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3:15–3:35. Whoever wrote it does not review it. That rule holds for people and it holds for the model, so we ask a fresh Claude to read what the first one wrote. Slash code-review runs in a fresh session, reads the diff, and lists what it found. Fix the one that matches the bug your partner wrote on the sticky in the build block. And the line for the database you add in the next block: Supabase’s own docs say a table without Row Level Security is readable and writable by any role. That one checkbox is the Lovable CVE, Moltbook, and RedAccess. The prompt is in the next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3:35–4:05. Thirty minutes, the longest afternoon block, and the one that turns a demo into a tool. Until now the rows were the starter’s sample data and they vanish on refresh. The database is created from inside their own Vercel project, so the account, the data, and the bill are theirs. Neon is plain Postgres on a free tier that sleeps when idle and wakes on the next request. Vercel writes the connection string into the project’s environment variables as DATABASE_URL, which is the secrets lesson from twenty minutes ago paying off: nobody ever sees the string in a file. If someone insists on Supabase, same steps plus the Row Level Security rule from the review slide, and that is not optional. VERIFY BEFORE STAGE: click through Vercel → Storage → Create Database → Neon on a fresh Hobby account the day before; the Marketplace flow and the variable names change. Dry-run this whole block end to end on the starter repo, including the test in GitHub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3:35–4:05. Participatory again: I do it on the projector, they do it on theirs. The Vercel clicks come first so DATABASE_URL exists before Claude goes looking for it. Plan mode first, because this is the first change that touches more than one file. The prompt makes Claude say out loud whether the test needs the database and which GitHub secret to add; if it does, that is Settings → Secrets and variables → Actions on github.com, pasted straight from Vercel, never through the chat. Proof is on the phone: add a row on the preview, refresh, still there. Helpers: anyone stuck at 3:55 takes checkpoint-5-database, connects the database in Vercel, and redeploys. VERIFY BEFORE STAGE: for a class it is acceptable that preview and production share one database; say so, and put “separate preview database” on their Monday list if they will hold customer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4:05–4:25. Second sprint, and the rule changes: every change goes through the gate. New branch, pull request, preview, green check, merge. The habit I want them to leave with is the one in the prompt: a new feature is one new sentence under “How we know it works” in spec.md and one more check in the test. CSV export is on the menu on purpose; it is the ownership lesson in one button. I hack on the projector again and deliberately let one check go red so they see me fix the code, not the test. Anyone whose database block did not land spends this sprint on that with a helper instead. At 4:22 call time: merge what is green, close what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4:25–4:35. Ten minutes and the same two stickies as the morning: one thing learned since lunch, one thing still confusing. These decide whether Own it gets trimmed for a re-teach. Helpers: anyone without a working database takes checkpoint-5-database now, because the email block writes on top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4:35–4:55. Monitor is the sixth word and the one everybody skips. The spec example this morning ended with “and I get the email,” so we build that line. Resend’s free tier is 100 emails a day. Until the domain is verified, which needs DNS and is on the Monday list, Resend only delivers to the address on the account, which is exactly what an owner alert needs. Logs: Vercel shows every request and error, and Hobby keeps one hour, so look the same day. Sentry I add live on my own tool in two minutes with one prompt so they see it done; they do it Monday. VERIFY BEFORE STAGE: confirm Resend’s free-tier limit and the send-to-own-address restriction on resend.com the day before, and confirm the onboarding@resend.dev sender still works for unverified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4:35–4:55. Second time through the secrets drill, and this time the key is real. The move I am teaching is the path the key takes: from Resend’s page to Vercel’s environment variable form, and nowhere else. Not the chat, not the code, not a notes file. The prompt tells Claude the test must not send real email, because an AI will happily mail you on every push. Save-the-row-even-if-the-email-fails is the first piece of real error handling they have asked for; point at it. Helpers: checkpoint-6-email for anyone behind at 4:50, and they still add their own key in Vercel.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4:55–5:10. The bill, vendor numbers as of September 7. Left column is yours. A .com is ten to twelve dollars: $11.25 inside Vercel, which also skips the DNS step; Porkbun $11.08 and renews at the same price. Watch the $6.98-then-$15.88 first-year bait. Verisign raises .com wholesale about 71 cents on November 1, so renewals tick up. Vercel Hobby is free but non-commercial; Pro is $20 and includes $20 of usage and a terabyte of transfer. GitHub, database, email, error tracking: zero. Claude Pro $20, or ChatGPT Plus $20 gives you Codex. Right column: Lovable Pro $25, Bolt Pro $25 to get export and a domain, Replit Core $20 plus metered hosting since August, Base44 Builder $50 a month just to get GitHub sync. The math is not close, and the right column still does not own the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4:55–5:10. I will be straight about Vercel’s rule, because it is the one place my Part One cost slide was too generous. Hobby is free for personal, non-commercial use, and Vercel defines commercial broadly: any financial gain for anyone involved, including receiving payment to create, update, or host the site, and including ads. So a marketer building for a client is on Pro from day one. That is still the $20 I promised. Two things to do the day you go Pro: turn on spend management and set the notification lower than the $200 default. And the free first-year domain on .app, .dev, or .site is a nice bonus; .com is not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4:55–5:10. I want to be fair to these companies. In 2026 the front-end code exports from almost every builder, so “you can’t get your code out” is no longer a true sentence. Read the columns: ZIP or GitHub, which direction the sync goes, which plan unlocks it, whether the backend comes with you, and what happens to the site when you stop paying. Lovable keeps your site and domain live after cancel. v0’s code is plain Next.js and Vercel says it does not own it. Base44 needs the $50 tier for GitHub and its backend functions only run on Base44. Replit says published apps may go offline. Firebase Studio: Google ended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4:55–5:10. The code was never the hostage. Your data, your logins, your secrets, your domain, your version history: that is where people got stuck, and it is exactly what the export button leaves behind. Everything you built today sits in accounts with your name on them. Google launched Firebase Studio in April 2025, announced the sunset in March 2026, closed signups in June, and deletes everything on March 22, 2027. Users whose code was in GitHub and whose app was on their own host lost nothing. Your repo does not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4:55–5:10. And the exit door from Vercel itself, so nobody thinks I traded one landlord for another. Netlify: free is 300 credits a month with a hard cap, a production deploy is 15 credits, and when they are gone every site shows “Site not available”; $9 Personal fixes that. Cloudflare: static asset requests are free and unlimited on any plan, and they now steer new sites to Workers rather than Pages; Workers Paid is $5. Either way the code is in GitHub, so moving hosts is a ten-minute reconnect, not a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4:55–5:10. Last slide of Own it, and the one the Lunch and Learn listing promised. I am not telling them to do everything themselves. The line is risk, not difficulty: money moving through their own code, regulated records, strangers logging in who must never see each other’s data, or downtime that costs more than a developer’s day. Below that line, today’s lifecycle is enough. Above it, hire someone, and be the client they want: a repo they join as a collaborator, a spec, a test, a bug list, and one rule, work on a branch and open pull requests in my accounts. A developer quoting against that is quoting against a known thing, which is a smaller number than quoting against a mystery in somebody’s browser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5:10–5:30. Some of you were at the skills talk. A skill is a folder with one file, SKILL.md. The front matter needs only a name and a description; keep the body under 500 lines. Simon Willison called it a deliciously tiny specification. As of this week, agentskills.io lists 46 products that read the same file: Claude Code, the Claude app, ChatGPT and Codex, Cursor, GitHub Copilot, VS Code, Gemini CLI. So the file travels with you, not with a vendor. Same idea as the repo: your process, in a file you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5:10–5:30. The rule that stops people stuffing everything into skills, from Vercel’s own evals in January: an always-on AGENTS.md scored 100 percent on Next.js tasks; skills scored 79 percent with explicit instructions, because in 56 percent of runs the skill was never invoked. So: what the AI must know every single time goes in CLAUDE.md or AGENTS.md. Never commit .env. Always follow spec.md. Multi-step routines it should run on demand go in skills: the deploy checklist, brand voice, test before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5:10–5:30. You just wrote down the lifecycle we practised and handed it to the AI. Type the prompt; Claude creates the folder and the file. Then change one line to how YOU actually work, for instance “text Mark the preview link.” Then run it: slash my-deploy-checklist, and watch Claude walk your list against your repo. Last step copies it to .agents/skills, which Codex and Cursor read natively, so the same checklist follows you to whatever tool you use next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5:10–5:30. What this looks like grown up. I run about a hundred of these. For a small business website, four matter: brand-voice, the interview that produces a living brand bible; deploy-to-vercel, the GitHub-to-Vercel pipeline with the custom domain and the failed-deploy fixes; qa-tester, the “does this site actually work” smoke test before launch; and webmaster, the pre-launch checklist that runs the others in order. Sanitize before projecting; these files reference clients. Two cautions: read a skill before you install it, the way you would read a contract, because skills.sh ranks by installs, not quality. And Vercel’s react-best-practices skill is 70 rules per the file itself; install it in one line and ask Claude to review your app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5:30–5:50. Last sprint. Twelve minutes to finish ONE thing and ship it, with the skill they just wrote run for real before the last merge. Then eight minutes of show and tell: three volunteers, two minutes each, production URL on the projector, never a preview, because production is the thing that went through their gate. Ask each the same three questions: what does it replace, what did that cost a month, and what did the AI get wrong that you caught. Pick the volunteers during the sprint so nobody is surprised. If the room is behind, skip to show and tell at 5:42 regardless; the demos are what they will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5:50–6:00. Read this back against your own screen. Six hours ago your prototype lived in somebody’s browser tab. Now the code is in your GitHub, the site is on your Vercel, you can roll back a mistake in one click, a test runs on every change, secrets are out of the code, the rows live in a database you own, an email tells you when a customer submits, and the AI has a checklist with your name on it. None of that is a subscription to me or to a builder.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5:50–6:00. Monday, in order. The database and the email are done, so Monday is shorter than it was in the three-hour version. Buy the domain if you have not; about $11. Verify that domain in Resend so mail comes from you and can reach customers, not only your own address. Add Sentry with the prompt from the projector, because Vercel Hobby keeps one hour of logs. Move to Vercel Pro the day the site earns money, and turn on spend management that day. Optionally require the Playwright check in Vercel Deployment Checks so a red X physically cannot reach the domain; confirm it is on your plan first. And the monthly npm audit on the first of the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5:50–6:00. Two stickies on the table on the way out: one thing you learned, one thing still confusing. They decide what Part Three is. Subscribe at theaienterprise.io. Go run your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jp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jpeg"/><Relationship Id="rId2" Type="http://schemas.openxmlformats.org/officeDocument/2006/relationships/image" Target="../media/image-51-2.png"/><Relationship Id="rId3" Type="http://schemas.openxmlformats.org/officeDocument/2006/relationships/image" Target="../media/image-51-3.jpg"/><Relationship Id="rId4" Type="http://schemas.openxmlformats.org/officeDocument/2006/relationships/slideLayout" Target="../slideLayouts/slideLayout1.xml"/><Relationship Id="rId5"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assets/art-title.jpg">    </p:cNvPr>
          <p:cNvPicPr>
            <a:picLocks noChangeAspect="1"/>
          </p:cNvPicPr>
          <p:nvPr/>
        </p:nvPicPr>
        <p:blipFill>
          <a:blip r:embed="rId2"/>
          <a:stretch>
            <a:fillRect/>
          </a:stretch>
        </p:blipFill>
        <p:spPr>
          <a:xfrm>
            <a:off x="7708392" y="914400"/>
            <a:ext cx="3840480" cy="3840480"/>
          </a:xfrm>
          <a:prstGeom prst="rect">
            <a:avLst/>
          </a:prstGeom>
        </p:spPr>
      </p:pic>
      <p:pic>
        <p:nvPicPr>
          <p:cNvPr id="4" name="Image 1" descr="assets/logo-h-white.png">    </p:cNvPr>
          <p:cNvPicPr>
            <a:picLocks noChangeAspect="1"/>
          </p:cNvPicPr>
          <p:nvPr/>
        </p:nvPicPr>
        <p:blipFill>
          <a:blip r:embed="rId3"/>
          <a:stretch>
            <a:fillRect/>
          </a:stretch>
        </p:blipFill>
        <p:spPr>
          <a:xfrm>
            <a:off x="640080" y="548640"/>
            <a:ext cx="2926080" cy="374904"/>
          </a:xfrm>
          <a:prstGeom prst="rect">
            <a:avLst/>
          </a:prstGeom>
        </p:spPr>
      </p:pic>
      <p:sp>
        <p:nvSpPr>
          <p:cNvPr id="5" name="Text 0"/>
          <p:cNvSpPr txBox="1"/>
          <p:nvPr/>
        </p:nvSpPr>
        <p:spPr>
          <a:xfrm>
            <a:off x="640080" y="1417320"/>
            <a:ext cx="10908792" cy="274320"/>
          </a:xfrm>
          <a:prstGeom prst="rect">
            <a:avLst/>
          </a:prstGeom>
          <a:noFill/>
          <a:ln/>
        </p:spPr>
        <p:txBody>
          <a:bodyPr wrap="square" lIns="0" tIns="0" rIns="0" bIns="0" rtlCol="0" anchor="ctr"/>
          <a:lstStyle/>
          <a:p>
            <a:pPr indent="0" marL="0">
              <a:buNone/>
            </a:pPr>
            <a:r>
              <a:rPr lang="en-US" sz="1200" b="1" spc="200" kern="0" dirty="0">
                <a:solidFill>
                  <a:srgbClr val="EF8B39"/>
                </a:solidFill>
                <a:latin typeface="Courier New" pitchFamily="34" charset="0"/>
                <a:ea typeface="Courier New" pitchFamily="34" charset="-122"/>
                <a:cs typeface="Courier New" pitchFamily="34" charset="-120"/>
              </a:rPr>
              <a:t>// ALL THINGS AI · WITH THE AIE NETWORK · A SIX-HOUR HANDS-ON CLASS</a:t>
            </a:r>
            <a:endParaRPr lang="en-US" sz="1200" dirty="0"/>
          </a:p>
        </p:txBody>
      </p:sp>
      <p:sp>
        <p:nvSpPr>
          <p:cNvPr id="6" name="Text 1"/>
          <p:cNvSpPr txBox="1"/>
          <p:nvPr/>
        </p:nvSpPr>
        <p:spPr>
          <a:xfrm>
            <a:off x="640080" y="1783080"/>
            <a:ext cx="6949440" cy="118872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Vibe Coding, Take Two</a:t>
            </a:r>
            <a:endParaRPr lang="en-US" sz="5400" dirty="0"/>
          </a:p>
        </p:txBody>
      </p:sp>
      <p:sp>
        <p:nvSpPr>
          <p:cNvPr id="7" name="Text 2"/>
          <p:cNvSpPr txBox="1"/>
          <p:nvPr/>
        </p:nvSpPr>
        <p:spPr>
          <a:xfrm>
            <a:off x="640080" y="2971800"/>
            <a:ext cx="6766560" cy="822960"/>
          </a:xfrm>
          <a:prstGeom prst="rect">
            <a:avLst/>
          </a:prstGeom>
          <a:noFill/>
          <a:ln/>
        </p:spPr>
        <p:txBody>
          <a:bodyPr wrap="square" lIns="0" tIns="0" rIns="0" bIns="0" rtlCol="0" anchor="ctr"/>
          <a:lstStyle/>
          <a:p>
            <a:pPr indent="0" marL="0">
              <a:buNone/>
            </a:pPr>
            <a:r>
              <a:rPr lang="en-US" sz="2400" dirty="0">
                <a:solidFill>
                  <a:srgbClr val="D6DEEA"/>
                </a:solidFill>
                <a:latin typeface="Arial" pitchFamily="34" charset="0"/>
                <a:ea typeface="Arial" pitchFamily="34" charset="-122"/>
                <a:cs typeface="Arial" pitchFamily="34" charset="-120"/>
              </a:rPr>
              <a:t>Drop the vibes. Ship a production app you own.</a:t>
            </a:r>
            <a:endParaRPr lang="en-US" sz="2400" dirty="0"/>
          </a:p>
        </p:txBody>
      </p:sp>
      <p:sp>
        <p:nvSpPr>
          <p:cNvPr id="8" name="Text 3"/>
          <p:cNvSpPr txBox="1"/>
          <p:nvPr/>
        </p:nvSpPr>
        <p:spPr>
          <a:xfrm>
            <a:off x="640080" y="3931920"/>
            <a:ext cx="6766560" cy="1280160"/>
          </a:xfrm>
          <a:prstGeom prst="rect">
            <a:avLst/>
          </a:prstGeom>
          <a:noFill/>
          <a:ln/>
        </p:spPr>
        <p:txBody>
          <a:bodyPr wrap="square" lIns="0" tIns="0" rIns="0" bIns="0" rtlCol="0" anchor="t"/>
          <a:lstStyle/>
          <a:p>
            <a:pPr indent="0" marL="0">
              <a:lnSpc>
                <a:spcPct val="115000"/>
              </a:lnSpc>
              <a:spcAft>
                <a:spcPts val="400"/>
              </a:spcAft>
              <a:buNone/>
            </a:pPr>
            <a:r>
              <a:rPr lang="en-US" sz="1400" dirty="0">
                <a:solidFill>
                  <a:srgbClr val="B9C3D1"/>
                </a:solidFill>
                <a:latin typeface="Arial" pitchFamily="34" charset="0"/>
                <a:ea typeface="Arial" pitchFamily="34" charset="-122"/>
                <a:cs typeface="Arial" pitchFamily="34" charset="-120"/>
              </a:rPr>
              <a:t>Five hours of class. One hour of live hacking on your own tool, in three sprints.</a:t>
            </a:r>
            <a:endParaRPr lang="en-US" sz="1400" dirty="0"/>
          </a:p>
          <a:p>
            <a:pPr indent="0" marL="0">
              <a:lnSpc>
                <a:spcPct val="115000"/>
              </a:lnSpc>
              <a:spcAft>
                <a:spcPts val="400"/>
              </a:spcAft>
              <a:buNone/>
            </a:pPr>
            <a:r>
              <a:rPr lang="en-US" sz="1400" dirty="0">
                <a:solidFill>
                  <a:srgbClr val="B9C3D1"/>
                </a:solidFill>
                <a:latin typeface="Arial" pitchFamily="34" charset="0"/>
                <a:ea typeface="Arial" pitchFamily="34" charset="-122"/>
                <a:cs typeface="Arial" pitchFamily="34" charset="-120"/>
              </a:rPr>
              <a:t>You leave with a repo, a live site, a test, a rollback you have used, a database, an email alert, and a skill. All in accounts with your name on them.</a:t>
            </a:r>
            <a:endParaRPr lang="en-US" sz="1400" dirty="0"/>
          </a:p>
        </p:txBody>
      </p:sp>
      <p:sp>
        <p:nvSpPr>
          <p:cNvPr id="9" name="Text 4"/>
          <p:cNvSpPr/>
          <p:nvPr/>
        </p:nvSpPr>
        <p:spPr>
          <a:xfrm>
            <a:off x="640080" y="6126480"/>
            <a:ext cx="10908792" cy="274320"/>
          </a:xfrm>
          <a:prstGeom prst="rect">
            <a:avLst/>
          </a:prstGeom>
          <a:noFill/>
          <a:ln/>
        </p:spPr>
        <p:txBody>
          <a:bodyPr wrap="square" lIns="0" tIns="0" rIns="0" bIns="0" rtlCol="0" anchor="ctr"/>
          <a:lstStyle/>
          <a:p>
            <a:pPr indent="0" marL="0">
              <a:buNone/>
            </a:pPr>
            <a:r>
              <a:rPr lang="en-US" sz="850" spc="150" kern="0" dirty="0">
                <a:solidFill>
                  <a:srgbClr val="B9C3D1"/>
                </a:solidFill>
                <a:latin typeface="Courier New" pitchFamily="34" charset="0"/>
                <a:ea typeface="Courier New" pitchFamily="34" charset="-122"/>
                <a:cs typeface="Courier New" pitchFamily="34" charset="-120"/>
              </a:rPr>
              <a:t>MARK HINKLE · CEO, PERIPETY LABS · PUBLISHER, THE AIE NETWORK · CO-ORGANIZER, ALL THINGS AI</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02 / 51</a:t>
            </a:r>
            <a:endParaRPr lang="en-US" sz="900" dirty="0"/>
          </a:p>
        </p:txBody>
      </p:sp>
      <p:sp>
        <p:nvSpPr>
          <p:cNvPr id="5" name="Text 1"/>
          <p:cNvSpPr txBox="1"/>
          <p:nvPr/>
        </p:nvSpPr>
        <p:spPr>
          <a:xfrm>
            <a:off x="640080" y="502920"/>
            <a:ext cx="10908792" cy="274320"/>
          </a:xfrm>
          <a:prstGeom prst="rect">
            <a:avLst/>
          </a:prstGeom>
          <a:noFill/>
          <a:ln/>
        </p:spPr>
        <p:txBody>
          <a:bodyPr wrap="square" lIns="0" tIns="0" rIns="0" bIns="0" rtlCol="0" anchor="ctr"/>
          <a:lstStyle/>
          <a:p>
            <a:pPr indent="0" marL="0">
              <a:buNone/>
            </a:pPr>
            <a:r>
              <a:rPr lang="en-US" sz="1200" b="1" spc="200" kern="0" dirty="0">
                <a:solidFill>
                  <a:srgbClr val="307FE2"/>
                </a:solidFill>
                <a:latin typeface="Courier New" pitchFamily="34" charset="0"/>
                <a:ea typeface="Courier New" pitchFamily="34" charset="-122"/>
                <a:cs typeface="Courier New" pitchFamily="34" charset="-120"/>
              </a:rPr>
              <a:t>// CREDENTIALS, BRIEFLY</a:t>
            </a:r>
            <a:endParaRPr lang="en-US" sz="1200" dirty="0"/>
          </a:p>
        </p:txBody>
      </p:sp>
      <p:sp>
        <p:nvSpPr>
          <p:cNvPr id="6" name="Text 2"/>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3000" b="1" dirty="0">
                <a:solidFill>
                  <a:srgbClr val="0D1219"/>
                </a:solidFill>
                <a:latin typeface="Arial" pitchFamily="34" charset="0"/>
                <a:ea typeface="Arial" pitchFamily="34" charset="-122"/>
                <a:cs typeface="Arial" pitchFamily="34" charset="-120"/>
              </a:rPr>
              <a:t>Who’s this guy?</a:t>
            </a:r>
            <a:endParaRPr lang="en-US" sz="3000" dirty="0"/>
          </a:p>
        </p:txBody>
      </p:sp>
      <p:pic>
        <p:nvPicPr>
          <p:cNvPr id="7" name="Image 1" descr="assets/headshot.png">    </p:cNvPr>
          <p:cNvPicPr>
            <a:picLocks noChangeAspect="1"/>
          </p:cNvPicPr>
          <p:nvPr/>
        </p:nvPicPr>
        <p:blipFill>
          <a:blip r:embed="rId2"/>
          <a:stretch>
            <a:fillRect/>
          </a:stretch>
        </p:blipFill>
        <p:spPr>
          <a:xfrm>
            <a:off x="640080" y="1783080"/>
            <a:ext cx="2377440" cy="2377440"/>
          </a:xfrm>
          <a:prstGeom prst="rect">
            <a:avLst/>
          </a:prstGeom>
        </p:spPr>
      </p:pic>
      <p:sp>
        <p:nvSpPr>
          <p:cNvPr id="8" name="Text 3"/>
          <p:cNvSpPr txBox="1"/>
          <p:nvPr/>
        </p:nvSpPr>
        <p:spPr>
          <a:xfrm>
            <a:off x="640080" y="4251960"/>
            <a:ext cx="2377440" cy="274320"/>
          </a:xfrm>
          <a:prstGeom prst="rect">
            <a:avLst/>
          </a:prstGeom>
          <a:noFill/>
          <a:ln/>
        </p:spPr>
        <p:txBody>
          <a:bodyPr wrap="square" lIns="0" tIns="0" rIns="0" bIns="0" rtlCol="0" anchor="t"/>
          <a:lstStyle/>
          <a:p>
            <a:pPr algn="l" indent="0" marL="0">
              <a:lnSpc>
                <a:spcPct val="115000"/>
              </a:lnSpc>
              <a:buNone/>
            </a:pPr>
            <a:r>
              <a:rPr lang="en-US" sz="850" dirty="0">
                <a:solidFill>
                  <a:srgbClr val="EF8B39"/>
                </a:solidFill>
                <a:latin typeface="Courier New" pitchFamily="34" charset="0"/>
                <a:ea typeface="Courier New" pitchFamily="34" charset="-122"/>
                <a:cs typeface="Courier New" pitchFamily="34" charset="-120"/>
              </a:rPr>
              <a:t>MARK HINKLE</a:t>
            </a:r>
            <a:endParaRPr lang="en-US" sz="850" dirty="0"/>
          </a:p>
        </p:txBody>
      </p:sp>
      <p:sp>
        <p:nvSpPr>
          <p:cNvPr id="9" name="Text 4"/>
          <p:cNvSpPr txBox="1"/>
          <p:nvPr/>
        </p:nvSpPr>
        <p:spPr>
          <a:xfrm>
            <a:off x="3383280" y="1783080"/>
            <a:ext cx="4206240" cy="365760"/>
          </a:xfrm>
          <a:prstGeom prst="rect">
            <a:avLst/>
          </a:prstGeom>
          <a:noFill/>
          <a:ln/>
        </p:spPr>
        <p:txBody>
          <a:bodyPr wrap="square" lIns="0" tIns="0" rIns="0" bIns="0" rtlCol="0" anchor="t"/>
          <a:lstStyle/>
          <a:p>
            <a:pPr indent="0" marL="0">
              <a:buNone/>
            </a:pPr>
            <a:r>
              <a:rPr lang="en-US" sz="1500" b="1" dirty="0">
                <a:solidFill>
                  <a:srgbClr val="0D1219"/>
                </a:solidFill>
                <a:latin typeface="Arial" pitchFamily="34" charset="0"/>
                <a:ea typeface="Arial" pitchFamily="34" charset="-122"/>
                <a:cs typeface="Arial" pitchFamily="34" charset="-120"/>
              </a:rPr>
              <a:t>Peripety Labs</a:t>
            </a:r>
            <a:endParaRPr lang="en-US" sz="1500" dirty="0"/>
          </a:p>
        </p:txBody>
      </p:sp>
      <p:sp>
        <p:nvSpPr>
          <p:cNvPr id="10" name="Text 5"/>
          <p:cNvSpPr txBox="1"/>
          <p:nvPr/>
        </p:nvSpPr>
        <p:spPr>
          <a:xfrm>
            <a:off x="3383280" y="2130552"/>
            <a:ext cx="4206240" cy="365760"/>
          </a:xfrm>
          <a:prstGeom prst="rect">
            <a:avLst/>
          </a:prstGeom>
          <a:noFill/>
          <a:ln/>
        </p:spPr>
        <p:txBody>
          <a:bodyPr wrap="square" lIns="0" tIns="0" rIns="0" bIns="0" rtlCol="0" anchor="t"/>
          <a:lstStyle/>
          <a:p>
            <a:pPr algn="l" indent="0" marL="0">
              <a:lnSpc>
                <a:spcPct val="115000"/>
              </a:lnSpc>
              <a:buNone/>
            </a:pPr>
            <a:r>
              <a:rPr lang="en-US" sz="1150" dirty="0">
                <a:solidFill>
                  <a:srgbClr val="5B6675"/>
                </a:solidFill>
                <a:latin typeface="Arial" pitchFamily="34" charset="0"/>
                <a:ea typeface="Arial" pitchFamily="34" charset="-122"/>
                <a:cs typeface="Arial" pitchFamily="34" charset="-120"/>
              </a:rPr>
              <a:t>CEO. AI consulting and products.</a:t>
            </a:r>
            <a:endParaRPr lang="en-US" sz="1150" dirty="0"/>
          </a:p>
        </p:txBody>
      </p:sp>
      <p:sp>
        <p:nvSpPr>
          <p:cNvPr id="11" name="Text 6"/>
          <p:cNvSpPr txBox="1"/>
          <p:nvPr/>
        </p:nvSpPr>
        <p:spPr>
          <a:xfrm>
            <a:off x="3383280" y="2606040"/>
            <a:ext cx="4206240" cy="365760"/>
          </a:xfrm>
          <a:prstGeom prst="rect">
            <a:avLst/>
          </a:prstGeom>
          <a:noFill/>
          <a:ln/>
        </p:spPr>
        <p:txBody>
          <a:bodyPr wrap="square" lIns="0" tIns="0" rIns="0" bIns="0" rtlCol="0" anchor="t"/>
          <a:lstStyle/>
          <a:p>
            <a:pPr indent="0" marL="0">
              <a:buNone/>
            </a:pPr>
            <a:r>
              <a:rPr lang="en-US" sz="1500" b="1" dirty="0">
                <a:solidFill>
                  <a:srgbClr val="0D1219"/>
                </a:solidFill>
                <a:latin typeface="Arial" pitchFamily="34" charset="0"/>
                <a:ea typeface="Arial" pitchFamily="34" charset="-122"/>
                <a:cs typeface="Arial" pitchFamily="34" charset="-120"/>
              </a:rPr>
              <a:t>The AIE Network</a:t>
            </a:r>
            <a:endParaRPr lang="en-US" sz="1500" dirty="0"/>
          </a:p>
        </p:txBody>
      </p:sp>
      <p:sp>
        <p:nvSpPr>
          <p:cNvPr id="12" name="Text 7"/>
          <p:cNvSpPr txBox="1"/>
          <p:nvPr/>
        </p:nvSpPr>
        <p:spPr>
          <a:xfrm>
            <a:off x="3383280" y="2953512"/>
            <a:ext cx="4206240" cy="457200"/>
          </a:xfrm>
          <a:prstGeom prst="rect">
            <a:avLst/>
          </a:prstGeom>
          <a:noFill/>
          <a:ln/>
        </p:spPr>
        <p:txBody>
          <a:bodyPr wrap="square" lIns="0" tIns="0" rIns="0" bIns="0" rtlCol="0" anchor="t"/>
          <a:lstStyle/>
          <a:p>
            <a:pPr algn="l" indent="0" marL="0">
              <a:lnSpc>
                <a:spcPct val="115000"/>
              </a:lnSpc>
              <a:buNone/>
            </a:pPr>
            <a:r>
              <a:rPr lang="en-US" sz="1150" dirty="0">
                <a:solidFill>
                  <a:srgbClr val="5B6675"/>
                </a:solidFill>
                <a:latin typeface="Arial" pitchFamily="34" charset="0"/>
                <a:ea typeface="Arial" pitchFamily="34" charset="-122"/>
                <a:cs typeface="Arial" pitchFamily="34" charset="-120"/>
              </a:rPr>
              <a:t>Publisher. Newsletters on practical AI for business, every weekday.</a:t>
            </a:r>
            <a:endParaRPr lang="en-US" sz="1150" dirty="0"/>
          </a:p>
        </p:txBody>
      </p:sp>
      <p:sp>
        <p:nvSpPr>
          <p:cNvPr id="13" name="Text 8"/>
          <p:cNvSpPr txBox="1"/>
          <p:nvPr/>
        </p:nvSpPr>
        <p:spPr>
          <a:xfrm>
            <a:off x="3383280" y="3520440"/>
            <a:ext cx="4206240" cy="365760"/>
          </a:xfrm>
          <a:prstGeom prst="rect">
            <a:avLst/>
          </a:prstGeom>
          <a:noFill/>
          <a:ln/>
        </p:spPr>
        <p:txBody>
          <a:bodyPr wrap="square" lIns="0" tIns="0" rIns="0" bIns="0" rtlCol="0" anchor="t"/>
          <a:lstStyle/>
          <a:p>
            <a:pPr indent="0" marL="0">
              <a:buNone/>
            </a:pPr>
            <a:r>
              <a:rPr lang="en-US" sz="1500" b="1" dirty="0">
                <a:solidFill>
                  <a:srgbClr val="0D1219"/>
                </a:solidFill>
                <a:latin typeface="Arial" pitchFamily="34" charset="0"/>
                <a:ea typeface="Arial" pitchFamily="34" charset="-122"/>
                <a:cs typeface="Arial" pitchFamily="34" charset="-120"/>
              </a:rPr>
              <a:t>All Things AI</a:t>
            </a:r>
            <a:endParaRPr lang="en-US" sz="1500" dirty="0"/>
          </a:p>
        </p:txBody>
      </p:sp>
      <p:sp>
        <p:nvSpPr>
          <p:cNvPr id="14" name="Text 9"/>
          <p:cNvSpPr txBox="1"/>
          <p:nvPr/>
        </p:nvSpPr>
        <p:spPr>
          <a:xfrm>
            <a:off x="3383280" y="3867912"/>
            <a:ext cx="4206240" cy="457200"/>
          </a:xfrm>
          <a:prstGeom prst="rect">
            <a:avLst/>
          </a:prstGeom>
          <a:noFill/>
          <a:ln/>
        </p:spPr>
        <p:txBody>
          <a:bodyPr wrap="square" lIns="0" tIns="0" rIns="0" bIns="0" rtlCol="0" anchor="t"/>
          <a:lstStyle/>
          <a:p>
            <a:pPr algn="l" indent="0" marL="0">
              <a:lnSpc>
                <a:spcPct val="115000"/>
              </a:lnSpc>
              <a:buNone/>
            </a:pPr>
            <a:r>
              <a:rPr lang="en-US" sz="1150" dirty="0">
                <a:solidFill>
                  <a:srgbClr val="5B6675"/>
                </a:solidFill>
                <a:latin typeface="Arial" pitchFamily="34" charset="0"/>
                <a:ea typeface="Arial" pitchFamily="34" charset="-122"/>
                <a:cs typeface="Arial" pitchFamily="34" charset="-120"/>
              </a:rPr>
              <a:t>Co-organizer. The Triangle’s AI-for-business conference and community.</a:t>
            </a:r>
            <a:endParaRPr lang="en-US" sz="1150" dirty="0"/>
          </a:p>
        </p:txBody>
      </p:sp>
      <p:sp>
        <p:nvSpPr>
          <p:cNvPr id="15" name="Shape 10"/>
          <p:cNvSpPr/>
          <p:nvPr/>
        </p:nvSpPr>
        <p:spPr>
          <a:xfrm>
            <a:off x="7955280" y="1783080"/>
            <a:ext cx="3593592" cy="2651760"/>
          </a:xfrm>
          <a:prstGeom prst="rect">
            <a:avLst/>
          </a:prstGeom>
          <a:solidFill>
            <a:srgbClr val="F3F6FB"/>
          </a:solidFill>
          <a:ln w="9525">
            <a:solidFill>
              <a:srgbClr val="D9E0EA"/>
            </a:solidFill>
            <a:prstDash val="solid"/>
          </a:ln>
        </p:spPr>
      </p:sp>
      <p:sp>
        <p:nvSpPr>
          <p:cNvPr id="16" name="Shape 11"/>
          <p:cNvSpPr/>
          <p:nvPr/>
        </p:nvSpPr>
        <p:spPr>
          <a:xfrm>
            <a:off x="7955280" y="1783080"/>
            <a:ext cx="54864" cy="2651760"/>
          </a:xfrm>
          <a:prstGeom prst="rect">
            <a:avLst/>
          </a:prstGeom>
          <a:solidFill>
            <a:srgbClr val="EF8B39"/>
          </a:solidFill>
          <a:ln w="12700">
            <a:solidFill>
              <a:srgbClr val="EF8B39"/>
            </a:solidFill>
            <a:prstDash val="solid"/>
          </a:ln>
        </p:spPr>
      </p:sp>
      <p:sp>
        <p:nvSpPr>
          <p:cNvPr id="17" name="Text 12"/>
          <p:cNvSpPr txBox="1"/>
          <p:nvPr/>
        </p:nvSpPr>
        <p:spPr>
          <a:xfrm>
            <a:off x="8183880" y="1920240"/>
            <a:ext cx="3200400" cy="237744"/>
          </a:xfrm>
          <a:prstGeom prst="rect">
            <a:avLst/>
          </a:prstGeom>
          <a:noFill/>
          <a:ln/>
        </p:spPr>
        <p:txBody>
          <a:bodyPr wrap="square" lIns="0" tIns="0" rIns="0" bIns="0" rtlCol="0" anchor="ctr"/>
          <a:lstStyle/>
          <a:p>
            <a:pPr indent="0" marL="0">
              <a:buNone/>
            </a:pPr>
            <a:r>
              <a:rPr lang="en-US" sz="850" b="1" spc="150" kern="0" dirty="0">
                <a:solidFill>
                  <a:srgbClr val="EF8B39"/>
                </a:solidFill>
                <a:latin typeface="Courier New" pitchFamily="34" charset="0"/>
                <a:ea typeface="Courier New" pitchFamily="34" charset="-122"/>
                <a:cs typeface="Courier New" pitchFamily="34" charset="-120"/>
              </a:rPr>
              <a:t>PART ONE, IN AUGUST</a:t>
            </a:r>
            <a:endParaRPr lang="en-US" sz="850" dirty="0"/>
          </a:p>
        </p:txBody>
      </p:sp>
      <p:sp>
        <p:nvSpPr>
          <p:cNvPr id="18" name="Text 13"/>
          <p:cNvSpPr txBox="1"/>
          <p:nvPr/>
        </p:nvSpPr>
        <p:spPr>
          <a:xfrm>
            <a:off x="8183880" y="2240280"/>
            <a:ext cx="3200400" cy="2103120"/>
          </a:xfrm>
          <a:prstGeom prst="rect">
            <a:avLst/>
          </a:prstGeom>
          <a:noFill/>
          <a:ln/>
        </p:spPr>
        <p:txBody>
          <a:bodyPr wrap="square" lIns="0" tIns="0" rIns="0" bIns="0" rtlCol="0" anchor="t"/>
          <a:lstStyle/>
          <a:p>
            <a:pPr marL="177800" indent="-177800">
              <a:lnSpc>
                <a:spcPct val="115000"/>
              </a:lnSpc>
              <a:spcAft>
                <a:spcPts val="400"/>
              </a:spcAft>
              <a:buSzPct val="100000"/>
              <a:buChar char="•"/>
            </a:pPr>
            <a:r>
              <a:rPr lang="en-US" sz="1200" dirty="0">
                <a:solidFill>
                  <a:srgbClr val="5B6675"/>
                </a:solidFill>
                <a:latin typeface="Arial" pitchFamily="34" charset="0"/>
                <a:ea typeface="Arial" pitchFamily="34" charset="-122"/>
                <a:cs typeface="Arial" pitchFamily="34" charset="-120"/>
              </a:rPr>
              <a:t>What vibe coding is</a:t>
            </a:r>
            <a:endParaRPr lang="en-US" sz="1200" dirty="0"/>
          </a:p>
          <a:p>
            <a:pPr marL="177800" indent="-177800">
              <a:lnSpc>
                <a:spcPct val="115000"/>
              </a:lnSpc>
              <a:spcAft>
                <a:spcPts val="400"/>
              </a:spcAft>
              <a:buSzPct val="100000"/>
              <a:buChar char="•"/>
            </a:pPr>
            <a:r>
              <a:rPr lang="en-US" sz="1200" dirty="0">
                <a:solidFill>
                  <a:srgbClr val="5B6675"/>
                </a:solidFill>
                <a:latin typeface="Arial" pitchFamily="34" charset="0"/>
                <a:ea typeface="Arial" pitchFamily="34" charset="-122"/>
                <a:cs typeface="Arial" pitchFamily="34" charset="-120"/>
              </a:rPr>
              <a:t>Brief the AI like a contractor</a:t>
            </a:r>
            <a:endParaRPr lang="en-US" sz="1200" dirty="0"/>
          </a:p>
          <a:p>
            <a:pPr marL="177800" indent="-177800">
              <a:lnSpc>
                <a:spcPct val="115000"/>
              </a:lnSpc>
              <a:spcAft>
                <a:spcPts val="400"/>
              </a:spcAft>
              <a:buSzPct val="100000"/>
              <a:buChar char="•"/>
            </a:pPr>
            <a:r>
              <a:rPr lang="en-US" sz="1200" dirty="0">
                <a:solidFill>
                  <a:srgbClr val="5B6675"/>
                </a:solidFill>
                <a:latin typeface="Arial" pitchFamily="34" charset="0"/>
                <a:ea typeface="Arial" pitchFamily="34" charset="-122"/>
                <a:cs typeface="Arial" pitchFamily="34" charset="-120"/>
              </a:rPr>
              <a:t>Describe → look → react</a:t>
            </a:r>
            <a:endParaRPr lang="en-US" sz="1200" dirty="0"/>
          </a:p>
          <a:p>
            <a:pPr marL="177800" indent="-177800">
              <a:lnSpc>
                <a:spcPct val="115000"/>
              </a:lnSpc>
              <a:spcAft>
                <a:spcPts val="400"/>
              </a:spcAft>
              <a:buSzPct val="100000"/>
              <a:buChar char="•"/>
            </a:pPr>
            <a:r>
              <a:rPr lang="en-US" sz="1200" dirty="0">
                <a:solidFill>
                  <a:srgbClr val="5B6675"/>
                </a:solidFill>
                <a:latin typeface="Arial" pitchFamily="34" charset="0"/>
                <a:ea typeface="Arial" pitchFamily="34" charset="-122"/>
                <a:cs typeface="Arial" pitchFamily="34" charset="-120"/>
              </a:rPr>
              <a:t>GitHub + Vercel, for free</a:t>
            </a:r>
            <a:endParaRPr lang="en-US" sz="1200" dirty="0"/>
          </a:p>
        </p:txBody>
      </p:sp>
      <p:sp>
        <p:nvSpPr>
          <p:cNvPr id="19" name="Text 14"/>
          <p:cNvSpPr txBox="1"/>
          <p:nvPr/>
        </p:nvSpPr>
        <p:spPr>
          <a:xfrm>
            <a:off x="640080" y="4754880"/>
            <a:ext cx="7315200" cy="731520"/>
          </a:xfrm>
          <a:prstGeom prst="rect">
            <a:avLst/>
          </a:prstGeom>
          <a:noFill/>
          <a:ln/>
        </p:spPr>
        <p:txBody>
          <a:bodyPr wrap="square" lIns="0" tIns="0" rIns="0" bIns="0" rtlCol="0" anchor="t"/>
          <a:lstStyle/>
          <a:p>
            <a:pPr algn="l" indent="0" marL="0">
              <a:lnSpc>
                <a:spcPct val="115000"/>
              </a:lnSpc>
              <a:buNone/>
            </a:pPr>
            <a:r>
              <a:rPr lang="en-US" sz="1150" i="1" dirty="0">
                <a:solidFill>
                  <a:srgbClr val="5B6675"/>
                </a:solidFill>
                <a:latin typeface="Arial" pitchFamily="34" charset="0"/>
                <a:ea typeface="Arial" pitchFamily="34" charset="-122"/>
                <a:cs typeface="Arial" pitchFamily="34" charset="-120"/>
              </a:rPr>
              <a:t>Thirty years of betting early: BBSs → Linux → open source → cloud → AI. Every time, the “toy” got good faster than the serious people expected.</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03 / 51</a:t>
            </a:r>
            <a:endParaRPr lang="en-US" sz="900" dirty="0"/>
          </a:p>
        </p:txBody>
      </p:sp>
      <p:sp>
        <p:nvSpPr>
          <p:cNvPr id="5" name="Text 1"/>
          <p:cNvSpPr txBox="1"/>
          <p:nvPr/>
        </p:nvSpPr>
        <p:spPr>
          <a:xfrm>
            <a:off x="640080" y="502920"/>
            <a:ext cx="10908792" cy="274320"/>
          </a:xfrm>
          <a:prstGeom prst="rect">
            <a:avLst/>
          </a:prstGeom>
          <a:noFill/>
          <a:ln/>
        </p:spPr>
        <p:txBody>
          <a:bodyPr wrap="square" lIns="0" tIns="0" rIns="0" bIns="0" rtlCol="0" anchor="ctr"/>
          <a:lstStyle/>
          <a:p>
            <a:pPr indent="0" marL="0">
              <a:buNone/>
            </a:pPr>
            <a:r>
              <a:rPr lang="en-US" sz="1200" b="1" spc="200" kern="0" dirty="0">
                <a:solidFill>
                  <a:srgbClr val="307FE2"/>
                </a:solidFill>
                <a:latin typeface="Courier New" pitchFamily="34" charset="0"/>
                <a:ea typeface="Courier New" pitchFamily="34" charset="-122"/>
                <a:cs typeface="Courier New" pitchFamily="34" charset="-120"/>
              </a:rPr>
              <a:t>// THE PROMISE FOR THE DAY</a:t>
            </a:r>
            <a:endParaRPr lang="en-US" sz="1200" dirty="0"/>
          </a:p>
        </p:txBody>
      </p:sp>
      <p:sp>
        <p:nvSpPr>
          <p:cNvPr id="6" name="Text 2"/>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600" b="1" dirty="0">
                <a:solidFill>
                  <a:srgbClr val="0D1219"/>
                </a:solidFill>
                <a:latin typeface="Arial" pitchFamily="34" charset="0"/>
                <a:ea typeface="Arial" pitchFamily="34" charset="-122"/>
                <a:cs typeface="Arial" pitchFamily="34" charset="-120"/>
              </a:rPr>
              <a:t>Today: one working tool, in accounts with your name on them.</a:t>
            </a:r>
            <a:endParaRPr lang="en-US" sz="2600" dirty="0"/>
          </a:p>
        </p:txBody>
      </p:sp>
      <p:sp>
        <p:nvSpPr>
          <p:cNvPr id="7" name="Shape 3"/>
          <p:cNvSpPr/>
          <p:nvPr/>
        </p:nvSpPr>
        <p:spPr>
          <a:xfrm>
            <a:off x="640080" y="1874520"/>
            <a:ext cx="2103120" cy="2103120"/>
          </a:xfrm>
          <a:prstGeom prst="rect">
            <a:avLst/>
          </a:prstGeom>
          <a:solidFill>
            <a:srgbClr val="F3F6FB"/>
          </a:solidFill>
          <a:ln w="9525">
            <a:solidFill>
              <a:srgbClr val="D9E0EA"/>
            </a:solidFill>
            <a:prstDash val="solid"/>
          </a:ln>
        </p:spPr>
      </p:sp>
      <p:sp>
        <p:nvSpPr>
          <p:cNvPr id="8" name="Shape 4"/>
          <p:cNvSpPr/>
          <p:nvPr/>
        </p:nvSpPr>
        <p:spPr>
          <a:xfrm>
            <a:off x="640080" y="1874520"/>
            <a:ext cx="54864" cy="2103120"/>
          </a:xfrm>
          <a:prstGeom prst="rect">
            <a:avLst/>
          </a:prstGeom>
          <a:solidFill>
            <a:srgbClr val="EF8B39"/>
          </a:solidFill>
          <a:ln w="12700">
            <a:solidFill>
              <a:srgbClr val="EF8B39"/>
            </a:solidFill>
            <a:prstDash val="solid"/>
          </a:ln>
        </p:spPr>
      </p:sp>
      <p:sp>
        <p:nvSpPr>
          <p:cNvPr id="9" name="Text 5"/>
          <p:cNvSpPr txBox="1"/>
          <p:nvPr/>
        </p:nvSpPr>
        <p:spPr>
          <a:xfrm>
            <a:off x="841248" y="2011680"/>
            <a:ext cx="914400" cy="274320"/>
          </a:xfrm>
          <a:prstGeom prst="rect">
            <a:avLst/>
          </a:prstGeom>
          <a:noFill/>
          <a:ln/>
        </p:spPr>
        <p:txBody>
          <a:bodyPr wrap="square" lIns="0" tIns="0" rIns="0" bIns="0" rtlCol="0" anchor="t"/>
          <a:lstStyle/>
          <a:p>
            <a:pPr algn="l" indent="0" marL="0">
              <a:lnSpc>
                <a:spcPct val="115000"/>
              </a:lnSpc>
              <a:buNone/>
            </a:pPr>
            <a:r>
              <a:rPr lang="en-US" sz="900" dirty="0">
                <a:solidFill>
                  <a:srgbClr val="EF8B39"/>
                </a:solidFill>
                <a:latin typeface="Courier New" pitchFamily="34" charset="0"/>
                <a:ea typeface="Courier New" pitchFamily="34" charset="-122"/>
                <a:cs typeface="Courier New" pitchFamily="34" charset="-120"/>
              </a:rPr>
              <a:t>01</a:t>
            </a:r>
            <a:endParaRPr lang="en-US" sz="900" dirty="0"/>
          </a:p>
        </p:txBody>
      </p:sp>
      <p:sp>
        <p:nvSpPr>
          <p:cNvPr id="10" name="Text 6"/>
          <p:cNvSpPr txBox="1"/>
          <p:nvPr/>
        </p:nvSpPr>
        <p:spPr>
          <a:xfrm>
            <a:off x="841248" y="2286000"/>
            <a:ext cx="1783080" cy="365760"/>
          </a:xfrm>
          <a:prstGeom prst="rect">
            <a:avLst/>
          </a:prstGeom>
          <a:noFill/>
          <a:ln/>
        </p:spPr>
        <p:txBody>
          <a:bodyPr wrap="square" lIns="0" tIns="0" rIns="0" bIns="0" rtlCol="0" anchor="t"/>
          <a:lstStyle/>
          <a:p>
            <a:pPr indent="0" marL="0">
              <a:buNone/>
            </a:pPr>
            <a:r>
              <a:rPr lang="en-US" sz="1400" b="1" dirty="0">
                <a:solidFill>
                  <a:srgbClr val="0D1219"/>
                </a:solidFill>
                <a:latin typeface="Arial" pitchFamily="34" charset="0"/>
                <a:ea typeface="Arial" pitchFamily="34" charset="-122"/>
                <a:cs typeface="Arial" pitchFamily="34" charset="-120"/>
              </a:rPr>
              <a:t>A repository</a:t>
            </a:r>
            <a:endParaRPr lang="en-US" sz="1400" dirty="0"/>
          </a:p>
        </p:txBody>
      </p:sp>
      <p:sp>
        <p:nvSpPr>
          <p:cNvPr id="11" name="Text 7"/>
          <p:cNvSpPr txBox="1"/>
          <p:nvPr/>
        </p:nvSpPr>
        <p:spPr>
          <a:xfrm>
            <a:off x="841248" y="2697480"/>
            <a:ext cx="1783080" cy="1188720"/>
          </a:xfrm>
          <a:prstGeom prst="rect">
            <a:avLst/>
          </a:prstGeom>
          <a:noFill/>
          <a:ln/>
        </p:spPr>
        <p:txBody>
          <a:bodyPr wrap="square" lIns="0" tIns="0" rIns="0" bIns="0" rtlCol="0" anchor="t"/>
          <a:lstStyle/>
          <a:p>
            <a:pPr algn="l" indent="0" marL="0">
              <a:lnSpc>
                <a:spcPct val="115000"/>
              </a:lnSpc>
              <a:buNone/>
            </a:pPr>
            <a:r>
              <a:rPr lang="en-US" sz="1050" dirty="0">
                <a:solidFill>
                  <a:srgbClr val="5B6675"/>
                </a:solidFill>
                <a:latin typeface="Arial" pitchFamily="34" charset="0"/>
                <a:ea typeface="Arial" pitchFamily="34" charset="-122"/>
                <a:cs typeface="Arial" pitchFamily="34" charset="-120"/>
              </a:rPr>
              <a:t>in your GitHub, with every change recorded</a:t>
            </a:r>
            <a:endParaRPr lang="en-US" sz="1050" dirty="0"/>
          </a:p>
        </p:txBody>
      </p:sp>
      <p:sp>
        <p:nvSpPr>
          <p:cNvPr id="12" name="Shape 8"/>
          <p:cNvSpPr/>
          <p:nvPr/>
        </p:nvSpPr>
        <p:spPr>
          <a:xfrm>
            <a:off x="2852928" y="1874520"/>
            <a:ext cx="2103120" cy="2103120"/>
          </a:xfrm>
          <a:prstGeom prst="rect">
            <a:avLst/>
          </a:prstGeom>
          <a:solidFill>
            <a:srgbClr val="F3F6FB"/>
          </a:solidFill>
          <a:ln w="9525">
            <a:solidFill>
              <a:srgbClr val="D9E0EA"/>
            </a:solidFill>
            <a:prstDash val="solid"/>
          </a:ln>
        </p:spPr>
      </p:sp>
      <p:sp>
        <p:nvSpPr>
          <p:cNvPr id="13" name="Shape 9"/>
          <p:cNvSpPr/>
          <p:nvPr/>
        </p:nvSpPr>
        <p:spPr>
          <a:xfrm>
            <a:off x="2852928" y="1874520"/>
            <a:ext cx="54864" cy="2103120"/>
          </a:xfrm>
          <a:prstGeom prst="rect">
            <a:avLst/>
          </a:prstGeom>
          <a:solidFill>
            <a:srgbClr val="EF8B39"/>
          </a:solidFill>
          <a:ln w="12700">
            <a:solidFill>
              <a:srgbClr val="EF8B39"/>
            </a:solidFill>
            <a:prstDash val="solid"/>
          </a:ln>
        </p:spPr>
      </p:sp>
      <p:sp>
        <p:nvSpPr>
          <p:cNvPr id="14" name="Text 10"/>
          <p:cNvSpPr txBox="1"/>
          <p:nvPr/>
        </p:nvSpPr>
        <p:spPr>
          <a:xfrm>
            <a:off x="3054096" y="2011680"/>
            <a:ext cx="914400" cy="274320"/>
          </a:xfrm>
          <a:prstGeom prst="rect">
            <a:avLst/>
          </a:prstGeom>
          <a:noFill/>
          <a:ln/>
        </p:spPr>
        <p:txBody>
          <a:bodyPr wrap="square" lIns="0" tIns="0" rIns="0" bIns="0" rtlCol="0" anchor="t"/>
          <a:lstStyle/>
          <a:p>
            <a:pPr algn="l" indent="0" marL="0">
              <a:lnSpc>
                <a:spcPct val="115000"/>
              </a:lnSpc>
              <a:buNone/>
            </a:pPr>
            <a:r>
              <a:rPr lang="en-US" sz="900" dirty="0">
                <a:solidFill>
                  <a:srgbClr val="EF8B39"/>
                </a:solidFill>
                <a:latin typeface="Courier New" pitchFamily="34" charset="0"/>
                <a:ea typeface="Courier New" pitchFamily="34" charset="-122"/>
                <a:cs typeface="Courier New" pitchFamily="34" charset="-120"/>
              </a:rPr>
              <a:t>02</a:t>
            </a:r>
            <a:endParaRPr lang="en-US" sz="900" dirty="0"/>
          </a:p>
        </p:txBody>
      </p:sp>
      <p:sp>
        <p:nvSpPr>
          <p:cNvPr id="15" name="Text 11"/>
          <p:cNvSpPr txBox="1"/>
          <p:nvPr/>
        </p:nvSpPr>
        <p:spPr>
          <a:xfrm>
            <a:off x="3054096" y="2286000"/>
            <a:ext cx="1783080" cy="365760"/>
          </a:xfrm>
          <a:prstGeom prst="rect">
            <a:avLst/>
          </a:prstGeom>
          <a:noFill/>
          <a:ln/>
        </p:spPr>
        <p:txBody>
          <a:bodyPr wrap="square" lIns="0" tIns="0" rIns="0" bIns="0" rtlCol="0" anchor="t"/>
          <a:lstStyle/>
          <a:p>
            <a:pPr indent="0" marL="0">
              <a:buNone/>
            </a:pPr>
            <a:r>
              <a:rPr lang="en-US" sz="1400" b="1" dirty="0">
                <a:solidFill>
                  <a:srgbClr val="0D1219"/>
                </a:solidFill>
                <a:latin typeface="Arial" pitchFamily="34" charset="0"/>
                <a:ea typeface="Arial" pitchFamily="34" charset="-122"/>
                <a:cs typeface="Arial" pitchFamily="34" charset="-120"/>
              </a:rPr>
              <a:t>A live site</a:t>
            </a:r>
            <a:endParaRPr lang="en-US" sz="1400" dirty="0"/>
          </a:p>
        </p:txBody>
      </p:sp>
      <p:sp>
        <p:nvSpPr>
          <p:cNvPr id="16" name="Text 12"/>
          <p:cNvSpPr txBox="1"/>
          <p:nvPr/>
        </p:nvSpPr>
        <p:spPr>
          <a:xfrm>
            <a:off x="3054096" y="2697480"/>
            <a:ext cx="1783080" cy="1188720"/>
          </a:xfrm>
          <a:prstGeom prst="rect">
            <a:avLst/>
          </a:prstGeom>
          <a:noFill/>
          <a:ln/>
        </p:spPr>
        <p:txBody>
          <a:bodyPr wrap="square" lIns="0" tIns="0" rIns="0" bIns="0" rtlCol="0" anchor="t"/>
          <a:lstStyle/>
          <a:p>
            <a:pPr algn="l" indent="0" marL="0">
              <a:lnSpc>
                <a:spcPct val="115000"/>
              </a:lnSpc>
              <a:buNone/>
            </a:pPr>
            <a:r>
              <a:rPr lang="en-US" sz="1050" dirty="0">
                <a:solidFill>
                  <a:srgbClr val="5B6675"/>
                </a:solidFill>
                <a:latin typeface="Arial" pitchFamily="34" charset="0"/>
                <a:ea typeface="Arial" pitchFamily="34" charset="-122"/>
                <a:cs typeface="Arial" pitchFamily="34" charset="-120"/>
              </a:rPr>
              <a:t>on your Vercel, with a preview for every change</a:t>
            </a:r>
            <a:endParaRPr lang="en-US" sz="1050" dirty="0"/>
          </a:p>
        </p:txBody>
      </p:sp>
      <p:sp>
        <p:nvSpPr>
          <p:cNvPr id="17" name="Shape 13"/>
          <p:cNvSpPr/>
          <p:nvPr/>
        </p:nvSpPr>
        <p:spPr>
          <a:xfrm>
            <a:off x="5065776" y="1874520"/>
            <a:ext cx="2103120" cy="2103120"/>
          </a:xfrm>
          <a:prstGeom prst="rect">
            <a:avLst/>
          </a:prstGeom>
          <a:solidFill>
            <a:srgbClr val="F3F6FB"/>
          </a:solidFill>
          <a:ln w="9525">
            <a:solidFill>
              <a:srgbClr val="D9E0EA"/>
            </a:solidFill>
            <a:prstDash val="solid"/>
          </a:ln>
        </p:spPr>
      </p:sp>
      <p:sp>
        <p:nvSpPr>
          <p:cNvPr id="18" name="Shape 14"/>
          <p:cNvSpPr/>
          <p:nvPr/>
        </p:nvSpPr>
        <p:spPr>
          <a:xfrm>
            <a:off x="5065776" y="1874520"/>
            <a:ext cx="54864" cy="2103120"/>
          </a:xfrm>
          <a:prstGeom prst="rect">
            <a:avLst/>
          </a:prstGeom>
          <a:solidFill>
            <a:srgbClr val="EF8B39"/>
          </a:solidFill>
          <a:ln w="12700">
            <a:solidFill>
              <a:srgbClr val="EF8B39"/>
            </a:solidFill>
            <a:prstDash val="solid"/>
          </a:ln>
        </p:spPr>
      </p:sp>
      <p:sp>
        <p:nvSpPr>
          <p:cNvPr id="19" name="Text 15"/>
          <p:cNvSpPr txBox="1"/>
          <p:nvPr/>
        </p:nvSpPr>
        <p:spPr>
          <a:xfrm>
            <a:off x="5266944" y="2011680"/>
            <a:ext cx="914400" cy="274320"/>
          </a:xfrm>
          <a:prstGeom prst="rect">
            <a:avLst/>
          </a:prstGeom>
          <a:noFill/>
          <a:ln/>
        </p:spPr>
        <p:txBody>
          <a:bodyPr wrap="square" lIns="0" tIns="0" rIns="0" bIns="0" rtlCol="0" anchor="t"/>
          <a:lstStyle/>
          <a:p>
            <a:pPr algn="l" indent="0" marL="0">
              <a:lnSpc>
                <a:spcPct val="115000"/>
              </a:lnSpc>
              <a:buNone/>
            </a:pPr>
            <a:r>
              <a:rPr lang="en-US" sz="900" dirty="0">
                <a:solidFill>
                  <a:srgbClr val="EF8B39"/>
                </a:solidFill>
                <a:latin typeface="Courier New" pitchFamily="34" charset="0"/>
                <a:ea typeface="Courier New" pitchFamily="34" charset="-122"/>
                <a:cs typeface="Courier New" pitchFamily="34" charset="-120"/>
              </a:rPr>
              <a:t>03</a:t>
            </a:r>
            <a:endParaRPr lang="en-US" sz="900" dirty="0"/>
          </a:p>
        </p:txBody>
      </p:sp>
      <p:sp>
        <p:nvSpPr>
          <p:cNvPr id="20" name="Text 16"/>
          <p:cNvSpPr txBox="1"/>
          <p:nvPr/>
        </p:nvSpPr>
        <p:spPr>
          <a:xfrm>
            <a:off x="5266944" y="2286000"/>
            <a:ext cx="1783080" cy="365760"/>
          </a:xfrm>
          <a:prstGeom prst="rect">
            <a:avLst/>
          </a:prstGeom>
          <a:noFill/>
          <a:ln/>
        </p:spPr>
        <p:txBody>
          <a:bodyPr wrap="square" lIns="0" tIns="0" rIns="0" bIns="0" rtlCol="0" anchor="t"/>
          <a:lstStyle/>
          <a:p>
            <a:pPr indent="0" marL="0">
              <a:buNone/>
            </a:pPr>
            <a:r>
              <a:rPr lang="en-US" sz="1400" b="1" dirty="0">
                <a:solidFill>
                  <a:srgbClr val="0D1219"/>
                </a:solidFill>
                <a:latin typeface="Arial" pitchFamily="34" charset="0"/>
                <a:ea typeface="Arial" pitchFamily="34" charset="-122"/>
                <a:cs typeface="Arial" pitchFamily="34" charset="-120"/>
              </a:rPr>
              <a:t>A test</a:t>
            </a:r>
            <a:endParaRPr lang="en-US" sz="1400" dirty="0"/>
          </a:p>
        </p:txBody>
      </p:sp>
      <p:sp>
        <p:nvSpPr>
          <p:cNvPr id="21" name="Text 17"/>
          <p:cNvSpPr txBox="1"/>
          <p:nvPr/>
        </p:nvSpPr>
        <p:spPr>
          <a:xfrm>
            <a:off x="5266944" y="2697480"/>
            <a:ext cx="1783080" cy="1188720"/>
          </a:xfrm>
          <a:prstGeom prst="rect">
            <a:avLst/>
          </a:prstGeom>
          <a:noFill/>
          <a:ln/>
        </p:spPr>
        <p:txBody>
          <a:bodyPr wrap="square" lIns="0" tIns="0" rIns="0" bIns="0" rtlCol="0" anchor="t"/>
          <a:lstStyle/>
          <a:p>
            <a:pPr algn="l" indent="0" marL="0">
              <a:lnSpc>
                <a:spcPct val="115000"/>
              </a:lnSpc>
              <a:buNone/>
            </a:pPr>
            <a:r>
              <a:rPr lang="en-US" sz="1050" dirty="0">
                <a:solidFill>
                  <a:srgbClr val="5B6675"/>
                </a:solidFill>
                <a:latin typeface="Arial" pitchFamily="34" charset="0"/>
                <a:ea typeface="Arial" pitchFamily="34" charset="-122"/>
                <a:cs typeface="Arial" pitchFamily="34" charset="-120"/>
              </a:rPr>
              <a:t>that runs on every push, whether you remember or not</a:t>
            </a:r>
            <a:endParaRPr lang="en-US" sz="1050" dirty="0"/>
          </a:p>
        </p:txBody>
      </p:sp>
      <p:sp>
        <p:nvSpPr>
          <p:cNvPr id="22" name="Shape 18"/>
          <p:cNvSpPr/>
          <p:nvPr/>
        </p:nvSpPr>
        <p:spPr>
          <a:xfrm>
            <a:off x="7278624" y="1874520"/>
            <a:ext cx="2103120" cy="2103120"/>
          </a:xfrm>
          <a:prstGeom prst="rect">
            <a:avLst/>
          </a:prstGeom>
          <a:solidFill>
            <a:srgbClr val="F3F6FB"/>
          </a:solidFill>
          <a:ln w="9525">
            <a:solidFill>
              <a:srgbClr val="D9E0EA"/>
            </a:solidFill>
            <a:prstDash val="solid"/>
          </a:ln>
        </p:spPr>
      </p:sp>
      <p:sp>
        <p:nvSpPr>
          <p:cNvPr id="23" name="Shape 19"/>
          <p:cNvSpPr/>
          <p:nvPr/>
        </p:nvSpPr>
        <p:spPr>
          <a:xfrm>
            <a:off x="7278624" y="1874520"/>
            <a:ext cx="54864" cy="2103120"/>
          </a:xfrm>
          <a:prstGeom prst="rect">
            <a:avLst/>
          </a:prstGeom>
          <a:solidFill>
            <a:srgbClr val="EF8B39"/>
          </a:solidFill>
          <a:ln w="12700">
            <a:solidFill>
              <a:srgbClr val="EF8B39"/>
            </a:solidFill>
            <a:prstDash val="solid"/>
          </a:ln>
        </p:spPr>
      </p:sp>
      <p:sp>
        <p:nvSpPr>
          <p:cNvPr id="24" name="Text 20"/>
          <p:cNvSpPr txBox="1"/>
          <p:nvPr/>
        </p:nvSpPr>
        <p:spPr>
          <a:xfrm>
            <a:off x="7479792" y="2011680"/>
            <a:ext cx="914400" cy="274320"/>
          </a:xfrm>
          <a:prstGeom prst="rect">
            <a:avLst/>
          </a:prstGeom>
          <a:noFill/>
          <a:ln/>
        </p:spPr>
        <p:txBody>
          <a:bodyPr wrap="square" lIns="0" tIns="0" rIns="0" bIns="0" rtlCol="0" anchor="t"/>
          <a:lstStyle/>
          <a:p>
            <a:pPr algn="l" indent="0" marL="0">
              <a:lnSpc>
                <a:spcPct val="115000"/>
              </a:lnSpc>
              <a:buNone/>
            </a:pPr>
            <a:r>
              <a:rPr lang="en-US" sz="900" dirty="0">
                <a:solidFill>
                  <a:srgbClr val="EF8B39"/>
                </a:solidFill>
                <a:latin typeface="Courier New" pitchFamily="34" charset="0"/>
                <a:ea typeface="Courier New" pitchFamily="34" charset="-122"/>
                <a:cs typeface="Courier New" pitchFamily="34" charset="-120"/>
              </a:rPr>
              <a:t>04</a:t>
            </a:r>
            <a:endParaRPr lang="en-US" sz="900" dirty="0"/>
          </a:p>
        </p:txBody>
      </p:sp>
      <p:sp>
        <p:nvSpPr>
          <p:cNvPr id="25" name="Text 21"/>
          <p:cNvSpPr txBox="1"/>
          <p:nvPr/>
        </p:nvSpPr>
        <p:spPr>
          <a:xfrm>
            <a:off x="7479792" y="2286000"/>
            <a:ext cx="1783080" cy="365760"/>
          </a:xfrm>
          <a:prstGeom prst="rect">
            <a:avLst/>
          </a:prstGeom>
          <a:noFill/>
          <a:ln/>
        </p:spPr>
        <p:txBody>
          <a:bodyPr wrap="square" lIns="0" tIns="0" rIns="0" bIns="0" rtlCol="0" anchor="t"/>
          <a:lstStyle/>
          <a:p>
            <a:pPr indent="0" marL="0">
              <a:buNone/>
            </a:pPr>
            <a:r>
              <a:rPr lang="en-US" sz="1400" b="1" dirty="0">
                <a:solidFill>
                  <a:srgbClr val="0D1219"/>
                </a:solidFill>
                <a:latin typeface="Arial" pitchFamily="34" charset="0"/>
                <a:ea typeface="Arial" pitchFamily="34" charset="-122"/>
                <a:cs typeface="Arial" pitchFamily="34" charset="-120"/>
              </a:rPr>
              <a:t>A rollback</a:t>
            </a:r>
            <a:endParaRPr lang="en-US" sz="1400" dirty="0"/>
          </a:p>
        </p:txBody>
      </p:sp>
      <p:sp>
        <p:nvSpPr>
          <p:cNvPr id="26" name="Text 22"/>
          <p:cNvSpPr txBox="1"/>
          <p:nvPr/>
        </p:nvSpPr>
        <p:spPr>
          <a:xfrm>
            <a:off x="7479792" y="2697480"/>
            <a:ext cx="1783080" cy="1188720"/>
          </a:xfrm>
          <a:prstGeom prst="rect">
            <a:avLst/>
          </a:prstGeom>
          <a:noFill/>
          <a:ln/>
        </p:spPr>
        <p:txBody>
          <a:bodyPr wrap="square" lIns="0" tIns="0" rIns="0" bIns="0" rtlCol="0" anchor="t"/>
          <a:lstStyle/>
          <a:p>
            <a:pPr algn="l" indent="0" marL="0">
              <a:lnSpc>
                <a:spcPct val="115000"/>
              </a:lnSpc>
              <a:buNone/>
            </a:pPr>
            <a:r>
              <a:rPr lang="en-US" sz="1050" dirty="0">
                <a:solidFill>
                  <a:srgbClr val="5B6675"/>
                </a:solidFill>
                <a:latin typeface="Arial" pitchFamily="34" charset="0"/>
                <a:ea typeface="Arial" pitchFamily="34" charset="-122"/>
                <a:cs typeface="Arial" pitchFamily="34" charset="-120"/>
              </a:rPr>
              <a:t>you have used once, so it is not scary the day it matters</a:t>
            </a:r>
            <a:endParaRPr lang="en-US" sz="1050" dirty="0"/>
          </a:p>
        </p:txBody>
      </p:sp>
      <p:sp>
        <p:nvSpPr>
          <p:cNvPr id="27" name="Shape 23"/>
          <p:cNvSpPr/>
          <p:nvPr/>
        </p:nvSpPr>
        <p:spPr>
          <a:xfrm>
            <a:off x="9491472" y="1874520"/>
            <a:ext cx="2103120" cy="2103120"/>
          </a:xfrm>
          <a:prstGeom prst="rect">
            <a:avLst/>
          </a:prstGeom>
          <a:solidFill>
            <a:srgbClr val="F3F6FB"/>
          </a:solidFill>
          <a:ln w="9525">
            <a:solidFill>
              <a:srgbClr val="D9E0EA"/>
            </a:solidFill>
            <a:prstDash val="solid"/>
          </a:ln>
        </p:spPr>
      </p:sp>
      <p:sp>
        <p:nvSpPr>
          <p:cNvPr id="28" name="Shape 24"/>
          <p:cNvSpPr/>
          <p:nvPr/>
        </p:nvSpPr>
        <p:spPr>
          <a:xfrm>
            <a:off x="9491472" y="1874520"/>
            <a:ext cx="54864" cy="2103120"/>
          </a:xfrm>
          <a:prstGeom prst="rect">
            <a:avLst/>
          </a:prstGeom>
          <a:solidFill>
            <a:srgbClr val="EF8B39"/>
          </a:solidFill>
          <a:ln w="12700">
            <a:solidFill>
              <a:srgbClr val="EF8B39"/>
            </a:solidFill>
            <a:prstDash val="solid"/>
          </a:ln>
        </p:spPr>
      </p:sp>
      <p:sp>
        <p:nvSpPr>
          <p:cNvPr id="29" name="Text 25"/>
          <p:cNvSpPr txBox="1"/>
          <p:nvPr/>
        </p:nvSpPr>
        <p:spPr>
          <a:xfrm>
            <a:off x="9692640" y="2011680"/>
            <a:ext cx="914400" cy="274320"/>
          </a:xfrm>
          <a:prstGeom prst="rect">
            <a:avLst/>
          </a:prstGeom>
          <a:noFill/>
          <a:ln/>
        </p:spPr>
        <p:txBody>
          <a:bodyPr wrap="square" lIns="0" tIns="0" rIns="0" bIns="0" rtlCol="0" anchor="t"/>
          <a:lstStyle/>
          <a:p>
            <a:pPr algn="l" indent="0" marL="0">
              <a:lnSpc>
                <a:spcPct val="115000"/>
              </a:lnSpc>
              <a:buNone/>
            </a:pPr>
            <a:r>
              <a:rPr lang="en-US" sz="900" dirty="0">
                <a:solidFill>
                  <a:srgbClr val="EF8B39"/>
                </a:solidFill>
                <a:latin typeface="Courier New" pitchFamily="34" charset="0"/>
                <a:ea typeface="Courier New" pitchFamily="34" charset="-122"/>
                <a:cs typeface="Courier New" pitchFamily="34" charset="-120"/>
              </a:rPr>
              <a:t>05</a:t>
            </a:r>
            <a:endParaRPr lang="en-US" sz="900" dirty="0"/>
          </a:p>
        </p:txBody>
      </p:sp>
      <p:sp>
        <p:nvSpPr>
          <p:cNvPr id="30" name="Text 26"/>
          <p:cNvSpPr txBox="1"/>
          <p:nvPr/>
        </p:nvSpPr>
        <p:spPr>
          <a:xfrm>
            <a:off x="9692640" y="2286000"/>
            <a:ext cx="1783080" cy="365760"/>
          </a:xfrm>
          <a:prstGeom prst="rect">
            <a:avLst/>
          </a:prstGeom>
          <a:noFill/>
          <a:ln/>
        </p:spPr>
        <p:txBody>
          <a:bodyPr wrap="square" lIns="0" tIns="0" rIns="0" bIns="0" rtlCol="0" anchor="t"/>
          <a:lstStyle/>
          <a:p>
            <a:pPr indent="0" marL="0">
              <a:buNone/>
            </a:pPr>
            <a:r>
              <a:rPr lang="en-US" sz="1400" b="1" dirty="0">
                <a:solidFill>
                  <a:srgbClr val="0D1219"/>
                </a:solidFill>
                <a:latin typeface="Arial" pitchFamily="34" charset="0"/>
                <a:ea typeface="Arial" pitchFamily="34" charset="-122"/>
                <a:cs typeface="Arial" pitchFamily="34" charset="-120"/>
              </a:rPr>
              <a:t>A skill</a:t>
            </a:r>
            <a:endParaRPr lang="en-US" sz="1400" dirty="0"/>
          </a:p>
        </p:txBody>
      </p:sp>
      <p:sp>
        <p:nvSpPr>
          <p:cNvPr id="31" name="Text 27"/>
          <p:cNvSpPr txBox="1"/>
          <p:nvPr/>
        </p:nvSpPr>
        <p:spPr>
          <a:xfrm>
            <a:off x="9692640" y="2697480"/>
            <a:ext cx="1783080" cy="1188720"/>
          </a:xfrm>
          <a:prstGeom prst="rect">
            <a:avLst/>
          </a:prstGeom>
          <a:noFill/>
          <a:ln/>
        </p:spPr>
        <p:txBody>
          <a:bodyPr wrap="square" lIns="0" tIns="0" rIns="0" bIns="0" rtlCol="0" anchor="t"/>
          <a:lstStyle/>
          <a:p>
            <a:pPr algn="l" indent="0" marL="0">
              <a:lnSpc>
                <a:spcPct val="115000"/>
              </a:lnSpc>
              <a:buNone/>
            </a:pPr>
            <a:r>
              <a:rPr lang="en-US" sz="1050" dirty="0">
                <a:solidFill>
                  <a:srgbClr val="5B6675"/>
                </a:solidFill>
                <a:latin typeface="Arial" pitchFamily="34" charset="0"/>
                <a:ea typeface="Arial" pitchFamily="34" charset="-122"/>
                <a:cs typeface="Arial" pitchFamily="34" charset="-120"/>
              </a:rPr>
              <a:t>a file in the repo that makes the AI ship it your way, every time</a:t>
            </a:r>
            <a:endParaRPr lang="en-US" sz="1050" dirty="0"/>
          </a:p>
        </p:txBody>
      </p:sp>
      <p:sp>
        <p:nvSpPr>
          <p:cNvPr id="32" name="Shape 28"/>
          <p:cNvSpPr/>
          <p:nvPr/>
        </p:nvSpPr>
        <p:spPr>
          <a:xfrm>
            <a:off x="640080" y="4251960"/>
            <a:ext cx="10908792" cy="1417320"/>
          </a:xfrm>
          <a:prstGeom prst="rect">
            <a:avLst/>
          </a:prstGeom>
          <a:solidFill>
            <a:srgbClr val="E8EEF7"/>
          </a:solidFill>
          <a:ln w="12700">
            <a:solidFill>
              <a:srgbClr val="EF8B39"/>
            </a:solidFill>
            <a:prstDash val="solid"/>
          </a:ln>
        </p:spPr>
      </p:sp>
      <p:sp>
        <p:nvSpPr>
          <p:cNvPr id="33" name="Text 29"/>
          <p:cNvSpPr txBox="1"/>
          <p:nvPr/>
        </p:nvSpPr>
        <p:spPr>
          <a:xfrm>
            <a:off x="868680" y="4389120"/>
            <a:ext cx="5486400" cy="237744"/>
          </a:xfrm>
          <a:prstGeom prst="rect">
            <a:avLst/>
          </a:prstGeom>
          <a:noFill/>
          <a:ln/>
        </p:spPr>
        <p:txBody>
          <a:bodyPr wrap="square" lIns="0" tIns="0" rIns="0" bIns="0" rtlCol="0" anchor="ctr"/>
          <a:lstStyle/>
          <a:p>
            <a:pPr indent="0" marL="0">
              <a:buNone/>
            </a:pPr>
            <a:r>
              <a:rPr lang="en-US" sz="850" b="1" spc="150" kern="0" dirty="0">
                <a:solidFill>
                  <a:srgbClr val="EF8B39"/>
                </a:solidFill>
                <a:latin typeface="Courier New" pitchFamily="34" charset="0"/>
                <a:ea typeface="Courier New" pitchFamily="34" charset="-122"/>
                <a:cs typeface="Courier New" pitchFamily="34" charset="-120"/>
              </a:rPr>
              <a:t>THE MONEY, SAID PLAINLY</a:t>
            </a:r>
            <a:endParaRPr lang="en-US" sz="850" dirty="0"/>
          </a:p>
        </p:txBody>
      </p:sp>
      <p:sp>
        <p:nvSpPr>
          <p:cNvPr id="34" name="Text 30"/>
          <p:cNvSpPr txBox="1"/>
          <p:nvPr/>
        </p:nvSpPr>
        <p:spPr>
          <a:xfrm>
            <a:off x="868680" y="4663440"/>
            <a:ext cx="10451592" cy="914400"/>
          </a:xfrm>
          <a:prstGeom prst="rect">
            <a:avLst/>
          </a:prstGeom>
          <a:noFill/>
          <a:ln/>
        </p:spPr>
        <p:txBody>
          <a:bodyPr wrap="square" lIns="0" tIns="0" rIns="0" bIns="0" rtlCol="0" anchor="t"/>
          <a:lstStyle/>
          <a:p>
            <a:pPr algn="l" indent="0" marL="0">
              <a:lnSpc>
                <a:spcPct val="115000"/>
              </a:lnSpc>
              <a:buNone/>
            </a:pPr>
            <a:r>
              <a:rPr lang="en-US" sz="1250" dirty="0">
                <a:solidFill>
                  <a:srgbClr val="0D1219"/>
                </a:solidFill>
                <a:latin typeface="Arial" pitchFamily="34" charset="0"/>
                <a:ea typeface="Arial" pitchFamily="34" charset="-122"/>
                <a:cs typeface="Arial" pitchFamily="34" charset="-120"/>
              </a:rPr>
              <a:t>The tool you leave with has no builder subscription. The AI you build with is Claude Pro, $20 a month, cancel any time. A site that makes money belongs on Vercel Pro, $20 a month, by Vercel’s own rules. A .com is about $11 a year. That is the whole bill.</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04 / 51</a:t>
            </a:r>
            <a:endParaRPr lang="en-US" sz="900" dirty="0"/>
          </a:p>
        </p:txBody>
      </p:sp>
      <p:sp>
        <p:nvSpPr>
          <p:cNvPr id="5" name="Text 1"/>
          <p:cNvSpPr txBox="1"/>
          <p:nvPr/>
        </p:nvSpPr>
        <p:spPr>
          <a:xfrm>
            <a:off x="640080" y="502920"/>
            <a:ext cx="10908792" cy="274320"/>
          </a:xfrm>
          <a:prstGeom prst="rect">
            <a:avLst/>
          </a:prstGeom>
          <a:noFill/>
          <a:ln/>
        </p:spPr>
        <p:txBody>
          <a:bodyPr wrap="square" lIns="0" tIns="0" rIns="0" bIns="0" rtlCol="0" anchor="ctr"/>
          <a:lstStyle/>
          <a:p>
            <a:pPr indent="0" marL="0">
              <a:buNone/>
            </a:pPr>
            <a:r>
              <a:rPr lang="en-US" sz="1200" b="1" spc="200" kern="0" dirty="0">
                <a:solidFill>
                  <a:srgbClr val="307FE2"/>
                </a:solidFill>
                <a:latin typeface="Courier New" pitchFamily="34" charset="0"/>
                <a:ea typeface="Courier New" pitchFamily="34" charset="-122"/>
                <a:cs typeface="Courier New" pitchFamily="34" charset="-120"/>
              </a:rPr>
              <a:t>// THE DAY AT A GLANCE</a:t>
            </a:r>
            <a:endParaRPr lang="en-US" sz="1200" dirty="0"/>
          </a:p>
        </p:txBody>
      </p:sp>
      <p:sp>
        <p:nvSpPr>
          <p:cNvPr id="6" name="Text 2"/>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600" b="1" dirty="0">
                <a:solidFill>
                  <a:srgbClr val="0D1219"/>
                </a:solidFill>
                <a:latin typeface="Arial" pitchFamily="34" charset="0"/>
                <a:ea typeface="Arial" pitchFamily="34" charset="-122"/>
                <a:cs typeface="Arial" pitchFamily="34" charset="-120"/>
              </a:rPr>
              <a:t>Six hours. Five of class, one of live hacking, in three sprints.</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5349240" cy="914400"/>
        </p:xfrm>
        <a:graphic>
          <a:graphicData uri="http://schemas.openxmlformats.org/drawingml/2006/table">
            <a:tbl>
              <a:tblPr/>
              <a:tblGrid>
                <a:gridCol w="731520"/>
                <a:gridCol w="2011680"/>
                <a:gridCol w="2606040"/>
              </a:tblGrid>
              <a:tr h="365760">
                <a:tc>
                  <a:txBody>
                    <a:bodyPr/>
                    <a:lstStyle/>
                    <a:p>
                      <a:pPr indent="0" marL="0">
                        <a:buNone/>
                      </a:pPr>
                      <a:r>
                        <a:rPr lang="en-US" sz="850" b="1" spc="120" kern="0" dirty="0">
                          <a:solidFill>
                            <a:srgbClr val="FFFFFF"/>
                          </a:solidFill>
                          <a:latin typeface="Courier New" pitchFamily="34" charset="0"/>
                          <a:ea typeface="Courier New" pitchFamily="34" charset="-122"/>
                          <a:cs typeface="Courier New" pitchFamily="34" charset="-120"/>
                        </a:rPr>
                        <a:t>CLOCK</a:t>
                      </a:r>
                      <a:endParaRPr lang="en-US" sz="850" dirty="0">
                        <a:latin typeface="Courier New" charset="0"/>
                        <a:ea typeface="Courier New" charset="0"/>
                        <a:cs typeface="Courier New"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c>
                  <a:txBody>
                    <a:bodyPr/>
                    <a:lstStyle/>
                    <a:p>
                      <a:pPr indent="0" marL="0">
                        <a:buNone/>
                      </a:pPr>
                      <a:r>
                        <a:rPr lang="en-US" sz="850" b="1" spc="120" kern="0" dirty="0">
                          <a:solidFill>
                            <a:srgbClr val="FFFFFF"/>
                          </a:solidFill>
                          <a:latin typeface="Courier New" pitchFamily="34" charset="0"/>
                          <a:ea typeface="Courier New" pitchFamily="34" charset="-122"/>
                          <a:cs typeface="Courier New" pitchFamily="34" charset="-120"/>
                        </a:rPr>
                        <a:t>BLOCK</a:t>
                      </a:r>
                      <a:endParaRPr lang="en-US" sz="850" dirty="0">
                        <a:latin typeface="Courier New" charset="0"/>
                        <a:ea typeface="Courier New" charset="0"/>
                        <a:cs typeface="Courier New"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c>
                  <a:txBody>
                    <a:bodyPr/>
                    <a:lstStyle/>
                    <a:p>
                      <a:pPr indent="0" marL="0">
                        <a:buNone/>
                      </a:pPr>
                      <a:r>
                        <a:rPr lang="en-US" sz="850" b="1" spc="120" kern="0" dirty="0">
                          <a:solidFill>
                            <a:srgbClr val="FFFFFF"/>
                          </a:solidFill>
                          <a:latin typeface="Courier New" pitchFamily="34" charset="0"/>
                          <a:ea typeface="Courier New" pitchFamily="34" charset="-122"/>
                          <a:cs typeface="Courier New" pitchFamily="34" charset="-120"/>
                        </a:rPr>
                        <a:t>YOU WALK AWAY WITH</a:t>
                      </a:r>
                      <a:endParaRPr lang="en-US" sz="850" dirty="0">
                        <a:latin typeface="Courier New" charset="0"/>
                        <a:ea typeface="Courier New" charset="0"/>
                        <a:cs typeface="Courier New"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r>
              <a:tr h="365760">
                <a:tc>
                  <a:txBody>
                    <a:bodyPr/>
                    <a:lstStyle/>
                    <a:p>
                      <a:pPr indent="0" marL="0">
                        <a:buNone/>
                      </a:pPr>
                      <a:r>
                        <a:rPr lang="en-US" sz="1050" dirty="0">
                          <a:solidFill>
                            <a:srgbClr val="0D1219"/>
                          </a:solidFill>
                          <a:latin typeface="Courier New" pitchFamily="34" charset="0"/>
                          <a:ea typeface="Courier New" pitchFamily="34" charset="-122"/>
                          <a:cs typeface="Courier New" pitchFamily="34" charset="-120"/>
                        </a:rPr>
                        <a:t>0:00</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050" b="1" dirty="0">
                          <a:solidFill>
                            <a:srgbClr val="0D1219"/>
                          </a:solidFill>
                          <a:latin typeface="Arial" pitchFamily="34" charset="0"/>
                          <a:ea typeface="Arial" pitchFamily="34" charset="-122"/>
                          <a:cs typeface="Arial" pitchFamily="34" charset="-120"/>
                        </a:rPr>
                        <a:t>Land</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050" dirty="0">
                          <a:solidFill>
                            <a:srgbClr val="5B6675"/>
                          </a:solidFill>
                          <a:latin typeface="Arial" pitchFamily="34" charset="0"/>
                          <a:ea typeface="Arial" pitchFamily="34" charset="-122"/>
                          <a:cs typeface="Arial" pitchFamily="34" charset="-120"/>
                        </a:rPr>
                        <a:t>A repo and a live URL</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365760">
                <a:tc>
                  <a:txBody>
                    <a:bodyPr/>
                    <a:lstStyle/>
                    <a:p>
                      <a:pPr indent="0" marL="0">
                        <a:buNone/>
                      </a:pPr>
                      <a:r>
                        <a:rPr lang="en-US" sz="1050" dirty="0">
                          <a:solidFill>
                            <a:srgbClr val="0D1219"/>
                          </a:solidFill>
                          <a:latin typeface="Courier New" pitchFamily="34" charset="0"/>
                          <a:ea typeface="Courier New" pitchFamily="34" charset="-122"/>
                          <a:cs typeface="Courier New" pitchFamily="34" charset="-120"/>
                        </a:rPr>
                        <a:t>0:25</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050" b="1" dirty="0">
                          <a:solidFill>
                            <a:srgbClr val="0D1219"/>
                          </a:solidFill>
                          <a:latin typeface="Arial" pitchFamily="34" charset="0"/>
                          <a:ea typeface="Arial" pitchFamily="34" charset="-122"/>
                          <a:cs typeface="Arial" pitchFamily="34" charset="-120"/>
                        </a:rPr>
                        <a:t>One year later</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050" dirty="0">
                          <a:solidFill>
                            <a:srgbClr val="5B6675"/>
                          </a:solidFill>
                          <a:latin typeface="Arial" pitchFamily="34" charset="0"/>
                          <a:ea typeface="Arial" pitchFamily="34" charset="-122"/>
                          <a:cs typeface="Arial" pitchFamily="34" charset="-120"/>
                        </a:rPr>
                        <a:t>Why the other half is your job</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0D1219"/>
                          </a:solidFill>
                          <a:latin typeface="Courier New" pitchFamily="34" charset="0"/>
                          <a:ea typeface="Courier New" pitchFamily="34" charset="-122"/>
                          <a:cs typeface="Courier New" pitchFamily="34" charset="-120"/>
                        </a:rPr>
                        <a:t>0:40</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050" b="1" dirty="0">
                          <a:solidFill>
                            <a:srgbClr val="0D1219"/>
                          </a:solidFill>
                          <a:latin typeface="Arial" pitchFamily="34" charset="0"/>
                          <a:ea typeface="Arial" pitchFamily="34" charset="-122"/>
                          <a:cs typeface="Arial" pitchFamily="34" charset="-120"/>
                        </a:rPr>
                        <a:t>Spec</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050" dirty="0">
                          <a:solidFill>
                            <a:srgbClr val="5B6675"/>
                          </a:solidFill>
                          <a:latin typeface="Arial" pitchFamily="34" charset="0"/>
                          <a:ea typeface="Arial" pitchFamily="34" charset="-122"/>
                          <a:cs typeface="Arial" pitchFamily="34" charset="-120"/>
                        </a:rPr>
                        <a:t>spec.md and a plan</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365760">
                <a:tc>
                  <a:txBody>
                    <a:bodyPr/>
                    <a:lstStyle/>
                    <a:p>
                      <a:pPr indent="0" marL="0">
                        <a:buNone/>
                      </a:pPr>
                      <a:r>
                        <a:rPr lang="en-US" sz="1050" dirty="0">
                          <a:solidFill>
                            <a:srgbClr val="0D1219"/>
                          </a:solidFill>
                          <a:latin typeface="Courier New" pitchFamily="34" charset="0"/>
                          <a:ea typeface="Courier New" pitchFamily="34" charset="-122"/>
                          <a:cs typeface="Courier New" pitchFamily="34" charset="-120"/>
                        </a:rPr>
                        <a:t>1:00</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050" b="1" dirty="0">
                          <a:solidFill>
                            <a:srgbClr val="0D1219"/>
                          </a:solidFill>
                          <a:latin typeface="Arial" pitchFamily="34" charset="0"/>
                          <a:ea typeface="Arial" pitchFamily="34" charset="-122"/>
                          <a:cs typeface="Arial" pitchFamily="34" charset="-120"/>
                        </a:rPr>
                        <a:t>First ship</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050" dirty="0">
                          <a:solidFill>
                            <a:srgbClr val="5B6675"/>
                          </a:solidFill>
                          <a:latin typeface="Arial" pitchFamily="34" charset="0"/>
                          <a:ea typeface="Arial" pitchFamily="34" charset="-122"/>
                          <a:cs typeface="Arial" pitchFamily="34" charset="-120"/>
                        </a:rPr>
                        <a:t>One change in production</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7B8594"/>
                          </a:solidFill>
                          <a:latin typeface="Courier New" pitchFamily="34" charset="0"/>
                          <a:ea typeface="Courier New" pitchFamily="34" charset="-122"/>
                          <a:cs typeface="Courier New" pitchFamily="34" charset="-120"/>
                        </a:rPr>
                        <a:t>1:25</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050" b="1" dirty="0">
                          <a:solidFill>
                            <a:srgbClr val="7B8594"/>
                          </a:solidFill>
                          <a:latin typeface="Arial" pitchFamily="34" charset="0"/>
                          <a:ea typeface="Arial" pitchFamily="34" charset="-122"/>
                          <a:cs typeface="Arial" pitchFamily="34" charset="-120"/>
                        </a:rPr>
                        <a:t>Break</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365760">
                <a:tc>
                  <a:txBody>
                    <a:bodyPr/>
                    <a:lstStyle/>
                    <a:p>
                      <a:pPr indent="0" marL="0">
                        <a:buNone/>
                      </a:pPr>
                      <a:r>
                        <a:rPr lang="en-US" sz="1050" dirty="0">
                          <a:solidFill>
                            <a:srgbClr val="0D1219"/>
                          </a:solidFill>
                          <a:latin typeface="Courier New" pitchFamily="34" charset="0"/>
                          <a:ea typeface="Courier New" pitchFamily="34" charset="-122"/>
                          <a:cs typeface="Courier New" pitchFamily="34" charset="-120"/>
                        </a:rPr>
                        <a:t>1:35</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050" b="1" dirty="0">
                          <a:solidFill>
                            <a:srgbClr val="0D1219"/>
                          </a:solidFill>
                          <a:latin typeface="Arial" pitchFamily="34" charset="0"/>
                          <a:ea typeface="Arial" pitchFamily="34" charset="-122"/>
                          <a:cs typeface="Arial" pitchFamily="34" charset="-120"/>
                        </a:rPr>
                        <a:t>Build the one thing</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050" dirty="0">
                          <a:solidFill>
                            <a:srgbClr val="5B6675"/>
                          </a:solidFill>
                          <a:latin typeface="Arial" pitchFamily="34" charset="0"/>
                          <a:ea typeface="Arial" pitchFamily="34" charset="-122"/>
                          <a:cs typeface="Arial" pitchFamily="34" charset="-120"/>
                        </a:rPr>
                        <a:t>Your tool, on a branch</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FFFFFF"/>
                          </a:solidFill>
                          <a:latin typeface="Courier New" pitchFamily="34" charset="0"/>
                          <a:ea typeface="Courier New" pitchFamily="34" charset="-122"/>
                          <a:cs typeface="Courier New" pitchFamily="34" charset="-120"/>
                        </a:rPr>
                        <a:t>2:00</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EF8B3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LIVE HACKING 1</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EF8B39"/>
                    </a:solidFill>
                  </a:tcPr>
                </a:tc>
                <a:tc>
                  <a:txBody>
                    <a:bodyPr/>
                    <a:lstStyle/>
                    <a:p>
                      <a:pPr indent="0" marL="0">
                        <a:buNone/>
                      </a:pPr>
                      <a:r>
                        <a:rPr lang="en-US" sz="1050" dirty="0">
                          <a:solidFill>
                            <a:srgbClr val="FFFFFF"/>
                          </a:solidFill>
                          <a:latin typeface="Arial" pitchFamily="34" charset="0"/>
                          <a:ea typeface="Arial" pitchFamily="34" charset="-122"/>
                          <a:cs typeface="Arial" pitchFamily="34" charset="-120"/>
                        </a:rPr>
                        <a:t>Your columns, your prices</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EF8B39"/>
                    </a:solidFill>
                  </a:tcPr>
                </a:tc>
              </a:tr>
              <a:tr h="365760">
                <a:tc>
                  <a:txBody>
                    <a:bodyPr/>
                    <a:lstStyle/>
                    <a:p>
                      <a:pPr indent="0" marL="0">
                        <a:buNone/>
                      </a:pPr>
                      <a:r>
                        <a:rPr lang="en-US" sz="1050" dirty="0">
                          <a:solidFill>
                            <a:srgbClr val="0D1219"/>
                          </a:solidFill>
                          <a:latin typeface="Courier New" pitchFamily="34" charset="0"/>
                          <a:ea typeface="Courier New" pitchFamily="34" charset="-122"/>
                          <a:cs typeface="Courier New" pitchFamily="34" charset="-120"/>
                        </a:rPr>
                        <a:t>2:20</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050" b="1" dirty="0">
                          <a:solidFill>
                            <a:srgbClr val="0D1219"/>
                          </a:solidFill>
                          <a:latin typeface="Arial" pitchFamily="34" charset="0"/>
                          <a:ea typeface="Arial" pitchFamily="34" charset="-122"/>
                          <a:cs typeface="Arial" pitchFamily="34" charset="-120"/>
                        </a:rPr>
                        <a:t>Test is the gate</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050" dirty="0">
                          <a:solidFill>
                            <a:srgbClr val="5B6675"/>
                          </a:solidFill>
                          <a:latin typeface="Arial" pitchFamily="34" charset="0"/>
                          <a:ea typeface="Arial" pitchFamily="34" charset="-122"/>
                          <a:cs typeface="Arial" pitchFamily="34" charset="-120"/>
                        </a:rPr>
                        <a:t>One green check, one red X</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7B8594"/>
                          </a:solidFill>
                          <a:latin typeface="Courier New" pitchFamily="34" charset="0"/>
                          <a:ea typeface="Courier New" pitchFamily="34" charset="-122"/>
                          <a:cs typeface="Courier New" pitchFamily="34" charset="-120"/>
                        </a:rPr>
                        <a:t>2:45</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050" b="1" dirty="0">
                          <a:solidFill>
                            <a:srgbClr val="7B8594"/>
                          </a:solidFill>
                          <a:latin typeface="Arial" pitchFamily="34" charset="0"/>
                          <a:ea typeface="Arial" pitchFamily="34" charset="-122"/>
                          <a:cs typeface="Arial" pitchFamily="34" charset="-120"/>
                        </a:rPr>
                        <a:t>Lunch</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199632" y="1783080"/>
          <a:ext cx="5349240" cy="914400"/>
        </p:xfrm>
        <a:graphic>
          <a:graphicData uri="http://schemas.openxmlformats.org/drawingml/2006/table">
            <a:tbl>
              <a:tblPr/>
              <a:tblGrid>
                <a:gridCol w="731520"/>
                <a:gridCol w="2011680"/>
                <a:gridCol w="2606040"/>
              </a:tblGrid>
              <a:tr h="365760">
                <a:tc>
                  <a:txBody>
                    <a:bodyPr/>
                    <a:lstStyle/>
                    <a:p>
                      <a:pPr indent="0" marL="0">
                        <a:buNone/>
                      </a:pPr>
                      <a:r>
                        <a:rPr lang="en-US" sz="850" b="1" spc="120" kern="0" dirty="0">
                          <a:solidFill>
                            <a:srgbClr val="FFFFFF"/>
                          </a:solidFill>
                          <a:latin typeface="Courier New" pitchFamily="34" charset="0"/>
                          <a:ea typeface="Courier New" pitchFamily="34" charset="-122"/>
                          <a:cs typeface="Courier New" pitchFamily="34" charset="-120"/>
                        </a:rPr>
                        <a:t>CLOCK</a:t>
                      </a:r>
                      <a:endParaRPr lang="en-US" sz="850" dirty="0">
                        <a:latin typeface="Courier New" charset="0"/>
                        <a:ea typeface="Courier New" charset="0"/>
                        <a:cs typeface="Courier New"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c>
                  <a:txBody>
                    <a:bodyPr/>
                    <a:lstStyle/>
                    <a:p>
                      <a:pPr indent="0" marL="0">
                        <a:buNone/>
                      </a:pPr>
                      <a:r>
                        <a:rPr lang="en-US" sz="850" b="1" spc="120" kern="0" dirty="0">
                          <a:solidFill>
                            <a:srgbClr val="FFFFFF"/>
                          </a:solidFill>
                          <a:latin typeface="Courier New" pitchFamily="34" charset="0"/>
                          <a:ea typeface="Courier New" pitchFamily="34" charset="-122"/>
                          <a:cs typeface="Courier New" pitchFamily="34" charset="-120"/>
                        </a:rPr>
                        <a:t>BLOCK</a:t>
                      </a:r>
                      <a:endParaRPr lang="en-US" sz="850" dirty="0">
                        <a:latin typeface="Courier New" charset="0"/>
                        <a:ea typeface="Courier New" charset="0"/>
                        <a:cs typeface="Courier New"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c>
                  <a:txBody>
                    <a:bodyPr/>
                    <a:lstStyle/>
                    <a:p>
                      <a:pPr indent="0" marL="0">
                        <a:buNone/>
                      </a:pPr>
                      <a:r>
                        <a:rPr lang="en-US" sz="850" b="1" spc="120" kern="0" dirty="0">
                          <a:solidFill>
                            <a:srgbClr val="FFFFFF"/>
                          </a:solidFill>
                          <a:latin typeface="Courier New" pitchFamily="34" charset="0"/>
                          <a:ea typeface="Courier New" pitchFamily="34" charset="-122"/>
                          <a:cs typeface="Courier New" pitchFamily="34" charset="-120"/>
                        </a:rPr>
                        <a:t>YOU WALK AWAY WITH</a:t>
                      </a:r>
                      <a:endParaRPr lang="en-US" sz="850" dirty="0">
                        <a:latin typeface="Courier New" charset="0"/>
                        <a:ea typeface="Courier New" charset="0"/>
                        <a:cs typeface="Courier New"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r>
              <a:tr h="365760">
                <a:tc>
                  <a:txBody>
                    <a:bodyPr/>
                    <a:lstStyle/>
                    <a:p>
                      <a:pPr indent="0" marL="0">
                        <a:buNone/>
                      </a:pPr>
                      <a:r>
                        <a:rPr lang="en-US" sz="1050" dirty="0">
                          <a:solidFill>
                            <a:srgbClr val="0D1219"/>
                          </a:solidFill>
                          <a:latin typeface="Courier New" pitchFamily="34" charset="0"/>
                          <a:ea typeface="Courier New" pitchFamily="34" charset="-122"/>
                          <a:cs typeface="Courier New" pitchFamily="34" charset="-120"/>
                        </a:rPr>
                        <a:t>3:15</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050" b="1" dirty="0">
                          <a:solidFill>
                            <a:srgbClr val="0D1219"/>
                          </a:solidFill>
                          <a:latin typeface="Arial" pitchFamily="34" charset="0"/>
                          <a:ea typeface="Arial" pitchFamily="34" charset="-122"/>
                          <a:cs typeface="Arial" pitchFamily="34" charset="-120"/>
                        </a:rPr>
                        <a:t>Ship and own it</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050" dirty="0">
                          <a:solidFill>
                            <a:srgbClr val="5B6675"/>
                          </a:solidFill>
                          <a:latin typeface="Arial" pitchFamily="34" charset="0"/>
                          <a:ea typeface="Arial" pitchFamily="34" charset="-122"/>
                          <a:cs typeface="Arial" pitchFamily="34" charset="-120"/>
                        </a:rPr>
                        <a:t>A rollback, clean secrets, a review</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365760">
                <a:tc>
                  <a:txBody>
                    <a:bodyPr/>
                    <a:lstStyle/>
                    <a:p>
                      <a:pPr indent="0" marL="0">
                        <a:buNone/>
                      </a:pPr>
                      <a:r>
                        <a:rPr lang="en-US" sz="1050" dirty="0">
                          <a:solidFill>
                            <a:srgbClr val="0D1219"/>
                          </a:solidFill>
                          <a:latin typeface="Courier New" pitchFamily="34" charset="0"/>
                          <a:ea typeface="Courier New" pitchFamily="34" charset="-122"/>
                          <a:cs typeface="Courier New" pitchFamily="34" charset="-120"/>
                        </a:rPr>
                        <a:t>3:35</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050" b="1" dirty="0">
                          <a:solidFill>
                            <a:srgbClr val="0D1219"/>
                          </a:solidFill>
                          <a:latin typeface="Arial" pitchFamily="34" charset="0"/>
                          <a:ea typeface="Arial" pitchFamily="34" charset="-122"/>
                          <a:cs typeface="Arial" pitchFamily="34" charset="-120"/>
                        </a:rPr>
                        <a:t>Give it a memory</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050" dirty="0">
                          <a:solidFill>
                            <a:srgbClr val="5B6675"/>
                          </a:solidFill>
                          <a:latin typeface="Arial" pitchFamily="34" charset="0"/>
                          <a:ea typeface="Arial" pitchFamily="34" charset="-122"/>
                          <a:cs typeface="Arial" pitchFamily="34" charset="-120"/>
                        </a:rPr>
                        <a:t>A database in your account</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FFFFFF"/>
                          </a:solidFill>
                          <a:latin typeface="Courier New" pitchFamily="34" charset="0"/>
                          <a:ea typeface="Courier New" pitchFamily="34" charset="-122"/>
                          <a:cs typeface="Courier New" pitchFamily="34" charset="-120"/>
                        </a:rPr>
                        <a:t>4:05</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EF8B3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LIVE HACKING 2</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EF8B39"/>
                    </a:solidFill>
                  </a:tcPr>
                </a:tc>
                <a:tc>
                  <a:txBody>
                    <a:bodyPr/>
                    <a:lstStyle/>
                    <a:p>
                      <a:pPr indent="0" marL="0">
                        <a:buNone/>
                      </a:pPr>
                      <a:r>
                        <a:rPr lang="en-US" sz="1050" dirty="0">
                          <a:solidFill>
                            <a:srgbClr val="FFFFFF"/>
                          </a:solidFill>
                          <a:latin typeface="Arial" pitchFamily="34" charset="0"/>
                          <a:ea typeface="Arial" pitchFamily="34" charset="-122"/>
                          <a:cs typeface="Arial" pitchFamily="34" charset="-120"/>
                        </a:rPr>
                        <a:t>A feature through the gate</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EF8B39"/>
                    </a:solidFill>
                  </a:tcPr>
                </a:tc>
              </a:tr>
              <a:tr h="365760">
                <a:tc>
                  <a:txBody>
                    <a:bodyPr/>
                    <a:lstStyle/>
                    <a:p>
                      <a:pPr indent="0" marL="0">
                        <a:buNone/>
                      </a:pPr>
                      <a:r>
                        <a:rPr lang="en-US" sz="1050" dirty="0">
                          <a:solidFill>
                            <a:srgbClr val="7B8594"/>
                          </a:solidFill>
                          <a:latin typeface="Courier New" pitchFamily="34" charset="0"/>
                          <a:ea typeface="Courier New" pitchFamily="34" charset="-122"/>
                          <a:cs typeface="Courier New" pitchFamily="34" charset="-120"/>
                        </a:rPr>
                        <a:t>4:25</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050" b="1" dirty="0">
                          <a:solidFill>
                            <a:srgbClr val="7B8594"/>
                          </a:solidFill>
                          <a:latin typeface="Arial" pitchFamily="34" charset="0"/>
                          <a:ea typeface="Arial" pitchFamily="34" charset="-122"/>
                          <a:cs typeface="Arial" pitchFamily="34" charset="-120"/>
                        </a:rPr>
                        <a:t>Break</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0D1219"/>
                          </a:solidFill>
                          <a:latin typeface="Courier New" pitchFamily="34" charset="0"/>
                          <a:ea typeface="Courier New" pitchFamily="34" charset="-122"/>
                          <a:cs typeface="Courier New" pitchFamily="34" charset="-120"/>
                        </a:rPr>
                        <a:t>4:35</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050" b="1" dirty="0">
                          <a:solidFill>
                            <a:srgbClr val="0D1219"/>
                          </a:solidFill>
                          <a:latin typeface="Arial" pitchFamily="34" charset="0"/>
                          <a:ea typeface="Arial" pitchFamily="34" charset="-122"/>
                          <a:cs typeface="Arial" pitchFamily="34" charset="-120"/>
                        </a:rPr>
                        <a:t>Hear about it</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050" dirty="0">
                          <a:solidFill>
                            <a:srgbClr val="5B6675"/>
                          </a:solidFill>
                          <a:latin typeface="Arial" pitchFamily="34" charset="0"/>
                          <a:ea typeface="Arial" pitchFamily="34" charset="-122"/>
                          <a:cs typeface="Arial" pitchFamily="34" charset="-120"/>
                        </a:rPr>
                        <a:t>An email when a customer submits</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365760">
                <a:tc>
                  <a:txBody>
                    <a:bodyPr/>
                    <a:lstStyle/>
                    <a:p>
                      <a:pPr indent="0" marL="0">
                        <a:buNone/>
                      </a:pPr>
                      <a:r>
                        <a:rPr lang="en-US" sz="1050" dirty="0">
                          <a:solidFill>
                            <a:srgbClr val="0D1219"/>
                          </a:solidFill>
                          <a:latin typeface="Courier New" pitchFamily="34" charset="0"/>
                          <a:ea typeface="Courier New" pitchFamily="34" charset="-122"/>
                          <a:cs typeface="Courier New" pitchFamily="34" charset="-120"/>
                        </a:rPr>
                        <a:t>4:55</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050" b="1" dirty="0">
                          <a:solidFill>
                            <a:srgbClr val="0D1219"/>
                          </a:solidFill>
                          <a:latin typeface="Arial" pitchFamily="34" charset="0"/>
                          <a:ea typeface="Arial" pitchFamily="34" charset="-122"/>
                          <a:cs typeface="Arial" pitchFamily="34" charset="-120"/>
                        </a:rPr>
                        <a:t>Own it</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050" dirty="0">
                          <a:solidFill>
                            <a:srgbClr val="5B6675"/>
                          </a:solidFill>
                          <a:latin typeface="Arial" pitchFamily="34" charset="0"/>
                          <a:ea typeface="Arial" pitchFamily="34" charset="-122"/>
                          <a:cs typeface="Arial" pitchFamily="34" charset="-120"/>
                        </a:rPr>
                        <a:t>The bill, and when to call a pro</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0D1219"/>
                          </a:solidFill>
                          <a:latin typeface="Courier New" pitchFamily="34" charset="0"/>
                          <a:ea typeface="Courier New" pitchFamily="34" charset="-122"/>
                          <a:cs typeface="Courier New" pitchFamily="34" charset="-120"/>
                        </a:rPr>
                        <a:t>5:10</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050" b="1" dirty="0">
                          <a:solidFill>
                            <a:srgbClr val="0D1219"/>
                          </a:solidFill>
                          <a:latin typeface="Arial" pitchFamily="34" charset="0"/>
                          <a:ea typeface="Arial" pitchFamily="34" charset="-122"/>
                          <a:cs typeface="Arial" pitchFamily="34" charset="-120"/>
                        </a:rPr>
                        <a:t>Skills</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050" dirty="0">
                          <a:solidFill>
                            <a:srgbClr val="5B6675"/>
                          </a:solidFill>
                          <a:latin typeface="Arial" pitchFamily="34" charset="0"/>
                          <a:ea typeface="Arial" pitchFamily="34" charset="-122"/>
                          <a:cs typeface="Arial" pitchFamily="34" charset="-120"/>
                        </a:rPr>
                        <a:t>A checklist the AI runs</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365760">
                <a:tc>
                  <a:txBody>
                    <a:bodyPr/>
                    <a:lstStyle/>
                    <a:p>
                      <a:pPr indent="0" marL="0">
                        <a:buNone/>
                      </a:pPr>
                      <a:r>
                        <a:rPr lang="en-US" sz="1050" dirty="0">
                          <a:solidFill>
                            <a:srgbClr val="FFFFFF"/>
                          </a:solidFill>
                          <a:latin typeface="Courier New" pitchFamily="34" charset="0"/>
                          <a:ea typeface="Courier New" pitchFamily="34" charset="-122"/>
                          <a:cs typeface="Courier New" pitchFamily="34" charset="-120"/>
                        </a:rPr>
                        <a:t>5:30</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EF8B39"/>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LIVE HACKING 3</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EF8B39"/>
                    </a:solidFill>
                  </a:tcPr>
                </a:tc>
                <a:tc>
                  <a:txBody>
                    <a:bodyPr/>
                    <a:lstStyle/>
                    <a:p>
                      <a:pPr indent="0" marL="0">
                        <a:buNone/>
                      </a:pPr>
                      <a:r>
                        <a:rPr lang="en-US" sz="1050" dirty="0">
                          <a:solidFill>
                            <a:srgbClr val="FFFFFF"/>
                          </a:solidFill>
                          <a:latin typeface="Arial" pitchFamily="34" charset="0"/>
                          <a:ea typeface="Arial" pitchFamily="34" charset="-122"/>
                          <a:cs typeface="Arial" pitchFamily="34" charset="-120"/>
                        </a:rPr>
                        <a:t>A demo on your production URL</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EF8B39"/>
                    </a:solidFill>
                  </a:tcPr>
                </a:tc>
              </a:tr>
              <a:tr h="365760">
                <a:tc>
                  <a:txBody>
                    <a:bodyPr/>
                    <a:lstStyle/>
                    <a:p>
                      <a:pPr indent="0" marL="0">
                        <a:buNone/>
                      </a:pPr>
                      <a:r>
                        <a:rPr lang="en-US" sz="1050" dirty="0">
                          <a:solidFill>
                            <a:srgbClr val="0D1219"/>
                          </a:solidFill>
                          <a:latin typeface="Courier New" pitchFamily="34" charset="0"/>
                          <a:ea typeface="Courier New" pitchFamily="34" charset="-122"/>
                          <a:cs typeface="Courier New" pitchFamily="34" charset="-120"/>
                        </a:rPr>
                        <a:t>5:50</a:t>
                      </a:r>
                      <a:endParaRPr lang="en-US" sz="1050" dirty="0">
                        <a:latin typeface="Courier New" charset="0"/>
                        <a:ea typeface="Courier New" charset="0"/>
                        <a:cs typeface="Courier New"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050" b="1" dirty="0">
                          <a:solidFill>
                            <a:srgbClr val="0D1219"/>
                          </a:solidFill>
                          <a:latin typeface="Arial" pitchFamily="34" charset="0"/>
                          <a:ea typeface="Arial" pitchFamily="34" charset="-122"/>
                          <a:cs typeface="Arial" pitchFamily="34" charset="-120"/>
                        </a:rPr>
                        <a:t>What you own</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050" dirty="0">
                          <a:solidFill>
                            <a:srgbClr val="5B6675"/>
                          </a:solidFill>
                          <a:latin typeface="Arial" pitchFamily="34" charset="0"/>
                          <a:ea typeface="Arial" pitchFamily="34" charset="-122"/>
                          <a:cs typeface="Arial" pitchFamily="34" charset="-120"/>
                        </a:rPr>
                        <a:t>The Monday list</a:t>
                      </a:r>
                      <a:endParaRPr lang="en-US" sz="1050" dirty="0">
                        <a:latin typeface="Arial" charset="0"/>
                        <a:ea typeface="Arial" charset="0"/>
                        <a:cs typeface="Arial" charset="0"/>
                      </a:endParaRPr>
                    </a:p>
                  </a:txBody>
                  <a:tcPr marL="76200" marR="762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bl>
          </a:graphicData>
        </a:graphic>
      </p:graphicFrame>
      <p:sp>
        <p:nvSpPr>
          <p:cNvPr id="9" name="Text 3"/>
          <p:cNvSpPr txBox="1"/>
          <p:nvPr/>
        </p:nvSpPr>
        <p:spPr>
          <a:xfrm>
            <a:off x="640080" y="5577840"/>
            <a:ext cx="10908792" cy="365760"/>
          </a:xfrm>
          <a:prstGeom prst="rect">
            <a:avLst/>
          </a:prstGeom>
          <a:noFill/>
          <a:ln/>
        </p:spPr>
        <p:txBody>
          <a:bodyPr wrap="square" lIns="0" tIns="0" rIns="0" bIns="0" rtlCol="0" anchor="t"/>
          <a:lstStyle/>
          <a:p>
            <a:pPr algn="l" indent="0" marL="0">
              <a:lnSpc>
                <a:spcPct val="115000"/>
              </a:lnSpc>
              <a:buNone/>
            </a:pPr>
            <a:r>
              <a:rPr lang="en-US" sz="1250" dirty="0">
                <a:solidFill>
                  <a:srgbClr val="0D1219"/>
                </a:solidFill>
                <a:latin typeface="Arial" pitchFamily="34" charset="0"/>
                <a:ea typeface="Arial" pitchFamily="34" charset="-122"/>
                <a:cs typeface="Arial" pitchFamily="34" charset="-120"/>
              </a:rPr>
              <a:t>Orange rows are yours: your tool, your keyboard. I hack on mine on the projector at the same time, mistakes included.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05 / 51</a:t>
            </a:r>
            <a:endParaRPr lang="en-US" sz="900" dirty="0"/>
          </a:p>
        </p:txBody>
      </p:sp>
      <p:sp>
        <p:nvSpPr>
          <p:cNvPr id="5" name="Text 1"/>
          <p:cNvSpPr txBox="1"/>
          <p:nvPr/>
        </p:nvSpPr>
        <p:spPr>
          <a:xfrm>
            <a:off x="640080" y="502920"/>
            <a:ext cx="10908792" cy="274320"/>
          </a:xfrm>
          <a:prstGeom prst="rect">
            <a:avLst/>
          </a:prstGeom>
          <a:noFill/>
          <a:ln/>
        </p:spPr>
        <p:txBody>
          <a:bodyPr wrap="square" lIns="0" tIns="0" rIns="0" bIns="0" rtlCol="0" anchor="ctr"/>
          <a:lstStyle/>
          <a:p>
            <a:pPr indent="0" marL="0">
              <a:buNone/>
            </a:pPr>
            <a:r>
              <a:rPr lang="en-US" sz="1200" b="1" spc="200" kern="0" dirty="0">
                <a:solidFill>
                  <a:srgbClr val="307FE2"/>
                </a:solidFill>
                <a:latin typeface="Courier New" pitchFamily="34" charset="0"/>
                <a:ea typeface="Courier New" pitchFamily="34" charset="-122"/>
                <a:cs typeface="Courier New" pitchFamily="34" charset="-120"/>
              </a:rPr>
              <a:t>// HOW THE ROOM WORKS</a:t>
            </a:r>
            <a:endParaRPr lang="en-US" sz="1200" dirty="0"/>
          </a:p>
        </p:txBody>
      </p:sp>
      <p:sp>
        <p:nvSpPr>
          <p:cNvPr id="6" name="Text 2"/>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3000" b="1" dirty="0">
                <a:solidFill>
                  <a:srgbClr val="0D1219"/>
                </a:solidFill>
                <a:latin typeface="Arial" pitchFamily="34" charset="0"/>
                <a:ea typeface="Arial" pitchFamily="34" charset="-122"/>
                <a:cs typeface="Arial" pitchFamily="34" charset="-120"/>
              </a:rPr>
              <a:t>Four rules for the next six hours</a:t>
            </a:r>
            <a:endParaRPr lang="en-US" sz="3000" dirty="0"/>
          </a:p>
        </p:txBody>
      </p:sp>
      <p:sp>
        <p:nvSpPr>
          <p:cNvPr id="7" name="Shape 3"/>
          <p:cNvSpPr/>
          <p:nvPr/>
        </p:nvSpPr>
        <p:spPr>
          <a:xfrm>
            <a:off x="640080" y="1874520"/>
            <a:ext cx="5349240" cy="1600200"/>
          </a:xfrm>
          <a:prstGeom prst="rect">
            <a:avLst/>
          </a:prstGeom>
          <a:solidFill>
            <a:srgbClr val="F3F6FB"/>
          </a:solidFill>
          <a:ln w="9525">
            <a:solidFill>
              <a:srgbClr val="D9E0EA"/>
            </a:solidFill>
            <a:prstDash val="solid"/>
          </a:ln>
        </p:spPr>
      </p:sp>
      <p:sp>
        <p:nvSpPr>
          <p:cNvPr id="8" name="Shape 4"/>
          <p:cNvSpPr/>
          <p:nvPr/>
        </p:nvSpPr>
        <p:spPr>
          <a:xfrm>
            <a:off x="640080" y="1874520"/>
            <a:ext cx="54864" cy="1600200"/>
          </a:xfrm>
          <a:prstGeom prst="rect">
            <a:avLst/>
          </a:prstGeom>
          <a:solidFill>
            <a:srgbClr val="307FE2"/>
          </a:solidFill>
          <a:ln w="12700">
            <a:solidFill>
              <a:srgbClr val="307FE2"/>
            </a:solidFill>
            <a:prstDash val="solid"/>
          </a:ln>
        </p:spPr>
      </p:sp>
      <p:sp>
        <p:nvSpPr>
          <p:cNvPr id="9" name="Text 5"/>
          <p:cNvSpPr txBox="1"/>
          <p:nvPr/>
        </p:nvSpPr>
        <p:spPr>
          <a:xfrm>
            <a:off x="868680" y="2057400"/>
            <a:ext cx="4937760" cy="365760"/>
          </a:xfrm>
          <a:prstGeom prst="rect">
            <a:avLst/>
          </a:prstGeom>
          <a:noFill/>
          <a:ln/>
        </p:spPr>
        <p:txBody>
          <a:bodyPr wrap="square" lIns="0" tIns="0" rIns="0" bIns="0" rtlCol="0" anchor="t"/>
          <a:lstStyle/>
          <a:p>
            <a:pPr indent="0" marL="0">
              <a:buNone/>
            </a:pPr>
            <a:r>
              <a:rPr lang="en-US" sz="1500" b="1" dirty="0">
                <a:solidFill>
                  <a:srgbClr val="0D1219"/>
                </a:solidFill>
                <a:latin typeface="Arial" pitchFamily="34" charset="0"/>
                <a:ea typeface="Arial" pitchFamily="34" charset="-122"/>
                <a:cs typeface="Arial" pitchFamily="34" charset="-120"/>
              </a:rPr>
              <a:t>Stickies, not hands</a:t>
            </a:r>
            <a:endParaRPr lang="en-US" sz="1500" dirty="0"/>
          </a:p>
        </p:txBody>
      </p:sp>
      <p:sp>
        <p:nvSpPr>
          <p:cNvPr id="10" name="Text 6"/>
          <p:cNvSpPr txBox="1"/>
          <p:nvPr/>
        </p:nvSpPr>
        <p:spPr>
          <a:xfrm>
            <a:off x="868680" y="2441448"/>
            <a:ext cx="4937760" cy="960120"/>
          </a:xfrm>
          <a:prstGeom prst="rect">
            <a:avLst/>
          </a:prstGeom>
          <a:noFill/>
          <a:ln/>
        </p:spPr>
        <p:txBody>
          <a:bodyPr wrap="square" lIns="0" tIns="0" rIns="0" bIns="0" rtlCol="0" anchor="t"/>
          <a:lstStyle/>
          <a:p>
            <a:pPr algn="l" indent="0" marL="0">
              <a:lnSpc>
                <a:spcPct val="115000"/>
              </a:lnSpc>
              <a:buNone/>
            </a:pPr>
            <a:r>
              <a:rPr lang="en-US" sz="1150" dirty="0">
                <a:solidFill>
                  <a:srgbClr val="5B6675"/>
                </a:solidFill>
                <a:latin typeface="Arial" pitchFamily="34" charset="0"/>
                <a:ea typeface="Arial" pitchFamily="34" charset="-122"/>
                <a:cs typeface="Arial" pitchFamily="34" charset="-120"/>
              </a:rPr>
              <a:t>Green on your lid when the step is done. Red when you are stuck: a helper comes to you.</a:t>
            </a:r>
            <a:endParaRPr lang="en-US" sz="1150" dirty="0"/>
          </a:p>
        </p:txBody>
      </p:sp>
      <p:sp>
        <p:nvSpPr>
          <p:cNvPr id="11" name="Shape 7"/>
          <p:cNvSpPr/>
          <p:nvPr/>
        </p:nvSpPr>
        <p:spPr>
          <a:xfrm>
            <a:off x="6172200" y="1874520"/>
            <a:ext cx="5349240" cy="1600200"/>
          </a:xfrm>
          <a:prstGeom prst="rect">
            <a:avLst/>
          </a:prstGeom>
          <a:solidFill>
            <a:srgbClr val="F3F6FB"/>
          </a:solidFill>
          <a:ln w="9525">
            <a:solidFill>
              <a:srgbClr val="D9E0EA"/>
            </a:solidFill>
            <a:prstDash val="solid"/>
          </a:ln>
        </p:spPr>
      </p:sp>
      <p:sp>
        <p:nvSpPr>
          <p:cNvPr id="12" name="Shape 8"/>
          <p:cNvSpPr/>
          <p:nvPr/>
        </p:nvSpPr>
        <p:spPr>
          <a:xfrm>
            <a:off x="6172200" y="1874520"/>
            <a:ext cx="54864" cy="1600200"/>
          </a:xfrm>
          <a:prstGeom prst="rect">
            <a:avLst/>
          </a:prstGeom>
          <a:solidFill>
            <a:srgbClr val="307FE2"/>
          </a:solidFill>
          <a:ln w="12700">
            <a:solidFill>
              <a:srgbClr val="307FE2"/>
            </a:solidFill>
            <a:prstDash val="solid"/>
          </a:ln>
        </p:spPr>
      </p:sp>
      <p:sp>
        <p:nvSpPr>
          <p:cNvPr id="13" name="Text 9"/>
          <p:cNvSpPr txBox="1"/>
          <p:nvPr/>
        </p:nvSpPr>
        <p:spPr>
          <a:xfrm>
            <a:off x="6400800" y="2057400"/>
            <a:ext cx="4937760" cy="365760"/>
          </a:xfrm>
          <a:prstGeom prst="rect">
            <a:avLst/>
          </a:prstGeom>
          <a:noFill/>
          <a:ln/>
        </p:spPr>
        <p:txBody>
          <a:bodyPr wrap="square" lIns="0" tIns="0" rIns="0" bIns="0" rtlCol="0" anchor="t"/>
          <a:lstStyle/>
          <a:p>
            <a:pPr indent="0" marL="0">
              <a:buNone/>
            </a:pPr>
            <a:r>
              <a:rPr lang="en-US" sz="1500" b="1" dirty="0">
                <a:solidFill>
                  <a:srgbClr val="0D1219"/>
                </a:solidFill>
                <a:latin typeface="Arial" pitchFamily="34" charset="0"/>
                <a:ea typeface="Arial" pitchFamily="34" charset="-122"/>
                <a:cs typeface="Arial" pitchFamily="34" charset="-120"/>
              </a:rPr>
              <a:t>Pairs</a:t>
            </a:r>
            <a:endParaRPr lang="en-US" sz="1500" dirty="0"/>
          </a:p>
        </p:txBody>
      </p:sp>
      <p:sp>
        <p:nvSpPr>
          <p:cNvPr id="14" name="Text 10"/>
          <p:cNvSpPr txBox="1"/>
          <p:nvPr/>
        </p:nvSpPr>
        <p:spPr>
          <a:xfrm>
            <a:off x="6400800" y="2441448"/>
            <a:ext cx="4937760" cy="960120"/>
          </a:xfrm>
          <a:prstGeom prst="rect">
            <a:avLst/>
          </a:prstGeom>
          <a:noFill/>
          <a:ln/>
        </p:spPr>
        <p:txBody>
          <a:bodyPr wrap="square" lIns="0" tIns="0" rIns="0" bIns="0" rtlCol="0" anchor="t"/>
          <a:lstStyle/>
          <a:p>
            <a:pPr algn="l" indent="0" marL="0">
              <a:lnSpc>
                <a:spcPct val="115000"/>
              </a:lnSpc>
              <a:buNone/>
            </a:pPr>
            <a:r>
              <a:rPr lang="en-US" sz="1150" dirty="0">
                <a:solidFill>
                  <a:srgbClr val="5B6675"/>
                </a:solidFill>
                <a:latin typeface="Arial" pitchFamily="34" charset="0"/>
                <a:ea typeface="Arial" pitchFamily="34" charset="-122"/>
                <a:cs typeface="Arial" pitchFamily="34" charset="-120"/>
              </a:rPr>
              <a:t>The nervous one types. The confident one reads the plan out loud. Swap after every break.</a:t>
            </a:r>
            <a:endParaRPr lang="en-US" sz="1150" dirty="0"/>
          </a:p>
        </p:txBody>
      </p:sp>
      <p:sp>
        <p:nvSpPr>
          <p:cNvPr id="15" name="Shape 11"/>
          <p:cNvSpPr/>
          <p:nvPr/>
        </p:nvSpPr>
        <p:spPr>
          <a:xfrm>
            <a:off x="640080" y="3657600"/>
            <a:ext cx="5349240" cy="1600200"/>
          </a:xfrm>
          <a:prstGeom prst="rect">
            <a:avLst/>
          </a:prstGeom>
          <a:solidFill>
            <a:srgbClr val="F3F6FB"/>
          </a:solidFill>
          <a:ln w="9525">
            <a:solidFill>
              <a:srgbClr val="D9E0EA"/>
            </a:solidFill>
            <a:prstDash val="solid"/>
          </a:ln>
        </p:spPr>
      </p:sp>
      <p:sp>
        <p:nvSpPr>
          <p:cNvPr id="16" name="Shape 12"/>
          <p:cNvSpPr/>
          <p:nvPr/>
        </p:nvSpPr>
        <p:spPr>
          <a:xfrm>
            <a:off x="640080" y="3657600"/>
            <a:ext cx="54864" cy="1600200"/>
          </a:xfrm>
          <a:prstGeom prst="rect">
            <a:avLst/>
          </a:prstGeom>
          <a:solidFill>
            <a:srgbClr val="307FE2"/>
          </a:solidFill>
          <a:ln w="12700">
            <a:solidFill>
              <a:srgbClr val="307FE2"/>
            </a:solidFill>
            <a:prstDash val="solid"/>
          </a:ln>
        </p:spPr>
      </p:sp>
      <p:sp>
        <p:nvSpPr>
          <p:cNvPr id="17" name="Text 13"/>
          <p:cNvSpPr txBox="1"/>
          <p:nvPr/>
        </p:nvSpPr>
        <p:spPr>
          <a:xfrm>
            <a:off x="868680" y="3840480"/>
            <a:ext cx="4937760" cy="365760"/>
          </a:xfrm>
          <a:prstGeom prst="rect">
            <a:avLst/>
          </a:prstGeom>
          <a:noFill/>
          <a:ln/>
        </p:spPr>
        <p:txBody>
          <a:bodyPr wrap="square" lIns="0" tIns="0" rIns="0" bIns="0" rtlCol="0" anchor="t"/>
          <a:lstStyle/>
          <a:p>
            <a:pPr indent="0" marL="0">
              <a:buNone/>
            </a:pPr>
            <a:r>
              <a:rPr lang="en-US" sz="1500" b="1" dirty="0">
                <a:solidFill>
                  <a:srgbClr val="0D1219"/>
                </a:solidFill>
                <a:latin typeface="Arial" pitchFamily="34" charset="0"/>
                <a:ea typeface="Arial" pitchFamily="34" charset="-122"/>
                <a:cs typeface="Arial" pitchFamily="34" charset="-120"/>
              </a:rPr>
              <a:t>One path</a:t>
            </a:r>
            <a:endParaRPr lang="en-US" sz="1500" dirty="0"/>
          </a:p>
        </p:txBody>
      </p:sp>
      <p:sp>
        <p:nvSpPr>
          <p:cNvPr id="18" name="Text 14"/>
          <p:cNvSpPr txBox="1"/>
          <p:nvPr/>
        </p:nvSpPr>
        <p:spPr>
          <a:xfrm>
            <a:off x="868680" y="4224528"/>
            <a:ext cx="4937760" cy="960120"/>
          </a:xfrm>
          <a:prstGeom prst="rect">
            <a:avLst/>
          </a:prstGeom>
          <a:noFill/>
          <a:ln/>
        </p:spPr>
        <p:txBody>
          <a:bodyPr wrap="square" lIns="0" tIns="0" rIns="0" bIns="0" rtlCol="0" anchor="t"/>
          <a:lstStyle/>
          <a:p>
            <a:pPr algn="l" indent="0" marL="0">
              <a:lnSpc>
                <a:spcPct val="115000"/>
              </a:lnSpc>
              <a:buNone/>
            </a:pPr>
            <a:r>
              <a:rPr lang="en-US" sz="1150" dirty="0">
                <a:solidFill>
                  <a:srgbClr val="5B6675"/>
                </a:solidFill>
                <a:latin typeface="Arial" pitchFamily="34" charset="0"/>
                <a:ea typeface="Arial" pitchFamily="34" charset="-122"/>
                <a:cs typeface="Arial" pitchFamily="34" charset="-120"/>
              </a:rPr>
              <a:t>Claude Desktop app, GitHub Desktop, a browser. No terminal. No Node. No installs during class.</a:t>
            </a:r>
            <a:endParaRPr lang="en-US" sz="1150" dirty="0"/>
          </a:p>
        </p:txBody>
      </p:sp>
      <p:sp>
        <p:nvSpPr>
          <p:cNvPr id="19" name="Shape 15"/>
          <p:cNvSpPr/>
          <p:nvPr/>
        </p:nvSpPr>
        <p:spPr>
          <a:xfrm>
            <a:off x="6172200" y="3657600"/>
            <a:ext cx="5349240" cy="1600200"/>
          </a:xfrm>
          <a:prstGeom prst="rect">
            <a:avLst/>
          </a:prstGeom>
          <a:solidFill>
            <a:srgbClr val="F3F6FB"/>
          </a:solidFill>
          <a:ln w="9525">
            <a:solidFill>
              <a:srgbClr val="D9E0EA"/>
            </a:solidFill>
            <a:prstDash val="solid"/>
          </a:ln>
        </p:spPr>
      </p:sp>
      <p:sp>
        <p:nvSpPr>
          <p:cNvPr id="20" name="Shape 16"/>
          <p:cNvSpPr/>
          <p:nvPr/>
        </p:nvSpPr>
        <p:spPr>
          <a:xfrm>
            <a:off x="6172200" y="3657600"/>
            <a:ext cx="54864" cy="1600200"/>
          </a:xfrm>
          <a:prstGeom prst="rect">
            <a:avLst/>
          </a:prstGeom>
          <a:solidFill>
            <a:srgbClr val="EF8B39"/>
          </a:solidFill>
          <a:ln w="12700">
            <a:solidFill>
              <a:srgbClr val="EF8B39"/>
            </a:solidFill>
            <a:prstDash val="solid"/>
          </a:ln>
        </p:spPr>
      </p:sp>
      <p:sp>
        <p:nvSpPr>
          <p:cNvPr id="21" name="Text 17"/>
          <p:cNvSpPr txBox="1"/>
          <p:nvPr/>
        </p:nvSpPr>
        <p:spPr>
          <a:xfrm>
            <a:off x="6400800" y="3840480"/>
            <a:ext cx="4937760" cy="365760"/>
          </a:xfrm>
          <a:prstGeom prst="rect">
            <a:avLst/>
          </a:prstGeom>
          <a:noFill/>
          <a:ln/>
        </p:spPr>
        <p:txBody>
          <a:bodyPr wrap="square" lIns="0" tIns="0" rIns="0" bIns="0" rtlCol="0" anchor="t"/>
          <a:lstStyle/>
          <a:p>
            <a:pPr indent="0" marL="0">
              <a:buNone/>
            </a:pPr>
            <a:r>
              <a:rPr lang="en-US" sz="1500" b="1" dirty="0">
                <a:solidFill>
                  <a:srgbClr val="0D1219"/>
                </a:solidFill>
                <a:latin typeface="Arial" pitchFamily="34" charset="0"/>
                <a:ea typeface="Arial" pitchFamily="34" charset="-122"/>
                <a:cs typeface="Arial" pitchFamily="34" charset="-120"/>
              </a:rPr>
              <a:t>Watch the mistakes</a:t>
            </a:r>
            <a:endParaRPr lang="en-US" sz="1500" dirty="0"/>
          </a:p>
        </p:txBody>
      </p:sp>
      <p:sp>
        <p:nvSpPr>
          <p:cNvPr id="22" name="Text 18"/>
          <p:cNvSpPr txBox="1"/>
          <p:nvPr/>
        </p:nvSpPr>
        <p:spPr>
          <a:xfrm>
            <a:off x="6400800" y="4224528"/>
            <a:ext cx="4937760" cy="960120"/>
          </a:xfrm>
          <a:prstGeom prst="rect">
            <a:avLst/>
          </a:prstGeom>
          <a:noFill/>
          <a:ln/>
        </p:spPr>
        <p:txBody>
          <a:bodyPr wrap="square" lIns="0" tIns="0" rIns="0" bIns="0" rtlCol="0" anchor="t"/>
          <a:lstStyle/>
          <a:p>
            <a:pPr algn="l" indent="0" marL="0">
              <a:lnSpc>
                <a:spcPct val="115000"/>
              </a:lnSpc>
              <a:buNone/>
            </a:pPr>
            <a:r>
              <a:rPr lang="en-US" sz="1150" dirty="0">
                <a:solidFill>
                  <a:srgbClr val="5B6675"/>
                </a:solidFill>
                <a:latin typeface="Arial" pitchFamily="34" charset="0"/>
                <a:ea typeface="Arial" pitchFamily="34" charset="-122"/>
                <a:cs typeface="Arial" pitchFamily="34" charset="-120"/>
              </a:rPr>
              <a:t>I build live at about twice your speed. When the AI gets it wrong on my screen, good. That is what you got stuck on at home.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06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1  ·  LAND  ·  20 MIN  ·  HANDS-ON</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0:00 – 0:20</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700" b="1" dirty="0">
                <a:solidFill>
                  <a:srgbClr val="0D1219"/>
                </a:solidFill>
                <a:latin typeface="Arial" pitchFamily="34" charset="0"/>
                <a:ea typeface="Arial" pitchFamily="34" charset="-122"/>
                <a:cs typeface="Arial" pitchFamily="34" charset="-120"/>
              </a:rPr>
              <a:t>Own a repo and a live URL before you install anything.</a:t>
            </a:r>
            <a:endParaRPr lang="en-US" sz="2700" dirty="0"/>
          </a:p>
        </p:txBody>
      </p:sp>
      <p:sp>
        <p:nvSpPr>
          <p:cNvPr id="8" name="Shape 4"/>
          <p:cNvSpPr/>
          <p:nvPr/>
        </p:nvSpPr>
        <p:spPr>
          <a:xfrm>
            <a:off x="640080" y="1783080"/>
            <a:ext cx="10908792" cy="868680"/>
          </a:xfrm>
          <a:prstGeom prst="rect">
            <a:avLst/>
          </a:prstGeom>
          <a:solidFill>
            <a:srgbClr val="121B2B"/>
          </a:solidFill>
          <a:ln w="12700">
            <a:solidFill>
              <a:srgbClr val="EF8B39"/>
            </a:solidFill>
            <a:prstDash val="solid"/>
          </a:ln>
        </p:spPr>
      </p:sp>
      <p:sp>
        <p:nvSpPr>
          <p:cNvPr id="9" name="Text 5"/>
          <p:cNvSpPr/>
          <p:nvPr/>
        </p:nvSpPr>
        <p:spPr>
          <a:xfrm>
            <a:off x="822960" y="1892808"/>
            <a:ext cx="10543032" cy="228600"/>
          </a:xfrm>
          <a:prstGeom prst="rect">
            <a:avLst/>
          </a:prstGeom>
          <a:noFill/>
          <a:ln/>
        </p:spPr>
        <p:txBody>
          <a:bodyPr wrap="square" lIns="0" tIns="0" rIns="0" bIns="0" rtlCol="0" anchor="ctr"/>
          <a:lstStyle/>
          <a:p>
            <a:pPr indent="0" marL="0">
              <a:buNone/>
            </a:pPr>
            <a:r>
              <a:rPr lang="en-US" sz="800" b="1" spc="150" kern="0" dirty="0">
                <a:solidFill>
                  <a:srgbClr val="EF8B39"/>
                </a:solidFill>
                <a:latin typeface="Courier New" pitchFamily="34" charset="0"/>
                <a:ea typeface="Courier New" pitchFamily="34" charset="-122"/>
                <a:cs typeface="Courier New" pitchFamily="34" charset="-120"/>
              </a:rPr>
              <a:t>OPEN THIS LINK (ALSO ON THE PRINTED CARD AND THE QR BY THE DOOR)</a:t>
            </a:r>
            <a:endParaRPr lang="en-US" sz="800" dirty="0"/>
          </a:p>
        </p:txBody>
      </p:sp>
      <p:sp>
        <p:nvSpPr>
          <p:cNvPr id="10" name="Text 6"/>
          <p:cNvSpPr txBox="1"/>
          <p:nvPr/>
        </p:nvSpPr>
        <p:spPr>
          <a:xfrm>
            <a:off x="822960" y="2167128"/>
            <a:ext cx="10543032" cy="365760"/>
          </a:xfrm>
          <a:prstGeom prst="rect">
            <a:avLst/>
          </a:prstGeom>
          <a:noFill/>
          <a:ln/>
        </p:spPr>
        <p:txBody>
          <a:bodyPr wrap="square" lIns="0" tIns="0" rIns="0" bIns="0" rtlCol="0" anchor="t"/>
          <a:lstStyle/>
          <a:p>
            <a:pPr indent="0" marL="0">
              <a:lnSpc>
                <a:spcPct val="120000"/>
              </a:lnSpc>
              <a:buNone/>
            </a:pPr>
            <a:r>
              <a:rPr lang="en-US" sz="1300" dirty="0">
                <a:solidFill>
                  <a:srgbClr val="E6EBF2"/>
                </a:solidFill>
                <a:latin typeface="Courier New" pitchFamily="34" charset="0"/>
                <a:ea typeface="Courier New" pitchFamily="34" charset="-122"/>
                <a:cs typeface="Courier New" pitchFamily="34" charset="-120"/>
              </a:rPr>
              <a:t>https://vercel.com/new/clone?repository-url=https://github.com/mrhinkle/unstuck-starter</a:t>
            </a:r>
            <a:endParaRPr lang="en-US" sz="1300" dirty="0"/>
          </a:p>
        </p:txBody>
      </p:sp>
      <p:sp>
        <p:nvSpPr>
          <p:cNvPr id="11" name="Text 7"/>
          <p:cNvSpPr txBox="1"/>
          <p:nvPr/>
        </p:nvSpPr>
        <p:spPr>
          <a:xfrm>
            <a:off x="640080" y="2880360"/>
            <a:ext cx="10908792" cy="2377440"/>
          </a:xfrm>
          <a:prstGeom prst="rect">
            <a:avLst/>
          </a:prstGeom>
          <a:noFill/>
          <a:ln/>
        </p:spPr>
        <p:txBody>
          <a:bodyPr wrap="square" lIns="0" tIns="0" rIns="0" bIns="0" rtlCol="0" anchor="t"/>
          <a:lstStyle/>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1  Open the link. Sign in to GitHub, then Vercel, when asked. Signing in to Vercel with GitHub is what puts the repo in YOUR account.</a:t>
            </a:r>
            <a:endParaRPr lang="en-US" sz="1200" dirty="0"/>
          </a:p>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2  Name the repository after your business. Letters, digits, dashes. Click Create and wait for the build.</a:t>
            </a:r>
            <a:endParaRPr lang="en-US" sz="1200" dirty="0"/>
          </a:p>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3  Click Visit. Paste your new vercel.app URL in the shared doc next to your name.</a:t>
            </a:r>
            <a:endParaRPr lang="en-US" sz="1200" dirty="0"/>
          </a:p>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4  Open GitHub Desktop → File → Clone repository → pick the one you just made. Note where it saved.</a:t>
            </a:r>
            <a:endParaRPr lang="en-US" sz="1200" dirty="0"/>
          </a:p>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5  Open the Claude Desktop app, choose Code, and open that folder. Green sticky when Claude can see your repo.</a:t>
            </a:r>
            <a:endParaRPr lang="en-US" sz="1200" dirty="0"/>
          </a:p>
        </p:txBody>
      </p:sp>
      <p:sp>
        <p:nvSpPr>
          <p:cNvPr id="12" name="Shape 8"/>
          <p:cNvSpPr/>
          <p:nvPr/>
        </p:nvSpPr>
        <p:spPr>
          <a:xfrm>
            <a:off x="640080" y="5806440"/>
            <a:ext cx="256032" cy="256032"/>
          </a:xfrm>
          <a:prstGeom prst="rect">
            <a:avLst/>
          </a:prstGeom>
          <a:solidFill>
            <a:srgbClr val="22C55E"/>
          </a:solidFill>
          <a:ln w="12700">
            <a:solidFill>
              <a:srgbClr val="22C55E"/>
            </a:solidFill>
            <a:prstDash val="solid"/>
          </a:ln>
        </p:spPr>
      </p:sp>
      <p:sp>
        <p:nvSpPr>
          <p:cNvPr id="13" name="Text 9"/>
          <p:cNvSpPr/>
          <p:nvPr/>
        </p:nvSpPr>
        <p:spPr>
          <a:xfrm>
            <a:off x="987552" y="5806440"/>
            <a:ext cx="237744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Green sticky = done</a:t>
            </a:r>
            <a:endParaRPr lang="en-US" sz="1100" dirty="0"/>
          </a:p>
        </p:txBody>
      </p:sp>
      <p:sp>
        <p:nvSpPr>
          <p:cNvPr id="14" name="Shape 10"/>
          <p:cNvSpPr/>
          <p:nvPr/>
        </p:nvSpPr>
        <p:spPr>
          <a:xfrm>
            <a:off x="3474720" y="5806440"/>
            <a:ext cx="256032" cy="256032"/>
          </a:xfrm>
          <a:prstGeom prst="rect">
            <a:avLst/>
          </a:prstGeom>
          <a:solidFill>
            <a:srgbClr val="EF4444"/>
          </a:solidFill>
          <a:ln w="12700">
            <a:solidFill>
              <a:srgbClr val="EF4444"/>
            </a:solidFill>
            <a:prstDash val="solid"/>
          </a:ln>
        </p:spPr>
      </p:sp>
      <p:sp>
        <p:nvSpPr>
          <p:cNvPr id="15" name="Text 11"/>
          <p:cNvSpPr/>
          <p:nvPr/>
        </p:nvSpPr>
        <p:spPr>
          <a:xfrm>
            <a:off x="3822192" y="5806440"/>
            <a:ext cx="411480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Red sticky = a helper comes to you</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07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1  ·  LAND  ·  20 MIN  ·  FALLBACK</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STILL RED AT 0:15?</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700" b="1" dirty="0">
                <a:solidFill>
                  <a:srgbClr val="0D1219"/>
                </a:solidFill>
                <a:latin typeface="Arial" pitchFamily="34" charset="0"/>
                <a:ea typeface="Arial" pitchFamily="34" charset="-122"/>
                <a:cs typeface="Arial" pitchFamily="34" charset="-120"/>
              </a:rPr>
              <a:t>Still red at 0:15? Move to the browser. You lose nothing.</a:t>
            </a:r>
            <a:endParaRPr lang="en-US" sz="2700" dirty="0"/>
          </a:p>
        </p:txBody>
      </p:sp>
      <p:sp>
        <p:nvSpPr>
          <p:cNvPr id="8" name="Shape 4"/>
          <p:cNvSpPr/>
          <p:nvPr/>
        </p:nvSpPr>
        <p:spPr>
          <a:xfrm>
            <a:off x="640080" y="1783080"/>
            <a:ext cx="5394960" cy="3566160"/>
          </a:xfrm>
          <a:prstGeom prst="rect">
            <a:avLst/>
          </a:prstGeom>
          <a:solidFill>
            <a:srgbClr val="E8EEF7"/>
          </a:solidFill>
          <a:ln w="9525">
            <a:solidFill>
              <a:srgbClr val="D9E0EA"/>
            </a:solidFill>
            <a:prstDash val="solid"/>
          </a:ln>
        </p:spPr>
      </p:sp>
      <p:sp>
        <p:nvSpPr>
          <p:cNvPr id="9" name="Shape 5"/>
          <p:cNvSpPr/>
          <p:nvPr/>
        </p:nvSpPr>
        <p:spPr>
          <a:xfrm>
            <a:off x="640080" y="1783080"/>
            <a:ext cx="54864" cy="3566160"/>
          </a:xfrm>
          <a:prstGeom prst="rect">
            <a:avLst/>
          </a:prstGeom>
          <a:solidFill>
            <a:srgbClr val="22C55E"/>
          </a:solidFill>
          <a:ln w="12700">
            <a:solidFill>
              <a:srgbClr val="22C55E"/>
            </a:solidFill>
            <a:prstDash val="solid"/>
          </a:ln>
        </p:spPr>
      </p:sp>
      <p:sp>
        <p:nvSpPr>
          <p:cNvPr id="10" name="Text 6"/>
          <p:cNvSpPr txBox="1"/>
          <p:nvPr/>
        </p:nvSpPr>
        <p:spPr>
          <a:xfrm>
            <a:off x="868680" y="1920240"/>
            <a:ext cx="4572000" cy="237744"/>
          </a:xfrm>
          <a:prstGeom prst="rect">
            <a:avLst/>
          </a:prstGeom>
          <a:noFill/>
          <a:ln/>
        </p:spPr>
        <p:txBody>
          <a:bodyPr wrap="square" lIns="0" tIns="0" rIns="0" bIns="0" rtlCol="0" anchor="ctr"/>
          <a:lstStyle/>
          <a:p>
            <a:pPr indent="0" marL="0">
              <a:buNone/>
            </a:pPr>
            <a:r>
              <a:rPr lang="en-US" sz="850" b="1" spc="150" kern="0" dirty="0">
                <a:solidFill>
                  <a:srgbClr val="EF8B39"/>
                </a:solidFill>
                <a:latin typeface="Courier New" pitchFamily="34" charset="0"/>
                <a:ea typeface="Courier New" pitchFamily="34" charset="-122"/>
                <a:cs typeface="Courier New" pitchFamily="34" charset="-120"/>
              </a:rPr>
              <a:t>THE ZERO-INSTALL PATH</a:t>
            </a:r>
            <a:endParaRPr lang="en-US" sz="850" dirty="0"/>
          </a:p>
        </p:txBody>
      </p:sp>
      <p:sp>
        <p:nvSpPr>
          <p:cNvPr id="11" name="Text 7"/>
          <p:cNvSpPr txBox="1"/>
          <p:nvPr/>
        </p:nvSpPr>
        <p:spPr>
          <a:xfrm>
            <a:off x="868680" y="2240280"/>
            <a:ext cx="4937760" cy="3017520"/>
          </a:xfrm>
          <a:prstGeom prst="rect">
            <a:avLst/>
          </a:prstGeom>
          <a:noFill/>
          <a:ln/>
        </p:spPr>
        <p:txBody>
          <a:bodyPr wrap="square" lIns="0" tIns="0" rIns="0" bIns="0" rtlCol="0" anchor="t"/>
          <a:lstStyle/>
          <a:p>
            <a:pPr marL="177800" indent="-177800">
              <a:lnSpc>
                <a:spcPct val="115000"/>
              </a:lnSpc>
              <a:spcAft>
                <a:spcPts val="600"/>
              </a:spcAft>
              <a:buSzPct val="100000"/>
              <a:buChar char="•"/>
            </a:pPr>
            <a:r>
              <a:rPr lang="en-US" sz="1150" dirty="0">
                <a:solidFill>
                  <a:srgbClr val="5B6675"/>
                </a:solidFill>
                <a:latin typeface="Arial" pitchFamily="34" charset="0"/>
                <a:ea typeface="Arial" pitchFamily="34" charset="-122"/>
                <a:cs typeface="Arial" pitchFamily="34" charset="-120"/>
              </a:rPr>
              <a:t>Open claude.ai/code in any browser (paid Claude plan + GitHub).</a:t>
            </a:r>
            <a:endParaRPr lang="en-US" sz="1150" dirty="0"/>
          </a:p>
          <a:p>
            <a:pPr marL="177800" indent="-177800">
              <a:lnSpc>
                <a:spcPct val="115000"/>
              </a:lnSpc>
              <a:spcAft>
                <a:spcPts val="600"/>
              </a:spcAft>
              <a:buSzPct val="100000"/>
              <a:buChar char="•"/>
            </a:pPr>
            <a:r>
              <a:rPr lang="en-US" sz="1150" dirty="0">
                <a:solidFill>
                  <a:srgbClr val="5B6675"/>
                </a:solidFill>
                <a:latin typeface="Arial" pitchFamily="34" charset="0"/>
                <a:ea typeface="Arial" pitchFamily="34" charset="-122"/>
                <a:cs typeface="Arial" pitchFamily="34" charset="-120"/>
              </a:rPr>
              <a:t>Pick the repository the Deploy Button just created.</a:t>
            </a:r>
            <a:endParaRPr lang="en-US" sz="1150" dirty="0"/>
          </a:p>
          <a:p>
            <a:pPr marL="177800" indent="-177800">
              <a:lnSpc>
                <a:spcPct val="115000"/>
              </a:lnSpc>
              <a:spcAft>
                <a:spcPts val="600"/>
              </a:spcAft>
              <a:buSzPct val="100000"/>
              <a:buChar char="•"/>
            </a:pPr>
            <a:r>
              <a:rPr lang="en-US" sz="1150" dirty="0">
                <a:solidFill>
                  <a:srgbClr val="5B6675"/>
                </a:solidFill>
                <a:latin typeface="Arial" pitchFamily="34" charset="0"/>
                <a:ea typeface="Arial" pitchFamily="34" charset="-122"/>
                <a:cs typeface="Arial" pitchFamily="34" charset="-120"/>
              </a:rPr>
              <a:t>Every prompt today works there too. Claude clones your repo into a cloud machine and pushes a branch to YOUR GitHub.</a:t>
            </a:r>
            <a:endParaRPr lang="en-US" sz="1150" dirty="0"/>
          </a:p>
          <a:p>
            <a:pPr marL="177800" indent="-177800">
              <a:lnSpc>
                <a:spcPct val="115000"/>
              </a:lnSpc>
              <a:spcAft>
                <a:spcPts val="600"/>
              </a:spcAft>
              <a:buSzPct val="100000"/>
              <a:buChar char="•"/>
            </a:pPr>
            <a:r>
              <a:rPr lang="en-US" sz="1150" dirty="0">
                <a:solidFill>
                  <a:srgbClr val="5B6675"/>
                </a:solidFill>
                <a:latin typeface="Arial" pitchFamily="34" charset="0"/>
                <a:ea typeface="Arial" pitchFamily="34" charset="-122"/>
                <a:cs typeface="Arial" pitchFamily="34" charset="-120"/>
              </a:rPr>
              <a:t>Second fallback: GitHub → “Use this template” → “Open in a codespace”. Publish before you leave or the work is deleted.</a:t>
            </a:r>
            <a:endParaRPr lang="en-US" sz="1150" dirty="0"/>
          </a:p>
        </p:txBody>
      </p:sp>
      <p:sp>
        <p:nvSpPr>
          <p:cNvPr id="12" name="Shape 8"/>
          <p:cNvSpPr/>
          <p:nvPr/>
        </p:nvSpPr>
        <p:spPr>
          <a:xfrm>
            <a:off x="6263640" y="1783080"/>
            <a:ext cx="5285232" cy="3566160"/>
          </a:xfrm>
          <a:prstGeom prst="rect">
            <a:avLst/>
          </a:prstGeom>
          <a:solidFill>
            <a:srgbClr val="F3F6FB"/>
          </a:solidFill>
          <a:ln w="9525">
            <a:solidFill>
              <a:srgbClr val="D9E0EA"/>
            </a:solidFill>
            <a:prstDash val="solid"/>
          </a:ln>
        </p:spPr>
      </p:sp>
      <p:sp>
        <p:nvSpPr>
          <p:cNvPr id="13" name="Shape 9"/>
          <p:cNvSpPr/>
          <p:nvPr/>
        </p:nvSpPr>
        <p:spPr>
          <a:xfrm>
            <a:off x="6263640" y="1783080"/>
            <a:ext cx="54864" cy="3566160"/>
          </a:xfrm>
          <a:prstGeom prst="rect">
            <a:avLst/>
          </a:prstGeom>
          <a:solidFill>
            <a:srgbClr val="EF4444"/>
          </a:solidFill>
          <a:ln w="12700">
            <a:solidFill>
              <a:srgbClr val="EF4444"/>
            </a:solidFill>
            <a:prstDash val="solid"/>
          </a:ln>
        </p:spPr>
      </p:sp>
      <p:sp>
        <p:nvSpPr>
          <p:cNvPr id="14" name="Text 10"/>
          <p:cNvSpPr txBox="1"/>
          <p:nvPr/>
        </p:nvSpPr>
        <p:spPr>
          <a:xfrm>
            <a:off x="6492240" y="1920240"/>
            <a:ext cx="4572000" cy="237744"/>
          </a:xfrm>
          <a:prstGeom prst="rect">
            <a:avLst/>
          </a:prstGeom>
          <a:noFill/>
          <a:ln/>
        </p:spPr>
        <p:txBody>
          <a:bodyPr wrap="square" lIns="0" tIns="0" rIns="0" bIns="0" rtlCol="0" anchor="ctr"/>
          <a:lstStyle/>
          <a:p>
            <a:pPr indent="0" marL="0">
              <a:buNone/>
            </a:pPr>
            <a:r>
              <a:rPr lang="en-US" sz="850" b="1" spc="150" kern="0" dirty="0">
                <a:solidFill>
                  <a:srgbClr val="EF8B39"/>
                </a:solidFill>
                <a:latin typeface="Courier New" pitchFamily="34" charset="0"/>
                <a:ea typeface="Courier New" pitchFamily="34" charset="-122"/>
                <a:cs typeface="Courier New" pitchFamily="34" charset="-120"/>
              </a:rPr>
              <a:t>HELPER TRIAGE CARD (STOP AFTER STEP 3)</a:t>
            </a:r>
            <a:endParaRPr lang="en-US" sz="850" dirty="0"/>
          </a:p>
        </p:txBody>
      </p:sp>
      <p:sp>
        <p:nvSpPr>
          <p:cNvPr id="15" name="Text 11"/>
          <p:cNvSpPr txBox="1"/>
          <p:nvPr/>
        </p:nvSpPr>
        <p:spPr>
          <a:xfrm>
            <a:off x="6492240" y="2240280"/>
            <a:ext cx="4846320" cy="3017520"/>
          </a:xfrm>
          <a:prstGeom prst="rect">
            <a:avLst/>
          </a:prstGeom>
          <a:noFill/>
          <a:ln/>
        </p:spPr>
        <p:txBody>
          <a:bodyPr wrap="square" lIns="0" tIns="0" rIns="0" bIns="0" rtlCol="0" anchor="t"/>
          <a:lstStyle/>
          <a:p>
            <a:pPr indent="0" marL="0">
              <a:lnSpc>
                <a:spcPct val="115000"/>
              </a:lnSpc>
              <a:spcAft>
                <a:spcPts val="500"/>
              </a:spcAft>
              <a:buNone/>
            </a:pPr>
            <a:r>
              <a:rPr lang="en-US" sz="1100" dirty="0">
                <a:solidFill>
                  <a:srgbClr val="0D1219"/>
                </a:solidFill>
                <a:latin typeface="Arial" pitchFamily="34" charset="0"/>
                <a:ea typeface="Arial" pitchFamily="34" charset="-122"/>
                <a:cs typeface="Arial" pitchFamily="34" charset="-120"/>
              </a:rPr>
              <a:t>1  Does the Claude Desktop app open and sign in? Free plan fails here: it needs Pro.</a:t>
            </a:r>
            <a:endParaRPr lang="en-US" sz="1100" dirty="0"/>
          </a:p>
          <a:p>
            <a:pPr indent="0" marL="0">
              <a:lnSpc>
                <a:spcPct val="115000"/>
              </a:lnSpc>
              <a:spcAft>
                <a:spcPts val="500"/>
              </a:spcAft>
              <a:buNone/>
            </a:pPr>
            <a:r>
              <a:rPr lang="en-US" sz="1100" dirty="0">
                <a:solidFill>
                  <a:srgbClr val="0D1219"/>
                </a:solidFill>
                <a:latin typeface="Arial" pitchFamily="34" charset="0"/>
                <a:ea typeface="Arial" pitchFamily="34" charset="-122"/>
                <a:cs typeface="Arial" pitchFamily="34" charset="-120"/>
              </a:rPr>
              <a:t>2  Windows: is Git for Windows installed? Mac: is it macOS 13 or newer?</a:t>
            </a:r>
            <a:endParaRPr lang="en-US" sz="1100" dirty="0"/>
          </a:p>
          <a:p>
            <a:pPr indent="0" marL="0">
              <a:lnSpc>
                <a:spcPct val="115000"/>
              </a:lnSpc>
              <a:spcAft>
                <a:spcPts val="500"/>
              </a:spcAft>
              <a:buNone/>
            </a:pPr>
            <a:r>
              <a:rPr lang="en-US" sz="1100" dirty="0">
                <a:solidFill>
                  <a:srgbClr val="0D1219"/>
                </a:solidFill>
                <a:latin typeface="Arial" pitchFamily="34" charset="0"/>
                <a:ea typeface="Arial" pitchFamily="34" charset="-122"/>
                <a:cs typeface="Arial" pitchFamily="34" charset="-120"/>
              </a:rPr>
              <a:t>3  If either answer is no → browser path. Do not debug further.</a:t>
            </a:r>
            <a:endParaRPr lang="en-US" sz="1100" dirty="0"/>
          </a:p>
          <a:p>
            <a:pPr indent="0" marL="0">
              <a:lnSpc>
                <a:spcPct val="115000"/>
              </a:lnSpc>
              <a:spcAft>
                <a:spcPts val="500"/>
              </a:spcAft>
              <a:buNone/>
            </a:pPr>
            <a:r>
              <a:rPr lang="en-US" sz="1100" dirty="0">
                <a:solidFill>
                  <a:srgbClr val="0D1219"/>
                </a:solidFill>
                <a:latin typeface="Arial" pitchFamily="34" charset="0"/>
                <a:ea typeface="Arial" pitchFamily="34" charset="-122"/>
                <a:cs typeface="Arial" pitchFamily="34" charset="-120"/>
              </a:rPr>
              <a:t>4  GitHub Desktop signed in? If it was installed today on Windows, sign out of Windows and back in.</a:t>
            </a:r>
            <a:endParaRPr lang="en-US" sz="1100" dirty="0"/>
          </a:p>
          <a:p>
            <a:pPr indent="0" marL="0">
              <a:lnSpc>
                <a:spcPct val="115000"/>
              </a:lnSpc>
              <a:spcAft>
                <a:spcPts val="500"/>
              </a:spcAft>
              <a:buNone/>
            </a:pPr>
            <a:r>
              <a:rPr lang="en-US" sz="1100" dirty="0">
                <a:solidFill>
                  <a:srgbClr val="0D1219"/>
                </a:solidFill>
                <a:latin typeface="Arial" pitchFamily="34" charset="0"/>
                <a:ea typeface="Arial" pitchFamily="34" charset="-122"/>
                <a:cs typeface="Arial" pitchFamily="34" charset="-120"/>
              </a:rPr>
              <a:t>5  Vercel signed in with GitHub (not email)? Otherwise the repo lands in the wrong place.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08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2  ·  ONE YEAR LATER  ·  15 MIN  ·  TALK</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0:25 – 0:40</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700" b="1" dirty="0">
                <a:solidFill>
                  <a:srgbClr val="0D1219"/>
                </a:solidFill>
                <a:latin typeface="Arial" pitchFamily="34" charset="0"/>
                <a:ea typeface="Arial" pitchFamily="34" charset="-122"/>
                <a:cs typeface="Arial" pitchFamily="34" charset="-120"/>
              </a:rPr>
              <a:t>The man who coined it picked a new word within a year.</a:t>
            </a:r>
            <a:endParaRPr lang="en-US" sz="2700" dirty="0"/>
          </a:p>
        </p:txBody>
      </p:sp>
      <p:sp>
        <p:nvSpPr>
          <p:cNvPr id="8" name="Shape 4"/>
          <p:cNvSpPr/>
          <p:nvPr/>
        </p:nvSpPr>
        <p:spPr>
          <a:xfrm>
            <a:off x="640080" y="2514600"/>
            <a:ext cx="10908792" cy="0"/>
          </a:xfrm>
          <a:prstGeom prst="line">
            <a:avLst/>
          </a:prstGeom>
          <a:noFill/>
          <a:ln w="12700">
            <a:solidFill>
              <a:srgbClr val="D9E0EA"/>
            </a:solidFill>
            <a:prstDash val="solid"/>
          </a:ln>
        </p:spPr>
      </p:sp>
      <p:sp>
        <p:nvSpPr>
          <p:cNvPr id="9" name="Shape 5"/>
          <p:cNvSpPr/>
          <p:nvPr/>
        </p:nvSpPr>
        <p:spPr>
          <a:xfrm>
            <a:off x="658368" y="2414016"/>
            <a:ext cx="201168" cy="201168"/>
          </a:xfrm>
          <a:prstGeom prst="ellipse">
            <a:avLst/>
          </a:prstGeom>
          <a:solidFill>
            <a:srgbClr val="307FE2"/>
          </a:solidFill>
          <a:ln w="12700">
            <a:solidFill>
              <a:srgbClr val="FFFFFF"/>
            </a:solidFill>
            <a:prstDash val="solid"/>
          </a:ln>
        </p:spPr>
      </p:sp>
      <p:sp>
        <p:nvSpPr>
          <p:cNvPr id="10" name="Text 6"/>
          <p:cNvSpPr txBox="1"/>
          <p:nvPr/>
        </p:nvSpPr>
        <p:spPr>
          <a:xfrm>
            <a:off x="640080" y="1874520"/>
            <a:ext cx="2560320" cy="274320"/>
          </a:xfrm>
          <a:prstGeom prst="rect">
            <a:avLst/>
          </a:prstGeom>
          <a:noFill/>
          <a:ln/>
        </p:spPr>
        <p:txBody>
          <a:bodyPr wrap="square" lIns="0" tIns="0" rIns="0" bIns="0" rtlCol="0" anchor="t"/>
          <a:lstStyle/>
          <a:p>
            <a:pPr algn="l" indent="0" marL="0">
              <a:lnSpc>
                <a:spcPct val="115000"/>
              </a:lnSpc>
              <a:buNone/>
            </a:pPr>
            <a:r>
              <a:rPr lang="en-US" sz="950" dirty="0">
                <a:solidFill>
                  <a:srgbClr val="EF8B39"/>
                </a:solidFill>
                <a:latin typeface="Courier New" pitchFamily="34" charset="0"/>
                <a:ea typeface="Courier New" pitchFamily="34" charset="-122"/>
                <a:cs typeface="Courier New" pitchFamily="34" charset="-120"/>
              </a:rPr>
              <a:t>FEB 2, 2025</a:t>
            </a:r>
            <a:endParaRPr lang="en-US" sz="950" dirty="0"/>
          </a:p>
        </p:txBody>
      </p:sp>
      <p:sp>
        <p:nvSpPr>
          <p:cNvPr id="11" name="Text 7"/>
          <p:cNvSpPr txBox="1"/>
          <p:nvPr/>
        </p:nvSpPr>
        <p:spPr>
          <a:xfrm>
            <a:off x="640080" y="2788920"/>
            <a:ext cx="2514600" cy="1097280"/>
          </a:xfrm>
          <a:prstGeom prst="rect">
            <a:avLst/>
          </a:prstGeom>
          <a:noFill/>
          <a:ln/>
        </p:spPr>
        <p:txBody>
          <a:bodyPr wrap="square" lIns="0" tIns="0" rIns="0" bIns="0" rtlCol="0" anchor="t"/>
          <a:lstStyle/>
          <a:p>
            <a:pPr algn="l" indent="0" marL="0">
              <a:lnSpc>
                <a:spcPct val="115000"/>
              </a:lnSpc>
              <a:buNone/>
            </a:pPr>
            <a:r>
              <a:rPr lang="en-US" sz="1200" dirty="0">
                <a:solidFill>
                  <a:srgbClr val="0D1219"/>
                </a:solidFill>
                <a:latin typeface="Arial" pitchFamily="34" charset="0"/>
                <a:ea typeface="Arial" pitchFamily="34" charset="-122"/>
                <a:cs typeface="Arial" pitchFamily="34" charset="-120"/>
              </a:rPr>
              <a:t>“Fully give in to the vibes… forget that the code even exists.”</a:t>
            </a:r>
            <a:endParaRPr lang="en-US" sz="1200" dirty="0"/>
          </a:p>
        </p:txBody>
      </p:sp>
      <p:sp>
        <p:nvSpPr>
          <p:cNvPr id="12" name="Text 8"/>
          <p:cNvSpPr txBox="1"/>
          <p:nvPr/>
        </p:nvSpPr>
        <p:spPr>
          <a:xfrm>
            <a:off x="640080" y="3840480"/>
            <a:ext cx="2514600" cy="1005840"/>
          </a:xfrm>
          <a:prstGeom prst="rect">
            <a:avLst/>
          </a:prstGeom>
          <a:noFill/>
          <a:ln/>
        </p:spPr>
        <p:txBody>
          <a:bodyPr wrap="square" lIns="0" tIns="0" rIns="0" bIns="0" rtlCol="0" anchor="t"/>
          <a:lstStyle/>
          <a:p>
            <a:pPr algn="l" indent="0" marL="0">
              <a:lnSpc>
                <a:spcPct val="115000"/>
              </a:lnSpc>
              <a:buNone/>
            </a:pPr>
            <a:r>
              <a:rPr lang="en-US" sz="1050" dirty="0">
                <a:solidFill>
                  <a:srgbClr val="5B6675"/>
                </a:solidFill>
                <a:latin typeface="Arial" pitchFamily="34" charset="0"/>
                <a:ea typeface="Arial" pitchFamily="34" charset="-122"/>
                <a:cs typeface="Arial" pitchFamily="34" charset="-120"/>
              </a:rPr>
              <a:t>Karpathy coins “vibe coding.”</a:t>
            </a:r>
            <a:endParaRPr lang="en-US" sz="1050" dirty="0"/>
          </a:p>
        </p:txBody>
      </p:sp>
      <p:sp>
        <p:nvSpPr>
          <p:cNvPr id="13" name="Shape 9"/>
          <p:cNvSpPr/>
          <p:nvPr/>
        </p:nvSpPr>
        <p:spPr>
          <a:xfrm>
            <a:off x="3383280" y="2414016"/>
            <a:ext cx="201168" cy="201168"/>
          </a:xfrm>
          <a:prstGeom prst="ellipse">
            <a:avLst/>
          </a:prstGeom>
          <a:solidFill>
            <a:srgbClr val="307FE2"/>
          </a:solidFill>
          <a:ln w="12700">
            <a:solidFill>
              <a:srgbClr val="FFFFFF"/>
            </a:solidFill>
            <a:prstDash val="solid"/>
          </a:ln>
        </p:spPr>
      </p:sp>
      <p:sp>
        <p:nvSpPr>
          <p:cNvPr id="14" name="Text 10"/>
          <p:cNvSpPr txBox="1"/>
          <p:nvPr/>
        </p:nvSpPr>
        <p:spPr>
          <a:xfrm>
            <a:off x="3364992" y="1874520"/>
            <a:ext cx="2560320" cy="274320"/>
          </a:xfrm>
          <a:prstGeom prst="rect">
            <a:avLst/>
          </a:prstGeom>
          <a:noFill/>
          <a:ln/>
        </p:spPr>
        <p:txBody>
          <a:bodyPr wrap="square" lIns="0" tIns="0" rIns="0" bIns="0" rtlCol="0" anchor="t"/>
          <a:lstStyle/>
          <a:p>
            <a:pPr algn="l" indent="0" marL="0">
              <a:lnSpc>
                <a:spcPct val="115000"/>
              </a:lnSpc>
              <a:buNone/>
            </a:pPr>
            <a:r>
              <a:rPr lang="en-US" sz="950" dirty="0">
                <a:solidFill>
                  <a:srgbClr val="EF8B39"/>
                </a:solidFill>
                <a:latin typeface="Courier New" pitchFamily="34" charset="0"/>
                <a:ea typeface="Courier New" pitchFamily="34" charset="-122"/>
                <a:cs typeface="Courier New" pitchFamily="34" charset="-120"/>
              </a:rPr>
              <a:t>NOV 6, 2025</a:t>
            </a:r>
            <a:endParaRPr lang="en-US" sz="950" dirty="0"/>
          </a:p>
        </p:txBody>
      </p:sp>
      <p:sp>
        <p:nvSpPr>
          <p:cNvPr id="15" name="Text 11"/>
          <p:cNvSpPr txBox="1"/>
          <p:nvPr/>
        </p:nvSpPr>
        <p:spPr>
          <a:xfrm>
            <a:off x="3364992" y="2788920"/>
            <a:ext cx="2514600" cy="1097280"/>
          </a:xfrm>
          <a:prstGeom prst="rect">
            <a:avLst/>
          </a:prstGeom>
          <a:noFill/>
          <a:ln/>
        </p:spPr>
        <p:txBody>
          <a:bodyPr wrap="square" lIns="0" tIns="0" rIns="0" bIns="0" rtlCol="0" anchor="t"/>
          <a:lstStyle/>
          <a:p>
            <a:pPr algn="l" indent="0" marL="0">
              <a:lnSpc>
                <a:spcPct val="115000"/>
              </a:lnSpc>
              <a:buNone/>
            </a:pPr>
            <a:r>
              <a:rPr lang="en-US" sz="1200" dirty="0">
                <a:solidFill>
                  <a:srgbClr val="0D1219"/>
                </a:solidFill>
                <a:latin typeface="Arial" pitchFamily="34" charset="0"/>
                <a:ea typeface="Arial" pitchFamily="34" charset="-122"/>
                <a:cs typeface="Arial" pitchFamily="34" charset="-120"/>
              </a:rPr>
              <a:t>Collins Dictionary Word of the Year.</a:t>
            </a:r>
            <a:endParaRPr lang="en-US" sz="1200" dirty="0"/>
          </a:p>
        </p:txBody>
      </p:sp>
      <p:sp>
        <p:nvSpPr>
          <p:cNvPr id="16" name="Text 12"/>
          <p:cNvSpPr txBox="1"/>
          <p:nvPr/>
        </p:nvSpPr>
        <p:spPr>
          <a:xfrm>
            <a:off x="3364992" y="3840480"/>
            <a:ext cx="2514600" cy="1005840"/>
          </a:xfrm>
          <a:prstGeom prst="rect">
            <a:avLst/>
          </a:prstGeom>
          <a:noFill/>
          <a:ln/>
        </p:spPr>
        <p:txBody>
          <a:bodyPr wrap="square" lIns="0" tIns="0" rIns="0" bIns="0" rtlCol="0" anchor="t"/>
          <a:lstStyle/>
          <a:p>
            <a:pPr algn="l" indent="0" marL="0">
              <a:lnSpc>
                <a:spcPct val="115000"/>
              </a:lnSpc>
              <a:buNone/>
            </a:pPr>
            <a:r>
              <a:rPr lang="en-US" sz="1050" dirty="0">
                <a:solidFill>
                  <a:srgbClr val="5B6675"/>
                </a:solidFill>
                <a:latin typeface="Arial" pitchFamily="34" charset="0"/>
                <a:ea typeface="Arial" pitchFamily="34" charset="-122"/>
                <a:cs typeface="Arial" pitchFamily="34" charset="-120"/>
              </a:rPr>
              <a:t>“AI prompted by natural language to write code.”</a:t>
            </a:r>
            <a:endParaRPr lang="en-US" sz="1050" dirty="0"/>
          </a:p>
        </p:txBody>
      </p:sp>
      <p:sp>
        <p:nvSpPr>
          <p:cNvPr id="17" name="Shape 13"/>
          <p:cNvSpPr/>
          <p:nvPr/>
        </p:nvSpPr>
        <p:spPr>
          <a:xfrm>
            <a:off x="6108192" y="2414016"/>
            <a:ext cx="201168" cy="201168"/>
          </a:xfrm>
          <a:prstGeom prst="ellipse">
            <a:avLst/>
          </a:prstGeom>
          <a:solidFill>
            <a:srgbClr val="307FE2"/>
          </a:solidFill>
          <a:ln w="12700">
            <a:solidFill>
              <a:srgbClr val="FFFFFF"/>
            </a:solidFill>
            <a:prstDash val="solid"/>
          </a:ln>
        </p:spPr>
      </p:sp>
      <p:sp>
        <p:nvSpPr>
          <p:cNvPr id="18" name="Text 14"/>
          <p:cNvSpPr txBox="1"/>
          <p:nvPr/>
        </p:nvSpPr>
        <p:spPr>
          <a:xfrm>
            <a:off x="6089904" y="1874520"/>
            <a:ext cx="2560320" cy="274320"/>
          </a:xfrm>
          <a:prstGeom prst="rect">
            <a:avLst/>
          </a:prstGeom>
          <a:noFill/>
          <a:ln/>
        </p:spPr>
        <p:txBody>
          <a:bodyPr wrap="square" lIns="0" tIns="0" rIns="0" bIns="0" rtlCol="0" anchor="t"/>
          <a:lstStyle/>
          <a:p>
            <a:pPr algn="l" indent="0" marL="0">
              <a:lnSpc>
                <a:spcPct val="115000"/>
              </a:lnSpc>
              <a:buNone/>
            </a:pPr>
            <a:r>
              <a:rPr lang="en-US" sz="950" dirty="0">
                <a:solidFill>
                  <a:srgbClr val="EF8B39"/>
                </a:solidFill>
                <a:latin typeface="Courier New" pitchFamily="34" charset="0"/>
                <a:ea typeface="Courier New" pitchFamily="34" charset="-122"/>
                <a:cs typeface="Courier New" pitchFamily="34" charset="-120"/>
              </a:rPr>
              <a:t>FEB 4, 2026</a:t>
            </a:r>
            <a:endParaRPr lang="en-US" sz="950" dirty="0"/>
          </a:p>
        </p:txBody>
      </p:sp>
      <p:sp>
        <p:nvSpPr>
          <p:cNvPr id="19" name="Text 15"/>
          <p:cNvSpPr txBox="1"/>
          <p:nvPr/>
        </p:nvSpPr>
        <p:spPr>
          <a:xfrm>
            <a:off x="6089904" y="2788920"/>
            <a:ext cx="2514600" cy="1097280"/>
          </a:xfrm>
          <a:prstGeom prst="rect">
            <a:avLst/>
          </a:prstGeom>
          <a:noFill/>
          <a:ln/>
        </p:spPr>
        <p:txBody>
          <a:bodyPr wrap="square" lIns="0" tIns="0" rIns="0" bIns="0" rtlCol="0" anchor="t"/>
          <a:lstStyle/>
          <a:p>
            <a:pPr algn="l" indent="0" marL="0">
              <a:lnSpc>
                <a:spcPct val="115000"/>
              </a:lnSpc>
              <a:buNone/>
            </a:pPr>
            <a:r>
              <a:rPr lang="en-US" sz="1200" dirty="0">
                <a:solidFill>
                  <a:srgbClr val="0D1219"/>
                </a:solidFill>
                <a:latin typeface="Arial" pitchFamily="34" charset="0"/>
                <a:ea typeface="Arial" pitchFamily="34" charset="-122"/>
                <a:cs typeface="Arial" pitchFamily="34" charset="-120"/>
              </a:rPr>
              <a:t>“A shower-of-thoughts throwaway tweet.”</a:t>
            </a:r>
            <a:endParaRPr lang="en-US" sz="1200" dirty="0"/>
          </a:p>
        </p:txBody>
      </p:sp>
      <p:sp>
        <p:nvSpPr>
          <p:cNvPr id="20" name="Text 16"/>
          <p:cNvSpPr txBox="1"/>
          <p:nvPr/>
        </p:nvSpPr>
        <p:spPr>
          <a:xfrm>
            <a:off x="6089904" y="3840480"/>
            <a:ext cx="2514600" cy="1005840"/>
          </a:xfrm>
          <a:prstGeom prst="rect">
            <a:avLst/>
          </a:prstGeom>
          <a:noFill/>
          <a:ln/>
        </p:spPr>
        <p:txBody>
          <a:bodyPr wrap="square" lIns="0" tIns="0" rIns="0" bIns="0" rtlCol="0" anchor="t"/>
          <a:lstStyle/>
          <a:p>
            <a:pPr algn="l" indent="0" marL="0">
              <a:lnSpc>
                <a:spcPct val="115000"/>
              </a:lnSpc>
              <a:buNone/>
            </a:pPr>
            <a:r>
              <a:rPr lang="en-US" sz="1050" dirty="0">
                <a:solidFill>
                  <a:srgbClr val="5B6675"/>
                </a:solidFill>
                <a:latin typeface="Arial" pitchFamily="34" charset="0"/>
                <a:ea typeface="Arial" pitchFamily="34" charset="-122"/>
                <a:cs typeface="Arial" pitchFamily="34" charset="-120"/>
              </a:rPr>
              <a:t>His new term: agentic engineering. You orchestrate. You are the oversight.</a:t>
            </a:r>
            <a:endParaRPr lang="en-US" sz="1050" dirty="0"/>
          </a:p>
        </p:txBody>
      </p:sp>
      <p:sp>
        <p:nvSpPr>
          <p:cNvPr id="21" name="Shape 17"/>
          <p:cNvSpPr/>
          <p:nvPr/>
        </p:nvSpPr>
        <p:spPr>
          <a:xfrm>
            <a:off x="8833104" y="2414016"/>
            <a:ext cx="201168" cy="201168"/>
          </a:xfrm>
          <a:prstGeom prst="ellipse">
            <a:avLst/>
          </a:prstGeom>
          <a:solidFill>
            <a:srgbClr val="EF8B39"/>
          </a:solidFill>
          <a:ln w="12700">
            <a:solidFill>
              <a:srgbClr val="FFFFFF"/>
            </a:solidFill>
            <a:prstDash val="solid"/>
          </a:ln>
        </p:spPr>
      </p:sp>
      <p:sp>
        <p:nvSpPr>
          <p:cNvPr id="22" name="Text 18"/>
          <p:cNvSpPr txBox="1"/>
          <p:nvPr/>
        </p:nvSpPr>
        <p:spPr>
          <a:xfrm>
            <a:off x="8814816" y="1874520"/>
            <a:ext cx="2560320" cy="274320"/>
          </a:xfrm>
          <a:prstGeom prst="rect">
            <a:avLst/>
          </a:prstGeom>
          <a:noFill/>
          <a:ln/>
        </p:spPr>
        <p:txBody>
          <a:bodyPr wrap="square" lIns="0" tIns="0" rIns="0" bIns="0" rtlCol="0" anchor="t"/>
          <a:lstStyle/>
          <a:p>
            <a:pPr algn="l" indent="0" marL="0">
              <a:lnSpc>
                <a:spcPct val="115000"/>
              </a:lnSpc>
              <a:buNone/>
            </a:pPr>
            <a:r>
              <a:rPr lang="en-US" sz="950" dirty="0">
                <a:solidFill>
                  <a:srgbClr val="EF8B39"/>
                </a:solidFill>
                <a:latin typeface="Courier New" pitchFamily="34" charset="0"/>
                <a:ea typeface="Courier New" pitchFamily="34" charset="-122"/>
                <a:cs typeface="Courier New" pitchFamily="34" charset="-120"/>
              </a:rPr>
              <a:t>APR 30, 2026</a:t>
            </a:r>
            <a:endParaRPr lang="en-US" sz="950" dirty="0"/>
          </a:p>
        </p:txBody>
      </p:sp>
      <p:sp>
        <p:nvSpPr>
          <p:cNvPr id="23" name="Text 19"/>
          <p:cNvSpPr txBox="1"/>
          <p:nvPr/>
        </p:nvSpPr>
        <p:spPr>
          <a:xfrm>
            <a:off x="8814816" y="2788920"/>
            <a:ext cx="2514600" cy="1097280"/>
          </a:xfrm>
          <a:prstGeom prst="rect">
            <a:avLst/>
          </a:prstGeom>
          <a:noFill/>
          <a:ln/>
        </p:spPr>
        <p:txBody>
          <a:bodyPr wrap="square" lIns="0" tIns="0" rIns="0" bIns="0" rtlCol="0" anchor="t"/>
          <a:lstStyle/>
          <a:p>
            <a:pPr algn="l" indent="0" marL="0">
              <a:lnSpc>
                <a:spcPct val="115000"/>
              </a:lnSpc>
              <a:buNone/>
            </a:pPr>
            <a:r>
              <a:rPr lang="en-US" sz="1200" dirty="0">
                <a:solidFill>
                  <a:srgbClr val="0D1219"/>
                </a:solidFill>
                <a:latin typeface="Arial" pitchFamily="34" charset="0"/>
                <a:ea typeface="Arial" pitchFamily="34" charset="-122"/>
                <a:cs typeface="Arial" pitchFamily="34" charset="-120"/>
              </a:rPr>
              <a:t>“Vibe coding is about raising the floor for everyone.”</a:t>
            </a:r>
            <a:endParaRPr lang="en-US" sz="1200" dirty="0"/>
          </a:p>
        </p:txBody>
      </p:sp>
      <p:sp>
        <p:nvSpPr>
          <p:cNvPr id="24" name="Text 20"/>
          <p:cNvSpPr txBox="1"/>
          <p:nvPr/>
        </p:nvSpPr>
        <p:spPr>
          <a:xfrm>
            <a:off x="8814816" y="3840480"/>
            <a:ext cx="2514600" cy="1005840"/>
          </a:xfrm>
          <a:prstGeom prst="rect">
            <a:avLst/>
          </a:prstGeom>
          <a:noFill/>
          <a:ln/>
        </p:spPr>
        <p:txBody>
          <a:bodyPr wrap="square" lIns="0" tIns="0" rIns="0" bIns="0" rtlCol="0" anchor="t"/>
          <a:lstStyle/>
          <a:p>
            <a:pPr algn="l" indent="0" marL="0">
              <a:lnSpc>
                <a:spcPct val="115000"/>
              </a:lnSpc>
              <a:buNone/>
            </a:pPr>
            <a:r>
              <a:rPr lang="en-US" sz="1050" dirty="0">
                <a:solidFill>
                  <a:srgbClr val="5B6675"/>
                </a:solidFill>
                <a:latin typeface="Arial" pitchFamily="34" charset="0"/>
                <a:ea typeface="Arial" pitchFamily="34" charset="-122"/>
                <a:cs typeface="Arial" pitchFamily="34" charset="-120"/>
              </a:rPr>
              <a:t>“Agentic engineering is about preserving the quality bar.”</a:t>
            </a:r>
            <a:endParaRPr lang="en-US" sz="1050" dirty="0"/>
          </a:p>
        </p:txBody>
      </p:sp>
      <p:sp>
        <p:nvSpPr>
          <p:cNvPr id="25" name="Shape 21"/>
          <p:cNvSpPr/>
          <p:nvPr/>
        </p:nvSpPr>
        <p:spPr>
          <a:xfrm>
            <a:off x="640080" y="4892040"/>
            <a:ext cx="10908792" cy="777240"/>
          </a:xfrm>
          <a:prstGeom prst="rect">
            <a:avLst/>
          </a:prstGeom>
          <a:solidFill>
            <a:srgbClr val="E8EEF7"/>
          </a:solidFill>
          <a:ln w="12700">
            <a:solidFill>
              <a:srgbClr val="EF8B39"/>
            </a:solidFill>
            <a:prstDash val="solid"/>
          </a:ln>
        </p:spPr>
      </p:sp>
      <p:sp>
        <p:nvSpPr>
          <p:cNvPr id="26" name="Text 22"/>
          <p:cNvSpPr txBox="1"/>
          <p:nvPr/>
        </p:nvSpPr>
        <p:spPr>
          <a:xfrm>
            <a:off x="868680" y="5029200"/>
            <a:ext cx="10451592" cy="548640"/>
          </a:xfrm>
          <a:prstGeom prst="rect">
            <a:avLst/>
          </a:prstGeom>
          <a:noFill/>
          <a:ln/>
        </p:spPr>
        <p:txBody>
          <a:bodyPr wrap="square" lIns="0" tIns="0" rIns="0" bIns="0" rtlCol="0" anchor="ctr"/>
          <a:lstStyle/>
          <a:p>
            <a:pPr algn="l" indent="0" marL="0">
              <a:lnSpc>
                <a:spcPct val="115000"/>
              </a:lnSpc>
              <a:buNone/>
            </a:pPr>
            <a:r>
              <a:rPr lang="en-US" sz="1400" dirty="0">
                <a:solidFill>
                  <a:srgbClr val="0D1219"/>
                </a:solidFill>
                <a:latin typeface="Arial" pitchFamily="34" charset="0"/>
                <a:ea typeface="Arial" pitchFamily="34" charset="-122"/>
                <a:cs typeface="Arial" pitchFamily="34" charset="-120"/>
              </a:rPr>
              <a:t>Oversight is the word. Vibe for the proof of concept. Engineering for production. That is the whole day.</a:t>
            </a:r>
            <a:endParaRPr lang="en-US" sz="1400" dirty="0"/>
          </a:p>
        </p:txBody>
      </p:sp>
      <p:sp>
        <p:nvSpPr>
          <p:cNvPr id="27" name="Shape 23"/>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28" name="Text 24"/>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9" name="Shape 25"/>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30" name="Text 26"/>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31" name="Shape 27"/>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32" name="Text 28"/>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33" name="Shape 29"/>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34" name="Text 30"/>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35" name="Shape 31"/>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36" name="Text 32"/>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37" name="Shape 33"/>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38" name="Text 34"/>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09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2  ·  ONE YEAR LATER  ·  15 MIN  ·  TALK</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0:25 – 0:40</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3000" b="1" dirty="0">
                <a:solidFill>
                  <a:srgbClr val="0D1219"/>
                </a:solidFill>
                <a:latin typeface="Arial" pitchFamily="34" charset="0"/>
                <a:ea typeface="Arial" pitchFamily="34" charset="-122"/>
                <a:cs typeface="Arial" pitchFamily="34" charset="-120"/>
              </a:rPr>
              <a:t>It is not a toy. It is a $13 billion category.</a:t>
            </a:r>
            <a:endParaRPr lang="en-US" sz="3000" dirty="0"/>
          </a:p>
        </p:txBody>
      </p:sp>
      <p:sp>
        <p:nvSpPr>
          <p:cNvPr id="8" name="Text 4"/>
          <p:cNvSpPr txBox="1"/>
          <p:nvPr/>
        </p:nvSpPr>
        <p:spPr>
          <a:xfrm>
            <a:off x="640080" y="1920240"/>
            <a:ext cx="3474720" cy="777240"/>
          </a:xfrm>
          <a:prstGeom prst="rect">
            <a:avLst/>
          </a:prstGeom>
          <a:noFill/>
          <a:ln/>
        </p:spPr>
        <p:txBody>
          <a:bodyPr wrap="square" lIns="0" tIns="0" rIns="0" bIns="0" rtlCol="0" anchor="ctr"/>
          <a:lstStyle/>
          <a:p>
            <a:pPr indent="0" marL="0">
              <a:buNone/>
            </a:pPr>
            <a:r>
              <a:rPr lang="en-US" sz="4000" b="1" dirty="0">
                <a:solidFill>
                  <a:srgbClr val="307FE2"/>
                </a:solidFill>
                <a:latin typeface="Arial" pitchFamily="34" charset="0"/>
                <a:ea typeface="Arial" pitchFamily="34" charset="-122"/>
                <a:cs typeface="Arial" pitchFamily="34" charset="-120"/>
              </a:rPr>
              <a:t>$13.3B</a:t>
            </a:r>
            <a:endParaRPr lang="en-US" sz="4000" dirty="0"/>
          </a:p>
        </p:txBody>
      </p:sp>
      <p:sp>
        <p:nvSpPr>
          <p:cNvPr id="9" name="Text 5"/>
          <p:cNvSpPr txBox="1"/>
          <p:nvPr/>
        </p:nvSpPr>
        <p:spPr>
          <a:xfrm>
            <a:off x="640080" y="2724912"/>
            <a:ext cx="3474720" cy="640080"/>
          </a:xfrm>
          <a:prstGeom prst="rect">
            <a:avLst/>
          </a:prstGeom>
          <a:noFill/>
          <a:ln/>
        </p:spPr>
        <p:txBody>
          <a:bodyPr wrap="square" lIns="0" tIns="0" rIns="0" bIns="0" rtlCol="0" anchor="t"/>
          <a:lstStyle/>
          <a:p>
            <a:pPr indent="0" marL="0">
              <a:lnSpc>
                <a:spcPct val="115000"/>
              </a:lnSpc>
              <a:buNone/>
            </a:pPr>
            <a:r>
              <a:rPr lang="en-US" sz="1200" dirty="0">
                <a:solidFill>
                  <a:srgbClr val="5B6675"/>
                </a:solidFill>
                <a:latin typeface="Arial" pitchFamily="34" charset="0"/>
                <a:ea typeface="Arial" pitchFamily="34" charset="-122"/>
                <a:cs typeface="Arial" pitchFamily="34" charset="-120"/>
              </a:rPr>
              <a:t>Lovable, Aug 2026. $500M annualized revenue, 60 million projects, a million new ones a week.</a:t>
            </a:r>
            <a:endParaRPr lang="en-US" sz="1200" dirty="0"/>
          </a:p>
        </p:txBody>
      </p:sp>
      <p:sp>
        <p:nvSpPr>
          <p:cNvPr id="10" name="Text 6"/>
          <p:cNvSpPr txBox="1"/>
          <p:nvPr/>
        </p:nvSpPr>
        <p:spPr>
          <a:xfrm>
            <a:off x="4389120" y="1920240"/>
            <a:ext cx="3474720" cy="777240"/>
          </a:xfrm>
          <a:prstGeom prst="rect">
            <a:avLst/>
          </a:prstGeom>
          <a:noFill/>
          <a:ln/>
        </p:spPr>
        <p:txBody>
          <a:bodyPr wrap="square" lIns="0" tIns="0" rIns="0" bIns="0" rtlCol="0" anchor="ctr"/>
          <a:lstStyle/>
          <a:p>
            <a:pPr indent="0" marL="0">
              <a:buNone/>
            </a:pPr>
            <a:r>
              <a:rPr lang="en-US" sz="4000" b="1" dirty="0">
                <a:solidFill>
                  <a:srgbClr val="307FE2"/>
                </a:solidFill>
                <a:latin typeface="Arial" pitchFamily="34" charset="0"/>
                <a:ea typeface="Arial" pitchFamily="34" charset="-122"/>
                <a:cs typeface="Arial" pitchFamily="34" charset="-120"/>
              </a:rPr>
              <a:t>$9B</a:t>
            </a:r>
            <a:endParaRPr lang="en-US" sz="4000" dirty="0"/>
          </a:p>
        </p:txBody>
      </p:sp>
      <p:sp>
        <p:nvSpPr>
          <p:cNvPr id="11" name="Text 7"/>
          <p:cNvSpPr txBox="1"/>
          <p:nvPr/>
        </p:nvSpPr>
        <p:spPr>
          <a:xfrm>
            <a:off x="4389120" y="2724912"/>
            <a:ext cx="3474720" cy="640080"/>
          </a:xfrm>
          <a:prstGeom prst="rect">
            <a:avLst/>
          </a:prstGeom>
          <a:noFill/>
          <a:ln/>
        </p:spPr>
        <p:txBody>
          <a:bodyPr wrap="square" lIns="0" tIns="0" rIns="0" bIns="0" rtlCol="0" anchor="t"/>
          <a:lstStyle/>
          <a:p>
            <a:pPr indent="0" marL="0">
              <a:lnSpc>
                <a:spcPct val="115000"/>
              </a:lnSpc>
              <a:buNone/>
            </a:pPr>
            <a:r>
              <a:rPr lang="en-US" sz="1200" dirty="0">
                <a:solidFill>
                  <a:srgbClr val="5B6675"/>
                </a:solidFill>
                <a:latin typeface="Arial" pitchFamily="34" charset="0"/>
                <a:ea typeface="Arial" pitchFamily="34" charset="-122"/>
                <a:cs typeface="Arial" pitchFamily="34" charset="-120"/>
              </a:rPr>
              <a:t>Replit, Mar 2026. Up from $3B six months earlier.</a:t>
            </a:r>
            <a:endParaRPr lang="en-US" sz="1200" dirty="0"/>
          </a:p>
        </p:txBody>
      </p:sp>
      <p:sp>
        <p:nvSpPr>
          <p:cNvPr id="12" name="Text 8"/>
          <p:cNvSpPr txBox="1"/>
          <p:nvPr/>
        </p:nvSpPr>
        <p:spPr>
          <a:xfrm>
            <a:off x="8138160" y="1920240"/>
            <a:ext cx="3474720" cy="777240"/>
          </a:xfrm>
          <a:prstGeom prst="rect">
            <a:avLst/>
          </a:prstGeom>
          <a:noFill/>
          <a:ln/>
        </p:spPr>
        <p:txBody>
          <a:bodyPr wrap="square" lIns="0" tIns="0" rIns="0" bIns="0" rtlCol="0" anchor="ctr"/>
          <a:lstStyle/>
          <a:p>
            <a:pPr indent="0" marL="0">
              <a:buNone/>
            </a:pPr>
            <a:r>
              <a:rPr lang="en-US" sz="4000" b="1" dirty="0">
                <a:solidFill>
                  <a:srgbClr val="307FE2"/>
                </a:solidFill>
                <a:latin typeface="Arial" pitchFamily="34" charset="0"/>
                <a:ea typeface="Arial" pitchFamily="34" charset="-122"/>
                <a:cs typeface="Arial" pitchFamily="34" charset="-120"/>
              </a:rPr>
              <a:t>$80M</a:t>
            </a:r>
            <a:endParaRPr lang="en-US" sz="4000" dirty="0"/>
          </a:p>
        </p:txBody>
      </p:sp>
      <p:sp>
        <p:nvSpPr>
          <p:cNvPr id="13" name="Text 9"/>
          <p:cNvSpPr txBox="1"/>
          <p:nvPr/>
        </p:nvSpPr>
        <p:spPr>
          <a:xfrm>
            <a:off x="8138160" y="2724912"/>
            <a:ext cx="3474720" cy="640080"/>
          </a:xfrm>
          <a:prstGeom prst="rect">
            <a:avLst/>
          </a:prstGeom>
          <a:noFill/>
          <a:ln/>
        </p:spPr>
        <p:txBody>
          <a:bodyPr wrap="square" lIns="0" tIns="0" rIns="0" bIns="0" rtlCol="0" anchor="t"/>
          <a:lstStyle/>
          <a:p>
            <a:pPr indent="0" marL="0">
              <a:lnSpc>
                <a:spcPct val="115000"/>
              </a:lnSpc>
              <a:buNone/>
            </a:pPr>
            <a:r>
              <a:rPr lang="en-US" sz="1200" dirty="0">
                <a:solidFill>
                  <a:srgbClr val="5B6675"/>
                </a:solidFill>
                <a:latin typeface="Arial" pitchFamily="34" charset="0"/>
                <a:ea typeface="Arial" pitchFamily="34" charset="-122"/>
                <a:cs typeface="Arial" pitchFamily="34" charset="-120"/>
              </a:rPr>
              <a:t>What Wix paid for Base44 in June 2025. Six months old. One founder.</a:t>
            </a:r>
            <a:endParaRPr lang="en-US" sz="1200" dirty="0"/>
          </a:p>
        </p:txBody>
      </p:sp>
      <p:sp>
        <p:nvSpPr>
          <p:cNvPr id="14" name="Shape 10"/>
          <p:cNvSpPr/>
          <p:nvPr/>
        </p:nvSpPr>
        <p:spPr>
          <a:xfrm>
            <a:off x="640080" y="4069080"/>
            <a:ext cx="10908792" cy="1554480"/>
          </a:xfrm>
          <a:prstGeom prst="rect">
            <a:avLst/>
          </a:prstGeom>
          <a:solidFill>
            <a:srgbClr val="E8EEF7"/>
          </a:solidFill>
          <a:ln w="9525">
            <a:solidFill>
              <a:srgbClr val="D9E0EA"/>
            </a:solidFill>
            <a:prstDash val="solid"/>
          </a:ln>
        </p:spPr>
      </p:sp>
      <p:sp>
        <p:nvSpPr>
          <p:cNvPr id="15" name="Shape 11"/>
          <p:cNvSpPr/>
          <p:nvPr/>
        </p:nvSpPr>
        <p:spPr>
          <a:xfrm>
            <a:off x="640080" y="4069080"/>
            <a:ext cx="54864" cy="1554480"/>
          </a:xfrm>
          <a:prstGeom prst="rect">
            <a:avLst/>
          </a:prstGeom>
          <a:solidFill>
            <a:srgbClr val="EF8B39"/>
          </a:solidFill>
          <a:ln w="12700">
            <a:solidFill>
              <a:srgbClr val="EF8B39"/>
            </a:solidFill>
            <a:prstDash val="solid"/>
          </a:ln>
        </p:spPr>
      </p:sp>
      <p:sp>
        <p:nvSpPr>
          <p:cNvPr id="16" name="Text 12"/>
          <p:cNvSpPr txBox="1"/>
          <p:nvPr/>
        </p:nvSpPr>
        <p:spPr>
          <a:xfrm>
            <a:off x="868680" y="4206240"/>
            <a:ext cx="10058400" cy="237744"/>
          </a:xfrm>
          <a:prstGeom prst="rect">
            <a:avLst/>
          </a:prstGeom>
          <a:noFill/>
          <a:ln/>
        </p:spPr>
        <p:txBody>
          <a:bodyPr wrap="square" lIns="0" tIns="0" rIns="0" bIns="0" rtlCol="0" anchor="ctr"/>
          <a:lstStyle/>
          <a:p>
            <a:pPr indent="0" marL="0">
              <a:buNone/>
            </a:pPr>
            <a:r>
              <a:rPr lang="en-US" sz="850" b="1" spc="150" kern="0" dirty="0">
                <a:solidFill>
                  <a:srgbClr val="EF8B39"/>
                </a:solidFill>
                <a:latin typeface="Courier New" pitchFamily="34" charset="0"/>
                <a:ea typeface="Courier New" pitchFamily="34" charset="-122"/>
                <a:cs typeface="Courier New" pitchFamily="34" charset="-120"/>
              </a:rPr>
              <a:t>AND THE SAME COMPANY’S ANSWER WHEN A RESEARCHER FOUND 1 IN 10 OF ITS APPS WIDE OPEN</a:t>
            </a:r>
            <a:endParaRPr lang="en-US" sz="850" dirty="0"/>
          </a:p>
        </p:txBody>
      </p:sp>
      <p:sp>
        <p:nvSpPr>
          <p:cNvPr id="17" name="Text 13"/>
          <p:cNvSpPr txBox="1"/>
          <p:nvPr/>
        </p:nvSpPr>
        <p:spPr>
          <a:xfrm>
            <a:off x="868680" y="4526280"/>
            <a:ext cx="10451592" cy="457200"/>
          </a:xfrm>
          <a:prstGeom prst="rect">
            <a:avLst/>
          </a:prstGeom>
          <a:noFill/>
          <a:ln/>
        </p:spPr>
        <p:txBody>
          <a:bodyPr wrap="square" lIns="0" tIns="0" rIns="0" bIns="0" rtlCol="0" anchor="t"/>
          <a:lstStyle/>
          <a:p>
            <a:pPr algn="l" indent="0" marL="0">
              <a:lnSpc>
                <a:spcPct val="115000"/>
              </a:lnSpc>
              <a:buNone/>
            </a:pPr>
            <a:r>
              <a:rPr lang="en-US" sz="1800" dirty="0">
                <a:solidFill>
                  <a:srgbClr val="0D1219"/>
                </a:solidFill>
                <a:latin typeface="Arial" pitchFamily="34" charset="0"/>
                <a:ea typeface="Arial" pitchFamily="34" charset="-122"/>
                <a:cs typeface="Arial" pitchFamily="34" charset="-120"/>
              </a:rPr>
              <a:t>Customers are responsible for protecting their application data.</a:t>
            </a:r>
            <a:endParaRPr lang="en-US" sz="1800" dirty="0"/>
          </a:p>
        </p:txBody>
      </p:sp>
      <p:sp>
        <p:nvSpPr>
          <p:cNvPr id="18" name="Text 14"/>
          <p:cNvSpPr txBox="1"/>
          <p:nvPr/>
        </p:nvSpPr>
        <p:spPr>
          <a:xfrm>
            <a:off x="868680" y="5029200"/>
            <a:ext cx="10451592" cy="457200"/>
          </a:xfrm>
          <a:prstGeom prst="rect">
            <a:avLst/>
          </a:prstGeom>
          <a:noFill/>
          <a:ln/>
        </p:spPr>
        <p:txBody>
          <a:bodyPr wrap="square" lIns="0" tIns="0" rIns="0" bIns="0" rtlCol="0" anchor="t"/>
          <a:lstStyle/>
          <a:p>
            <a:pPr algn="l" indent="0" marL="0">
              <a:lnSpc>
                <a:spcPct val="115000"/>
              </a:lnSpc>
              <a:buNone/>
            </a:pPr>
            <a:r>
              <a:rPr lang="en-US" sz="1150" dirty="0">
                <a:solidFill>
                  <a:srgbClr val="5B6675"/>
                </a:solidFill>
                <a:latin typeface="Arial" pitchFamily="34" charset="0"/>
                <a:ea typeface="Arial" pitchFamily="34" charset="-122"/>
                <a:cs typeface="Arial" pitchFamily="34" charset="-120"/>
              </a:rPr>
              <a:t>Lovable, disputing CVE-2025-48757. Which is fair. And it is exactly why the rest of today is your job.</a:t>
            </a:r>
            <a:endParaRPr lang="en-US" sz="1150" dirty="0"/>
          </a:p>
        </p:txBody>
      </p:sp>
      <p:sp>
        <p:nvSpPr>
          <p:cNvPr id="19" name="Shape 15"/>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20" name="Text 16"/>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1" name="Shape 17"/>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22" name="Text 18"/>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23" name="Shape 19"/>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24" name="Text 20"/>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25" name="Shape 21"/>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26" name="Text 22"/>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27" name="Shape 23"/>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28" name="Text 24"/>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29" name="Shape 25"/>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30" name="Text 26"/>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10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2  ·  ONE YEAR LATER  ·  15 MIN  ·  TALK</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0:25 – 0:40</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700" b="1" dirty="0">
                <a:solidFill>
                  <a:srgbClr val="0D1219"/>
                </a:solidFill>
                <a:latin typeface="Arial" pitchFamily="34" charset="0"/>
                <a:ea typeface="Arial" pitchFamily="34" charset="-122"/>
                <a:cs typeface="Arial" pitchFamily="34" charset="-120"/>
              </a:rPr>
              <a:t>Great for proof of concept. Documented-bad for production.</a:t>
            </a:r>
            <a:endParaRPr lang="en-US" sz="2700" dirty="0"/>
          </a:p>
        </p:txBody>
      </p:sp>
      <p:sp>
        <p:nvSpPr>
          <p:cNvPr id="8" name="Shape 4"/>
          <p:cNvSpPr/>
          <p:nvPr/>
        </p:nvSpPr>
        <p:spPr>
          <a:xfrm>
            <a:off x="640080" y="1783080"/>
            <a:ext cx="5349240" cy="1737360"/>
          </a:xfrm>
          <a:prstGeom prst="rect">
            <a:avLst/>
          </a:prstGeom>
          <a:solidFill>
            <a:srgbClr val="F3F6FB"/>
          </a:solidFill>
          <a:ln w="9525">
            <a:solidFill>
              <a:srgbClr val="D9E0EA"/>
            </a:solidFill>
            <a:prstDash val="solid"/>
          </a:ln>
        </p:spPr>
      </p:sp>
      <p:sp>
        <p:nvSpPr>
          <p:cNvPr id="9" name="Shape 5"/>
          <p:cNvSpPr/>
          <p:nvPr/>
        </p:nvSpPr>
        <p:spPr>
          <a:xfrm>
            <a:off x="640080" y="1783080"/>
            <a:ext cx="54864" cy="1737360"/>
          </a:xfrm>
          <a:prstGeom prst="rect">
            <a:avLst/>
          </a:prstGeom>
          <a:solidFill>
            <a:srgbClr val="EF4444"/>
          </a:solidFill>
          <a:ln w="12700">
            <a:solidFill>
              <a:srgbClr val="EF4444"/>
            </a:solidFill>
            <a:prstDash val="solid"/>
          </a:ln>
        </p:spPr>
      </p:sp>
      <p:sp>
        <p:nvSpPr>
          <p:cNvPr id="10" name="Text 6"/>
          <p:cNvSpPr txBox="1"/>
          <p:nvPr/>
        </p:nvSpPr>
        <p:spPr>
          <a:xfrm>
            <a:off x="868680" y="1920240"/>
            <a:ext cx="1828800" cy="228600"/>
          </a:xfrm>
          <a:prstGeom prst="rect">
            <a:avLst/>
          </a:prstGeom>
          <a:noFill/>
          <a:ln/>
        </p:spPr>
        <p:txBody>
          <a:bodyPr wrap="square" lIns="0" tIns="0" rIns="0" bIns="0" rtlCol="0" anchor="t"/>
          <a:lstStyle/>
          <a:p>
            <a:pPr algn="l" indent="0" marL="0">
              <a:lnSpc>
                <a:spcPct val="115000"/>
              </a:lnSpc>
              <a:buNone/>
            </a:pPr>
            <a:r>
              <a:rPr lang="en-US" sz="900" dirty="0">
                <a:solidFill>
                  <a:srgbClr val="EF8B39"/>
                </a:solidFill>
                <a:latin typeface="Courier New" pitchFamily="34" charset="0"/>
                <a:ea typeface="Courier New" pitchFamily="34" charset="-122"/>
                <a:cs typeface="Courier New" pitchFamily="34" charset="-120"/>
              </a:rPr>
              <a:t>JUL 2025</a:t>
            </a:r>
            <a:endParaRPr lang="en-US" sz="900" dirty="0"/>
          </a:p>
        </p:txBody>
      </p:sp>
      <p:sp>
        <p:nvSpPr>
          <p:cNvPr id="11" name="Text 7"/>
          <p:cNvSpPr txBox="1"/>
          <p:nvPr/>
        </p:nvSpPr>
        <p:spPr>
          <a:xfrm>
            <a:off x="868680" y="2167128"/>
            <a:ext cx="4937760" cy="365760"/>
          </a:xfrm>
          <a:prstGeom prst="rect">
            <a:avLst/>
          </a:prstGeom>
          <a:noFill/>
          <a:ln/>
        </p:spPr>
        <p:txBody>
          <a:bodyPr wrap="square" lIns="0" tIns="0" rIns="0" bIns="0" rtlCol="0" anchor="t"/>
          <a:lstStyle/>
          <a:p>
            <a:pPr indent="0" marL="0">
              <a:buNone/>
            </a:pPr>
            <a:r>
              <a:rPr lang="en-US" sz="1350" b="1" dirty="0">
                <a:solidFill>
                  <a:srgbClr val="0D1219"/>
                </a:solidFill>
                <a:latin typeface="Arial" pitchFamily="34" charset="0"/>
                <a:ea typeface="Arial" pitchFamily="34" charset="-122"/>
                <a:cs typeface="Arial" pitchFamily="34" charset="-120"/>
              </a:rPr>
              <a:t>Replit’s agent deleted a production database</a:t>
            </a:r>
            <a:endParaRPr lang="en-US" sz="1350" dirty="0"/>
          </a:p>
        </p:txBody>
      </p:sp>
      <p:sp>
        <p:nvSpPr>
          <p:cNvPr id="12" name="Text 8"/>
          <p:cNvSpPr txBox="1"/>
          <p:nvPr/>
        </p:nvSpPr>
        <p:spPr>
          <a:xfrm>
            <a:off x="868680" y="2560320"/>
            <a:ext cx="4937760" cy="914400"/>
          </a:xfrm>
          <a:prstGeom prst="rect">
            <a:avLst/>
          </a:prstGeom>
          <a:noFill/>
          <a:ln/>
        </p:spPr>
        <p:txBody>
          <a:bodyPr wrap="square" lIns="0" tIns="0" rIns="0" bIns="0" rtlCol="0" anchor="t"/>
          <a:lstStyle/>
          <a:p>
            <a:pPr algn="l" indent="0" marL="0">
              <a:lnSpc>
                <a:spcPct val="115000"/>
              </a:lnSpc>
              <a:buNone/>
            </a:pPr>
            <a:r>
              <a:rPr lang="en-US" sz="1050" dirty="0">
                <a:solidFill>
                  <a:srgbClr val="5B6675"/>
                </a:solidFill>
                <a:latin typeface="Arial" pitchFamily="34" charset="0"/>
                <a:ea typeface="Arial" pitchFamily="34" charset="-122"/>
                <a:cs typeface="Arial" pitchFamily="34" charset="-120"/>
              </a:rPr>
              <a:t>During a declared code freeze. 1,200+ executives’ records. Replit’s docs now read: “Agent is not able to modify the production database.”</a:t>
            </a:r>
            <a:endParaRPr lang="en-US" sz="1050" dirty="0"/>
          </a:p>
        </p:txBody>
      </p:sp>
      <p:sp>
        <p:nvSpPr>
          <p:cNvPr id="13" name="Shape 9"/>
          <p:cNvSpPr/>
          <p:nvPr/>
        </p:nvSpPr>
        <p:spPr>
          <a:xfrm>
            <a:off x="6172200" y="1783080"/>
            <a:ext cx="5349240" cy="1737360"/>
          </a:xfrm>
          <a:prstGeom prst="rect">
            <a:avLst/>
          </a:prstGeom>
          <a:solidFill>
            <a:srgbClr val="F3F6FB"/>
          </a:solidFill>
          <a:ln w="9525">
            <a:solidFill>
              <a:srgbClr val="D9E0EA"/>
            </a:solidFill>
            <a:prstDash val="solid"/>
          </a:ln>
        </p:spPr>
      </p:sp>
      <p:sp>
        <p:nvSpPr>
          <p:cNvPr id="14" name="Shape 10"/>
          <p:cNvSpPr/>
          <p:nvPr/>
        </p:nvSpPr>
        <p:spPr>
          <a:xfrm>
            <a:off x="6172200" y="1783080"/>
            <a:ext cx="54864" cy="1737360"/>
          </a:xfrm>
          <a:prstGeom prst="rect">
            <a:avLst/>
          </a:prstGeom>
          <a:solidFill>
            <a:srgbClr val="EF4444"/>
          </a:solidFill>
          <a:ln w="12700">
            <a:solidFill>
              <a:srgbClr val="EF4444"/>
            </a:solidFill>
            <a:prstDash val="solid"/>
          </a:ln>
        </p:spPr>
      </p:sp>
      <p:sp>
        <p:nvSpPr>
          <p:cNvPr id="15" name="Text 11"/>
          <p:cNvSpPr txBox="1"/>
          <p:nvPr/>
        </p:nvSpPr>
        <p:spPr>
          <a:xfrm>
            <a:off x="6400800" y="1920240"/>
            <a:ext cx="1828800" cy="228600"/>
          </a:xfrm>
          <a:prstGeom prst="rect">
            <a:avLst/>
          </a:prstGeom>
          <a:noFill/>
          <a:ln/>
        </p:spPr>
        <p:txBody>
          <a:bodyPr wrap="square" lIns="0" tIns="0" rIns="0" bIns="0" rtlCol="0" anchor="t"/>
          <a:lstStyle/>
          <a:p>
            <a:pPr algn="l" indent="0" marL="0">
              <a:lnSpc>
                <a:spcPct val="115000"/>
              </a:lnSpc>
              <a:buNone/>
            </a:pPr>
            <a:r>
              <a:rPr lang="en-US" sz="900" dirty="0">
                <a:solidFill>
                  <a:srgbClr val="EF8B39"/>
                </a:solidFill>
                <a:latin typeface="Courier New" pitchFamily="34" charset="0"/>
                <a:ea typeface="Courier New" pitchFamily="34" charset="-122"/>
                <a:cs typeface="Courier New" pitchFamily="34" charset="-120"/>
              </a:rPr>
              <a:t>MAY 2025</a:t>
            </a:r>
            <a:endParaRPr lang="en-US" sz="900" dirty="0"/>
          </a:p>
        </p:txBody>
      </p:sp>
      <p:sp>
        <p:nvSpPr>
          <p:cNvPr id="16" name="Text 12"/>
          <p:cNvSpPr txBox="1"/>
          <p:nvPr/>
        </p:nvSpPr>
        <p:spPr>
          <a:xfrm>
            <a:off x="6400800" y="2167128"/>
            <a:ext cx="4937760" cy="365760"/>
          </a:xfrm>
          <a:prstGeom prst="rect">
            <a:avLst/>
          </a:prstGeom>
          <a:noFill/>
          <a:ln/>
        </p:spPr>
        <p:txBody>
          <a:bodyPr wrap="square" lIns="0" tIns="0" rIns="0" bIns="0" rtlCol="0" anchor="t"/>
          <a:lstStyle/>
          <a:p>
            <a:pPr indent="0" marL="0">
              <a:buNone/>
            </a:pPr>
            <a:r>
              <a:rPr lang="en-US" sz="1350" b="1" dirty="0">
                <a:solidFill>
                  <a:srgbClr val="0D1219"/>
                </a:solidFill>
                <a:latin typeface="Arial" pitchFamily="34" charset="0"/>
                <a:ea typeface="Arial" pitchFamily="34" charset="-122"/>
                <a:cs typeface="Arial" pitchFamily="34" charset="-120"/>
              </a:rPr>
              <a:t>1 in 10 Lovable apps open to anyone</a:t>
            </a:r>
            <a:endParaRPr lang="en-US" sz="1350" dirty="0"/>
          </a:p>
        </p:txBody>
      </p:sp>
      <p:sp>
        <p:nvSpPr>
          <p:cNvPr id="17" name="Text 13"/>
          <p:cNvSpPr txBox="1"/>
          <p:nvPr/>
        </p:nvSpPr>
        <p:spPr>
          <a:xfrm>
            <a:off x="6400800" y="2560320"/>
            <a:ext cx="4937760" cy="914400"/>
          </a:xfrm>
          <a:prstGeom prst="rect">
            <a:avLst/>
          </a:prstGeom>
          <a:noFill/>
          <a:ln/>
        </p:spPr>
        <p:txBody>
          <a:bodyPr wrap="square" lIns="0" tIns="0" rIns="0" bIns="0" rtlCol="0" anchor="t"/>
          <a:lstStyle/>
          <a:p>
            <a:pPr algn="l" indent="0" marL="0">
              <a:lnSpc>
                <a:spcPct val="115000"/>
              </a:lnSpc>
              <a:buNone/>
            </a:pPr>
            <a:r>
              <a:rPr lang="en-US" sz="1050" dirty="0">
                <a:solidFill>
                  <a:srgbClr val="5B6675"/>
                </a:solidFill>
                <a:latin typeface="Arial" pitchFamily="34" charset="0"/>
                <a:ea typeface="Arial" pitchFamily="34" charset="-122"/>
                <a:cs typeface="Arial" pitchFamily="34" charset="-120"/>
              </a:rPr>
              <a:t>CVE-2025-48757: 170 of 1,645 scanned apps. Row Level Security off. Emails, addresses, payment details readable without logging in.</a:t>
            </a:r>
            <a:endParaRPr lang="en-US" sz="1050" dirty="0"/>
          </a:p>
        </p:txBody>
      </p:sp>
      <p:sp>
        <p:nvSpPr>
          <p:cNvPr id="18" name="Shape 14"/>
          <p:cNvSpPr/>
          <p:nvPr/>
        </p:nvSpPr>
        <p:spPr>
          <a:xfrm>
            <a:off x="640080" y="3657600"/>
            <a:ext cx="5349240" cy="1737360"/>
          </a:xfrm>
          <a:prstGeom prst="rect">
            <a:avLst/>
          </a:prstGeom>
          <a:solidFill>
            <a:srgbClr val="F3F6FB"/>
          </a:solidFill>
          <a:ln w="9525">
            <a:solidFill>
              <a:srgbClr val="D9E0EA"/>
            </a:solidFill>
            <a:prstDash val="solid"/>
          </a:ln>
        </p:spPr>
      </p:sp>
      <p:sp>
        <p:nvSpPr>
          <p:cNvPr id="19" name="Shape 15"/>
          <p:cNvSpPr/>
          <p:nvPr/>
        </p:nvSpPr>
        <p:spPr>
          <a:xfrm>
            <a:off x="640080" y="3657600"/>
            <a:ext cx="54864" cy="1737360"/>
          </a:xfrm>
          <a:prstGeom prst="rect">
            <a:avLst/>
          </a:prstGeom>
          <a:solidFill>
            <a:srgbClr val="EF4444"/>
          </a:solidFill>
          <a:ln w="12700">
            <a:solidFill>
              <a:srgbClr val="EF4444"/>
            </a:solidFill>
            <a:prstDash val="solid"/>
          </a:ln>
        </p:spPr>
      </p:sp>
      <p:sp>
        <p:nvSpPr>
          <p:cNvPr id="20" name="Text 16"/>
          <p:cNvSpPr txBox="1"/>
          <p:nvPr/>
        </p:nvSpPr>
        <p:spPr>
          <a:xfrm>
            <a:off x="868680" y="3794760"/>
            <a:ext cx="1828800" cy="228600"/>
          </a:xfrm>
          <a:prstGeom prst="rect">
            <a:avLst/>
          </a:prstGeom>
          <a:noFill/>
          <a:ln/>
        </p:spPr>
        <p:txBody>
          <a:bodyPr wrap="square" lIns="0" tIns="0" rIns="0" bIns="0" rtlCol="0" anchor="t"/>
          <a:lstStyle/>
          <a:p>
            <a:pPr algn="l" indent="0" marL="0">
              <a:lnSpc>
                <a:spcPct val="115000"/>
              </a:lnSpc>
              <a:buNone/>
            </a:pPr>
            <a:r>
              <a:rPr lang="en-US" sz="900" dirty="0">
                <a:solidFill>
                  <a:srgbClr val="EF8B39"/>
                </a:solidFill>
                <a:latin typeface="Courier New" pitchFamily="34" charset="0"/>
                <a:ea typeface="Courier New" pitchFamily="34" charset="-122"/>
                <a:cs typeface="Courier New" pitchFamily="34" charset="-120"/>
              </a:rPr>
              <a:t>FEB 2026</a:t>
            </a:r>
            <a:endParaRPr lang="en-US" sz="900" dirty="0"/>
          </a:p>
        </p:txBody>
      </p:sp>
      <p:sp>
        <p:nvSpPr>
          <p:cNvPr id="21" name="Text 17"/>
          <p:cNvSpPr txBox="1"/>
          <p:nvPr/>
        </p:nvSpPr>
        <p:spPr>
          <a:xfrm>
            <a:off x="868680" y="4041648"/>
            <a:ext cx="4937760" cy="365760"/>
          </a:xfrm>
          <a:prstGeom prst="rect">
            <a:avLst/>
          </a:prstGeom>
          <a:noFill/>
          <a:ln/>
        </p:spPr>
        <p:txBody>
          <a:bodyPr wrap="square" lIns="0" tIns="0" rIns="0" bIns="0" rtlCol="0" anchor="t"/>
          <a:lstStyle/>
          <a:p>
            <a:pPr indent="0" marL="0">
              <a:buNone/>
            </a:pPr>
            <a:r>
              <a:rPr lang="en-US" sz="1350" b="1" dirty="0">
                <a:solidFill>
                  <a:srgbClr val="0D1219"/>
                </a:solidFill>
                <a:latin typeface="Arial" pitchFamily="34" charset="0"/>
                <a:ea typeface="Arial" pitchFamily="34" charset="-122"/>
                <a:cs typeface="Arial" pitchFamily="34" charset="-120"/>
              </a:rPr>
              <a:t>Moltbook: “I didn’t write a single line of code”</a:t>
            </a:r>
            <a:endParaRPr lang="en-US" sz="1350" dirty="0"/>
          </a:p>
        </p:txBody>
      </p:sp>
      <p:sp>
        <p:nvSpPr>
          <p:cNvPr id="22" name="Text 18"/>
          <p:cNvSpPr txBox="1"/>
          <p:nvPr/>
        </p:nvSpPr>
        <p:spPr>
          <a:xfrm>
            <a:off x="868680" y="4434840"/>
            <a:ext cx="4937760" cy="914400"/>
          </a:xfrm>
          <a:prstGeom prst="rect">
            <a:avLst/>
          </a:prstGeom>
          <a:noFill/>
          <a:ln/>
        </p:spPr>
        <p:txBody>
          <a:bodyPr wrap="square" lIns="0" tIns="0" rIns="0" bIns="0" rtlCol="0" anchor="t"/>
          <a:lstStyle/>
          <a:p>
            <a:pPr algn="l" indent="0" marL="0">
              <a:lnSpc>
                <a:spcPct val="115000"/>
              </a:lnSpc>
              <a:buNone/>
            </a:pPr>
            <a:r>
              <a:rPr lang="en-US" sz="1050" dirty="0">
                <a:solidFill>
                  <a:srgbClr val="5B6675"/>
                </a:solidFill>
                <a:latin typeface="Arial" pitchFamily="34" charset="0"/>
                <a:ea typeface="Arial" pitchFamily="34" charset="-122"/>
                <a:cs typeface="Arial" pitchFamily="34" charset="-120"/>
              </a:rPr>
              <a:t>1.5 million API keys and 35,000 emails exposed. A Supabase key in the browser plus the same unchecked box.</a:t>
            </a:r>
            <a:endParaRPr lang="en-US" sz="1050" dirty="0"/>
          </a:p>
        </p:txBody>
      </p:sp>
      <p:sp>
        <p:nvSpPr>
          <p:cNvPr id="23" name="Shape 19"/>
          <p:cNvSpPr/>
          <p:nvPr/>
        </p:nvSpPr>
        <p:spPr>
          <a:xfrm>
            <a:off x="6172200" y="3657600"/>
            <a:ext cx="5349240" cy="1737360"/>
          </a:xfrm>
          <a:prstGeom prst="rect">
            <a:avLst/>
          </a:prstGeom>
          <a:solidFill>
            <a:srgbClr val="F3F6FB"/>
          </a:solidFill>
          <a:ln w="9525">
            <a:solidFill>
              <a:srgbClr val="D9E0EA"/>
            </a:solidFill>
            <a:prstDash val="solid"/>
          </a:ln>
        </p:spPr>
      </p:sp>
      <p:sp>
        <p:nvSpPr>
          <p:cNvPr id="24" name="Shape 20"/>
          <p:cNvSpPr/>
          <p:nvPr/>
        </p:nvSpPr>
        <p:spPr>
          <a:xfrm>
            <a:off x="6172200" y="3657600"/>
            <a:ext cx="54864" cy="1737360"/>
          </a:xfrm>
          <a:prstGeom prst="rect">
            <a:avLst/>
          </a:prstGeom>
          <a:solidFill>
            <a:srgbClr val="EF4444"/>
          </a:solidFill>
          <a:ln w="12700">
            <a:solidFill>
              <a:srgbClr val="EF4444"/>
            </a:solidFill>
            <a:prstDash val="solid"/>
          </a:ln>
        </p:spPr>
      </p:sp>
      <p:sp>
        <p:nvSpPr>
          <p:cNvPr id="25" name="Text 21"/>
          <p:cNvSpPr txBox="1"/>
          <p:nvPr/>
        </p:nvSpPr>
        <p:spPr>
          <a:xfrm>
            <a:off x="6400800" y="3794760"/>
            <a:ext cx="1828800" cy="228600"/>
          </a:xfrm>
          <a:prstGeom prst="rect">
            <a:avLst/>
          </a:prstGeom>
          <a:noFill/>
          <a:ln/>
        </p:spPr>
        <p:txBody>
          <a:bodyPr wrap="square" lIns="0" tIns="0" rIns="0" bIns="0" rtlCol="0" anchor="t"/>
          <a:lstStyle/>
          <a:p>
            <a:pPr algn="l" indent="0" marL="0">
              <a:lnSpc>
                <a:spcPct val="115000"/>
              </a:lnSpc>
              <a:buNone/>
            </a:pPr>
            <a:r>
              <a:rPr lang="en-US" sz="900" dirty="0">
                <a:solidFill>
                  <a:srgbClr val="EF8B39"/>
                </a:solidFill>
                <a:latin typeface="Courier New" pitchFamily="34" charset="0"/>
                <a:ea typeface="Courier New" pitchFamily="34" charset="-122"/>
                <a:cs typeface="Courier New" pitchFamily="34" charset="-120"/>
              </a:rPr>
              <a:t>MAY 2026</a:t>
            </a:r>
            <a:endParaRPr lang="en-US" sz="900" dirty="0"/>
          </a:p>
        </p:txBody>
      </p:sp>
      <p:sp>
        <p:nvSpPr>
          <p:cNvPr id="26" name="Text 22"/>
          <p:cNvSpPr txBox="1"/>
          <p:nvPr/>
        </p:nvSpPr>
        <p:spPr>
          <a:xfrm>
            <a:off x="6400800" y="4041648"/>
            <a:ext cx="4937760" cy="365760"/>
          </a:xfrm>
          <a:prstGeom prst="rect">
            <a:avLst/>
          </a:prstGeom>
          <a:noFill/>
          <a:ln/>
        </p:spPr>
        <p:txBody>
          <a:bodyPr wrap="square" lIns="0" tIns="0" rIns="0" bIns="0" rtlCol="0" anchor="t"/>
          <a:lstStyle/>
          <a:p>
            <a:pPr indent="0" marL="0">
              <a:buNone/>
            </a:pPr>
            <a:r>
              <a:rPr lang="en-US" sz="1350" b="1" dirty="0">
                <a:solidFill>
                  <a:srgbClr val="0D1219"/>
                </a:solidFill>
                <a:latin typeface="Arial" pitchFamily="34" charset="0"/>
                <a:ea typeface="Arial" pitchFamily="34" charset="-122"/>
                <a:cs typeface="Arial" pitchFamily="34" charset="-120"/>
              </a:rPr>
              <a:t>~5,000 of 380,000 apps leaking</a:t>
            </a:r>
            <a:endParaRPr lang="en-US" sz="1350" dirty="0"/>
          </a:p>
        </p:txBody>
      </p:sp>
      <p:sp>
        <p:nvSpPr>
          <p:cNvPr id="27" name="Text 23"/>
          <p:cNvSpPr txBox="1"/>
          <p:nvPr/>
        </p:nvSpPr>
        <p:spPr>
          <a:xfrm>
            <a:off x="6400800" y="4434840"/>
            <a:ext cx="4937760" cy="914400"/>
          </a:xfrm>
          <a:prstGeom prst="rect">
            <a:avLst/>
          </a:prstGeom>
          <a:noFill/>
          <a:ln/>
        </p:spPr>
        <p:txBody>
          <a:bodyPr wrap="square" lIns="0" tIns="0" rIns="0" bIns="0" rtlCol="0" anchor="t"/>
          <a:lstStyle/>
          <a:p>
            <a:pPr algn="l" indent="0" marL="0">
              <a:lnSpc>
                <a:spcPct val="115000"/>
              </a:lnSpc>
              <a:buNone/>
            </a:pPr>
            <a:r>
              <a:rPr lang="en-US" sz="1050" dirty="0">
                <a:solidFill>
                  <a:srgbClr val="5B6675"/>
                </a:solidFill>
                <a:latin typeface="Arial" pitchFamily="34" charset="0"/>
                <a:ea typeface="Arial" pitchFamily="34" charset="-122"/>
                <a:cs typeface="Arial" pitchFamily="34" charset="-120"/>
              </a:rPr>
              <a:t>RedAccess. Vessel schedules, clinical trials, pediatric records. No exploit. Public by default, indexed by Google.</a:t>
            </a:r>
            <a:endParaRPr lang="en-US" sz="1050" dirty="0"/>
          </a:p>
        </p:txBody>
      </p:sp>
      <p:sp>
        <p:nvSpPr>
          <p:cNvPr id="28" name="Shape 24"/>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29" name="Text 25"/>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30" name="Shape 26"/>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31" name="Text 27"/>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32" name="Shape 28"/>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33" name="Text 29"/>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34" name="Shape 30"/>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35" name="Text 31"/>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36" name="Shape 32"/>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37" name="Text 33"/>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38" name="Shape 34"/>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39" name="Text 35"/>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11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2  ·  ONE YEAR LATER  ·  15 MIN  ·  TALK</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0:25 – 0:40</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700" b="1" dirty="0">
                <a:solidFill>
                  <a:srgbClr val="0D1219"/>
                </a:solidFill>
                <a:latin typeface="Arial" pitchFamily="34" charset="0"/>
                <a:ea typeface="Arial" pitchFamily="34" charset="-122"/>
                <a:cs typeface="Arial" pitchFamily="34" charset="-120"/>
              </a:rPr>
              <a:t>The code got better at running. Not at being safe.</a:t>
            </a:r>
            <a:endParaRPr lang="en-US" sz="2700" dirty="0"/>
          </a:p>
        </p:txBody>
      </p:sp>
      <p:sp>
        <p:nvSpPr>
          <p:cNvPr id="8" name="Shape 4"/>
          <p:cNvSpPr/>
          <p:nvPr/>
        </p:nvSpPr>
        <p:spPr>
          <a:xfrm>
            <a:off x="914400" y="1920240"/>
            <a:ext cx="5852160" cy="3108960"/>
          </a:xfrm>
          <a:prstGeom prst="rect">
            <a:avLst/>
          </a:prstGeom>
          <a:solidFill>
            <a:srgbClr val="F3F6FB"/>
          </a:solidFill>
          <a:ln w="9525">
            <a:solidFill>
              <a:srgbClr val="D9E0EA"/>
            </a:solidFill>
            <a:prstDash val="solid"/>
          </a:ln>
        </p:spPr>
      </p:sp>
      <p:sp>
        <p:nvSpPr>
          <p:cNvPr id="9" name="Text 5"/>
          <p:cNvSpPr txBox="1"/>
          <p:nvPr/>
        </p:nvSpPr>
        <p:spPr>
          <a:xfrm>
            <a:off x="1097280" y="2029968"/>
            <a:ext cx="5486400" cy="237744"/>
          </a:xfrm>
          <a:prstGeom prst="rect">
            <a:avLst/>
          </a:prstGeom>
          <a:noFill/>
          <a:ln/>
        </p:spPr>
        <p:txBody>
          <a:bodyPr wrap="square" lIns="0" tIns="0" rIns="0" bIns="0" rtlCol="0" anchor="ctr"/>
          <a:lstStyle/>
          <a:p>
            <a:pPr indent="0" marL="0">
              <a:buNone/>
            </a:pPr>
            <a:r>
              <a:rPr lang="en-US" sz="850" b="1" spc="150" kern="0" dirty="0">
                <a:solidFill>
                  <a:srgbClr val="EF8B39"/>
                </a:solidFill>
                <a:latin typeface="Courier New" pitchFamily="34" charset="0"/>
                <a:ea typeface="Courier New" pitchFamily="34" charset="-122"/>
                <a:cs typeface="Courier New" pitchFamily="34" charset="-120"/>
              </a:rPr>
              <a:t>VERACODE, 150+ MODELS, 2024 → 2026</a:t>
            </a:r>
            <a:endParaRPr lang="en-US" sz="850" dirty="0"/>
          </a:p>
        </p:txBody>
      </p:sp>
      <p:sp>
        <p:nvSpPr>
          <p:cNvPr id="10" name="Shape 6"/>
          <p:cNvSpPr/>
          <p:nvPr/>
        </p:nvSpPr>
        <p:spPr>
          <a:xfrm flipV="1">
            <a:off x="1737360" y="2651760"/>
            <a:ext cx="4480560" cy="1600200"/>
          </a:xfrm>
          <a:prstGeom prst="line">
            <a:avLst/>
          </a:prstGeom>
          <a:noFill/>
          <a:ln w="38100">
            <a:solidFill>
              <a:srgbClr val="307FE2"/>
            </a:solidFill>
            <a:prstDash val="solid"/>
          </a:ln>
        </p:spPr>
      </p:sp>
      <p:sp>
        <p:nvSpPr>
          <p:cNvPr id="11" name="Shape 7"/>
          <p:cNvSpPr/>
          <p:nvPr/>
        </p:nvSpPr>
        <p:spPr>
          <a:xfrm>
            <a:off x="1737360" y="3611880"/>
            <a:ext cx="4480560" cy="18288"/>
          </a:xfrm>
          <a:prstGeom prst="line">
            <a:avLst/>
          </a:prstGeom>
          <a:noFill/>
          <a:ln w="38100">
            <a:solidFill>
              <a:srgbClr val="EF8B39"/>
            </a:solidFill>
            <a:prstDash val="solid"/>
          </a:ln>
        </p:spPr>
      </p:sp>
      <p:sp>
        <p:nvSpPr>
          <p:cNvPr id="12" name="Text 8"/>
          <p:cNvSpPr txBox="1"/>
          <p:nvPr/>
        </p:nvSpPr>
        <p:spPr>
          <a:xfrm>
            <a:off x="1737360" y="2331720"/>
            <a:ext cx="4480560" cy="274320"/>
          </a:xfrm>
          <a:prstGeom prst="rect">
            <a:avLst/>
          </a:prstGeom>
          <a:noFill/>
          <a:ln/>
        </p:spPr>
        <p:txBody>
          <a:bodyPr wrap="square" lIns="0" tIns="0" rIns="0" bIns="0" rtlCol="0" anchor="t"/>
          <a:lstStyle/>
          <a:p>
            <a:pPr algn="l" indent="0" marL="0">
              <a:lnSpc>
                <a:spcPct val="115000"/>
              </a:lnSpc>
              <a:buNone/>
            </a:pPr>
            <a:r>
              <a:rPr lang="en-US" sz="1100" b="1" dirty="0">
                <a:solidFill>
                  <a:srgbClr val="307FE2"/>
                </a:solidFill>
                <a:latin typeface="Arial" pitchFamily="34" charset="0"/>
                <a:ea typeface="Arial" pitchFamily="34" charset="-122"/>
                <a:cs typeface="Arial" pitchFamily="34" charset="-120"/>
              </a:rPr>
              <a:t>Code that runs: ~50% → 95%</a:t>
            </a:r>
            <a:endParaRPr lang="en-US" sz="1100" dirty="0"/>
          </a:p>
        </p:txBody>
      </p:sp>
      <p:sp>
        <p:nvSpPr>
          <p:cNvPr id="13" name="Text 9"/>
          <p:cNvSpPr txBox="1"/>
          <p:nvPr/>
        </p:nvSpPr>
        <p:spPr>
          <a:xfrm>
            <a:off x="1737360" y="3749040"/>
            <a:ext cx="4480560" cy="274320"/>
          </a:xfrm>
          <a:prstGeom prst="rect">
            <a:avLst/>
          </a:prstGeom>
          <a:noFill/>
          <a:ln/>
        </p:spPr>
        <p:txBody>
          <a:bodyPr wrap="square" lIns="0" tIns="0" rIns="0" bIns="0" rtlCol="0" anchor="t"/>
          <a:lstStyle/>
          <a:p>
            <a:pPr algn="l" indent="0" marL="0">
              <a:lnSpc>
                <a:spcPct val="115000"/>
              </a:lnSpc>
              <a:buNone/>
            </a:pPr>
            <a:r>
              <a:rPr lang="en-US" sz="1100" b="1" dirty="0">
                <a:solidFill>
                  <a:srgbClr val="EF8B39"/>
                </a:solidFill>
                <a:latin typeface="Arial" pitchFamily="34" charset="0"/>
                <a:ea typeface="Arial" pitchFamily="34" charset="-122"/>
                <a:cs typeface="Arial" pitchFamily="34" charset="-120"/>
              </a:rPr>
              <a:t>Code that passes a security check: flat at ~55%</a:t>
            </a:r>
            <a:endParaRPr lang="en-US" sz="1100" dirty="0"/>
          </a:p>
        </p:txBody>
      </p:sp>
      <p:sp>
        <p:nvSpPr>
          <p:cNvPr id="14" name="Text 10"/>
          <p:cNvSpPr txBox="1"/>
          <p:nvPr/>
        </p:nvSpPr>
        <p:spPr>
          <a:xfrm>
            <a:off x="1737360" y="4526280"/>
            <a:ext cx="914400" cy="274320"/>
          </a:xfrm>
          <a:prstGeom prst="rect">
            <a:avLst/>
          </a:prstGeom>
          <a:noFill/>
          <a:ln/>
        </p:spPr>
        <p:txBody>
          <a:bodyPr wrap="square" lIns="0" tIns="0" rIns="0" bIns="0" rtlCol="0" anchor="t"/>
          <a:lstStyle/>
          <a:p>
            <a:pPr algn="l" indent="0" marL="0">
              <a:lnSpc>
                <a:spcPct val="115000"/>
              </a:lnSpc>
              <a:buNone/>
            </a:pPr>
            <a:r>
              <a:rPr lang="en-US" sz="850" dirty="0">
                <a:solidFill>
                  <a:srgbClr val="5B6675"/>
                </a:solidFill>
                <a:latin typeface="Courier New" pitchFamily="34" charset="0"/>
                <a:ea typeface="Courier New" pitchFamily="34" charset="-122"/>
                <a:cs typeface="Courier New" pitchFamily="34" charset="-120"/>
              </a:rPr>
              <a:t>2024</a:t>
            </a:r>
            <a:endParaRPr lang="en-US" sz="850" dirty="0"/>
          </a:p>
        </p:txBody>
      </p:sp>
      <p:sp>
        <p:nvSpPr>
          <p:cNvPr id="15" name="Text 11"/>
          <p:cNvSpPr txBox="1"/>
          <p:nvPr/>
        </p:nvSpPr>
        <p:spPr>
          <a:xfrm>
            <a:off x="5394960" y="4526280"/>
            <a:ext cx="914400" cy="274320"/>
          </a:xfrm>
          <a:prstGeom prst="rect">
            <a:avLst/>
          </a:prstGeom>
          <a:noFill/>
          <a:ln/>
        </p:spPr>
        <p:txBody>
          <a:bodyPr wrap="square" lIns="0" tIns="0" rIns="0" bIns="0" rtlCol="0" anchor="t"/>
          <a:lstStyle/>
          <a:p>
            <a:pPr algn="r" indent="0" marL="0">
              <a:lnSpc>
                <a:spcPct val="115000"/>
              </a:lnSpc>
              <a:buNone/>
            </a:pPr>
            <a:r>
              <a:rPr lang="en-US" sz="850" dirty="0">
                <a:solidFill>
                  <a:srgbClr val="5B6675"/>
                </a:solidFill>
                <a:latin typeface="Courier New" pitchFamily="34" charset="0"/>
                <a:ea typeface="Courier New" pitchFamily="34" charset="-122"/>
                <a:cs typeface="Courier New" pitchFamily="34" charset="-120"/>
              </a:rPr>
              <a:t>2026</a:t>
            </a:r>
            <a:endParaRPr lang="en-US" sz="850" dirty="0"/>
          </a:p>
        </p:txBody>
      </p:sp>
      <p:sp>
        <p:nvSpPr>
          <p:cNvPr id="16" name="Text 12"/>
          <p:cNvSpPr txBox="1"/>
          <p:nvPr/>
        </p:nvSpPr>
        <p:spPr>
          <a:xfrm>
            <a:off x="7223760" y="1920240"/>
            <a:ext cx="4297680" cy="777240"/>
          </a:xfrm>
          <a:prstGeom prst="rect">
            <a:avLst/>
          </a:prstGeom>
          <a:noFill/>
          <a:ln/>
        </p:spPr>
        <p:txBody>
          <a:bodyPr wrap="square" lIns="0" tIns="0" rIns="0" bIns="0" rtlCol="0" anchor="ctr"/>
          <a:lstStyle/>
          <a:p>
            <a:pPr indent="0" marL="0">
              <a:buNone/>
            </a:pPr>
            <a:r>
              <a:rPr lang="en-US" sz="4000" b="1" dirty="0">
                <a:solidFill>
                  <a:srgbClr val="EF8B39"/>
                </a:solidFill>
                <a:latin typeface="Arial" pitchFamily="34" charset="0"/>
                <a:ea typeface="Arial" pitchFamily="34" charset="-122"/>
                <a:cs typeface="Arial" pitchFamily="34" charset="-120"/>
              </a:rPr>
              <a:t>45%</a:t>
            </a:r>
            <a:endParaRPr lang="en-US" sz="4000" dirty="0"/>
          </a:p>
        </p:txBody>
      </p:sp>
      <p:sp>
        <p:nvSpPr>
          <p:cNvPr id="17" name="Text 13"/>
          <p:cNvSpPr txBox="1"/>
          <p:nvPr/>
        </p:nvSpPr>
        <p:spPr>
          <a:xfrm>
            <a:off x="7223760" y="2724912"/>
            <a:ext cx="4297680" cy="640080"/>
          </a:xfrm>
          <a:prstGeom prst="rect">
            <a:avLst/>
          </a:prstGeom>
          <a:noFill/>
          <a:ln/>
        </p:spPr>
        <p:txBody>
          <a:bodyPr wrap="square" lIns="0" tIns="0" rIns="0" bIns="0" rtlCol="0" anchor="t"/>
          <a:lstStyle/>
          <a:p>
            <a:pPr indent="0" marL="0">
              <a:lnSpc>
                <a:spcPct val="115000"/>
              </a:lnSpc>
              <a:buNone/>
            </a:pPr>
            <a:r>
              <a:rPr lang="en-US" sz="1200" dirty="0">
                <a:solidFill>
                  <a:srgbClr val="5B6675"/>
                </a:solidFill>
                <a:latin typeface="Arial" pitchFamily="34" charset="0"/>
                <a:ea typeface="Arial" pitchFamily="34" charset="-122"/>
                <a:cs typeface="Arial" pitchFamily="34" charset="-120"/>
              </a:rPr>
              <a:t>of AI-generated code contains a known vulnerability when no security guidance is given. Unchanged for two years.</a:t>
            </a:r>
            <a:endParaRPr lang="en-US" sz="1200" dirty="0"/>
          </a:p>
        </p:txBody>
      </p:sp>
      <p:sp>
        <p:nvSpPr>
          <p:cNvPr id="18" name="Shape 14"/>
          <p:cNvSpPr/>
          <p:nvPr/>
        </p:nvSpPr>
        <p:spPr>
          <a:xfrm>
            <a:off x="7223760" y="3977640"/>
            <a:ext cx="4325112" cy="1051560"/>
          </a:xfrm>
          <a:prstGeom prst="rect">
            <a:avLst/>
          </a:prstGeom>
          <a:solidFill>
            <a:srgbClr val="E8EEF7"/>
          </a:solidFill>
          <a:ln w="12700">
            <a:solidFill>
              <a:srgbClr val="EF8B39"/>
            </a:solidFill>
            <a:prstDash val="solid"/>
          </a:ln>
        </p:spPr>
      </p:sp>
      <p:sp>
        <p:nvSpPr>
          <p:cNvPr id="19" name="Text 15"/>
          <p:cNvSpPr txBox="1"/>
          <p:nvPr/>
        </p:nvSpPr>
        <p:spPr>
          <a:xfrm>
            <a:off x="7406640" y="4114800"/>
            <a:ext cx="4023360" cy="822960"/>
          </a:xfrm>
          <a:prstGeom prst="rect">
            <a:avLst/>
          </a:prstGeom>
          <a:noFill/>
          <a:ln/>
        </p:spPr>
        <p:txBody>
          <a:bodyPr wrap="square" lIns="0" tIns="0" rIns="0" bIns="0" rtlCol="0" anchor="ctr"/>
          <a:lstStyle/>
          <a:p>
            <a:pPr algn="l" indent="0" marL="0">
              <a:lnSpc>
                <a:spcPct val="115000"/>
              </a:lnSpc>
              <a:buNone/>
            </a:pPr>
            <a:r>
              <a:rPr lang="en-US" sz="1400" dirty="0">
                <a:solidFill>
                  <a:srgbClr val="0D1219"/>
                </a:solidFill>
                <a:latin typeface="Arial" pitchFamily="34" charset="0"/>
                <a:ea typeface="Arial" pitchFamily="34" charset="-122"/>
                <a:cs typeface="Arial" pitchFamily="34" charset="-120"/>
              </a:rPr>
              <a:t>“When no security guidance is given.” You are the guidance.</a:t>
            </a:r>
            <a:endParaRPr lang="en-US" sz="1400" dirty="0"/>
          </a:p>
        </p:txBody>
      </p:sp>
      <p:sp>
        <p:nvSpPr>
          <p:cNvPr id="20" name="Shape 16"/>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21" name="Text 17"/>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2" name="Shape 18"/>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23" name="Text 19"/>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24" name="Shape 20"/>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25" name="Text 21"/>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26" name="Shape 22"/>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27" name="Text 23"/>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28" name="Shape 24"/>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29" name="Text 25"/>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30" name="Shape 26"/>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31" name="Text 27"/>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12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2  ·  ONE YEAR LATER  ·  15 MIN  ·  TALK</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0:25 – 0:40</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700" b="1" dirty="0">
                <a:solidFill>
                  <a:srgbClr val="0D1219"/>
                </a:solidFill>
                <a:latin typeface="Arial" pitchFamily="34" charset="0"/>
                <a:ea typeface="Arial" pitchFamily="34" charset="-122"/>
                <a:cs typeface="Arial" pitchFamily="34" charset="-120"/>
              </a:rPr>
              <a:t>The vendors already told you whose job the other half is.</a:t>
            </a:r>
            <a:endParaRPr lang="en-US" sz="2700" dirty="0"/>
          </a:p>
        </p:txBody>
      </p:sp>
      <p:sp>
        <p:nvSpPr>
          <p:cNvPr id="8" name="Shape 4"/>
          <p:cNvSpPr/>
          <p:nvPr/>
        </p:nvSpPr>
        <p:spPr>
          <a:xfrm>
            <a:off x="640080" y="1783080"/>
            <a:ext cx="5394960" cy="2377440"/>
          </a:xfrm>
          <a:prstGeom prst="rect">
            <a:avLst/>
          </a:prstGeom>
          <a:solidFill>
            <a:srgbClr val="F3F6FB"/>
          </a:solidFill>
          <a:ln w="15875">
            <a:solidFill>
              <a:srgbClr val="EF8B39"/>
            </a:solidFill>
            <a:prstDash val="solid"/>
          </a:ln>
        </p:spPr>
      </p:sp>
      <p:sp>
        <p:nvSpPr>
          <p:cNvPr id="9" name="Text 5"/>
          <p:cNvSpPr txBox="1"/>
          <p:nvPr/>
        </p:nvSpPr>
        <p:spPr>
          <a:xfrm>
            <a:off x="914400" y="1828800"/>
            <a:ext cx="914400" cy="914400"/>
          </a:xfrm>
          <a:prstGeom prst="rect">
            <a:avLst/>
          </a:prstGeom>
          <a:noFill/>
          <a:ln/>
        </p:spPr>
        <p:txBody>
          <a:bodyPr wrap="square" lIns="0" tIns="0" rIns="0" bIns="0" rtlCol="0" anchor="ctr"/>
          <a:lstStyle/>
          <a:p>
            <a:pPr indent="0" marL="0">
              <a:buNone/>
            </a:pPr>
            <a:r>
              <a:rPr lang="en-US" sz="6400" dirty="0">
                <a:solidFill>
                  <a:srgbClr val="EF8B39"/>
                </a:solidFill>
                <a:latin typeface="Georgia" pitchFamily="34" charset="0"/>
                <a:ea typeface="Georgia" pitchFamily="34" charset="-122"/>
                <a:cs typeface="Georgia" pitchFamily="34" charset="-120"/>
              </a:rPr>
              <a:t>“</a:t>
            </a:r>
            <a:endParaRPr lang="en-US" sz="6400" dirty="0"/>
          </a:p>
        </p:txBody>
      </p:sp>
      <p:sp>
        <p:nvSpPr>
          <p:cNvPr id="10" name="Text 6"/>
          <p:cNvSpPr txBox="1"/>
          <p:nvPr/>
        </p:nvSpPr>
        <p:spPr>
          <a:xfrm>
            <a:off x="1188720" y="2286000"/>
            <a:ext cx="4297680" cy="1188720"/>
          </a:xfrm>
          <a:prstGeom prst="rect">
            <a:avLst/>
          </a:prstGeom>
          <a:noFill/>
          <a:ln/>
        </p:spPr>
        <p:txBody>
          <a:bodyPr wrap="square" lIns="0" tIns="0" rIns="0" bIns="0" rtlCol="0" anchor="ctr"/>
          <a:lstStyle/>
          <a:p>
            <a:pPr indent="0" marL="0">
              <a:lnSpc>
                <a:spcPct val="120000"/>
              </a:lnSpc>
              <a:buNone/>
            </a:pPr>
            <a:r>
              <a:rPr lang="en-US" sz="1700" dirty="0">
                <a:solidFill>
                  <a:srgbClr val="0D1219"/>
                </a:solidFill>
                <a:latin typeface="Arial" pitchFamily="34" charset="0"/>
                <a:ea typeface="Arial" pitchFamily="34" charset="-122"/>
                <a:cs typeface="Arial" pitchFamily="34" charset="-120"/>
              </a:rPr>
              <a:t>Public apps being accessible on the internet is expected behavior.</a:t>
            </a:r>
            <a:endParaRPr lang="en-US" sz="1700" dirty="0"/>
          </a:p>
        </p:txBody>
      </p:sp>
      <p:sp>
        <p:nvSpPr>
          <p:cNvPr id="11" name="Text 7"/>
          <p:cNvSpPr txBox="1"/>
          <p:nvPr/>
        </p:nvSpPr>
        <p:spPr>
          <a:xfrm>
            <a:off x="1188720" y="3566160"/>
            <a:ext cx="4297680" cy="365760"/>
          </a:xfrm>
          <a:prstGeom prst="rect">
            <a:avLst/>
          </a:prstGeom>
          <a:noFill/>
          <a:ln/>
        </p:spPr>
        <p:txBody>
          <a:bodyPr wrap="square" lIns="0" tIns="0" rIns="0" bIns="0" rtlCol="0" anchor="ctr"/>
          <a:lstStyle/>
          <a:p>
            <a:pPr indent="0" marL="0">
              <a:buNone/>
            </a:pPr>
            <a:r>
              <a:rPr lang="en-US" sz="1000" dirty="0">
                <a:solidFill>
                  <a:srgbClr val="7B8594"/>
                </a:solidFill>
                <a:latin typeface="Courier New" pitchFamily="34" charset="0"/>
                <a:ea typeface="Courier New" pitchFamily="34" charset="-122"/>
                <a:cs typeface="Courier New" pitchFamily="34" charset="-120"/>
              </a:rPr>
              <a:t>Amjad Masad, CEO of Replit, May 2026, on ~5,000 leaking apps</a:t>
            </a:r>
            <a:endParaRPr lang="en-US" sz="1000" dirty="0"/>
          </a:p>
        </p:txBody>
      </p:sp>
      <p:sp>
        <p:nvSpPr>
          <p:cNvPr id="12" name="Shape 8"/>
          <p:cNvSpPr/>
          <p:nvPr/>
        </p:nvSpPr>
        <p:spPr>
          <a:xfrm>
            <a:off x="6172200" y="1783080"/>
            <a:ext cx="5376672" cy="2377440"/>
          </a:xfrm>
          <a:prstGeom prst="rect">
            <a:avLst/>
          </a:prstGeom>
          <a:solidFill>
            <a:srgbClr val="F3F6FB"/>
          </a:solidFill>
          <a:ln w="15875">
            <a:solidFill>
              <a:srgbClr val="EF8B39"/>
            </a:solidFill>
            <a:prstDash val="solid"/>
          </a:ln>
        </p:spPr>
      </p:sp>
      <p:sp>
        <p:nvSpPr>
          <p:cNvPr id="13" name="Text 9"/>
          <p:cNvSpPr txBox="1"/>
          <p:nvPr/>
        </p:nvSpPr>
        <p:spPr>
          <a:xfrm>
            <a:off x="6446520" y="1828800"/>
            <a:ext cx="914400" cy="914400"/>
          </a:xfrm>
          <a:prstGeom prst="rect">
            <a:avLst/>
          </a:prstGeom>
          <a:noFill/>
          <a:ln/>
        </p:spPr>
        <p:txBody>
          <a:bodyPr wrap="square" lIns="0" tIns="0" rIns="0" bIns="0" rtlCol="0" anchor="ctr"/>
          <a:lstStyle/>
          <a:p>
            <a:pPr indent="0" marL="0">
              <a:buNone/>
            </a:pPr>
            <a:r>
              <a:rPr lang="en-US" sz="6400" dirty="0">
                <a:solidFill>
                  <a:srgbClr val="EF8B39"/>
                </a:solidFill>
                <a:latin typeface="Georgia" pitchFamily="34" charset="0"/>
                <a:ea typeface="Georgia" pitchFamily="34" charset="-122"/>
                <a:cs typeface="Georgia" pitchFamily="34" charset="-120"/>
              </a:rPr>
              <a:t>“</a:t>
            </a:r>
            <a:endParaRPr lang="en-US" sz="6400" dirty="0"/>
          </a:p>
        </p:txBody>
      </p:sp>
      <p:sp>
        <p:nvSpPr>
          <p:cNvPr id="14" name="Text 10"/>
          <p:cNvSpPr txBox="1"/>
          <p:nvPr/>
        </p:nvSpPr>
        <p:spPr>
          <a:xfrm>
            <a:off x="6720840" y="2286000"/>
            <a:ext cx="4279392" cy="1188720"/>
          </a:xfrm>
          <a:prstGeom prst="rect">
            <a:avLst/>
          </a:prstGeom>
          <a:noFill/>
          <a:ln/>
        </p:spPr>
        <p:txBody>
          <a:bodyPr wrap="square" lIns="0" tIns="0" rIns="0" bIns="0" rtlCol="0" anchor="ctr"/>
          <a:lstStyle/>
          <a:p>
            <a:pPr indent="0" marL="0">
              <a:lnSpc>
                <a:spcPct val="120000"/>
              </a:lnSpc>
              <a:buNone/>
            </a:pPr>
            <a:r>
              <a:rPr lang="en-US" sz="1700" dirty="0">
                <a:solidFill>
                  <a:srgbClr val="0D1219"/>
                </a:solidFill>
                <a:latin typeface="Arial" pitchFamily="34" charset="0"/>
                <a:ea typeface="Arial" pitchFamily="34" charset="-122"/>
                <a:cs typeface="Arial" pitchFamily="34" charset="-120"/>
              </a:rPr>
              <a:t>Customers are responsible for protecting their application data.</a:t>
            </a:r>
            <a:endParaRPr lang="en-US" sz="1700" dirty="0"/>
          </a:p>
        </p:txBody>
      </p:sp>
      <p:sp>
        <p:nvSpPr>
          <p:cNvPr id="15" name="Text 11"/>
          <p:cNvSpPr txBox="1"/>
          <p:nvPr/>
        </p:nvSpPr>
        <p:spPr>
          <a:xfrm>
            <a:off x="6720840" y="3566160"/>
            <a:ext cx="4279392" cy="365760"/>
          </a:xfrm>
          <a:prstGeom prst="rect">
            <a:avLst/>
          </a:prstGeom>
          <a:noFill/>
          <a:ln/>
        </p:spPr>
        <p:txBody>
          <a:bodyPr wrap="square" lIns="0" tIns="0" rIns="0" bIns="0" rtlCol="0" anchor="ctr"/>
          <a:lstStyle/>
          <a:p>
            <a:pPr indent="0" marL="0">
              <a:buNone/>
            </a:pPr>
            <a:r>
              <a:rPr lang="en-US" sz="1000" dirty="0">
                <a:solidFill>
                  <a:srgbClr val="7B8594"/>
                </a:solidFill>
                <a:latin typeface="Courier New" pitchFamily="34" charset="0"/>
                <a:ea typeface="Courier New" pitchFamily="34" charset="-122"/>
                <a:cs typeface="Courier New" pitchFamily="34" charset="-120"/>
              </a:rPr>
              <a:t>Lovable, disputing CVE-2025-48757</a:t>
            </a:r>
            <a:endParaRPr lang="en-US" sz="1000" dirty="0"/>
          </a:p>
        </p:txBody>
      </p:sp>
      <p:sp>
        <p:nvSpPr>
          <p:cNvPr id="16" name="Text 12"/>
          <p:cNvSpPr txBox="1"/>
          <p:nvPr/>
        </p:nvSpPr>
        <p:spPr>
          <a:xfrm>
            <a:off x="640080" y="4434840"/>
            <a:ext cx="10908792" cy="1005840"/>
          </a:xfrm>
          <a:prstGeom prst="rect">
            <a:avLst/>
          </a:prstGeom>
          <a:noFill/>
          <a:ln/>
        </p:spPr>
        <p:txBody>
          <a:bodyPr wrap="square" lIns="0" tIns="0" rIns="0" bIns="0" rtlCol="0" anchor="t"/>
          <a:lstStyle/>
          <a:p>
            <a:pPr algn="l" indent="0" marL="0">
              <a:lnSpc>
                <a:spcPct val="115000"/>
              </a:lnSpc>
              <a:buNone/>
            </a:pPr>
            <a:r>
              <a:rPr lang="en-US" sz="1350" dirty="0">
                <a:solidFill>
                  <a:srgbClr val="0D1219"/>
                </a:solidFill>
                <a:latin typeface="Arial" pitchFamily="34" charset="0"/>
                <a:ea typeface="Arial" pitchFamily="34" charset="-122"/>
                <a:cs typeface="Arial" pitchFamily="34" charset="-120"/>
              </a:rPr>
              <a:t>They are not wrong. On a hosted builder, public is the default and the backend is theirs. On a repo and a Vercel project with your name on them, you decide. The rest of today is the part of the product they are not selling you.</a:t>
            </a:r>
            <a:endParaRPr lang="en-US" sz="1350" dirty="0"/>
          </a:p>
        </p:txBody>
      </p:sp>
      <p:sp>
        <p:nvSpPr>
          <p:cNvPr id="17" name="Shape 13"/>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18" name="Text 14"/>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19" name="Shape 15"/>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20" name="Text 16"/>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21" name="Shape 17"/>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22" name="Text 18"/>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23" name="Shape 19"/>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24" name="Text 20"/>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25" name="Shape 21"/>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26" name="Text 22"/>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27" name="Shape 23"/>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28" name="Text 24"/>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13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2  ·  ONE YEAR LATER  ·  15 MIN  ·  TALK</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0:25 – 0:40</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700" b="1" dirty="0">
                <a:solidFill>
                  <a:srgbClr val="0D1219"/>
                </a:solidFill>
                <a:latin typeface="Arial" pitchFamily="34" charset="0"/>
                <a:ea typeface="Arial" pitchFamily="34" charset="-122"/>
                <a:cs typeface="Arial" pitchFamily="34" charset="-120"/>
              </a:rPr>
              <a:t>Five ways it breaks. Five plain practices. All today.</a:t>
            </a:r>
            <a:endParaRPr lang="en-US" sz="2700" dirty="0"/>
          </a:p>
        </p:txBody>
      </p:sp>
      <p:sp>
        <p:nvSpPr>
          <p:cNvPr id="8" name="Shape 4"/>
          <p:cNvSpPr/>
          <p:nvPr/>
        </p:nvSpPr>
        <p:spPr>
          <a:xfrm>
            <a:off x="640080" y="1783080"/>
            <a:ext cx="4754880" cy="640080"/>
          </a:xfrm>
          <a:prstGeom prst="rect">
            <a:avLst/>
          </a:prstGeom>
          <a:solidFill>
            <a:srgbClr val="F3F6FB"/>
          </a:solidFill>
          <a:ln w="9525">
            <a:solidFill>
              <a:srgbClr val="D9E0EA"/>
            </a:solidFill>
            <a:prstDash val="solid"/>
          </a:ln>
        </p:spPr>
      </p:sp>
      <p:sp>
        <p:nvSpPr>
          <p:cNvPr id="9" name="Shape 5"/>
          <p:cNvSpPr/>
          <p:nvPr/>
        </p:nvSpPr>
        <p:spPr>
          <a:xfrm>
            <a:off x="640080" y="1783080"/>
            <a:ext cx="54864" cy="640080"/>
          </a:xfrm>
          <a:prstGeom prst="rect">
            <a:avLst/>
          </a:prstGeom>
          <a:solidFill>
            <a:srgbClr val="EF4444"/>
          </a:solidFill>
          <a:ln w="12700">
            <a:solidFill>
              <a:srgbClr val="EF4444"/>
            </a:solidFill>
            <a:prstDash val="solid"/>
          </a:ln>
        </p:spPr>
      </p:sp>
      <p:sp>
        <p:nvSpPr>
          <p:cNvPr id="10" name="Text 6"/>
          <p:cNvSpPr txBox="1"/>
          <p:nvPr/>
        </p:nvSpPr>
        <p:spPr>
          <a:xfrm>
            <a:off x="868680" y="1783080"/>
            <a:ext cx="4389120" cy="640080"/>
          </a:xfrm>
          <a:prstGeom prst="rect">
            <a:avLst/>
          </a:prstGeom>
          <a:noFill/>
          <a:ln/>
        </p:spPr>
        <p:txBody>
          <a:bodyPr wrap="square" lIns="0" tIns="0" rIns="0" bIns="0" rtlCol="0" anchor="ctr"/>
          <a:lstStyle/>
          <a:p>
            <a:pPr algn="l" indent="0" marL="0">
              <a:lnSpc>
                <a:spcPct val="115000"/>
              </a:lnSpc>
              <a:buNone/>
            </a:pPr>
            <a:r>
              <a:rPr lang="en-US" sz="1250" dirty="0">
                <a:solidFill>
                  <a:srgbClr val="0D1219"/>
                </a:solidFill>
                <a:latin typeface="Arial" pitchFamily="34" charset="0"/>
                <a:ea typeface="Arial" pitchFamily="34" charset="-122"/>
                <a:cs typeface="Arial" pitchFamily="34" charset="-120"/>
              </a:rPr>
              <a:t>A deleted database</a:t>
            </a:r>
            <a:endParaRPr lang="en-US" sz="1250" dirty="0"/>
          </a:p>
        </p:txBody>
      </p:sp>
      <p:sp>
        <p:nvSpPr>
          <p:cNvPr id="11" name="Shape 7"/>
          <p:cNvSpPr/>
          <p:nvPr/>
        </p:nvSpPr>
        <p:spPr>
          <a:xfrm>
            <a:off x="5532120" y="1965960"/>
            <a:ext cx="457200" cy="274320"/>
          </a:xfrm>
          <a:prstGeom prst="rightArrow">
            <a:avLst/>
          </a:prstGeom>
          <a:solidFill>
            <a:srgbClr val="EF8B39"/>
          </a:solidFill>
          <a:ln w="12700">
            <a:solidFill>
              <a:srgbClr val="EF8B39"/>
            </a:solidFill>
            <a:prstDash val="solid"/>
          </a:ln>
        </p:spPr>
      </p:sp>
      <p:sp>
        <p:nvSpPr>
          <p:cNvPr id="12" name="Shape 8"/>
          <p:cNvSpPr/>
          <p:nvPr/>
        </p:nvSpPr>
        <p:spPr>
          <a:xfrm>
            <a:off x="6126480" y="1783080"/>
            <a:ext cx="5422392" cy="640080"/>
          </a:xfrm>
          <a:prstGeom prst="rect">
            <a:avLst/>
          </a:prstGeom>
          <a:solidFill>
            <a:srgbClr val="F3F6FB"/>
          </a:solidFill>
          <a:ln w="9525">
            <a:solidFill>
              <a:srgbClr val="D9E0EA"/>
            </a:solidFill>
            <a:prstDash val="solid"/>
          </a:ln>
        </p:spPr>
      </p:sp>
      <p:sp>
        <p:nvSpPr>
          <p:cNvPr id="13" name="Shape 9"/>
          <p:cNvSpPr/>
          <p:nvPr/>
        </p:nvSpPr>
        <p:spPr>
          <a:xfrm>
            <a:off x="6126480" y="1783080"/>
            <a:ext cx="54864" cy="640080"/>
          </a:xfrm>
          <a:prstGeom prst="rect">
            <a:avLst/>
          </a:prstGeom>
          <a:solidFill>
            <a:srgbClr val="22C55E"/>
          </a:solidFill>
          <a:ln w="12700">
            <a:solidFill>
              <a:srgbClr val="22C55E"/>
            </a:solidFill>
            <a:prstDash val="solid"/>
          </a:ln>
        </p:spPr>
      </p:sp>
      <p:sp>
        <p:nvSpPr>
          <p:cNvPr id="14" name="Text 10"/>
          <p:cNvSpPr txBox="1"/>
          <p:nvPr/>
        </p:nvSpPr>
        <p:spPr>
          <a:xfrm>
            <a:off x="6355080" y="1783080"/>
            <a:ext cx="5029200" cy="640080"/>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Every change on a branch, in GitHub, with a one-click rollback</a:t>
            </a:r>
            <a:endParaRPr lang="en-US" sz="1200" dirty="0"/>
          </a:p>
        </p:txBody>
      </p:sp>
      <p:sp>
        <p:nvSpPr>
          <p:cNvPr id="15" name="Shape 11"/>
          <p:cNvSpPr/>
          <p:nvPr/>
        </p:nvSpPr>
        <p:spPr>
          <a:xfrm>
            <a:off x="640080" y="2514600"/>
            <a:ext cx="4754880" cy="640080"/>
          </a:xfrm>
          <a:prstGeom prst="rect">
            <a:avLst/>
          </a:prstGeom>
          <a:solidFill>
            <a:srgbClr val="F3F6FB"/>
          </a:solidFill>
          <a:ln w="9525">
            <a:solidFill>
              <a:srgbClr val="D9E0EA"/>
            </a:solidFill>
            <a:prstDash val="solid"/>
          </a:ln>
        </p:spPr>
      </p:sp>
      <p:sp>
        <p:nvSpPr>
          <p:cNvPr id="16" name="Shape 12"/>
          <p:cNvSpPr/>
          <p:nvPr/>
        </p:nvSpPr>
        <p:spPr>
          <a:xfrm>
            <a:off x="640080" y="2514600"/>
            <a:ext cx="54864" cy="640080"/>
          </a:xfrm>
          <a:prstGeom prst="rect">
            <a:avLst/>
          </a:prstGeom>
          <a:solidFill>
            <a:srgbClr val="EF4444"/>
          </a:solidFill>
          <a:ln w="12700">
            <a:solidFill>
              <a:srgbClr val="EF4444"/>
            </a:solidFill>
            <a:prstDash val="solid"/>
          </a:ln>
        </p:spPr>
      </p:sp>
      <p:sp>
        <p:nvSpPr>
          <p:cNvPr id="17" name="Text 13"/>
          <p:cNvSpPr txBox="1"/>
          <p:nvPr/>
        </p:nvSpPr>
        <p:spPr>
          <a:xfrm>
            <a:off x="868680" y="2514600"/>
            <a:ext cx="4389120" cy="640080"/>
          </a:xfrm>
          <a:prstGeom prst="rect">
            <a:avLst/>
          </a:prstGeom>
          <a:noFill/>
          <a:ln/>
        </p:spPr>
        <p:txBody>
          <a:bodyPr wrap="square" lIns="0" tIns="0" rIns="0" bIns="0" rtlCol="0" anchor="ctr"/>
          <a:lstStyle/>
          <a:p>
            <a:pPr algn="l" indent="0" marL="0">
              <a:lnSpc>
                <a:spcPct val="115000"/>
              </a:lnSpc>
              <a:buNone/>
            </a:pPr>
            <a:r>
              <a:rPr lang="en-US" sz="1250" dirty="0">
                <a:solidFill>
                  <a:srgbClr val="0D1219"/>
                </a:solidFill>
                <a:latin typeface="Arial" pitchFamily="34" charset="0"/>
                <a:ea typeface="Arial" pitchFamily="34" charset="-122"/>
                <a:cs typeface="Arial" pitchFamily="34" charset="-120"/>
              </a:rPr>
              <a:t>A bug that shipped silently</a:t>
            </a:r>
            <a:endParaRPr lang="en-US" sz="1250" dirty="0"/>
          </a:p>
        </p:txBody>
      </p:sp>
      <p:sp>
        <p:nvSpPr>
          <p:cNvPr id="18" name="Shape 14"/>
          <p:cNvSpPr/>
          <p:nvPr/>
        </p:nvSpPr>
        <p:spPr>
          <a:xfrm>
            <a:off x="5532120" y="2697480"/>
            <a:ext cx="457200" cy="274320"/>
          </a:xfrm>
          <a:prstGeom prst="rightArrow">
            <a:avLst/>
          </a:prstGeom>
          <a:solidFill>
            <a:srgbClr val="EF8B39"/>
          </a:solidFill>
          <a:ln w="12700">
            <a:solidFill>
              <a:srgbClr val="EF8B39"/>
            </a:solidFill>
            <a:prstDash val="solid"/>
          </a:ln>
        </p:spPr>
      </p:sp>
      <p:sp>
        <p:nvSpPr>
          <p:cNvPr id="19" name="Shape 15"/>
          <p:cNvSpPr/>
          <p:nvPr/>
        </p:nvSpPr>
        <p:spPr>
          <a:xfrm>
            <a:off x="6126480" y="2514600"/>
            <a:ext cx="5422392" cy="640080"/>
          </a:xfrm>
          <a:prstGeom prst="rect">
            <a:avLst/>
          </a:prstGeom>
          <a:solidFill>
            <a:srgbClr val="F3F6FB"/>
          </a:solidFill>
          <a:ln w="9525">
            <a:solidFill>
              <a:srgbClr val="D9E0EA"/>
            </a:solidFill>
            <a:prstDash val="solid"/>
          </a:ln>
        </p:spPr>
      </p:sp>
      <p:sp>
        <p:nvSpPr>
          <p:cNvPr id="20" name="Shape 16"/>
          <p:cNvSpPr/>
          <p:nvPr/>
        </p:nvSpPr>
        <p:spPr>
          <a:xfrm>
            <a:off x="6126480" y="2514600"/>
            <a:ext cx="54864" cy="640080"/>
          </a:xfrm>
          <a:prstGeom prst="rect">
            <a:avLst/>
          </a:prstGeom>
          <a:solidFill>
            <a:srgbClr val="22C55E"/>
          </a:solidFill>
          <a:ln w="12700">
            <a:solidFill>
              <a:srgbClr val="22C55E"/>
            </a:solidFill>
            <a:prstDash val="solid"/>
          </a:ln>
        </p:spPr>
      </p:sp>
      <p:sp>
        <p:nvSpPr>
          <p:cNvPr id="21" name="Text 17"/>
          <p:cNvSpPr txBox="1"/>
          <p:nvPr/>
        </p:nvSpPr>
        <p:spPr>
          <a:xfrm>
            <a:off x="6355080" y="2514600"/>
            <a:ext cx="5029200" cy="640080"/>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One test that runs on every push, whether you remember or not</a:t>
            </a:r>
            <a:endParaRPr lang="en-US" sz="1200" dirty="0"/>
          </a:p>
        </p:txBody>
      </p:sp>
      <p:sp>
        <p:nvSpPr>
          <p:cNvPr id="22" name="Shape 18"/>
          <p:cNvSpPr/>
          <p:nvPr/>
        </p:nvSpPr>
        <p:spPr>
          <a:xfrm>
            <a:off x="640080" y="3246120"/>
            <a:ext cx="4754880" cy="640080"/>
          </a:xfrm>
          <a:prstGeom prst="rect">
            <a:avLst/>
          </a:prstGeom>
          <a:solidFill>
            <a:srgbClr val="F3F6FB"/>
          </a:solidFill>
          <a:ln w="9525">
            <a:solidFill>
              <a:srgbClr val="D9E0EA"/>
            </a:solidFill>
            <a:prstDash val="solid"/>
          </a:ln>
        </p:spPr>
      </p:sp>
      <p:sp>
        <p:nvSpPr>
          <p:cNvPr id="23" name="Shape 19"/>
          <p:cNvSpPr/>
          <p:nvPr/>
        </p:nvSpPr>
        <p:spPr>
          <a:xfrm>
            <a:off x="640080" y="3246120"/>
            <a:ext cx="54864" cy="640080"/>
          </a:xfrm>
          <a:prstGeom prst="rect">
            <a:avLst/>
          </a:prstGeom>
          <a:solidFill>
            <a:srgbClr val="EF4444"/>
          </a:solidFill>
          <a:ln w="12700">
            <a:solidFill>
              <a:srgbClr val="EF4444"/>
            </a:solidFill>
            <a:prstDash val="solid"/>
          </a:ln>
        </p:spPr>
      </p:sp>
      <p:sp>
        <p:nvSpPr>
          <p:cNvPr id="24" name="Text 20"/>
          <p:cNvSpPr txBox="1"/>
          <p:nvPr/>
        </p:nvSpPr>
        <p:spPr>
          <a:xfrm>
            <a:off x="868680" y="3246120"/>
            <a:ext cx="4389120" cy="640080"/>
          </a:xfrm>
          <a:prstGeom prst="rect">
            <a:avLst/>
          </a:prstGeom>
          <a:noFill/>
          <a:ln/>
        </p:spPr>
        <p:txBody>
          <a:bodyPr wrap="square" lIns="0" tIns="0" rIns="0" bIns="0" rtlCol="0" anchor="ctr"/>
          <a:lstStyle/>
          <a:p>
            <a:pPr algn="l" indent="0" marL="0">
              <a:lnSpc>
                <a:spcPct val="115000"/>
              </a:lnSpc>
              <a:buNone/>
            </a:pPr>
            <a:r>
              <a:rPr lang="en-US" sz="1250" dirty="0">
                <a:solidFill>
                  <a:srgbClr val="0D1219"/>
                </a:solidFill>
                <a:latin typeface="Arial" pitchFamily="34" charset="0"/>
                <a:ea typeface="Arial" pitchFamily="34" charset="-122"/>
                <a:cs typeface="Arial" pitchFamily="34" charset="-120"/>
              </a:rPr>
              <a:t>A key in the browser</a:t>
            </a:r>
            <a:endParaRPr lang="en-US" sz="1250" dirty="0"/>
          </a:p>
        </p:txBody>
      </p:sp>
      <p:sp>
        <p:nvSpPr>
          <p:cNvPr id="25" name="Shape 21"/>
          <p:cNvSpPr/>
          <p:nvPr/>
        </p:nvSpPr>
        <p:spPr>
          <a:xfrm>
            <a:off x="5532120" y="3429000"/>
            <a:ext cx="457200" cy="274320"/>
          </a:xfrm>
          <a:prstGeom prst="rightArrow">
            <a:avLst/>
          </a:prstGeom>
          <a:solidFill>
            <a:srgbClr val="EF8B39"/>
          </a:solidFill>
          <a:ln w="12700">
            <a:solidFill>
              <a:srgbClr val="EF8B39"/>
            </a:solidFill>
            <a:prstDash val="solid"/>
          </a:ln>
        </p:spPr>
      </p:sp>
      <p:sp>
        <p:nvSpPr>
          <p:cNvPr id="26" name="Shape 22"/>
          <p:cNvSpPr/>
          <p:nvPr/>
        </p:nvSpPr>
        <p:spPr>
          <a:xfrm>
            <a:off x="6126480" y="3246120"/>
            <a:ext cx="5422392" cy="640080"/>
          </a:xfrm>
          <a:prstGeom prst="rect">
            <a:avLst/>
          </a:prstGeom>
          <a:solidFill>
            <a:srgbClr val="F3F6FB"/>
          </a:solidFill>
          <a:ln w="9525">
            <a:solidFill>
              <a:srgbClr val="D9E0EA"/>
            </a:solidFill>
            <a:prstDash val="solid"/>
          </a:ln>
        </p:spPr>
      </p:sp>
      <p:sp>
        <p:nvSpPr>
          <p:cNvPr id="27" name="Shape 23"/>
          <p:cNvSpPr/>
          <p:nvPr/>
        </p:nvSpPr>
        <p:spPr>
          <a:xfrm>
            <a:off x="6126480" y="3246120"/>
            <a:ext cx="54864" cy="640080"/>
          </a:xfrm>
          <a:prstGeom prst="rect">
            <a:avLst/>
          </a:prstGeom>
          <a:solidFill>
            <a:srgbClr val="22C55E"/>
          </a:solidFill>
          <a:ln w="12700">
            <a:solidFill>
              <a:srgbClr val="22C55E"/>
            </a:solidFill>
            <a:prstDash val="solid"/>
          </a:ln>
        </p:spPr>
      </p:sp>
      <p:sp>
        <p:nvSpPr>
          <p:cNvPr id="28" name="Text 24"/>
          <p:cNvSpPr txBox="1"/>
          <p:nvPr/>
        </p:nvSpPr>
        <p:spPr>
          <a:xfrm>
            <a:off x="6355080" y="3246120"/>
            <a:ext cx="5029200" cy="640080"/>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Secrets live in environment variables, never in the code</a:t>
            </a:r>
            <a:endParaRPr lang="en-US" sz="1200" dirty="0"/>
          </a:p>
        </p:txBody>
      </p:sp>
      <p:sp>
        <p:nvSpPr>
          <p:cNvPr id="29" name="Shape 25"/>
          <p:cNvSpPr/>
          <p:nvPr/>
        </p:nvSpPr>
        <p:spPr>
          <a:xfrm>
            <a:off x="640080" y="3977640"/>
            <a:ext cx="4754880" cy="640080"/>
          </a:xfrm>
          <a:prstGeom prst="rect">
            <a:avLst/>
          </a:prstGeom>
          <a:solidFill>
            <a:srgbClr val="F3F6FB"/>
          </a:solidFill>
          <a:ln w="9525">
            <a:solidFill>
              <a:srgbClr val="D9E0EA"/>
            </a:solidFill>
            <a:prstDash val="solid"/>
          </a:ln>
        </p:spPr>
      </p:sp>
      <p:sp>
        <p:nvSpPr>
          <p:cNvPr id="30" name="Shape 26"/>
          <p:cNvSpPr/>
          <p:nvPr/>
        </p:nvSpPr>
        <p:spPr>
          <a:xfrm>
            <a:off x="640080" y="3977640"/>
            <a:ext cx="54864" cy="640080"/>
          </a:xfrm>
          <a:prstGeom prst="rect">
            <a:avLst/>
          </a:prstGeom>
          <a:solidFill>
            <a:srgbClr val="EF4444"/>
          </a:solidFill>
          <a:ln w="12700">
            <a:solidFill>
              <a:srgbClr val="EF4444"/>
            </a:solidFill>
            <a:prstDash val="solid"/>
          </a:ln>
        </p:spPr>
      </p:sp>
      <p:sp>
        <p:nvSpPr>
          <p:cNvPr id="31" name="Text 27"/>
          <p:cNvSpPr txBox="1"/>
          <p:nvPr/>
        </p:nvSpPr>
        <p:spPr>
          <a:xfrm>
            <a:off x="868680" y="3977640"/>
            <a:ext cx="4389120" cy="640080"/>
          </a:xfrm>
          <a:prstGeom prst="rect">
            <a:avLst/>
          </a:prstGeom>
          <a:noFill/>
          <a:ln/>
        </p:spPr>
        <p:txBody>
          <a:bodyPr wrap="square" lIns="0" tIns="0" rIns="0" bIns="0" rtlCol="0" anchor="ctr"/>
          <a:lstStyle/>
          <a:p>
            <a:pPr algn="l" indent="0" marL="0">
              <a:lnSpc>
                <a:spcPct val="115000"/>
              </a:lnSpc>
              <a:buNone/>
            </a:pPr>
            <a:r>
              <a:rPr lang="en-US" sz="1250" dirty="0">
                <a:solidFill>
                  <a:srgbClr val="0D1219"/>
                </a:solidFill>
                <a:latin typeface="Arial" pitchFamily="34" charset="0"/>
                <a:ea typeface="Arial" pitchFamily="34" charset="-122"/>
                <a:cs typeface="Arial" pitchFamily="34" charset="-120"/>
              </a:rPr>
              <a:t>A platform that vanished</a:t>
            </a:r>
            <a:endParaRPr lang="en-US" sz="1250" dirty="0"/>
          </a:p>
        </p:txBody>
      </p:sp>
      <p:sp>
        <p:nvSpPr>
          <p:cNvPr id="32" name="Shape 28"/>
          <p:cNvSpPr/>
          <p:nvPr/>
        </p:nvSpPr>
        <p:spPr>
          <a:xfrm>
            <a:off x="5532120" y="4160520"/>
            <a:ext cx="457200" cy="274320"/>
          </a:xfrm>
          <a:prstGeom prst="rightArrow">
            <a:avLst/>
          </a:prstGeom>
          <a:solidFill>
            <a:srgbClr val="EF8B39"/>
          </a:solidFill>
          <a:ln w="12700">
            <a:solidFill>
              <a:srgbClr val="EF8B39"/>
            </a:solidFill>
            <a:prstDash val="solid"/>
          </a:ln>
        </p:spPr>
      </p:sp>
      <p:sp>
        <p:nvSpPr>
          <p:cNvPr id="33" name="Shape 29"/>
          <p:cNvSpPr/>
          <p:nvPr/>
        </p:nvSpPr>
        <p:spPr>
          <a:xfrm>
            <a:off x="6126480" y="3977640"/>
            <a:ext cx="5422392" cy="640080"/>
          </a:xfrm>
          <a:prstGeom prst="rect">
            <a:avLst/>
          </a:prstGeom>
          <a:solidFill>
            <a:srgbClr val="F3F6FB"/>
          </a:solidFill>
          <a:ln w="9525">
            <a:solidFill>
              <a:srgbClr val="D9E0EA"/>
            </a:solidFill>
            <a:prstDash val="solid"/>
          </a:ln>
        </p:spPr>
      </p:sp>
      <p:sp>
        <p:nvSpPr>
          <p:cNvPr id="34" name="Shape 30"/>
          <p:cNvSpPr/>
          <p:nvPr/>
        </p:nvSpPr>
        <p:spPr>
          <a:xfrm>
            <a:off x="6126480" y="3977640"/>
            <a:ext cx="54864" cy="640080"/>
          </a:xfrm>
          <a:prstGeom prst="rect">
            <a:avLst/>
          </a:prstGeom>
          <a:solidFill>
            <a:srgbClr val="22C55E"/>
          </a:solidFill>
          <a:ln w="12700">
            <a:solidFill>
              <a:srgbClr val="22C55E"/>
            </a:solidFill>
            <a:prstDash val="solid"/>
          </a:ln>
        </p:spPr>
      </p:sp>
      <p:sp>
        <p:nvSpPr>
          <p:cNvPr id="35" name="Text 31"/>
          <p:cNvSpPr txBox="1"/>
          <p:nvPr/>
        </p:nvSpPr>
        <p:spPr>
          <a:xfrm>
            <a:off x="6355080" y="3977640"/>
            <a:ext cx="5029200" cy="640080"/>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Your host, your domain, your repo. Google sunset its own vibe IDE in a year</a:t>
            </a:r>
            <a:endParaRPr lang="en-US" sz="1200" dirty="0"/>
          </a:p>
        </p:txBody>
      </p:sp>
      <p:sp>
        <p:nvSpPr>
          <p:cNvPr id="36" name="Shape 32"/>
          <p:cNvSpPr/>
          <p:nvPr/>
        </p:nvSpPr>
        <p:spPr>
          <a:xfrm>
            <a:off x="640080" y="4709160"/>
            <a:ext cx="4754880" cy="640080"/>
          </a:xfrm>
          <a:prstGeom prst="rect">
            <a:avLst/>
          </a:prstGeom>
          <a:solidFill>
            <a:srgbClr val="F3F6FB"/>
          </a:solidFill>
          <a:ln w="9525">
            <a:solidFill>
              <a:srgbClr val="D9E0EA"/>
            </a:solidFill>
            <a:prstDash val="solid"/>
          </a:ln>
        </p:spPr>
      </p:sp>
      <p:sp>
        <p:nvSpPr>
          <p:cNvPr id="37" name="Shape 33"/>
          <p:cNvSpPr/>
          <p:nvPr/>
        </p:nvSpPr>
        <p:spPr>
          <a:xfrm>
            <a:off x="640080" y="4709160"/>
            <a:ext cx="54864" cy="640080"/>
          </a:xfrm>
          <a:prstGeom prst="rect">
            <a:avLst/>
          </a:prstGeom>
          <a:solidFill>
            <a:srgbClr val="EF4444"/>
          </a:solidFill>
          <a:ln w="12700">
            <a:solidFill>
              <a:srgbClr val="EF4444"/>
            </a:solidFill>
            <a:prstDash val="solid"/>
          </a:ln>
        </p:spPr>
      </p:sp>
      <p:sp>
        <p:nvSpPr>
          <p:cNvPr id="38" name="Text 34"/>
          <p:cNvSpPr txBox="1"/>
          <p:nvPr/>
        </p:nvSpPr>
        <p:spPr>
          <a:xfrm>
            <a:off x="868680" y="4709160"/>
            <a:ext cx="4389120" cy="640080"/>
          </a:xfrm>
          <a:prstGeom prst="rect">
            <a:avLst/>
          </a:prstGeom>
          <a:noFill/>
          <a:ln/>
        </p:spPr>
        <p:txBody>
          <a:bodyPr wrap="square" lIns="0" tIns="0" rIns="0" bIns="0" rtlCol="0" anchor="ctr"/>
          <a:lstStyle/>
          <a:p>
            <a:pPr algn="l" indent="0" marL="0">
              <a:lnSpc>
                <a:spcPct val="115000"/>
              </a:lnSpc>
              <a:buNone/>
            </a:pPr>
            <a:r>
              <a:rPr lang="en-US" sz="1250" dirty="0">
                <a:solidFill>
                  <a:srgbClr val="0D1219"/>
                </a:solidFill>
                <a:latin typeface="Arial" pitchFamily="34" charset="0"/>
                <a:ea typeface="Arial" pitchFamily="34" charset="-122"/>
                <a:cs typeface="Arial" pitchFamily="34" charset="-120"/>
              </a:rPr>
              <a:t>An AI that does it differently every time</a:t>
            </a:r>
            <a:endParaRPr lang="en-US" sz="1250" dirty="0"/>
          </a:p>
        </p:txBody>
      </p:sp>
      <p:sp>
        <p:nvSpPr>
          <p:cNvPr id="39" name="Shape 35"/>
          <p:cNvSpPr/>
          <p:nvPr/>
        </p:nvSpPr>
        <p:spPr>
          <a:xfrm>
            <a:off x="5532120" y="4892040"/>
            <a:ext cx="457200" cy="274320"/>
          </a:xfrm>
          <a:prstGeom prst="rightArrow">
            <a:avLst/>
          </a:prstGeom>
          <a:solidFill>
            <a:srgbClr val="EF8B39"/>
          </a:solidFill>
          <a:ln w="12700">
            <a:solidFill>
              <a:srgbClr val="EF8B39"/>
            </a:solidFill>
            <a:prstDash val="solid"/>
          </a:ln>
        </p:spPr>
      </p:sp>
      <p:sp>
        <p:nvSpPr>
          <p:cNvPr id="40" name="Shape 36"/>
          <p:cNvSpPr/>
          <p:nvPr/>
        </p:nvSpPr>
        <p:spPr>
          <a:xfrm>
            <a:off x="6126480" y="4709160"/>
            <a:ext cx="5422392" cy="640080"/>
          </a:xfrm>
          <a:prstGeom prst="rect">
            <a:avLst/>
          </a:prstGeom>
          <a:solidFill>
            <a:srgbClr val="F3F6FB"/>
          </a:solidFill>
          <a:ln w="9525">
            <a:solidFill>
              <a:srgbClr val="D9E0EA"/>
            </a:solidFill>
            <a:prstDash val="solid"/>
          </a:ln>
        </p:spPr>
      </p:sp>
      <p:sp>
        <p:nvSpPr>
          <p:cNvPr id="41" name="Shape 37"/>
          <p:cNvSpPr/>
          <p:nvPr/>
        </p:nvSpPr>
        <p:spPr>
          <a:xfrm>
            <a:off x="6126480" y="4709160"/>
            <a:ext cx="54864" cy="640080"/>
          </a:xfrm>
          <a:prstGeom prst="rect">
            <a:avLst/>
          </a:prstGeom>
          <a:solidFill>
            <a:srgbClr val="22C55E"/>
          </a:solidFill>
          <a:ln w="12700">
            <a:solidFill>
              <a:srgbClr val="22C55E"/>
            </a:solidFill>
            <a:prstDash val="solid"/>
          </a:ln>
        </p:spPr>
      </p:sp>
      <p:sp>
        <p:nvSpPr>
          <p:cNvPr id="42" name="Text 38"/>
          <p:cNvSpPr txBox="1"/>
          <p:nvPr/>
        </p:nvSpPr>
        <p:spPr>
          <a:xfrm>
            <a:off x="6355080" y="4709160"/>
            <a:ext cx="5029200" cy="640080"/>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A skill: the checklist, written once, in the repo</a:t>
            </a:r>
            <a:endParaRPr lang="en-US" sz="1200" dirty="0"/>
          </a:p>
        </p:txBody>
      </p:sp>
      <p:sp>
        <p:nvSpPr>
          <p:cNvPr id="43" name="Shape 39"/>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44" name="Text 40"/>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45" name="Shape 41"/>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46" name="Text 42"/>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47" name="Shape 43"/>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48" name="Text 44"/>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49" name="Shape 45"/>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50" name="Text 46"/>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51" name="Shape 47"/>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52" name="Text 48"/>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53" name="Shape 49"/>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54" name="Text 50"/>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14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2  ·  ONE YEAR LATER  ·  15 MIN  ·  TALK</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0:25 – 0:40</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500" b="1" dirty="0">
                <a:solidFill>
                  <a:srgbClr val="0D1219"/>
                </a:solidFill>
                <a:latin typeface="Arial" pitchFamily="34" charset="0"/>
                <a:ea typeface="Arial" pitchFamily="34" charset="-122"/>
                <a:cs typeface="Arial" pitchFamily="34" charset="-120"/>
              </a:rPr>
              <a:t>A development lifecycle is six words. You will do all six today.</a:t>
            </a:r>
            <a:endParaRPr lang="en-US" sz="2500" dirty="0"/>
          </a:p>
        </p:txBody>
      </p:sp>
      <p:sp>
        <p:nvSpPr>
          <p:cNvPr id="8" name="Shape 4"/>
          <p:cNvSpPr/>
          <p:nvPr/>
        </p:nvSpPr>
        <p:spPr>
          <a:xfrm>
            <a:off x="640080" y="1783080"/>
            <a:ext cx="3520440" cy="1600200"/>
          </a:xfrm>
          <a:prstGeom prst="rect">
            <a:avLst/>
          </a:prstGeom>
          <a:solidFill>
            <a:srgbClr val="F3F6FB"/>
          </a:solidFill>
          <a:ln w="9525">
            <a:solidFill>
              <a:srgbClr val="D9E0EA"/>
            </a:solidFill>
            <a:prstDash val="solid"/>
          </a:ln>
        </p:spPr>
      </p:sp>
      <p:sp>
        <p:nvSpPr>
          <p:cNvPr id="9" name="Shape 5"/>
          <p:cNvSpPr/>
          <p:nvPr/>
        </p:nvSpPr>
        <p:spPr>
          <a:xfrm>
            <a:off x="640080" y="1783080"/>
            <a:ext cx="54864" cy="1600200"/>
          </a:xfrm>
          <a:prstGeom prst="rect">
            <a:avLst/>
          </a:prstGeom>
          <a:solidFill>
            <a:srgbClr val="EF8B39"/>
          </a:solidFill>
          <a:ln w="12700">
            <a:solidFill>
              <a:srgbClr val="EF8B39"/>
            </a:solidFill>
            <a:prstDash val="solid"/>
          </a:ln>
        </p:spPr>
      </p:sp>
      <p:sp>
        <p:nvSpPr>
          <p:cNvPr id="10" name="Text 6"/>
          <p:cNvSpPr txBox="1"/>
          <p:nvPr/>
        </p:nvSpPr>
        <p:spPr>
          <a:xfrm>
            <a:off x="868680" y="1920240"/>
            <a:ext cx="914400" cy="274320"/>
          </a:xfrm>
          <a:prstGeom prst="rect">
            <a:avLst/>
          </a:prstGeom>
          <a:noFill/>
          <a:ln/>
        </p:spPr>
        <p:txBody>
          <a:bodyPr wrap="square" lIns="0" tIns="0" rIns="0" bIns="0" rtlCol="0" anchor="t"/>
          <a:lstStyle/>
          <a:p>
            <a:pPr algn="l" indent="0" marL="0">
              <a:lnSpc>
                <a:spcPct val="115000"/>
              </a:lnSpc>
              <a:buNone/>
            </a:pPr>
            <a:r>
              <a:rPr lang="en-US" sz="900" dirty="0">
                <a:solidFill>
                  <a:srgbClr val="EF8B39"/>
                </a:solidFill>
                <a:latin typeface="Courier New" pitchFamily="34" charset="0"/>
                <a:ea typeface="Courier New" pitchFamily="34" charset="-122"/>
                <a:cs typeface="Courier New" pitchFamily="34" charset="-120"/>
              </a:rPr>
              <a:t>01</a:t>
            </a:r>
            <a:endParaRPr lang="en-US" sz="900" dirty="0"/>
          </a:p>
        </p:txBody>
      </p:sp>
      <p:sp>
        <p:nvSpPr>
          <p:cNvPr id="11" name="Text 7"/>
          <p:cNvSpPr txBox="1"/>
          <p:nvPr/>
        </p:nvSpPr>
        <p:spPr>
          <a:xfrm>
            <a:off x="868680" y="2167128"/>
            <a:ext cx="3108960" cy="365760"/>
          </a:xfrm>
          <a:prstGeom prst="rect">
            <a:avLst/>
          </a:prstGeom>
          <a:noFill/>
          <a:ln/>
        </p:spPr>
        <p:txBody>
          <a:bodyPr wrap="square" lIns="0" tIns="0" rIns="0" bIns="0" rtlCol="0" anchor="t"/>
          <a:lstStyle/>
          <a:p>
            <a:pPr indent="0" marL="0">
              <a:buNone/>
            </a:pPr>
            <a:r>
              <a:rPr lang="en-US" sz="1600" b="1" dirty="0">
                <a:solidFill>
                  <a:srgbClr val="0D1219"/>
                </a:solidFill>
                <a:latin typeface="Arial" pitchFamily="34" charset="0"/>
                <a:ea typeface="Arial" pitchFamily="34" charset="-122"/>
                <a:cs typeface="Arial" pitchFamily="34" charset="-120"/>
              </a:rPr>
              <a:t>Spec</a:t>
            </a:r>
            <a:endParaRPr lang="en-US" sz="1600" dirty="0"/>
          </a:p>
        </p:txBody>
      </p:sp>
      <p:sp>
        <p:nvSpPr>
          <p:cNvPr id="12" name="Text 8"/>
          <p:cNvSpPr txBox="1"/>
          <p:nvPr/>
        </p:nvSpPr>
        <p:spPr>
          <a:xfrm>
            <a:off x="868680" y="2560320"/>
            <a:ext cx="3108960" cy="777240"/>
          </a:xfrm>
          <a:prstGeom prst="rect">
            <a:avLst/>
          </a:prstGeom>
          <a:noFill/>
          <a:ln/>
        </p:spPr>
        <p:txBody>
          <a:bodyPr wrap="square" lIns="0" tIns="0" rIns="0" bIns="0" rtlCol="0" anchor="t"/>
          <a:lstStyle/>
          <a:p>
            <a:pPr algn="l" indent="0" marL="0">
              <a:lnSpc>
                <a:spcPct val="115000"/>
              </a:lnSpc>
              <a:buNone/>
            </a:pPr>
            <a:r>
              <a:rPr lang="en-US" sz="1100" dirty="0">
                <a:solidFill>
                  <a:srgbClr val="5B6675"/>
                </a:solidFill>
                <a:latin typeface="Arial" pitchFamily="34" charset="0"/>
                <a:ea typeface="Arial" pitchFamily="34" charset="-122"/>
                <a:cs typeface="Arial" pitchFamily="34" charset="-120"/>
              </a:rPr>
              <a:t>Write down what it does, who uses it, and how you will know it works.</a:t>
            </a:r>
            <a:endParaRPr lang="en-US" sz="1100" dirty="0"/>
          </a:p>
        </p:txBody>
      </p:sp>
      <p:sp>
        <p:nvSpPr>
          <p:cNvPr id="13" name="Shape 9"/>
          <p:cNvSpPr/>
          <p:nvPr/>
        </p:nvSpPr>
        <p:spPr>
          <a:xfrm>
            <a:off x="4315968" y="1783080"/>
            <a:ext cx="3520440" cy="1600200"/>
          </a:xfrm>
          <a:prstGeom prst="rect">
            <a:avLst/>
          </a:prstGeom>
          <a:solidFill>
            <a:srgbClr val="F3F6FB"/>
          </a:solidFill>
          <a:ln w="9525">
            <a:solidFill>
              <a:srgbClr val="D9E0EA"/>
            </a:solidFill>
            <a:prstDash val="solid"/>
          </a:ln>
        </p:spPr>
      </p:sp>
      <p:sp>
        <p:nvSpPr>
          <p:cNvPr id="14" name="Shape 10"/>
          <p:cNvSpPr/>
          <p:nvPr/>
        </p:nvSpPr>
        <p:spPr>
          <a:xfrm>
            <a:off x="4315968" y="1783080"/>
            <a:ext cx="54864" cy="1600200"/>
          </a:xfrm>
          <a:prstGeom prst="rect">
            <a:avLst/>
          </a:prstGeom>
          <a:solidFill>
            <a:srgbClr val="EF8B39"/>
          </a:solidFill>
          <a:ln w="12700">
            <a:solidFill>
              <a:srgbClr val="EF8B39"/>
            </a:solidFill>
            <a:prstDash val="solid"/>
          </a:ln>
        </p:spPr>
      </p:sp>
      <p:sp>
        <p:nvSpPr>
          <p:cNvPr id="15" name="Text 11"/>
          <p:cNvSpPr txBox="1"/>
          <p:nvPr/>
        </p:nvSpPr>
        <p:spPr>
          <a:xfrm>
            <a:off x="4544568" y="1920240"/>
            <a:ext cx="914400" cy="274320"/>
          </a:xfrm>
          <a:prstGeom prst="rect">
            <a:avLst/>
          </a:prstGeom>
          <a:noFill/>
          <a:ln/>
        </p:spPr>
        <p:txBody>
          <a:bodyPr wrap="square" lIns="0" tIns="0" rIns="0" bIns="0" rtlCol="0" anchor="t"/>
          <a:lstStyle/>
          <a:p>
            <a:pPr algn="l" indent="0" marL="0">
              <a:lnSpc>
                <a:spcPct val="115000"/>
              </a:lnSpc>
              <a:buNone/>
            </a:pPr>
            <a:r>
              <a:rPr lang="en-US" sz="900" dirty="0">
                <a:solidFill>
                  <a:srgbClr val="EF8B39"/>
                </a:solidFill>
                <a:latin typeface="Courier New" pitchFamily="34" charset="0"/>
                <a:ea typeface="Courier New" pitchFamily="34" charset="-122"/>
                <a:cs typeface="Courier New" pitchFamily="34" charset="-120"/>
              </a:rPr>
              <a:t>02</a:t>
            </a:r>
            <a:endParaRPr lang="en-US" sz="900" dirty="0"/>
          </a:p>
        </p:txBody>
      </p:sp>
      <p:sp>
        <p:nvSpPr>
          <p:cNvPr id="16" name="Text 12"/>
          <p:cNvSpPr txBox="1"/>
          <p:nvPr/>
        </p:nvSpPr>
        <p:spPr>
          <a:xfrm>
            <a:off x="4544568" y="2167128"/>
            <a:ext cx="3108960" cy="365760"/>
          </a:xfrm>
          <a:prstGeom prst="rect">
            <a:avLst/>
          </a:prstGeom>
          <a:noFill/>
          <a:ln/>
        </p:spPr>
        <p:txBody>
          <a:bodyPr wrap="square" lIns="0" tIns="0" rIns="0" bIns="0" rtlCol="0" anchor="t"/>
          <a:lstStyle/>
          <a:p>
            <a:pPr indent="0" marL="0">
              <a:buNone/>
            </a:pPr>
            <a:r>
              <a:rPr lang="en-US" sz="1600" b="1" dirty="0">
                <a:solidFill>
                  <a:srgbClr val="0D1219"/>
                </a:solidFill>
                <a:latin typeface="Arial" pitchFamily="34" charset="0"/>
                <a:ea typeface="Arial" pitchFamily="34" charset="-122"/>
                <a:cs typeface="Arial" pitchFamily="34" charset="-120"/>
              </a:rPr>
              <a:t>Build</a:t>
            </a:r>
            <a:endParaRPr lang="en-US" sz="1600" dirty="0"/>
          </a:p>
        </p:txBody>
      </p:sp>
      <p:sp>
        <p:nvSpPr>
          <p:cNvPr id="17" name="Text 13"/>
          <p:cNvSpPr txBox="1"/>
          <p:nvPr/>
        </p:nvSpPr>
        <p:spPr>
          <a:xfrm>
            <a:off x="4544568" y="2560320"/>
            <a:ext cx="3108960" cy="777240"/>
          </a:xfrm>
          <a:prstGeom prst="rect">
            <a:avLst/>
          </a:prstGeom>
          <a:noFill/>
          <a:ln/>
        </p:spPr>
        <p:txBody>
          <a:bodyPr wrap="square" lIns="0" tIns="0" rIns="0" bIns="0" rtlCol="0" anchor="t"/>
          <a:lstStyle/>
          <a:p>
            <a:pPr algn="l" indent="0" marL="0">
              <a:lnSpc>
                <a:spcPct val="115000"/>
              </a:lnSpc>
              <a:buNone/>
            </a:pPr>
            <a:r>
              <a:rPr lang="en-US" sz="1100" dirty="0">
                <a:solidFill>
                  <a:srgbClr val="5B6675"/>
                </a:solidFill>
                <a:latin typeface="Arial" pitchFamily="34" charset="0"/>
                <a:ea typeface="Arial" pitchFamily="34" charset="-122"/>
                <a:cs typeface="Arial" pitchFamily="34" charset="-120"/>
              </a:rPr>
              <a:t>On a branch, never on the live site. Every push gets a preview URL.</a:t>
            </a:r>
            <a:endParaRPr lang="en-US" sz="1100" dirty="0"/>
          </a:p>
        </p:txBody>
      </p:sp>
      <p:sp>
        <p:nvSpPr>
          <p:cNvPr id="18" name="Shape 14"/>
          <p:cNvSpPr/>
          <p:nvPr/>
        </p:nvSpPr>
        <p:spPr>
          <a:xfrm>
            <a:off x="7991856" y="1783080"/>
            <a:ext cx="3520440" cy="1600200"/>
          </a:xfrm>
          <a:prstGeom prst="rect">
            <a:avLst/>
          </a:prstGeom>
          <a:solidFill>
            <a:srgbClr val="F3F6FB"/>
          </a:solidFill>
          <a:ln w="9525">
            <a:solidFill>
              <a:srgbClr val="D9E0EA"/>
            </a:solidFill>
            <a:prstDash val="solid"/>
          </a:ln>
        </p:spPr>
      </p:sp>
      <p:sp>
        <p:nvSpPr>
          <p:cNvPr id="19" name="Shape 15"/>
          <p:cNvSpPr/>
          <p:nvPr/>
        </p:nvSpPr>
        <p:spPr>
          <a:xfrm>
            <a:off x="7991856" y="1783080"/>
            <a:ext cx="54864" cy="1600200"/>
          </a:xfrm>
          <a:prstGeom prst="rect">
            <a:avLst/>
          </a:prstGeom>
          <a:solidFill>
            <a:srgbClr val="EF8B39"/>
          </a:solidFill>
          <a:ln w="12700">
            <a:solidFill>
              <a:srgbClr val="EF8B39"/>
            </a:solidFill>
            <a:prstDash val="solid"/>
          </a:ln>
        </p:spPr>
      </p:sp>
      <p:sp>
        <p:nvSpPr>
          <p:cNvPr id="20" name="Text 16"/>
          <p:cNvSpPr txBox="1"/>
          <p:nvPr/>
        </p:nvSpPr>
        <p:spPr>
          <a:xfrm>
            <a:off x="8220456" y="1920240"/>
            <a:ext cx="914400" cy="274320"/>
          </a:xfrm>
          <a:prstGeom prst="rect">
            <a:avLst/>
          </a:prstGeom>
          <a:noFill/>
          <a:ln/>
        </p:spPr>
        <p:txBody>
          <a:bodyPr wrap="square" lIns="0" tIns="0" rIns="0" bIns="0" rtlCol="0" anchor="t"/>
          <a:lstStyle/>
          <a:p>
            <a:pPr algn="l" indent="0" marL="0">
              <a:lnSpc>
                <a:spcPct val="115000"/>
              </a:lnSpc>
              <a:buNone/>
            </a:pPr>
            <a:r>
              <a:rPr lang="en-US" sz="900" dirty="0">
                <a:solidFill>
                  <a:srgbClr val="EF8B39"/>
                </a:solidFill>
                <a:latin typeface="Courier New" pitchFamily="34" charset="0"/>
                <a:ea typeface="Courier New" pitchFamily="34" charset="-122"/>
                <a:cs typeface="Courier New" pitchFamily="34" charset="-120"/>
              </a:rPr>
              <a:t>03</a:t>
            </a:r>
            <a:endParaRPr lang="en-US" sz="900" dirty="0"/>
          </a:p>
        </p:txBody>
      </p:sp>
      <p:sp>
        <p:nvSpPr>
          <p:cNvPr id="21" name="Text 17"/>
          <p:cNvSpPr txBox="1"/>
          <p:nvPr/>
        </p:nvSpPr>
        <p:spPr>
          <a:xfrm>
            <a:off x="8220456" y="2167128"/>
            <a:ext cx="3108960" cy="365760"/>
          </a:xfrm>
          <a:prstGeom prst="rect">
            <a:avLst/>
          </a:prstGeom>
          <a:noFill/>
          <a:ln/>
        </p:spPr>
        <p:txBody>
          <a:bodyPr wrap="square" lIns="0" tIns="0" rIns="0" bIns="0" rtlCol="0" anchor="t"/>
          <a:lstStyle/>
          <a:p>
            <a:pPr indent="0" marL="0">
              <a:buNone/>
            </a:pPr>
            <a:r>
              <a:rPr lang="en-US" sz="1600" b="1" dirty="0">
                <a:solidFill>
                  <a:srgbClr val="0D1219"/>
                </a:solidFill>
                <a:latin typeface="Arial" pitchFamily="34" charset="0"/>
                <a:ea typeface="Arial" pitchFamily="34" charset="-122"/>
                <a:cs typeface="Arial" pitchFamily="34" charset="-120"/>
              </a:rPr>
              <a:t>Test</a:t>
            </a:r>
            <a:endParaRPr lang="en-US" sz="1600" dirty="0"/>
          </a:p>
        </p:txBody>
      </p:sp>
      <p:sp>
        <p:nvSpPr>
          <p:cNvPr id="22" name="Text 18"/>
          <p:cNvSpPr txBox="1"/>
          <p:nvPr/>
        </p:nvSpPr>
        <p:spPr>
          <a:xfrm>
            <a:off x="8220456" y="2560320"/>
            <a:ext cx="3108960" cy="777240"/>
          </a:xfrm>
          <a:prstGeom prst="rect">
            <a:avLst/>
          </a:prstGeom>
          <a:noFill/>
          <a:ln/>
        </p:spPr>
        <p:txBody>
          <a:bodyPr wrap="square" lIns="0" tIns="0" rIns="0" bIns="0" rtlCol="0" anchor="t"/>
          <a:lstStyle/>
          <a:p>
            <a:pPr algn="l" indent="0" marL="0">
              <a:lnSpc>
                <a:spcPct val="115000"/>
              </a:lnSpc>
              <a:buNone/>
            </a:pPr>
            <a:r>
              <a:rPr lang="en-US" sz="1100" dirty="0">
                <a:solidFill>
                  <a:srgbClr val="5B6675"/>
                </a:solidFill>
                <a:latin typeface="Arial" pitchFamily="34" charset="0"/>
                <a:ea typeface="Arial" pitchFamily="34" charset="-122"/>
                <a:cs typeface="Arial" pitchFamily="34" charset="-120"/>
              </a:rPr>
              <a:t>One check the machine can run on every change. Red or green.</a:t>
            </a:r>
            <a:endParaRPr lang="en-US" sz="1100" dirty="0"/>
          </a:p>
        </p:txBody>
      </p:sp>
      <p:sp>
        <p:nvSpPr>
          <p:cNvPr id="23" name="Shape 19"/>
          <p:cNvSpPr/>
          <p:nvPr/>
        </p:nvSpPr>
        <p:spPr>
          <a:xfrm>
            <a:off x="640080" y="3566160"/>
            <a:ext cx="3520440" cy="1600200"/>
          </a:xfrm>
          <a:prstGeom prst="rect">
            <a:avLst/>
          </a:prstGeom>
          <a:solidFill>
            <a:srgbClr val="F3F6FB"/>
          </a:solidFill>
          <a:ln w="9525">
            <a:solidFill>
              <a:srgbClr val="D9E0EA"/>
            </a:solidFill>
            <a:prstDash val="solid"/>
          </a:ln>
        </p:spPr>
      </p:sp>
      <p:sp>
        <p:nvSpPr>
          <p:cNvPr id="24" name="Shape 20"/>
          <p:cNvSpPr/>
          <p:nvPr/>
        </p:nvSpPr>
        <p:spPr>
          <a:xfrm>
            <a:off x="640080" y="3566160"/>
            <a:ext cx="54864" cy="1600200"/>
          </a:xfrm>
          <a:prstGeom prst="rect">
            <a:avLst/>
          </a:prstGeom>
          <a:solidFill>
            <a:srgbClr val="EF8B39"/>
          </a:solidFill>
          <a:ln w="12700">
            <a:solidFill>
              <a:srgbClr val="EF8B39"/>
            </a:solidFill>
            <a:prstDash val="solid"/>
          </a:ln>
        </p:spPr>
      </p:sp>
      <p:sp>
        <p:nvSpPr>
          <p:cNvPr id="25" name="Text 21"/>
          <p:cNvSpPr txBox="1"/>
          <p:nvPr/>
        </p:nvSpPr>
        <p:spPr>
          <a:xfrm>
            <a:off x="868680" y="3703320"/>
            <a:ext cx="914400" cy="274320"/>
          </a:xfrm>
          <a:prstGeom prst="rect">
            <a:avLst/>
          </a:prstGeom>
          <a:noFill/>
          <a:ln/>
        </p:spPr>
        <p:txBody>
          <a:bodyPr wrap="square" lIns="0" tIns="0" rIns="0" bIns="0" rtlCol="0" anchor="t"/>
          <a:lstStyle/>
          <a:p>
            <a:pPr algn="l" indent="0" marL="0">
              <a:lnSpc>
                <a:spcPct val="115000"/>
              </a:lnSpc>
              <a:buNone/>
            </a:pPr>
            <a:r>
              <a:rPr lang="en-US" sz="900" dirty="0">
                <a:solidFill>
                  <a:srgbClr val="EF8B39"/>
                </a:solidFill>
                <a:latin typeface="Courier New" pitchFamily="34" charset="0"/>
                <a:ea typeface="Courier New" pitchFamily="34" charset="-122"/>
                <a:cs typeface="Courier New" pitchFamily="34" charset="-120"/>
              </a:rPr>
              <a:t>04</a:t>
            </a:r>
            <a:endParaRPr lang="en-US" sz="900" dirty="0"/>
          </a:p>
        </p:txBody>
      </p:sp>
      <p:sp>
        <p:nvSpPr>
          <p:cNvPr id="26" name="Text 22"/>
          <p:cNvSpPr txBox="1"/>
          <p:nvPr/>
        </p:nvSpPr>
        <p:spPr>
          <a:xfrm>
            <a:off x="868680" y="3950208"/>
            <a:ext cx="3108960" cy="365760"/>
          </a:xfrm>
          <a:prstGeom prst="rect">
            <a:avLst/>
          </a:prstGeom>
          <a:noFill/>
          <a:ln/>
        </p:spPr>
        <p:txBody>
          <a:bodyPr wrap="square" lIns="0" tIns="0" rIns="0" bIns="0" rtlCol="0" anchor="t"/>
          <a:lstStyle/>
          <a:p>
            <a:pPr indent="0" marL="0">
              <a:buNone/>
            </a:pPr>
            <a:r>
              <a:rPr lang="en-US" sz="1600" b="1" dirty="0">
                <a:solidFill>
                  <a:srgbClr val="0D1219"/>
                </a:solidFill>
                <a:latin typeface="Arial" pitchFamily="34" charset="0"/>
                <a:ea typeface="Arial" pitchFamily="34" charset="-122"/>
                <a:cs typeface="Arial" pitchFamily="34" charset="-120"/>
              </a:rPr>
              <a:t>Review</a:t>
            </a:r>
            <a:endParaRPr lang="en-US" sz="1600" dirty="0"/>
          </a:p>
        </p:txBody>
      </p:sp>
      <p:sp>
        <p:nvSpPr>
          <p:cNvPr id="27" name="Text 23"/>
          <p:cNvSpPr txBox="1"/>
          <p:nvPr/>
        </p:nvSpPr>
        <p:spPr>
          <a:xfrm>
            <a:off x="868680" y="4343400"/>
            <a:ext cx="3108960" cy="777240"/>
          </a:xfrm>
          <a:prstGeom prst="rect">
            <a:avLst/>
          </a:prstGeom>
          <a:noFill/>
          <a:ln/>
        </p:spPr>
        <p:txBody>
          <a:bodyPr wrap="square" lIns="0" tIns="0" rIns="0" bIns="0" rtlCol="0" anchor="t"/>
          <a:lstStyle/>
          <a:p>
            <a:pPr algn="l" indent="0" marL="0">
              <a:lnSpc>
                <a:spcPct val="115000"/>
              </a:lnSpc>
              <a:buNone/>
            </a:pPr>
            <a:r>
              <a:rPr lang="en-US" sz="1100" dirty="0">
                <a:solidFill>
                  <a:srgbClr val="5B6675"/>
                </a:solidFill>
                <a:latin typeface="Arial" pitchFamily="34" charset="0"/>
                <a:ea typeface="Arial" pitchFamily="34" charset="-122"/>
                <a:cs typeface="Arial" pitchFamily="34" charset="-120"/>
              </a:rPr>
              <a:t>A fresh reader looks at it. Never the author, human or model.</a:t>
            </a:r>
            <a:endParaRPr lang="en-US" sz="1100" dirty="0"/>
          </a:p>
        </p:txBody>
      </p:sp>
      <p:sp>
        <p:nvSpPr>
          <p:cNvPr id="28" name="Shape 24"/>
          <p:cNvSpPr/>
          <p:nvPr/>
        </p:nvSpPr>
        <p:spPr>
          <a:xfrm>
            <a:off x="4315968" y="3566160"/>
            <a:ext cx="3520440" cy="1600200"/>
          </a:xfrm>
          <a:prstGeom prst="rect">
            <a:avLst/>
          </a:prstGeom>
          <a:solidFill>
            <a:srgbClr val="F3F6FB"/>
          </a:solidFill>
          <a:ln w="9525">
            <a:solidFill>
              <a:srgbClr val="D9E0EA"/>
            </a:solidFill>
            <a:prstDash val="solid"/>
          </a:ln>
        </p:spPr>
      </p:sp>
      <p:sp>
        <p:nvSpPr>
          <p:cNvPr id="29" name="Shape 25"/>
          <p:cNvSpPr/>
          <p:nvPr/>
        </p:nvSpPr>
        <p:spPr>
          <a:xfrm>
            <a:off x="4315968" y="3566160"/>
            <a:ext cx="54864" cy="1600200"/>
          </a:xfrm>
          <a:prstGeom prst="rect">
            <a:avLst/>
          </a:prstGeom>
          <a:solidFill>
            <a:srgbClr val="EF8B39"/>
          </a:solidFill>
          <a:ln w="12700">
            <a:solidFill>
              <a:srgbClr val="EF8B39"/>
            </a:solidFill>
            <a:prstDash val="solid"/>
          </a:ln>
        </p:spPr>
      </p:sp>
      <p:sp>
        <p:nvSpPr>
          <p:cNvPr id="30" name="Text 26"/>
          <p:cNvSpPr txBox="1"/>
          <p:nvPr/>
        </p:nvSpPr>
        <p:spPr>
          <a:xfrm>
            <a:off x="4544568" y="3703320"/>
            <a:ext cx="914400" cy="274320"/>
          </a:xfrm>
          <a:prstGeom prst="rect">
            <a:avLst/>
          </a:prstGeom>
          <a:noFill/>
          <a:ln/>
        </p:spPr>
        <p:txBody>
          <a:bodyPr wrap="square" lIns="0" tIns="0" rIns="0" bIns="0" rtlCol="0" anchor="t"/>
          <a:lstStyle/>
          <a:p>
            <a:pPr algn="l" indent="0" marL="0">
              <a:lnSpc>
                <a:spcPct val="115000"/>
              </a:lnSpc>
              <a:buNone/>
            </a:pPr>
            <a:r>
              <a:rPr lang="en-US" sz="900" dirty="0">
                <a:solidFill>
                  <a:srgbClr val="EF8B39"/>
                </a:solidFill>
                <a:latin typeface="Courier New" pitchFamily="34" charset="0"/>
                <a:ea typeface="Courier New" pitchFamily="34" charset="-122"/>
                <a:cs typeface="Courier New" pitchFamily="34" charset="-120"/>
              </a:rPr>
              <a:t>05</a:t>
            </a:r>
            <a:endParaRPr lang="en-US" sz="900" dirty="0"/>
          </a:p>
        </p:txBody>
      </p:sp>
      <p:sp>
        <p:nvSpPr>
          <p:cNvPr id="31" name="Text 27"/>
          <p:cNvSpPr txBox="1"/>
          <p:nvPr/>
        </p:nvSpPr>
        <p:spPr>
          <a:xfrm>
            <a:off x="4544568" y="3950208"/>
            <a:ext cx="3108960" cy="365760"/>
          </a:xfrm>
          <a:prstGeom prst="rect">
            <a:avLst/>
          </a:prstGeom>
          <a:noFill/>
          <a:ln/>
        </p:spPr>
        <p:txBody>
          <a:bodyPr wrap="square" lIns="0" tIns="0" rIns="0" bIns="0" rtlCol="0" anchor="t"/>
          <a:lstStyle/>
          <a:p>
            <a:pPr indent="0" marL="0">
              <a:buNone/>
            </a:pPr>
            <a:r>
              <a:rPr lang="en-US" sz="1600" b="1" dirty="0">
                <a:solidFill>
                  <a:srgbClr val="0D1219"/>
                </a:solidFill>
                <a:latin typeface="Arial" pitchFamily="34" charset="0"/>
                <a:ea typeface="Arial" pitchFamily="34" charset="-122"/>
                <a:cs typeface="Arial" pitchFamily="34" charset="-120"/>
              </a:rPr>
              <a:t>Ship</a:t>
            </a:r>
            <a:endParaRPr lang="en-US" sz="1600" dirty="0"/>
          </a:p>
        </p:txBody>
      </p:sp>
      <p:sp>
        <p:nvSpPr>
          <p:cNvPr id="32" name="Text 28"/>
          <p:cNvSpPr txBox="1"/>
          <p:nvPr/>
        </p:nvSpPr>
        <p:spPr>
          <a:xfrm>
            <a:off x="4544568" y="4343400"/>
            <a:ext cx="3108960" cy="777240"/>
          </a:xfrm>
          <a:prstGeom prst="rect">
            <a:avLst/>
          </a:prstGeom>
          <a:noFill/>
          <a:ln/>
        </p:spPr>
        <p:txBody>
          <a:bodyPr wrap="square" lIns="0" tIns="0" rIns="0" bIns="0" rtlCol="0" anchor="t"/>
          <a:lstStyle/>
          <a:p>
            <a:pPr algn="l" indent="0" marL="0">
              <a:lnSpc>
                <a:spcPct val="115000"/>
              </a:lnSpc>
              <a:buNone/>
            </a:pPr>
            <a:r>
              <a:rPr lang="en-US" sz="1100" dirty="0">
                <a:solidFill>
                  <a:srgbClr val="5B6675"/>
                </a:solidFill>
                <a:latin typeface="Arial" pitchFamily="34" charset="0"/>
                <a:ea typeface="Arial" pitchFamily="34" charset="-122"/>
                <a:cs typeface="Arial" pitchFamily="34" charset="-120"/>
              </a:rPr>
              <a:t>Merge to main. It goes live. Rollback is one click away.</a:t>
            </a:r>
            <a:endParaRPr lang="en-US" sz="1100" dirty="0"/>
          </a:p>
        </p:txBody>
      </p:sp>
      <p:sp>
        <p:nvSpPr>
          <p:cNvPr id="33" name="Shape 29"/>
          <p:cNvSpPr/>
          <p:nvPr/>
        </p:nvSpPr>
        <p:spPr>
          <a:xfrm>
            <a:off x="7991856" y="3566160"/>
            <a:ext cx="3520440" cy="1600200"/>
          </a:xfrm>
          <a:prstGeom prst="rect">
            <a:avLst/>
          </a:prstGeom>
          <a:solidFill>
            <a:srgbClr val="F3F6FB"/>
          </a:solidFill>
          <a:ln w="9525">
            <a:solidFill>
              <a:srgbClr val="D9E0EA"/>
            </a:solidFill>
            <a:prstDash val="solid"/>
          </a:ln>
        </p:spPr>
      </p:sp>
      <p:sp>
        <p:nvSpPr>
          <p:cNvPr id="34" name="Shape 30"/>
          <p:cNvSpPr/>
          <p:nvPr/>
        </p:nvSpPr>
        <p:spPr>
          <a:xfrm>
            <a:off x="7991856" y="3566160"/>
            <a:ext cx="54864" cy="1600200"/>
          </a:xfrm>
          <a:prstGeom prst="rect">
            <a:avLst/>
          </a:prstGeom>
          <a:solidFill>
            <a:srgbClr val="EF8B39"/>
          </a:solidFill>
          <a:ln w="12700">
            <a:solidFill>
              <a:srgbClr val="EF8B39"/>
            </a:solidFill>
            <a:prstDash val="solid"/>
          </a:ln>
        </p:spPr>
      </p:sp>
      <p:sp>
        <p:nvSpPr>
          <p:cNvPr id="35" name="Text 31"/>
          <p:cNvSpPr txBox="1"/>
          <p:nvPr/>
        </p:nvSpPr>
        <p:spPr>
          <a:xfrm>
            <a:off x="8220456" y="3703320"/>
            <a:ext cx="914400" cy="274320"/>
          </a:xfrm>
          <a:prstGeom prst="rect">
            <a:avLst/>
          </a:prstGeom>
          <a:noFill/>
          <a:ln/>
        </p:spPr>
        <p:txBody>
          <a:bodyPr wrap="square" lIns="0" tIns="0" rIns="0" bIns="0" rtlCol="0" anchor="t"/>
          <a:lstStyle/>
          <a:p>
            <a:pPr algn="l" indent="0" marL="0">
              <a:lnSpc>
                <a:spcPct val="115000"/>
              </a:lnSpc>
              <a:buNone/>
            </a:pPr>
            <a:r>
              <a:rPr lang="en-US" sz="900" dirty="0">
                <a:solidFill>
                  <a:srgbClr val="EF8B39"/>
                </a:solidFill>
                <a:latin typeface="Courier New" pitchFamily="34" charset="0"/>
                <a:ea typeface="Courier New" pitchFamily="34" charset="-122"/>
                <a:cs typeface="Courier New" pitchFamily="34" charset="-120"/>
              </a:rPr>
              <a:t>06</a:t>
            </a:r>
            <a:endParaRPr lang="en-US" sz="900" dirty="0"/>
          </a:p>
        </p:txBody>
      </p:sp>
      <p:sp>
        <p:nvSpPr>
          <p:cNvPr id="36" name="Text 32"/>
          <p:cNvSpPr txBox="1"/>
          <p:nvPr/>
        </p:nvSpPr>
        <p:spPr>
          <a:xfrm>
            <a:off x="8220456" y="3950208"/>
            <a:ext cx="3108960" cy="365760"/>
          </a:xfrm>
          <a:prstGeom prst="rect">
            <a:avLst/>
          </a:prstGeom>
          <a:noFill/>
          <a:ln/>
        </p:spPr>
        <p:txBody>
          <a:bodyPr wrap="square" lIns="0" tIns="0" rIns="0" bIns="0" rtlCol="0" anchor="t"/>
          <a:lstStyle/>
          <a:p>
            <a:pPr indent="0" marL="0">
              <a:buNone/>
            </a:pPr>
            <a:r>
              <a:rPr lang="en-US" sz="1600" b="1" dirty="0">
                <a:solidFill>
                  <a:srgbClr val="0D1219"/>
                </a:solidFill>
                <a:latin typeface="Arial" pitchFamily="34" charset="0"/>
                <a:ea typeface="Arial" pitchFamily="34" charset="-122"/>
                <a:cs typeface="Arial" pitchFamily="34" charset="-120"/>
              </a:rPr>
              <a:t>Monitor</a:t>
            </a:r>
            <a:endParaRPr lang="en-US" sz="1600" dirty="0"/>
          </a:p>
        </p:txBody>
      </p:sp>
      <p:sp>
        <p:nvSpPr>
          <p:cNvPr id="37" name="Text 33"/>
          <p:cNvSpPr txBox="1"/>
          <p:nvPr/>
        </p:nvSpPr>
        <p:spPr>
          <a:xfrm>
            <a:off x="8220456" y="4343400"/>
            <a:ext cx="3108960" cy="777240"/>
          </a:xfrm>
          <a:prstGeom prst="rect">
            <a:avLst/>
          </a:prstGeom>
          <a:noFill/>
          <a:ln/>
        </p:spPr>
        <p:txBody>
          <a:bodyPr wrap="square" lIns="0" tIns="0" rIns="0" bIns="0" rtlCol="0" anchor="t"/>
          <a:lstStyle/>
          <a:p>
            <a:pPr algn="l" indent="0" marL="0">
              <a:lnSpc>
                <a:spcPct val="115000"/>
              </a:lnSpc>
              <a:buNone/>
            </a:pPr>
            <a:r>
              <a:rPr lang="en-US" sz="1100" dirty="0">
                <a:solidFill>
                  <a:srgbClr val="5B6675"/>
                </a:solidFill>
                <a:latin typeface="Arial" pitchFamily="34" charset="0"/>
                <a:ea typeface="Arial" pitchFamily="34" charset="-122"/>
                <a:cs typeface="Arial" pitchFamily="34" charset="-120"/>
              </a:rPr>
              <a:t>Hear about breakage before your customer does.</a:t>
            </a:r>
            <a:endParaRPr lang="en-US" sz="1100" dirty="0"/>
          </a:p>
        </p:txBody>
      </p:sp>
      <p:sp>
        <p:nvSpPr>
          <p:cNvPr id="38" name="Shape 34"/>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39" name="Text 35"/>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40" name="Shape 36"/>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41" name="Text 37"/>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42" name="Shape 38"/>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43" name="Text 39"/>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44" name="Shape 40"/>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45" name="Text 41"/>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46" name="Shape 42"/>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47" name="Text 43"/>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48" name="Shape 44"/>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49" name="Text 45"/>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15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3  ·  SPEC  ·  20 MIN  ·  HANDS-ON</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0:40 – 1:00</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500" b="1" dirty="0">
                <a:solidFill>
                  <a:srgbClr val="0D1219"/>
                </a:solidFill>
                <a:latin typeface="Arial" pitchFamily="34" charset="0"/>
                <a:ea typeface="Arial" pitchFamily="34" charset="-122"/>
                <a:cs typeface="Arial" pitchFamily="34" charset="-120"/>
              </a:rPr>
              <a:t>The brief becomes a file in the repo. The AI reads it every session.</a:t>
            </a:r>
            <a:endParaRPr lang="en-US" sz="2500" dirty="0"/>
          </a:p>
        </p:txBody>
      </p:sp>
      <p:sp>
        <p:nvSpPr>
          <p:cNvPr id="8" name="Shape 4"/>
          <p:cNvSpPr/>
          <p:nvPr/>
        </p:nvSpPr>
        <p:spPr>
          <a:xfrm>
            <a:off x="640080" y="1783080"/>
            <a:ext cx="5120640" cy="3657600"/>
          </a:xfrm>
          <a:prstGeom prst="rect">
            <a:avLst/>
          </a:prstGeom>
          <a:solidFill>
            <a:srgbClr val="E8EEF7"/>
          </a:solidFill>
          <a:ln w="9525">
            <a:solidFill>
              <a:srgbClr val="D9E0EA"/>
            </a:solidFill>
            <a:prstDash val="solid"/>
          </a:ln>
        </p:spPr>
      </p:sp>
      <p:sp>
        <p:nvSpPr>
          <p:cNvPr id="9" name="Shape 5"/>
          <p:cNvSpPr/>
          <p:nvPr/>
        </p:nvSpPr>
        <p:spPr>
          <a:xfrm>
            <a:off x="640080" y="1783080"/>
            <a:ext cx="54864" cy="3657600"/>
          </a:xfrm>
          <a:prstGeom prst="rect">
            <a:avLst/>
          </a:prstGeom>
          <a:solidFill>
            <a:srgbClr val="EF8B39"/>
          </a:solidFill>
          <a:ln w="12700">
            <a:solidFill>
              <a:srgbClr val="EF8B39"/>
            </a:solidFill>
            <a:prstDash val="solid"/>
          </a:ln>
        </p:spPr>
      </p:sp>
      <p:sp>
        <p:nvSpPr>
          <p:cNvPr id="10" name="Text 6"/>
          <p:cNvSpPr txBox="1"/>
          <p:nvPr/>
        </p:nvSpPr>
        <p:spPr>
          <a:xfrm>
            <a:off x="868680" y="1920240"/>
            <a:ext cx="4572000" cy="237744"/>
          </a:xfrm>
          <a:prstGeom prst="rect">
            <a:avLst/>
          </a:prstGeom>
          <a:noFill/>
          <a:ln/>
        </p:spPr>
        <p:txBody>
          <a:bodyPr wrap="square" lIns="0" tIns="0" rIns="0" bIns="0" rtlCol="0" anchor="ctr"/>
          <a:lstStyle/>
          <a:p>
            <a:pPr indent="0" marL="0">
              <a:buNone/>
            </a:pPr>
            <a:r>
              <a:rPr lang="en-US" sz="850" b="1" spc="150" kern="0" dirty="0">
                <a:solidFill>
                  <a:srgbClr val="EF8B39"/>
                </a:solidFill>
                <a:latin typeface="Courier New" pitchFamily="34" charset="0"/>
                <a:ea typeface="Courier New" pitchFamily="34" charset="-122"/>
                <a:cs typeface="Courier New" pitchFamily="34" charset="-120"/>
              </a:rPr>
              <a:t>SPEC.MD · FIVE HEADINGS · 15 LINES MAX</a:t>
            </a:r>
            <a:endParaRPr lang="en-US" sz="850" dirty="0"/>
          </a:p>
        </p:txBody>
      </p:sp>
      <p:sp>
        <p:nvSpPr>
          <p:cNvPr id="11" name="Text 7"/>
          <p:cNvSpPr txBox="1"/>
          <p:nvPr/>
        </p:nvSpPr>
        <p:spPr>
          <a:xfrm>
            <a:off x="868680" y="2286000"/>
            <a:ext cx="4663440" cy="2926080"/>
          </a:xfrm>
          <a:prstGeom prst="rect">
            <a:avLst/>
          </a:prstGeom>
          <a:noFill/>
          <a:ln/>
        </p:spPr>
        <p:txBody>
          <a:bodyPr wrap="square" lIns="0" tIns="0" rIns="0" bIns="0" rtlCol="0" anchor="t"/>
          <a:lstStyle/>
          <a:p>
            <a:pPr marL="177800" indent="-177800">
              <a:lnSpc>
                <a:spcPct val="115000"/>
              </a:lnSpc>
              <a:spcAft>
                <a:spcPts val="900"/>
              </a:spcAft>
              <a:buSzPct val="100000"/>
              <a:buChar char="•"/>
            </a:pPr>
            <a:r>
              <a:rPr lang="en-US" sz="1500" dirty="0">
                <a:solidFill>
                  <a:srgbClr val="0D1219"/>
                </a:solidFill>
                <a:latin typeface="Arial" pitchFamily="34" charset="0"/>
                <a:ea typeface="Arial" pitchFamily="34" charset="-122"/>
                <a:cs typeface="Arial" pitchFamily="34" charset="-120"/>
              </a:rPr>
              <a:t>Who uses it</a:t>
            </a:r>
            <a:endParaRPr lang="en-US" sz="1500" dirty="0"/>
          </a:p>
          <a:p>
            <a:pPr marL="177800" indent="-177800">
              <a:lnSpc>
                <a:spcPct val="115000"/>
              </a:lnSpc>
              <a:spcAft>
                <a:spcPts val="900"/>
              </a:spcAft>
              <a:buSzPct val="100000"/>
              <a:buChar char="•"/>
            </a:pPr>
            <a:r>
              <a:rPr lang="en-US" sz="1500" dirty="0">
                <a:solidFill>
                  <a:srgbClr val="0D1219"/>
                </a:solidFill>
                <a:latin typeface="Arial" pitchFamily="34" charset="0"/>
                <a:ea typeface="Arial" pitchFamily="34" charset="-122"/>
                <a:cs typeface="Arial" pitchFamily="34" charset="-120"/>
              </a:rPr>
              <a:t>What they type in</a:t>
            </a:r>
            <a:endParaRPr lang="en-US" sz="1500" dirty="0"/>
          </a:p>
          <a:p>
            <a:pPr marL="177800" indent="-177800">
              <a:lnSpc>
                <a:spcPct val="115000"/>
              </a:lnSpc>
              <a:spcAft>
                <a:spcPts val="900"/>
              </a:spcAft>
              <a:buSzPct val="100000"/>
              <a:buChar char="•"/>
            </a:pPr>
            <a:r>
              <a:rPr lang="en-US" sz="1500" dirty="0">
                <a:solidFill>
                  <a:srgbClr val="0D1219"/>
                </a:solidFill>
                <a:latin typeface="Arial" pitchFamily="34" charset="0"/>
                <a:ea typeface="Arial" pitchFamily="34" charset="-122"/>
                <a:cs typeface="Arial" pitchFamily="34" charset="-120"/>
              </a:rPr>
              <a:t>What comes out</a:t>
            </a:r>
            <a:endParaRPr lang="en-US" sz="1500" dirty="0"/>
          </a:p>
          <a:p>
            <a:pPr marL="177800" indent="-177800">
              <a:lnSpc>
                <a:spcPct val="115000"/>
              </a:lnSpc>
              <a:spcAft>
                <a:spcPts val="900"/>
              </a:spcAft>
              <a:buSzPct val="100000"/>
              <a:buChar char="•"/>
            </a:pPr>
            <a:r>
              <a:rPr lang="en-US" sz="1500" dirty="0">
                <a:solidFill>
                  <a:srgbClr val="0D1219"/>
                </a:solidFill>
                <a:latin typeface="Arial" pitchFamily="34" charset="0"/>
                <a:ea typeface="Arial" pitchFamily="34" charset="-122"/>
                <a:cs typeface="Arial" pitchFamily="34" charset="-120"/>
              </a:rPr>
              <a:t>What must never happen</a:t>
            </a:r>
            <a:endParaRPr lang="en-US" sz="1500" dirty="0"/>
          </a:p>
          <a:p>
            <a:pPr marL="177800" indent="-177800">
              <a:lnSpc>
                <a:spcPct val="115000"/>
              </a:lnSpc>
              <a:spcAft>
                <a:spcPts val="900"/>
              </a:spcAft>
              <a:buSzPct val="100000"/>
              <a:buChar char="•"/>
            </a:pPr>
            <a:r>
              <a:rPr lang="en-US" sz="1500" dirty="0">
                <a:solidFill>
                  <a:srgbClr val="0D1219"/>
                </a:solidFill>
                <a:latin typeface="Arial" pitchFamily="34" charset="0"/>
                <a:ea typeface="Arial" pitchFamily="34" charset="-122"/>
                <a:cs typeface="Arial" pitchFamily="34" charset="-120"/>
              </a:rPr>
              <a:t>How we know it works</a:t>
            </a:r>
            <a:endParaRPr lang="en-US" sz="1500" dirty="0"/>
          </a:p>
        </p:txBody>
      </p:sp>
      <p:sp>
        <p:nvSpPr>
          <p:cNvPr id="12" name="Shape 8"/>
          <p:cNvSpPr/>
          <p:nvPr/>
        </p:nvSpPr>
        <p:spPr>
          <a:xfrm>
            <a:off x="5989320" y="1783080"/>
            <a:ext cx="5559552" cy="3657600"/>
          </a:xfrm>
          <a:prstGeom prst="rect">
            <a:avLst/>
          </a:prstGeom>
          <a:solidFill>
            <a:srgbClr val="F3F6FB"/>
          </a:solidFill>
          <a:ln w="9525">
            <a:solidFill>
              <a:srgbClr val="D9E0EA"/>
            </a:solidFill>
            <a:prstDash val="solid"/>
          </a:ln>
        </p:spPr>
      </p:sp>
      <p:sp>
        <p:nvSpPr>
          <p:cNvPr id="13" name="Text 9"/>
          <p:cNvSpPr txBox="1"/>
          <p:nvPr/>
        </p:nvSpPr>
        <p:spPr>
          <a:xfrm>
            <a:off x="6217920" y="1920240"/>
            <a:ext cx="5029200" cy="237744"/>
          </a:xfrm>
          <a:prstGeom prst="rect">
            <a:avLst/>
          </a:prstGeom>
          <a:noFill/>
          <a:ln/>
        </p:spPr>
        <p:txBody>
          <a:bodyPr wrap="square" lIns="0" tIns="0" rIns="0" bIns="0" rtlCol="0" anchor="ctr"/>
          <a:lstStyle/>
          <a:p>
            <a:pPr indent="0" marL="0">
              <a:buNone/>
            </a:pPr>
            <a:r>
              <a:rPr lang="en-US" sz="850" b="1" spc="150" kern="0" dirty="0">
                <a:solidFill>
                  <a:srgbClr val="EF8B39"/>
                </a:solidFill>
                <a:latin typeface="Courier New" pitchFamily="34" charset="0"/>
                <a:ea typeface="Courier New" pitchFamily="34" charset="-122"/>
                <a:cs typeface="Courier New" pitchFamily="34" charset="-120"/>
              </a:rPr>
              <a:t>FILLED IN: A QUOTE CALCULATOR FOR A LAWN SERVICE</a:t>
            </a:r>
            <a:endParaRPr lang="en-US" sz="850" dirty="0"/>
          </a:p>
        </p:txBody>
      </p:sp>
      <p:sp>
        <p:nvSpPr>
          <p:cNvPr id="14" name="Text 10"/>
          <p:cNvSpPr txBox="1"/>
          <p:nvPr/>
        </p:nvSpPr>
        <p:spPr>
          <a:xfrm>
            <a:off x="6217920" y="2240280"/>
            <a:ext cx="5120640" cy="3017520"/>
          </a:xfrm>
          <a:prstGeom prst="rect">
            <a:avLst/>
          </a:prstGeom>
          <a:noFill/>
          <a:ln/>
        </p:spPr>
        <p:txBody>
          <a:bodyPr wrap="square" lIns="0" tIns="0" rIns="0" bIns="0" rtlCol="0" anchor="t"/>
          <a:lstStyle/>
          <a:p>
            <a:pPr algn="l" indent="0" marL="0">
              <a:lnSpc>
                <a:spcPct val="130000"/>
              </a:lnSpc>
              <a:buNone/>
            </a:pPr>
            <a:r>
              <a:rPr lang="en-US" sz="1050" dirty="0">
                <a:solidFill>
                  <a:srgbClr val="1F2937"/>
                </a:solidFill>
                <a:latin typeface="Courier New" pitchFamily="34" charset="0"/>
                <a:ea typeface="Courier New" pitchFamily="34" charset="-122"/>
                <a:cs typeface="Courier New" pitchFamily="34" charset="-120"/>
              </a:rPr>
              <a:t>Who uses it: a homeowner on a phone, and me.</a:t>
            </a:r>
            <a:endParaRPr lang="en-US" sz="1050" dirty="0"/>
          </a:p>
          <a:p>
            <a:pPr algn="l" indent="0" marL="0">
              <a:lnSpc>
                <a:spcPct val="130000"/>
              </a:lnSpc>
              <a:buNone/>
            </a:pPr>
            <a:r>
              <a:rPr lang="en-US" sz="1050" dirty="0">
                <a:solidFill>
                  <a:srgbClr val="1F2937"/>
                </a:solidFill>
                <a:latin typeface="Courier New" pitchFamily="34" charset="0"/>
                <a:ea typeface="Courier New" pitchFamily="34" charset="-122"/>
                <a:cs typeface="Courier New" pitchFamily="34" charset="-120"/>
              </a:rPr>
              <a:t>What they type in: address, lawn size, which services.</a:t>
            </a:r>
            <a:endParaRPr lang="en-US" sz="1050" dirty="0"/>
          </a:p>
          <a:p>
            <a:pPr algn="l" indent="0" marL="0">
              <a:lnSpc>
                <a:spcPct val="130000"/>
              </a:lnSpc>
              <a:buNone/>
            </a:pPr>
            <a:r>
              <a:rPr lang="en-US" sz="1050" dirty="0">
                <a:solidFill>
                  <a:srgbClr val="1F2937"/>
                </a:solidFill>
                <a:latin typeface="Courier New" pitchFamily="34" charset="0"/>
                <a:ea typeface="Courier New" pitchFamily="34" charset="-122"/>
                <a:cs typeface="Courier New" pitchFamily="34" charset="-120"/>
              </a:rPr>
              <a:t>What comes out: a price on screen, and an email to me with what they picked.</a:t>
            </a:r>
            <a:endParaRPr lang="en-US" sz="1050" dirty="0"/>
          </a:p>
          <a:p>
            <a:pPr algn="l" indent="0" marL="0">
              <a:lnSpc>
                <a:spcPct val="130000"/>
              </a:lnSpc>
              <a:buNone/>
            </a:pPr>
            <a:r>
              <a:rPr lang="en-US" sz="1050" dirty="0">
                <a:solidFill>
                  <a:srgbClr val="1F2937"/>
                </a:solidFill>
                <a:latin typeface="Courier New" pitchFamily="34" charset="0"/>
                <a:ea typeface="Courier New" pitchFamily="34" charset="-122"/>
                <a:cs typeface="Courier New" pitchFamily="34" charset="-120"/>
              </a:rPr>
              <a:t>What must never happen: a quote below my minimum; a form that submits with a blank address.</a:t>
            </a:r>
            <a:endParaRPr lang="en-US" sz="1050" dirty="0"/>
          </a:p>
          <a:p>
            <a:pPr algn="l" indent="0" marL="0">
              <a:lnSpc>
                <a:spcPct val="130000"/>
              </a:lnSpc>
              <a:buNone/>
            </a:pPr>
            <a:r>
              <a:rPr lang="en-US" sz="1050" dirty="0">
                <a:solidFill>
                  <a:srgbClr val="1F2937"/>
                </a:solidFill>
                <a:latin typeface="Courier New" pitchFamily="34" charset="0"/>
                <a:ea typeface="Courier New" pitchFamily="34" charset="-122"/>
                <a:cs typeface="Courier New" pitchFamily="34" charset="-120"/>
              </a:rPr>
              <a:t>How we know it works: enter 5,000 sq ft, mowing + cleanup, see $195, and I get the email.</a:t>
            </a:r>
            <a:endParaRPr lang="en-US" sz="1050" dirty="0"/>
          </a:p>
        </p:txBody>
      </p:sp>
      <p:sp>
        <p:nvSpPr>
          <p:cNvPr id="15" name="Shape 11"/>
          <p:cNvSpPr/>
          <p:nvPr/>
        </p:nvSpPr>
        <p:spPr>
          <a:xfrm>
            <a:off x="3223260" y="6291072"/>
            <a:ext cx="896112" cy="274320"/>
          </a:xfrm>
          <a:prstGeom prst="roundRect">
            <a:avLst>
              <a:gd name="adj" fmla="val 20000"/>
            </a:avLst>
          </a:prstGeom>
          <a:solidFill>
            <a:srgbClr val="EF8B39"/>
          </a:solidFill>
          <a:ln w="6350">
            <a:solidFill>
              <a:srgbClr val="EF8B39"/>
            </a:solidFill>
            <a:prstDash val="solid"/>
          </a:ln>
        </p:spPr>
      </p:sp>
      <p:sp>
        <p:nvSpPr>
          <p:cNvPr id="16" name="Text 12"/>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SPEC</a:t>
            </a:r>
            <a:endParaRPr lang="en-US" sz="800" dirty="0"/>
          </a:p>
        </p:txBody>
      </p:sp>
      <p:sp>
        <p:nvSpPr>
          <p:cNvPr id="17" name="Shape 13"/>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18" name="Text 14"/>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19" name="Shape 15"/>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20" name="Text 16"/>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21" name="Shape 17"/>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22" name="Text 18"/>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23" name="Shape 19"/>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24" name="Text 20"/>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25" name="Shape 21"/>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26" name="Text 22"/>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16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3  ·  SPEC  ·  20 MIN  ·  HANDS-ON</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0:40 – 1:00</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300" b="1" dirty="0">
                <a:solidFill>
                  <a:srgbClr val="0D1219"/>
                </a:solidFill>
                <a:latin typeface="Arial" pitchFamily="34" charset="0"/>
                <a:ea typeface="Arial" pitchFamily="34" charset="-122"/>
                <a:cs typeface="Arial" pitchFamily="34" charset="-120"/>
              </a:rPr>
              <a:t>Fill in spec.md for the thing you brought. Then ask for a plan, not code.</a:t>
            </a:r>
            <a:endParaRPr lang="en-US" sz="2300" dirty="0"/>
          </a:p>
        </p:txBody>
      </p:sp>
      <p:sp>
        <p:nvSpPr>
          <p:cNvPr id="8" name="Text 4"/>
          <p:cNvSpPr txBox="1"/>
          <p:nvPr/>
        </p:nvSpPr>
        <p:spPr>
          <a:xfrm>
            <a:off x="640080" y="1783080"/>
            <a:ext cx="5486400" cy="3291840"/>
          </a:xfrm>
          <a:prstGeom prst="rect">
            <a:avLst/>
          </a:prstGeom>
          <a:noFill/>
          <a:ln/>
        </p:spPr>
        <p:txBody>
          <a:bodyPr wrap="square" lIns="0" tIns="0" rIns="0" bIns="0" rtlCol="0" anchor="t"/>
          <a:lstStyle/>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1  Open spec.md in your repo (it is in the starter). Fill in the five headings for the spreadsheet or tool you brought. Plain English. 15 lines.</a:t>
            </a:r>
            <a:endParaRPr lang="en-US" sz="1200" dirty="0"/>
          </a:p>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2  Scope rule: one screen, one form, one result. No login. No database. If you wrote more, cut it.</a:t>
            </a:r>
            <a:endParaRPr lang="en-US" sz="1200" dirty="0"/>
          </a:p>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3  Type the prompt on the right. Read the plan out loud to your partner. Argue with it in plain English until it matches how you actually work.</a:t>
            </a:r>
            <a:endParaRPr lang="en-US" sz="1200" dirty="0"/>
          </a:p>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4  Green sticky when the plan fits on one screen and you both agree with it.</a:t>
            </a:r>
            <a:endParaRPr lang="en-US" sz="1200" dirty="0"/>
          </a:p>
        </p:txBody>
      </p:sp>
      <p:sp>
        <p:nvSpPr>
          <p:cNvPr id="9" name="Shape 5"/>
          <p:cNvSpPr/>
          <p:nvPr/>
        </p:nvSpPr>
        <p:spPr>
          <a:xfrm>
            <a:off x="6400800" y="1783080"/>
            <a:ext cx="5148072" cy="2011680"/>
          </a:xfrm>
          <a:prstGeom prst="rect">
            <a:avLst/>
          </a:prstGeom>
          <a:solidFill>
            <a:srgbClr val="121B2B"/>
          </a:solidFill>
          <a:ln w="12700">
            <a:solidFill>
              <a:srgbClr val="EF8B39"/>
            </a:solidFill>
            <a:prstDash val="solid"/>
          </a:ln>
        </p:spPr>
      </p:sp>
      <p:sp>
        <p:nvSpPr>
          <p:cNvPr id="10" name="Text 6"/>
          <p:cNvSpPr/>
          <p:nvPr/>
        </p:nvSpPr>
        <p:spPr>
          <a:xfrm>
            <a:off x="6583680" y="1892808"/>
            <a:ext cx="4782312" cy="228600"/>
          </a:xfrm>
          <a:prstGeom prst="rect">
            <a:avLst/>
          </a:prstGeom>
          <a:noFill/>
          <a:ln/>
        </p:spPr>
        <p:txBody>
          <a:bodyPr wrap="square" lIns="0" tIns="0" rIns="0" bIns="0" rtlCol="0" anchor="ctr"/>
          <a:lstStyle/>
          <a:p>
            <a:pPr indent="0" marL="0">
              <a:buNone/>
            </a:pPr>
            <a:r>
              <a:rPr lang="en-US" sz="800" b="1" spc="150" kern="0" dirty="0">
                <a:solidFill>
                  <a:srgbClr val="EF8B39"/>
                </a:solidFill>
                <a:latin typeface="Courier New" pitchFamily="34" charset="0"/>
                <a:ea typeface="Courier New" pitchFamily="34" charset="-122"/>
                <a:cs typeface="Courier New" pitchFamily="34" charset="-120"/>
              </a:rPr>
              <a:t>TYPE THIS, VERBATIM</a:t>
            </a:r>
            <a:endParaRPr lang="en-US" sz="800" dirty="0"/>
          </a:p>
        </p:txBody>
      </p:sp>
      <p:sp>
        <p:nvSpPr>
          <p:cNvPr id="11" name="Text 7"/>
          <p:cNvSpPr txBox="1"/>
          <p:nvPr/>
        </p:nvSpPr>
        <p:spPr>
          <a:xfrm>
            <a:off x="6583680" y="2167128"/>
            <a:ext cx="4782312" cy="1508760"/>
          </a:xfrm>
          <a:prstGeom prst="rect">
            <a:avLst/>
          </a:prstGeom>
          <a:noFill/>
          <a:ln/>
        </p:spPr>
        <p:txBody>
          <a:bodyPr wrap="square" lIns="0" tIns="0" rIns="0" bIns="0" rtlCol="0" anchor="t"/>
          <a:lstStyle/>
          <a:p>
            <a:pPr indent="0" marL="0">
              <a:lnSpc>
                <a:spcPct val="120000"/>
              </a:lnSpc>
              <a:buNone/>
            </a:pPr>
            <a:r>
              <a:rPr lang="en-US" sz="1050" dirty="0">
                <a:solidFill>
                  <a:srgbClr val="E6EBF2"/>
                </a:solidFill>
                <a:latin typeface="Courier New" pitchFamily="34" charset="0"/>
                <a:ea typeface="Courier New" pitchFamily="34" charset="-122"/>
                <a:cs typeface="Courier New" pitchFamily="34" charset="-120"/>
              </a:rPr>
              <a:t>Read spec.md. Use plan mode. Plan how to build what it describes as ONE page in this app, using the starter’s form and table. Do not write any code yet. Show me the plan.</a:t>
            </a:r>
            <a:endParaRPr lang="en-US" sz="1050" dirty="0"/>
          </a:p>
        </p:txBody>
      </p:sp>
      <p:sp>
        <p:nvSpPr>
          <p:cNvPr id="12" name="Shape 8"/>
          <p:cNvSpPr/>
          <p:nvPr/>
        </p:nvSpPr>
        <p:spPr>
          <a:xfrm>
            <a:off x="6400800" y="3977640"/>
            <a:ext cx="5148072" cy="1097280"/>
          </a:xfrm>
          <a:prstGeom prst="rect">
            <a:avLst/>
          </a:prstGeom>
          <a:solidFill>
            <a:srgbClr val="E8EEF7"/>
          </a:solidFill>
          <a:ln w="9525">
            <a:solidFill>
              <a:srgbClr val="D9E0EA"/>
            </a:solidFill>
            <a:prstDash val="solid"/>
          </a:ln>
        </p:spPr>
      </p:sp>
      <p:sp>
        <p:nvSpPr>
          <p:cNvPr id="13" name="Text 9"/>
          <p:cNvSpPr txBox="1"/>
          <p:nvPr/>
        </p:nvSpPr>
        <p:spPr>
          <a:xfrm>
            <a:off x="6583680" y="4114800"/>
            <a:ext cx="4846320" cy="822960"/>
          </a:xfrm>
          <a:prstGeom prst="rect">
            <a:avLst/>
          </a:prstGeom>
          <a:noFill/>
          <a:ln/>
        </p:spPr>
        <p:txBody>
          <a:bodyPr wrap="square" lIns="0" tIns="0" rIns="0" bIns="0" rtlCol="0" anchor="ctr"/>
          <a:lstStyle/>
          <a:p>
            <a:pPr algn="l" indent="0" marL="0">
              <a:lnSpc>
                <a:spcPct val="115000"/>
              </a:lnSpc>
              <a:buNone/>
            </a:pPr>
            <a:r>
              <a:rPr lang="en-US" sz="1400" dirty="0">
                <a:solidFill>
                  <a:srgbClr val="0D1219"/>
                </a:solidFill>
                <a:latin typeface="Arial" pitchFamily="34" charset="0"/>
                <a:ea typeface="Arial" pitchFamily="34" charset="-122"/>
                <a:cs typeface="Arial" pitchFamily="34" charset="-120"/>
              </a:rPr>
              <a:t>Ask for the plan. Argue with the plan. Then let it build.</a:t>
            </a:r>
            <a:endParaRPr lang="en-US" sz="1400" dirty="0"/>
          </a:p>
        </p:txBody>
      </p:sp>
      <p:sp>
        <p:nvSpPr>
          <p:cNvPr id="14" name="Shape 10"/>
          <p:cNvSpPr/>
          <p:nvPr/>
        </p:nvSpPr>
        <p:spPr>
          <a:xfrm>
            <a:off x="640080" y="5806440"/>
            <a:ext cx="256032" cy="256032"/>
          </a:xfrm>
          <a:prstGeom prst="rect">
            <a:avLst/>
          </a:prstGeom>
          <a:solidFill>
            <a:srgbClr val="22C55E"/>
          </a:solidFill>
          <a:ln w="12700">
            <a:solidFill>
              <a:srgbClr val="22C55E"/>
            </a:solidFill>
            <a:prstDash val="solid"/>
          </a:ln>
        </p:spPr>
      </p:sp>
      <p:sp>
        <p:nvSpPr>
          <p:cNvPr id="15" name="Text 11"/>
          <p:cNvSpPr/>
          <p:nvPr/>
        </p:nvSpPr>
        <p:spPr>
          <a:xfrm>
            <a:off x="987552" y="5806440"/>
            <a:ext cx="237744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Green sticky = done</a:t>
            </a:r>
            <a:endParaRPr lang="en-US" sz="1100" dirty="0"/>
          </a:p>
        </p:txBody>
      </p:sp>
      <p:sp>
        <p:nvSpPr>
          <p:cNvPr id="16" name="Shape 12"/>
          <p:cNvSpPr/>
          <p:nvPr/>
        </p:nvSpPr>
        <p:spPr>
          <a:xfrm>
            <a:off x="3474720" y="5806440"/>
            <a:ext cx="256032" cy="256032"/>
          </a:xfrm>
          <a:prstGeom prst="rect">
            <a:avLst/>
          </a:prstGeom>
          <a:solidFill>
            <a:srgbClr val="EF4444"/>
          </a:solidFill>
          <a:ln w="12700">
            <a:solidFill>
              <a:srgbClr val="EF4444"/>
            </a:solidFill>
            <a:prstDash val="solid"/>
          </a:ln>
        </p:spPr>
      </p:sp>
      <p:sp>
        <p:nvSpPr>
          <p:cNvPr id="17" name="Text 13"/>
          <p:cNvSpPr/>
          <p:nvPr/>
        </p:nvSpPr>
        <p:spPr>
          <a:xfrm>
            <a:off x="3822192" y="5806440"/>
            <a:ext cx="411480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Red sticky = a helper comes to you</a:t>
            </a:r>
            <a:endParaRPr lang="en-US" sz="1100" dirty="0"/>
          </a:p>
        </p:txBody>
      </p:sp>
      <p:sp>
        <p:nvSpPr>
          <p:cNvPr id="18" name="Shape 14"/>
          <p:cNvSpPr/>
          <p:nvPr/>
        </p:nvSpPr>
        <p:spPr>
          <a:xfrm>
            <a:off x="3223260" y="6291072"/>
            <a:ext cx="896112" cy="274320"/>
          </a:xfrm>
          <a:prstGeom prst="roundRect">
            <a:avLst>
              <a:gd name="adj" fmla="val 20000"/>
            </a:avLst>
          </a:prstGeom>
          <a:solidFill>
            <a:srgbClr val="EF8B39"/>
          </a:solidFill>
          <a:ln w="6350">
            <a:solidFill>
              <a:srgbClr val="EF8B39"/>
            </a:solidFill>
            <a:prstDash val="solid"/>
          </a:ln>
        </p:spPr>
      </p:sp>
      <p:sp>
        <p:nvSpPr>
          <p:cNvPr id="19" name="Text 15"/>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SPEC</a:t>
            </a:r>
            <a:endParaRPr lang="en-US" sz="800" dirty="0"/>
          </a:p>
        </p:txBody>
      </p:sp>
      <p:sp>
        <p:nvSpPr>
          <p:cNvPr id="20" name="Shape 16"/>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21" name="Text 17"/>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22" name="Shape 18"/>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23" name="Text 19"/>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24" name="Shape 20"/>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25" name="Text 21"/>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26" name="Shape 22"/>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27" name="Text 23"/>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28" name="Shape 24"/>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29" name="Text 25"/>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17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4  ·  FIRST SHIP  ·  25 MIN  ·  HANDS-ON</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1:00 – 1:25</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500" b="1" dirty="0">
                <a:solidFill>
                  <a:srgbClr val="0D1219"/>
                </a:solidFill>
                <a:latin typeface="Arial" pitchFamily="34" charset="0"/>
                <a:ea typeface="Arial" pitchFamily="34" charset="-122"/>
                <a:cs typeface="Arial" pitchFamily="34" charset="-120"/>
              </a:rPr>
              <a:t>GitHub in four words. You will never type a git command today.</a:t>
            </a:r>
            <a:endParaRPr lang="en-US" sz="2500" dirty="0"/>
          </a:p>
        </p:txBody>
      </p:sp>
      <p:sp>
        <p:nvSpPr>
          <p:cNvPr id="8" name="Shape 4"/>
          <p:cNvSpPr/>
          <p:nvPr/>
        </p:nvSpPr>
        <p:spPr>
          <a:xfrm>
            <a:off x="640080" y="1783080"/>
            <a:ext cx="5349240" cy="1508760"/>
          </a:xfrm>
          <a:prstGeom prst="rect">
            <a:avLst/>
          </a:prstGeom>
          <a:solidFill>
            <a:srgbClr val="F3F6FB"/>
          </a:solidFill>
          <a:ln w="9525">
            <a:solidFill>
              <a:srgbClr val="D9E0EA"/>
            </a:solidFill>
            <a:prstDash val="solid"/>
          </a:ln>
        </p:spPr>
      </p:sp>
      <p:sp>
        <p:nvSpPr>
          <p:cNvPr id="9" name="Shape 5"/>
          <p:cNvSpPr/>
          <p:nvPr/>
        </p:nvSpPr>
        <p:spPr>
          <a:xfrm>
            <a:off x="640080" y="1783080"/>
            <a:ext cx="54864" cy="1508760"/>
          </a:xfrm>
          <a:prstGeom prst="rect">
            <a:avLst/>
          </a:prstGeom>
          <a:solidFill>
            <a:srgbClr val="307FE2"/>
          </a:solidFill>
          <a:ln w="12700">
            <a:solidFill>
              <a:srgbClr val="307FE2"/>
            </a:solidFill>
            <a:prstDash val="solid"/>
          </a:ln>
        </p:spPr>
      </p:sp>
      <p:sp>
        <p:nvSpPr>
          <p:cNvPr id="10" name="Text 6"/>
          <p:cNvSpPr txBox="1"/>
          <p:nvPr/>
        </p:nvSpPr>
        <p:spPr>
          <a:xfrm>
            <a:off x="868680" y="1947672"/>
            <a:ext cx="4937760" cy="365760"/>
          </a:xfrm>
          <a:prstGeom prst="rect">
            <a:avLst/>
          </a:prstGeom>
          <a:noFill/>
          <a:ln/>
        </p:spPr>
        <p:txBody>
          <a:bodyPr wrap="square" lIns="0" tIns="0" rIns="0" bIns="0" rtlCol="0" anchor="t"/>
          <a:lstStyle/>
          <a:p>
            <a:pPr indent="0" marL="0">
              <a:buNone/>
            </a:pPr>
            <a:r>
              <a:rPr lang="en-US" sz="1600" b="1" dirty="0">
                <a:solidFill>
                  <a:srgbClr val="0D1219"/>
                </a:solidFill>
                <a:latin typeface="Arial" pitchFamily="34" charset="0"/>
                <a:ea typeface="Arial" pitchFamily="34" charset="-122"/>
                <a:cs typeface="Arial" pitchFamily="34" charset="-120"/>
              </a:rPr>
              <a:t>Repository</a:t>
            </a:r>
            <a:endParaRPr lang="en-US" sz="1600" dirty="0"/>
          </a:p>
        </p:txBody>
      </p:sp>
      <p:sp>
        <p:nvSpPr>
          <p:cNvPr id="11" name="Text 7"/>
          <p:cNvSpPr txBox="1"/>
          <p:nvPr/>
        </p:nvSpPr>
        <p:spPr>
          <a:xfrm>
            <a:off x="868680" y="2350008"/>
            <a:ext cx="4937760" cy="868680"/>
          </a:xfrm>
          <a:prstGeom prst="rect">
            <a:avLst/>
          </a:prstGeom>
          <a:noFill/>
          <a:ln/>
        </p:spPr>
        <p:txBody>
          <a:bodyPr wrap="square" lIns="0" tIns="0" rIns="0" bIns="0" rtlCol="0" anchor="t"/>
          <a:lstStyle/>
          <a:p>
            <a:pPr algn="l" indent="0" marL="0">
              <a:lnSpc>
                <a:spcPct val="115000"/>
              </a:lnSpc>
              <a:buNone/>
            </a:pPr>
            <a:r>
              <a:rPr lang="en-US" sz="1150" dirty="0">
                <a:solidFill>
                  <a:srgbClr val="5B6675"/>
                </a:solidFill>
                <a:latin typeface="Arial" pitchFamily="34" charset="0"/>
                <a:ea typeface="Arial" pitchFamily="34" charset="-122"/>
                <a:cs typeface="Arial" pitchFamily="34" charset="-120"/>
              </a:rPr>
              <a:t>The folder and its entire history. It lives in your account. Delete Claude tomorrow and it is still yours.</a:t>
            </a:r>
            <a:endParaRPr lang="en-US" sz="1150" dirty="0"/>
          </a:p>
        </p:txBody>
      </p:sp>
      <p:sp>
        <p:nvSpPr>
          <p:cNvPr id="12" name="Shape 8"/>
          <p:cNvSpPr/>
          <p:nvPr/>
        </p:nvSpPr>
        <p:spPr>
          <a:xfrm>
            <a:off x="6172200" y="1783080"/>
            <a:ext cx="5349240" cy="1508760"/>
          </a:xfrm>
          <a:prstGeom prst="rect">
            <a:avLst/>
          </a:prstGeom>
          <a:solidFill>
            <a:srgbClr val="F3F6FB"/>
          </a:solidFill>
          <a:ln w="9525">
            <a:solidFill>
              <a:srgbClr val="D9E0EA"/>
            </a:solidFill>
            <a:prstDash val="solid"/>
          </a:ln>
        </p:spPr>
      </p:sp>
      <p:sp>
        <p:nvSpPr>
          <p:cNvPr id="13" name="Shape 9"/>
          <p:cNvSpPr/>
          <p:nvPr/>
        </p:nvSpPr>
        <p:spPr>
          <a:xfrm>
            <a:off x="6172200" y="1783080"/>
            <a:ext cx="54864" cy="1508760"/>
          </a:xfrm>
          <a:prstGeom prst="rect">
            <a:avLst/>
          </a:prstGeom>
          <a:solidFill>
            <a:srgbClr val="307FE2"/>
          </a:solidFill>
          <a:ln w="12700">
            <a:solidFill>
              <a:srgbClr val="307FE2"/>
            </a:solidFill>
            <a:prstDash val="solid"/>
          </a:ln>
        </p:spPr>
      </p:sp>
      <p:sp>
        <p:nvSpPr>
          <p:cNvPr id="14" name="Text 10"/>
          <p:cNvSpPr txBox="1"/>
          <p:nvPr/>
        </p:nvSpPr>
        <p:spPr>
          <a:xfrm>
            <a:off x="6400800" y="1947672"/>
            <a:ext cx="4937760" cy="365760"/>
          </a:xfrm>
          <a:prstGeom prst="rect">
            <a:avLst/>
          </a:prstGeom>
          <a:noFill/>
          <a:ln/>
        </p:spPr>
        <p:txBody>
          <a:bodyPr wrap="square" lIns="0" tIns="0" rIns="0" bIns="0" rtlCol="0" anchor="t"/>
          <a:lstStyle/>
          <a:p>
            <a:pPr indent="0" marL="0">
              <a:buNone/>
            </a:pPr>
            <a:r>
              <a:rPr lang="en-US" sz="1600" b="1" dirty="0">
                <a:solidFill>
                  <a:srgbClr val="0D1219"/>
                </a:solidFill>
                <a:latin typeface="Arial" pitchFamily="34" charset="0"/>
                <a:ea typeface="Arial" pitchFamily="34" charset="-122"/>
                <a:cs typeface="Arial" pitchFamily="34" charset="-120"/>
              </a:rPr>
              <a:t>Branch</a:t>
            </a:r>
            <a:endParaRPr lang="en-US" sz="1600" dirty="0"/>
          </a:p>
        </p:txBody>
      </p:sp>
      <p:sp>
        <p:nvSpPr>
          <p:cNvPr id="15" name="Text 11"/>
          <p:cNvSpPr txBox="1"/>
          <p:nvPr/>
        </p:nvSpPr>
        <p:spPr>
          <a:xfrm>
            <a:off x="6400800" y="2350008"/>
            <a:ext cx="4937760" cy="868680"/>
          </a:xfrm>
          <a:prstGeom prst="rect">
            <a:avLst/>
          </a:prstGeom>
          <a:noFill/>
          <a:ln/>
        </p:spPr>
        <p:txBody>
          <a:bodyPr wrap="square" lIns="0" tIns="0" rIns="0" bIns="0" rtlCol="0" anchor="t"/>
          <a:lstStyle/>
          <a:p>
            <a:pPr algn="l" indent="0" marL="0">
              <a:lnSpc>
                <a:spcPct val="115000"/>
              </a:lnSpc>
              <a:buNone/>
            </a:pPr>
            <a:r>
              <a:rPr lang="en-US" sz="1150" dirty="0">
                <a:solidFill>
                  <a:srgbClr val="5B6675"/>
                </a:solidFill>
                <a:latin typeface="Arial" pitchFamily="34" charset="0"/>
                <a:ea typeface="Arial" pitchFamily="34" charset="-122"/>
                <a:cs typeface="Arial" pitchFamily="34" charset="-120"/>
              </a:rPr>
              <a:t>A photocopy you can scribble on. The live site never sees it until you say so.</a:t>
            </a:r>
            <a:endParaRPr lang="en-US" sz="1150" dirty="0"/>
          </a:p>
        </p:txBody>
      </p:sp>
      <p:sp>
        <p:nvSpPr>
          <p:cNvPr id="16" name="Shape 12"/>
          <p:cNvSpPr/>
          <p:nvPr/>
        </p:nvSpPr>
        <p:spPr>
          <a:xfrm>
            <a:off x="640080" y="3474720"/>
            <a:ext cx="5349240" cy="1508760"/>
          </a:xfrm>
          <a:prstGeom prst="rect">
            <a:avLst/>
          </a:prstGeom>
          <a:solidFill>
            <a:srgbClr val="F3F6FB"/>
          </a:solidFill>
          <a:ln w="9525">
            <a:solidFill>
              <a:srgbClr val="D9E0EA"/>
            </a:solidFill>
            <a:prstDash val="solid"/>
          </a:ln>
        </p:spPr>
      </p:sp>
      <p:sp>
        <p:nvSpPr>
          <p:cNvPr id="17" name="Shape 13"/>
          <p:cNvSpPr/>
          <p:nvPr/>
        </p:nvSpPr>
        <p:spPr>
          <a:xfrm>
            <a:off x="640080" y="3474720"/>
            <a:ext cx="54864" cy="1508760"/>
          </a:xfrm>
          <a:prstGeom prst="rect">
            <a:avLst/>
          </a:prstGeom>
          <a:solidFill>
            <a:srgbClr val="307FE2"/>
          </a:solidFill>
          <a:ln w="12700">
            <a:solidFill>
              <a:srgbClr val="307FE2"/>
            </a:solidFill>
            <a:prstDash val="solid"/>
          </a:ln>
        </p:spPr>
      </p:sp>
      <p:sp>
        <p:nvSpPr>
          <p:cNvPr id="18" name="Text 14"/>
          <p:cNvSpPr txBox="1"/>
          <p:nvPr/>
        </p:nvSpPr>
        <p:spPr>
          <a:xfrm>
            <a:off x="868680" y="3639312"/>
            <a:ext cx="4937760" cy="365760"/>
          </a:xfrm>
          <a:prstGeom prst="rect">
            <a:avLst/>
          </a:prstGeom>
          <a:noFill/>
          <a:ln/>
        </p:spPr>
        <p:txBody>
          <a:bodyPr wrap="square" lIns="0" tIns="0" rIns="0" bIns="0" rtlCol="0" anchor="t"/>
          <a:lstStyle/>
          <a:p>
            <a:pPr indent="0" marL="0">
              <a:buNone/>
            </a:pPr>
            <a:r>
              <a:rPr lang="en-US" sz="1600" b="1" dirty="0">
                <a:solidFill>
                  <a:srgbClr val="0D1219"/>
                </a:solidFill>
                <a:latin typeface="Arial" pitchFamily="34" charset="0"/>
                <a:ea typeface="Arial" pitchFamily="34" charset="-122"/>
                <a:cs typeface="Arial" pitchFamily="34" charset="-120"/>
              </a:rPr>
              <a:t>Commit</a:t>
            </a:r>
            <a:endParaRPr lang="en-US" sz="1600" dirty="0"/>
          </a:p>
        </p:txBody>
      </p:sp>
      <p:sp>
        <p:nvSpPr>
          <p:cNvPr id="19" name="Text 15"/>
          <p:cNvSpPr txBox="1"/>
          <p:nvPr/>
        </p:nvSpPr>
        <p:spPr>
          <a:xfrm>
            <a:off x="868680" y="4041648"/>
            <a:ext cx="4937760" cy="868680"/>
          </a:xfrm>
          <a:prstGeom prst="rect">
            <a:avLst/>
          </a:prstGeom>
          <a:noFill/>
          <a:ln/>
        </p:spPr>
        <p:txBody>
          <a:bodyPr wrap="square" lIns="0" tIns="0" rIns="0" bIns="0" rtlCol="0" anchor="t"/>
          <a:lstStyle/>
          <a:p>
            <a:pPr algn="l" indent="0" marL="0">
              <a:lnSpc>
                <a:spcPct val="115000"/>
              </a:lnSpc>
              <a:buNone/>
            </a:pPr>
            <a:r>
              <a:rPr lang="en-US" sz="1150" dirty="0">
                <a:solidFill>
                  <a:srgbClr val="5B6675"/>
                </a:solidFill>
                <a:latin typeface="Arial" pitchFamily="34" charset="0"/>
                <a:ea typeface="Arial" pitchFamily="34" charset="-122"/>
                <a:cs typeface="Arial" pitchFamily="34" charset="-120"/>
              </a:rPr>
              <a:t>A saved snapshot with a note: what changed and why. Undo to any of them.</a:t>
            </a:r>
            <a:endParaRPr lang="en-US" sz="1150" dirty="0"/>
          </a:p>
        </p:txBody>
      </p:sp>
      <p:sp>
        <p:nvSpPr>
          <p:cNvPr id="20" name="Shape 16"/>
          <p:cNvSpPr/>
          <p:nvPr/>
        </p:nvSpPr>
        <p:spPr>
          <a:xfrm>
            <a:off x="6172200" y="3474720"/>
            <a:ext cx="5349240" cy="1508760"/>
          </a:xfrm>
          <a:prstGeom prst="rect">
            <a:avLst/>
          </a:prstGeom>
          <a:solidFill>
            <a:srgbClr val="F3F6FB"/>
          </a:solidFill>
          <a:ln w="9525">
            <a:solidFill>
              <a:srgbClr val="D9E0EA"/>
            </a:solidFill>
            <a:prstDash val="solid"/>
          </a:ln>
        </p:spPr>
      </p:sp>
      <p:sp>
        <p:nvSpPr>
          <p:cNvPr id="21" name="Shape 17"/>
          <p:cNvSpPr/>
          <p:nvPr/>
        </p:nvSpPr>
        <p:spPr>
          <a:xfrm>
            <a:off x="6172200" y="3474720"/>
            <a:ext cx="54864" cy="1508760"/>
          </a:xfrm>
          <a:prstGeom prst="rect">
            <a:avLst/>
          </a:prstGeom>
          <a:solidFill>
            <a:srgbClr val="307FE2"/>
          </a:solidFill>
          <a:ln w="12700">
            <a:solidFill>
              <a:srgbClr val="307FE2"/>
            </a:solidFill>
            <a:prstDash val="solid"/>
          </a:ln>
        </p:spPr>
      </p:sp>
      <p:sp>
        <p:nvSpPr>
          <p:cNvPr id="22" name="Text 18"/>
          <p:cNvSpPr txBox="1"/>
          <p:nvPr/>
        </p:nvSpPr>
        <p:spPr>
          <a:xfrm>
            <a:off x="6400800" y="3639312"/>
            <a:ext cx="4937760" cy="365760"/>
          </a:xfrm>
          <a:prstGeom prst="rect">
            <a:avLst/>
          </a:prstGeom>
          <a:noFill/>
          <a:ln/>
        </p:spPr>
        <p:txBody>
          <a:bodyPr wrap="square" lIns="0" tIns="0" rIns="0" bIns="0" rtlCol="0" anchor="t"/>
          <a:lstStyle/>
          <a:p>
            <a:pPr indent="0" marL="0">
              <a:buNone/>
            </a:pPr>
            <a:r>
              <a:rPr lang="en-US" sz="1600" b="1" dirty="0">
                <a:solidFill>
                  <a:srgbClr val="0D1219"/>
                </a:solidFill>
                <a:latin typeface="Arial" pitchFamily="34" charset="0"/>
                <a:ea typeface="Arial" pitchFamily="34" charset="-122"/>
                <a:cs typeface="Arial" pitchFamily="34" charset="-120"/>
              </a:rPr>
              <a:t>Pull request</a:t>
            </a:r>
            <a:endParaRPr lang="en-US" sz="1600" dirty="0"/>
          </a:p>
        </p:txBody>
      </p:sp>
      <p:sp>
        <p:nvSpPr>
          <p:cNvPr id="23" name="Text 19"/>
          <p:cNvSpPr txBox="1"/>
          <p:nvPr/>
        </p:nvSpPr>
        <p:spPr>
          <a:xfrm>
            <a:off x="6400800" y="4041648"/>
            <a:ext cx="4937760" cy="868680"/>
          </a:xfrm>
          <a:prstGeom prst="rect">
            <a:avLst/>
          </a:prstGeom>
          <a:noFill/>
          <a:ln/>
        </p:spPr>
        <p:txBody>
          <a:bodyPr wrap="square" lIns="0" tIns="0" rIns="0" bIns="0" rtlCol="0" anchor="t"/>
          <a:lstStyle/>
          <a:p>
            <a:pPr algn="l" indent="0" marL="0">
              <a:lnSpc>
                <a:spcPct val="115000"/>
              </a:lnSpc>
              <a:buNone/>
            </a:pPr>
            <a:r>
              <a:rPr lang="en-US" sz="1150" dirty="0">
                <a:solidFill>
                  <a:srgbClr val="5B6675"/>
                </a:solidFill>
                <a:latin typeface="Arial" pitchFamily="34" charset="0"/>
                <a:ea typeface="Arial" pitchFamily="34" charset="-122"/>
                <a:cs typeface="Arial" pitchFamily="34" charset="-120"/>
              </a:rPr>
              <a:t>Asking to merge the photocopy back. It gets a preview URL and a check before anything goes live.</a:t>
            </a:r>
            <a:endParaRPr lang="en-US" sz="1150" dirty="0"/>
          </a:p>
        </p:txBody>
      </p:sp>
      <p:sp>
        <p:nvSpPr>
          <p:cNvPr id="24" name="Text 20"/>
          <p:cNvSpPr txBox="1"/>
          <p:nvPr/>
        </p:nvSpPr>
        <p:spPr>
          <a:xfrm>
            <a:off x="640080" y="5212080"/>
            <a:ext cx="10908792" cy="365760"/>
          </a:xfrm>
          <a:prstGeom prst="rect">
            <a:avLst/>
          </a:prstGeom>
          <a:noFill/>
          <a:ln/>
        </p:spPr>
        <p:txBody>
          <a:bodyPr wrap="square" lIns="0" tIns="0" rIns="0" bIns="0" rtlCol="0" anchor="t"/>
          <a:lstStyle/>
          <a:p>
            <a:pPr algn="l" indent="0" marL="0">
              <a:lnSpc>
                <a:spcPct val="115000"/>
              </a:lnSpc>
              <a:buNone/>
            </a:pPr>
            <a:r>
              <a:rPr lang="en-US" sz="1100" dirty="0">
                <a:solidFill>
                  <a:srgbClr val="7B8594"/>
                </a:solidFill>
                <a:latin typeface="Courier New" pitchFamily="34" charset="0"/>
                <a:ea typeface="Courier New" pitchFamily="34" charset="-122"/>
                <a:cs typeface="Courier New" pitchFamily="34" charset="-120"/>
              </a:rPr>
              <a:t>GitHub Free: $0. Unlimited private repositories. 2,000 minutes a month of the test runner we set up at 2:20.</a:t>
            </a:r>
            <a:endParaRPr lang="en-US" sz="1100" dirty="0"/>
          </a:p>
        </p:txBody>
      </p:sp>
      <p:sp>
        <p:nvSpPr>
          <p:cNvPr id="25" name="Shape 21"/>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26" name="Text 22"/>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7" name="Shape 23"/>
          <p:cNvSpPr/>
          <p:nvPr/>
        </p:nvSpPr>
        <p:spPr>
          <a:xfrm>
            <a:off x="4192524" y="6291072"/>
            <a:ext cx="896112" cy="274320"/>
          </a:xfrm>
          <a:prstGeom prst="roundRect">
            <a:avLst>
              <a:gd name="adj" fmla="val 20000"/>
            </a:avLst>
          </a:prstGeom>
          <a:solidFill>
            <a:srgbClr val="EF8B39"/>
          </a:solidFill>
          <a:ln w="6350">
            <a:solidFill>
              <a:srgbClr val="EF8B39"/>
            </a:solidFill>
            <a:prstDash val="solid"/>
          </a:ln>
        </p:spPr>
      </p:sp>
      <p:sp>
        <p:nvSpPr>
          <p:cNvPr id="28" name="Text 24"/>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BUILD</a:t>
            </a:r>
            <a:endParaRPr lang="en-US" sz="800" dirty="0"/>
          </a:p>
        </p:txBody>
      </p:sp>
      <p:sp>
        <p:nvSpPr>
          <p:cNvPr id="29" name="Shape 25"/>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30" name="Text 26"/>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31" name="Shape 27"/>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32" name="Text 28"/>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33" name="Shape 29"/>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34" name="Text 30"/>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35" name="Shape 31"/>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36" name="Text 32"/>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18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4  ·  FIRST SHIP  ·  25 MIN  ·  HANDS-ON</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1:00 – 1:25</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700" b="1" dirty="0">
                <a:solidFill>
                  <a:srgbClr val="0D1219"/>
                </a:solidFill>
                <a:latin typeface="Arial" pitchFamily="34" charset="0"/>
                <a:ea typeface="Arial" pitchFamily="34" charset="-122"/>
                <a:cs typeface="Arial" pitchFamily="34" charset="-120"/>
              </a:rPr>
              <a:t>Every push gets a URL. Only main gets the domain.</a:t>
            </a:r>
            <a:endParaRPr lang="en-US" sz="2700" dirty="0"/>
          </a:p>
        </p:txBody>
      </p:sp>
      <p:sp>
        <p:nvSpPr>
          <p:cNvPr id="8" name="Shape 4"/>
          <p:cNvSpPr/>
          <p:nvPr/>
        </p:nvSpPr>
        <p:spPr>
          <a:xfrm>
            <a:off x="640080" y="2331720"/>
            <a:ext cx="1920240" cy="868680"/>
          </a:xfrm>
          <a:prstGeom prst="roundRect">
            <a:avLst>
              <a:gd name="adj" fmla="val 10526"/>
            </a:avLst>
          </a:prstGeom>
          <a:solidFill>
            <a:srgbClr val="E8EEF7"/>
          </a:solidFill>
          <a:ln w="12700">
            <a:solidFill>
              <a:srgbClr val="D9E0EA"/>
            </a:solidFill>
            <a:prstDash val="solid"/>
          </a:ln>
        </p:spPr>
      </p:sp>
      <p:sp>
        <p:nvSpPr>
          <p:cNvPr id="9" name="Text 5"/>
          <p:cNvSpPr/>
          <p:nvPr/>
        </p:nvSpPr>
        <p:spPr>
          <a:xfrm>
            <a:off x="640080" y="2331720"/>
            <a:ext cx="1920240" cy="868680"/>
          </a:xfrm>
          <a:prstGeom prst="rect">
            <a:avLst/>
          </a:prstGeom>
          <a:noFill/>
          <a:ln/>
        </p:spPr>
        <p:txBody>
          <a:bodyPr wrap="square" lIns="0" tIns="0" rIns="0" bIns="0" rtlCol="0" anchor="ctr"/>
          <a:lstStyle/>
          <a:p>
            <a:pPr algn="ctr" indent="0" marL="0">
              <a:buNone/>
            </a:pPr>
            <a:r>
              <a:rPr lang="en-US" sz="1500" b="1" dirty="0">
                <a:solidFill>
                  <a:srgbClr val="0D1219"/>
                </a:solidFill>
                <a:latin typeface="Arial" pitchFamily="34" charset="0"/>
                <a:ea typeface="Arial" pitchFamily="34" charset="-122"/>
                <a:cs typeface="Arial" pitchFamily="34" charset="-120"/>
              </a:rPr>
              <a:t>Branch</a:t>
            </a:r>
            <a:endParaRPr lang="en-US" sz="1500" dirty="0"/>
          </a:p>
        </p:txBody>
      </p:sp>
      <p:sp>
        <p:nvSpPr>
          <p:cNvPr id="10" name="Shape 6"/>
          <p:cNvSpPr/>
          <p:nvPr/>
        </p:nvSpPr>
        <p:spPr>
          <a:xfrm>
            <a:off x="2587752" y="2633472"/>
            <a:ext cx="256032" cy="274320"/>
          </a:xfrm>
          <a:prstGeom prst="rightArrow">
            <a:avLst/>
          </a:prstGeom>
          <a:solidFill>
            <a:srgbClr val="EF8B39"/>
          </a:solidFill>
          <a:ln w="12700">
            <a:solidFill>
              <a:srgbClr val="EF8B39"/>
            </a:solidFill>
            <a:prstDash val="solid"/>
          </a:ln>
        </p:spPr>
      </p:sp>
      <p:sp>
        <p:nvSpPr>
          <p:cNvPr id="11" name="Shape 7"/>
          <p:cNvSpPr/>
          <p:nvPr/>
        </p:nvSpPr>
        <p:spPr>
          <a:xfrm>
            <a:off x="2880360" y="2331720"/>
            <a:ext cx="1920240" cy="868680"/>
          </a:xfrm>
          <a:prstGeom prst="roundRect">
            <a:avLst>
              <a:gd name="adj" fmla="val 10526"/>
            </a:avLst>
          </a:prstGeom>
          <a:solidFill>
            <a:srgbClr val="E8EEF7"/>
          </a:solidFill>
          <a:ln w="12700">
            <a:solidFill>
              <a:srgbClr val="D9E0EA"/>
            </a:solidFill>
            <a:prstDash val="solid"/>
          </a:ln>
        </p:spPr>
      </p:sp>
      <p:sp>
        <p:nvSpPr>
          <p:cNvPr id="12" name="Text 8"/>
          <p:cNvSpPr/>
          <p:nvPr/>
        </p:nvSpPr>
        <p:spPr>
          <a:xfrm>
            <a:off x="2880360" y="2331720"/>
            <a:ext cx="1920240" cy="868680"/>
          </a:xfrm>
          <a:prstGeom prst="rect">
            <a:avLst/>
          </a:prstGeom>
          <a:noFill/>
          <a:ln/>
        </p:spPr>
        <p:txBody>
          <a:bodyPr wrap="square" lIns="0" tIns="0" rIns="0" bIns="0" rtlCol="0" anchor="ctr"/>
          <a:lstStyle/>
          <a:p>
            <a:pPr algn="ctr" indent="0" marL="0">
              <a:buNone/>
            </a:pPr>
            <a:r>
              <a:rPr lang="en-US" sz="1500" b="1" dirty="0">
                <a:solidFill>
                  <a:srgbClr val="0D1219"/>
                </a:solidFill>
                <a:latin typeface="Arial" pitchFamily="34" charset="0"/>
                <a:ea typeface="Arial" pitchFamily="34" charset="-122"/>
                <a:cs typeface="Arial" pitchFamily="34" charset="-120"/>
              </a:rPr>
              <a:t>Pull request</a:t>
            </a:r>
            <a:endParaRPr lang="en-US" sz="1500" dirty="0"/>
          </a:p>
        </p:txBody>
      </p:sp>
      <p:sp>
        <p:nvSpPr>
          <p:cNvPr id="13" name="Shape 9"/>
          <p:cNvSpPr/>
          <p:nvPr/>
        </p:nvSpPr>
        <p:spPr>
          <a:xfrm>
            <a:off x="4828032" y="2633472"/>
            <a:ext cx="256032" cy="274320"/>
          </a:xfrm>
          <a:prstGeom prst="rightArrow">
            <a:avLst/>
          </a:prstGeom>
          <a:solidFill>
            <a:srgbClr val="EF8B39"/>
          </a:solidFill>
          <a:ln w="12700">
            <a:solidFill>
              <a:srgbClr val="EF8B39"/>
            </a:solidFill>
            <a:prstDash val="solid"/>
          </a:ln>
        </p:spPr>
      </p:sp>
      <p:sp>
        <p:nvSpPr>
          <p:cNvPr id="14" name="Shape 10"/>
          <p:cNvSpPr/>
          <p:nvPr/>
        </p:nvSpPr>
        <p:spPr>
          <a:xfrm>
            <a:off x="5120640" y="2331720"/>
            <a:ext cx="1920240" cy="868680"/>
          </a:xfrm>
          <a:prstGeom prst="roundRect">
            <a:avLst>
              <a:gd name="adj" fmla="val 10526"/>
            </a:avLst>
          </a:prstGeom>
          <a:solidFill>
            <a:srgbClr val="E8EEF7"/>
          </a:solidFill>
          <a:ln w="12700">
            <a:solidFill>
              <a:srgbClr val="D9E0EA"/>
            </a:solidFill>
            <a:prstDash val="solid"/>
          </a:ln>
        </p:spPr>
      </p:sp>
      <p:sp>
        <p:nvSpPr>
          <p:cNvPr id="15" name="Text 11"/>
          <p:cNvSpPr/>
          <p:nvPr/>
        </p:nvSpPr>
        <p:spPr>
          <a:xfrm>
            <a:off x="5120640" y="2331720"/>
            <a:ext cx="1920240" cy="868680"/>
          </a:xfrm>
          <a:prstGeom prst="rect">
            <a:avLst/>
          </a:prstGeom>
          <a:noFill/>
          <a:ln/>
        </p:spPr>
        <p:txBody>
          <a:bodyPr wrap="square" lIns="0" tIns="0" rIns="0" bIns="0" rtlCol="0" anchor="ctr"/>
          <a:lstStyle/>
          <a:p>
            <a:pPr algn="ctr" indent="0" marL="0">
              <a:buNone/>
            </a:pPr>
            <a:r>
              <a:rPr lang="en-US" sz="1500" b="1" dirty="0">
                <a:solidFill>
                  <a:srgbClr val="0D1219"/>
                </a:solidFill>
                <a:latin typeface="Arial" pitchFamily="34" charset="0"/>
                <a:ea typeface="Arial" pitchFamily="34" charset="-122"/>
                <a:cs typeface="Arial" pitchFamily="34" charset="-120"/>
              </a:rPr>
              <a:t>Preview URL</a:t>
            </a:r>
            <a:endParaRPr lang="en-US" sz="1500" dirty="0"/>
          </a:p>
        </p:txBody>
      </p:sp>
      <p:sp>
        <p:nvSpPr>
          <p:cNvPr id="16" name="Shape 12"/>
          <p:cNvSpPr/>
          <p:nvPr/>
        </p:nvSpPr>
        <p:spPr>
          <a:xfrm>
            <a:off x="7068312" y="2633472"/>
            <a:ext cx="256032" cy="274320"/>
          </a:xfrm>
          <a:prstGeom prst="rightArrow">
            <a:avLst/>
          </a:prstGeom>
          <a:solidFill>
            <a:srgbClr val="EF8B39"/>
          </a:solidFill>
          <a:ln w="12700">
            <a:solidFill>
              <a:srgbClr val="EF8B39"/>
            </a:solidFill>
            <a:prstDash val="solid"/>
          </a:ln>
        </p:spPr>
      </p:sp>
      <p:sp>
        <p:nvSpPr>
          <p:cNvPr id="17" name="Shape 13"/>
          <p:cNvSpPr/>
          <p:nvPr/>
        </p:nvSpPr>
        <p:spPr>
          <a:xfrm>
            <a:off x="7360920" y="2331720"/>
            <a:ext cx="1920240" cy="868680"/>
          </a:xfrm>
          <a:prstGeom prst="roundRect">
            <a:avLst>
              <a:gd name="adj" fmla="val 10526"/>
            </a:avLst>
          </a:prstGeom>
          <a:solidFill>
            <a:srgbClr val="E8EEF7"/>
          </a:solidFill>
          <a:ln w="12700">
            <a:solidFill>
              <a:srgbClr val="D9E0EA"/>
            </a:solidFill>
            <a:prstDash val="solid"/>
          </a:ln>
        </p:spPr>
      </p:sp>
      <p:sp>
        <p:nvSpPr>
          <p:cNvPr id="18" name="Text 14"/>
          <p:cNvSpPr/>
          <p:nvPr/>
        </p:nvSpPr>
        <p:spPr>
          <a:xfrm>
            <a:off x="7360920" y="2331720"/>
            <a:ext cx="1920240" cy="868680"/>
          </a:xfrm>
          <a:prstGeom prst="rect">
            <a:avLst/>
          </a:prstGeom>
          <a:noFill/>
          <a:ln/>
        </p:spPr>
        <p:txBody>
          <a:bodyPr wrap="square" lIns="0" tIns="0" rIns="0" bIns="0" rtlCol="0" anchor="ctr"/>
          <a:lstStyle/>
          <a:p>
            <a:pPr algn="ctr" indent="0" marL="0">
              <a:buNone/>
            </a:pPr>
            <a:r>
              <a:rPr lang="en-US" sz="1500" b="1" dirty="0">
                <a:solidFill>
                  <a:srgbClr val="0D1219"/>
                </a:solidFill>
                <a:latin typeface="Arial" pitchFamily="34" charset="0"/>
                <a:ea typeface="Arial" pitchFamily="34" charset="-122"/>
                <a:cs typeface="Arial" pitchFamily="34" charset="-120"/>
              </a:rPr>
              <a:t>Merge</a:t>
            </a:r>
            <a:endParaRPr lang="en-US" sz="1500" dirty="0"/>
          </a:p>
        </p:txBody>
      </p:sp>
      <p:sp>
        <p:nvSpPr>
          <p:cNvPr id="19" name="Shape 15"/>
          <p:cNvSpPr/>
          <p:nvPr/>
        </p:nvSpPr>
        <p:spPr>
          <a:xfrm>
            <a:off x="9308592" y="2633472"/>
            <a:ext cx="256032" cy="274320"/>
          </a:xfrm>
          <a:prstGeom prst="rightArrow">
            <a:avLst/>
          </a:prstGeom>
          <a:solidFill>
            <a:srgbClr val="EF8B39"/>
          </a:solidFill>
          <a:ln w="12700">
            <a:solidFill>
              <a:srgbClr val="EF8B39"/>
            </a:solidFill>
            <a:prstDash val="solid"/>
          </a:ln>
        </p:spPr>
      </p:sp>
      <p:sp>
        <p:nvSpPr>
          <p:cNvPr id="20" name="Shape 16"/>
          <p:cNvSpPr/>
          <p:nvPr/>
        </p:nvSpPr>
        <p:spPr>
          <a:xfrm>
            <a:off x="9601200" y="2331720"/>
            <a:ext cx="1920240" cy="868680"/>
          </a:xfrm>
          <a:prstGeom prst="roundRect">
            <a:avLst>
              <a:gd name="adj" fmla="val 10526"/>
            </a:avLst>
          </a:prstGeom>
          <a:solidFill>
            <a:srgbClr val="EF8B39"/>
          </a:solidFill>
          <a:ln w="12700">
            <a:solidFill>
              <a:srgbClr val="EF8B39"/>
            </a:solidFill>
            <a:prstDash val="solid"/>
          </a:ln>
        </p:spPr>
      </p:sp>
      <p:sp>
        <p:nvSpPr>
          <p:cNvPr id="21" name="Text 17"/>
          <p:cNvSpPr/>
          <p:nvPr/>
        </p:nvSpPr>
        <p:spPr>
          <a:xfrm>
            <a:off x="9601200" y="2331720"/>
            <a:ext cx="1920240" cy="8686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Live</a:t>
            </a:r>
            <a:endParaRPr lang="en-US" sz="1500" dirty="0"/>
          </a:p>
        </p:txBody>
      </p:sp>
      <p:sp>
        <p:nvSpPr>
          <p:cNvPr id="22" name="Shape 18"/>
          <p:cNvSpPr/>
          <p:nvPr/>
        </p:nvSpPr>
        <p:spPr>
          <a:xfrm>
            <a:off x="5120640" y="3657600"/>
            <a:ext cx="1920240" cy="640080"/>
          </a:xfrm>
          <a:prstGeom prst="roundRect">
            <a:avLst>
              <a:gd name="adj" fmla="val 14286"/>
            </a:avLst>
          </a:prstGeom>
          <a:solidFill>
            <a:srgbClr val="F3F6FB"/>
          </a:solidFill>
          <a:ln w="12700">
            <a:solidFill>
              <a:srgbClr val="EF4444"/>
            </a:solidFill>
            <a:prstDash val="solid"/>
          </a:ln>
        </p:spPr>
      </p:sp>
      <p:sp>
        <p:nvSpPr>
          <p:cNvPr id="23" name="Text 19"/>
          <p:cNvSpPr/>
          <p:nvPr/>
        </p:nvSpPr>
        <p:spPr>
          <a:xfrm>
            <a:off x="5120640" y="3657600"/>
            <a:ext cx="1920240" cy="640080"/>
          </a:xfrm>
          <a:prstGeom prst="rect">
            <a:avLst/>
          </a:prstGeom>
          <a:noFill/>
          <a:ln/>
        </p:spPr>
        <p:txBody>
          <a:bodyPr wrap="square" lIns="0" tIns="0" rIns="0" bIns="0" rtlCol="0" anchor="ctr"/>
          <a:lstStyle/>
          <a:p>
            <a:pPr algn="ctr" indent="0" marL="0">
              <a:buNone/>
            </a:pPr>
            <a:r>
              <a:rPr lang="en-US" sz="1300" b="1" dirty="0">
                <a:solidFill>
                  <a:srgbClr val="EF4444"/>
                </a:solidFill>
                <a:latin typeface="Arial" pitchFamily="34" charset="0"/>
                <a:ea typeface="Arial" pitchFamily="34" charset="-122"/>
                <a:cs typeface="Arial" pitchFamily="34" charset="-120"/>
              </a:rPr>
              <a:t>Rollback</a:t>
            </a:r>
            <a:endParaRPr lang="en-US" sz="1300" dirty="0"/>
          </a:p>
        </p:txBody>
      </p:sp>
      <p:sp>
        <p:nvSpPr>
          <p:cNvPr id="24" name="Text 20"/>
          <p:cNvSpPr txBox="1"/>
          <p:nvPr/>
        </p:nvSpPr>
        <p:spPr>
          <a:xfrm>
            <a:off x="7178040" y="3657600"/>
            <a:ext cx="4114800" cy="640080"/>
          </a:xfrm>
          <a:prstGeom prst="rect">
            <a:avLst/>
          </a:prstGeom>
          <a:noFill/>
          <a:ln/>
        </p:spPr>
        <p:txBody>
          <a:bodyPr wrap="square" lIns="0" tIns="0" rIns="0" bIns="0" rtlCol="0" anchor="ctr"/>
          <a:lstStyle/>
          <a:p>
            <a:pPr algn="l" indent="0" marL="0">
              <a:lnSpc>
                <a:spcPct val="115000"/>
              </a:lnSpc>
              <a:buNone/>
            </a:pPr>
            <a:r>
              <a:rPr lang="en-US" sz="1100" dirty="0">
                <a:solidFill>
                  <a:srgbClr val="5B6675"/>
                </a:solidFill>
                <a:latin typeface="Arial" pitchFamily="34" charset="0"/>
                <a:ea typeface="Arial" pitchFamily="34" charset="-122"/>
                <a:cs typeface="Arial" pitchFamily="34" charset="-120"/>
              </a:rPr>
              <a:t>← one click, in Vercel. You will do it after lunch.</a:t>
            </a:r>
            <a:endParaRPr lang="en-US" sz="1100" dirty="0"/>
          </a:p>
        </p:txBody>
      </p:sp>
      <p:sp>
        <p:nvSpPr>
          <p:cNvPr id="25" name="Shape 21"/>
          <p:cNvSpPr/>
          <p:nvPr/>
        </p:nvSpPr>
        <p:spPr>
          <a:xfrm>
            <a:off x="640080" y="4572000"/>
            <a:ext cx="10908792" cy="1005840"/>
          </a:xfrm>
          <a:prstGeom prst="rect">
            <a:avLst/>
          </a:prstGeom>
          <a:solidFill>
            <a:srgbClr val="E8EEF7"/>
          </a:solidFill>
          <a:ln w="9525">
            <a:solidFill>
              <a:srgbClr val="D9E0EA"/>
            </a:solidFill>
            <a:prstDash val="solid"/>
          </a:ln>
        </p:spPr>
      </p:sp>
      <p:sp>
        <p:nvSpPr>
          <p:cNvPr id="26" name="Text 22"/>
          <p:cNvSpPr txBox="1"/>
          <p:nvPr/>
        </p:nvSpPr>
        <p:spPr>
          <a:xfrm>
            <a:off x="868680" y="4709160"/>
            <a:ext cx="10451592" cy="731520"/>
          </a:xfrm>
          <a:prstGeom prst="rect">
            <a:avLst/>
          </a:prstGeom>
          <a:noFill/>
          <a:ln/>
        </p:spPr>
        <p:txBody>
          <a:bodyPr wrap="square" lIns="0" tIns="0" rIns="0" bIns="0" rtlCol="0" anchor="ctr"/>
          <a:lstStyle/>
          <a:p>
            <a:pPr algn="l" indent="0" marL="0">
              <a:lnSpc>
                <a:spcPct val="115000"/>
              </a:lnSpc>
              <a:buNone/>
            </a:pPr>
            <a:r>
              <a:rPr lang="en-US" sz="1250" dirty="0">
                <a:solidFill>
                  <a:srgbClr val="0D1219"/>
                </a:solidFill>
                <a:latin typeface="Arial" pitchFamily="34" charset="0"/>
                <a:ea typeface="Arial" pitchFamily="34" charset="-122"/>
                <a:cs typeface="Arial" pitchFamily="34" charset="-120"/>
              </a:rPr>
              <a:t>The preview is what you never had in a builder: a copy of the app you can hand to someone before it is real. Vercel posts it as a comment on the pull request, every push.</a:t>
            </a:r>
            <a:endParaRPr lang="en-US" sz="1250" dirty="0"/>
          </a:p>
        </p:txBody>
      </p:sp>
      <p:sp>
        <p:nvSpPr>
          <p:cNvPr id="27" name="Shape 23"/>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28" name="Text 24"/>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9" name="Shape 25"/>
          <p:cNvSpPr/>
          <p:nvPr/>
        </p:nvSpPr>
        <p:spPr>
          <a:xfrm>
            <a:off x="4192524" y="6291072"/>
            <a:ext cx="896112" cy="274320"/>
          </a:xfrm>
          <a:prstGeom prst="roundRect">
            <a:avLst>
              <a:gd name="adj" fmla="val 20000"/>
            </a:avLst>
          </a:prstGeom>
          <a:solidFill>
            <a:srgbClr val="EF8B39"/>
          </a:solidFill>
          <a:ln w="6350">
            <a:solidFill>
              <a:srgbClr val="EF8B39"/>
            </a:solidFill>
            <a:prstDash val="solid"/>
          </a:ln>
        </p:spPr>
      </p:sp>
      <p:sp>
        <p:nvSpPr>
          <p:cNvPr id="30" name="Text 26"/>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BUILD</a:t>
            </a:r>
            <a:endParaRPr lang="en-US" sz="800" dirty="0"/>
          </a:p>
        </p:txBody>
      </p:sp>
      <p:sp>
        <p:nvSpPr>
          <p:cNvPr id="31" name="Shape 27"/>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32" name="Text 28"/>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33" name="Shape 29"/>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34" name="Text 30"/>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35" name="Shape 31"/>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36" name="Text 32"/>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37" name="Shape 33"/>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38" name="Text 34"/>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19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4  ·  FIRST SHIP  ·  25 MIN  ·  HANDS-ON</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1:00 – 1:25</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700" b="1" dirty="0">
                <a:solidFill>
                  <a:srgbClr val="0D1219"/>
                </a:solidFill>
                <a:latin typeface="Arial" pitchFamily="34" charset="0"/>
                <a:ea typeface="Arial" pitchFamily="34" charset="-122"/>
                <a:cs typeface="Arial" pitchFamily="34" charset="-120"/>
              </a:rPr>
              <a:t>Ship one change to production. A small one, on purpose.</a:t>
            </a:r>
            <a:endParaRPr lang="en-US" sz="2700" dirty="0"/>
          </a:p>
        </p:txBody>
      </p:sp>
      <p:sp>
        <p:nvSpPr>
          <p:cNvPr id="8" name="Shape 4"/>
          <p:cNvSpPr/>
          <p:nvPr/>
        </p:nvSpPr>
        <p:spPr>
          <a:xfrm>
            <a:off x="640080" y="1783080"/>
            <a:ext cx="5394960" cy="1828800"/>
          </a:xfrm>
          <a:prstGeom prst="rect">
            <a:avLst/>
          </a:prstGeom>
          <a:solidFill>
            <a:srgbClr val="121B2B"/>
          </a:solidFill>
          <a:ln w="12700">
            <a:solidFill>
              <a:srgbClr val="EF8B39"/>
            </a:solidFill>
            <a:prstDash val="solid"/>
          </a:ln>
        </p:spPr>
      </p:sp>
      <p:sp>
        <p:nvSpPr>
          <p:cNvPr id="9" name="Text 5"/>
          <p:cNvSpPr/>
          <p:nvPr/>
        </p:nvSpPr>
        <p:spPr>
          <a:xfrm>
            <a:off x="822960" y="1892808"/>
            <a:ext cx="5029200" cy="228600"/>
          </a:xfrm>
          <a:prstGeom prst="rect">
            <a:avLst/>
          </a:prstGeom>
          <a:noFill/>
          <a:ln/>
        </p:spPr>
        <p:txBody>
          <a:bodyPr wrap="square" lIns="0" tIns="0" rIns="0" bIns="0" rtlCol="0" anchor="ctr"/>
          <a:lstStyle/>
          <a:p>
            <a:pPr indent="0" marL="0">
              <a:buNone/>
            </a:pPr>
            <a:r>
              <a:rPr lang="en-US" sz="800" b="1" spc="150" kern="0" dirty="0">
                <a:solidFill>
                  <a:srgbClr val="EF8B39"/>
                </a:solidFill>
                <a:latin typeface="Courier New" pitchFamily="34" charset="0"/>
                <a:ea typeface="Courier New" pitchFamily="34" charset="-122"/>
                <a:cs typeface="Courier New" pitchFamily="34" charset="-120"/>
              </a:rPr>
              <a:t>TYPE THIS, VERBATIM</a:t>
            </a:r>
            <a:endParaRPr lang="en-US" sz="800" dirty="0"/>
          </a:p>
        </p:txBody>
      </p:sp>
      <p:sp>
        <p:nvSpPr>
          <p:cNvPr id="10" name="Text 6"/>
          <p:cNvSpPr txBox="1"/>
          <p:nvPr/>
        </p:nvSpPr>
        <p:spPr>
          <a:xfrm>
            <a:off x="822960" y="2167128"/>
            <a:ext cx="5029200" cy="1325880"/>
          </a:xfrm>
          <a:prstGeom prst="rect">
            <a:avLst/>
          </a:prstGeom>
          <a:noFill/>
          <a:ln/>
        </p:spPr>
        <p:txBody>
          <a:bodyPr wrap="square" lIns="0" tIns="0" rIns="0" bIns="0" rtlCol="0" anchor="t"/>
          <a:lstStyle/>
          <a:p>
            <a:pPr indent="0" marL="0">
              <a:lnSpc>
                <a:spcPct val="120000"/>
              </a:lnSpc>
              <a:buNone/>
            </a:pPr>
            <a:r>
              <a:rPr lang="en-US" sz="1050" dirty="0">
                <a:solidFill>
                  <a:srgbClr val="E6EBF2"/>
                </a:solidFill>
                <a:latin typeface="Courier New" pitchFamily="34" charset="0"/>
                <a:ea typeface="Courier New" pitchFamily="34" charset="-122"/>
                <a:cs typeface="Courier New" pitchFamily="34" charset="-120"/>
              </a:rPr>
              <a:t>Create a branch called first-change. Change the site title to “[your business name]”. Commit with a clear message, push the branch, and open a pull request.</a:t>
            </a:r>
            <a:endParaRPr lang="en-US" sz="1050" dirty="0"/>
          </a:p>
        </p:txBody>
      </p:sp>
      <p:sp>
        <p:nvSpPr>
          <p:cNvPr id="11" name="Text 7"/>
          <p:cNvSpPr txBox="1"/>
          <p:nvPr/>
        </p:nvSpPr>
        <p:spPr>
          <a:xfrm>
            <a:off x="6263640" y="1783080"/>
            <a:ext cx="5285232" cy="2743200"/>
          </a:xfrm>
          <a:prstGeom prst="rect">
            <a:avLst/>
          </a:prstGeom>
          <a:noFill/>
          <a:ln/>
        </p:spPr>
        <p:txBody>
          <a:bodyPr wrap="square" lIns="0" tIns="0" rIns="0" bIns="0" rtlCol="0" anchor="t"/>
          <a:lstStyle/>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1  Type the prompt. Watch what Claude does, not just what it says.</a:t>
            </a:r>
            <a:endParaRPr lang="en-US" sz="1200" dirty="0"/>
          </a:p>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2  Open the pull request on github.com. Wait for the Vercel bot comment. Click Visit Preview. Your name is on the preview.</a:t>
            </a:r>
            <a:endParaRPr lang="en-US" sz="1200" dirty="0"/>
          </a:p>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3  Click Merge pull request, then Confirm merge.</a:t>
            </a:r>
            <a:endParaRPr lang="en-US" sz="1200" dirty="0"/>
          </a:p>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4  Open your production vercel.app URL. Your name is live. Green sticky: you have shipped.</a:t>
            </a:r>
            <a:endParaRPr lang="en-US" sz="1200" dirty="0"/>
          </a:p>
        </p:txBody>
      </p:sp>
      <p:sp>
        <p:nvSpPr>
          <p:cNvPr id="12" name="Shape 8"/>
          <p:cNvSpPr/>
          <p:nvPr/>
        </p:nvSpPr>
        <p:spPr>
          <a:xfrm>
            <a:off x="640080" y="3840480"/>
            <a:ext cx="5394960" cy="1280160"/>
          </a:xfrm>
          <a:prstGeom prst="rect">
            <a:avLst/>
          </a:prstGeom>
          <a:solidFill>
            <a:srgbClr val="E8EEF7"/>
          </a:solidFill>
          <a:ln w="9525">
            <a:solidFill>
              <a:srgbClr val="D9E0EA"/>
            </a:solidFill>
            <a:prstDash val="solid"/>
          </a:ln>
        </p:spPr>
      </p:sp>
      <p:sp>
        <p:nvSpPr>
          <p:cNvPr id="13" name="Shape 9"/>
          <p:cNvSpPr/>
          <p:nvPr/>
        </p:nvSpPr>
        <p:spPr>
          <a:xfrm>
            <a:off x="640080" y="3840480"/>
            <a:ext cx="54864" cy="1280160"/>
          </a:xfrm>
          <a:prstGeom prst="rect">
            <a:avLst/>
          </a:prstGeom>
          <a:solidFill>
            <a:srgbClr val="EF8B39"/>
          </a:solidFill>
          <a:ln w="12700">
            <a:solidFill>
              <a:srgbClr val="EF8B39"/>
            </a:solidFill>
            <a:prstDash val="solid"/>
          </a:ln>
        </p:spPr>
      </p:sp>
      <p:sp>
        <p:nvSpPr>
          <p:cNvPr id="14" name="Text 10"/>
          <p:cNvSpPr txBox="1"/>
          <p:nvPr/>
        </p:nvSpPr>
        <p:spPr>
          <a:xfrm>
            <a:off x="868680" y="3950208"/>
            <a:ext cx="4937760" cy="1051560"/>
          </a:xfrm>
          <a:prstGeom prst="rect">
            <a:avLst/>
          </a:prstGeom>
          <a:noFill/>
          <a:ln/>
        </p:spPr>
        <p:txBody>
          <a:bodyPr wrap="square" lIns="0" tIns="0" rIns="0" bIns="0" rtlCol="0" anchor="ctr"/>
          <a:lstStyle/>
          <a:p>
            <a:pPr algn="l" indent="0" marL="0">
              <a:lnSpc>
                <a:spcPct val="115000"/>
              </a:lnSpc>
              <a:buNone/>
            </a:pPr>
            <a:r>
              <a:rPr lang="en-US" sz="1150" dirty="0">
                <a:solidFill>
                  <a:srgbClr val="0D1219"/>
                </a:solidFill>
                <a:latin typeface="Arial" pitchFamily="34" charset="0"/>
                <a:ea typeface="Arial" pitchFamily="34" charset="-122"/>
                <a:cs typeface="Arial" pitchFamily="34" charset="-120"/>
              </a:rPr>
              <a:t>The first deploy on a Vercel project is always production. From now on, main is live and branches are previews. That is the rule for the rest of the day.</a:t>
            </a:r>
            <a:endParaRPr lang="en-US" sz="1150" dirty="0"/>
          </a:p>
        </p:txBody>
      </p:sp>
      <p:sp>
        <p:nvSpPr>
          <p:cNvPr id="15" name="Shape 11"/>
          <p:cNvSpPr/>
          <p:nvPr/>
        </p:nvSpPr>
        <p:spPr>
          <a:xfrm>
            <a:off x="640080" y="5806440"/>
            <a:ext cx="256032" cy="256032"/>
          </a:xfrm>
          <a:prstGeom prst="rect">
            <a:avLst/>
          </a:prstGeom>
          <a:solidFill>
            <a:srgbClr val="22C55E"/>
          </a:solidFill>
          <a:ln w="12700">
            <a:solidFill>
              <a:srgbClr val="22C55E"/>
            </a:solidFill>
            <a:prstDash val="solid"/>
          </a:ln>
        </p:spPr>
      </p:sp>
      <p:sp>
        <p:nvSpPr>
          <p:cNvPr id="16" name="Text 12"/>
          <p:cNvSpPr/>
          <p:nvPr/>
        </p:nvSpPr>
        <p:spPr>
          <a:xfrm>
            <a:off x="987552" y="5806440"/>
            <a:ext cx="237744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Green sticky = done</a:t>
            </a:r>
            <a:endParaRPr lang="en-US" sz="1100" dirty="0"/>
          </a:p>
        </p:txBody>
      </p:sp>
      <p:sp>
        <p:nvSpPr>
          <p:cNvPr id="17" name="Shape 13"/>
          <p:cNvSpPr/>
          <p:nvPr/>
        </p:nvSpPr>
        <p:spPr>
          <a:xfrm>
            <a:off x="3474720" y="5806440"/>
            <a:ext cx="256032" cy="256032"/>
          </a:xfrm>
          <a:prstGeom prst="rect">
            <a:avLst/>
          </a:prstGeom>
          <a:solidFill>
            <a:srgbClr val="EF4444"/>
          </a:solidFill>
          <a:ln w="12700">
            <a:solidFill>
              <a:srgbClr val="EF4444"/>
            </a:solidFill>
            <a:prstDash val="solid"/>
          </a:ln>
        </p:spPr>
      </p:sp>
      <p:sp>
        <p:nvSpPr>
          <p:cNvPr id="18" name="Text 14"/>
          <p:cNvSpPr/>
          <p:nvPr/>
        </p:nvSpPr>
        <p:spPr>
          <a:xfrm>
            <a:off x="3822192" y="5806440"/>
            <a:ext cx="411480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Red sticky = a helper comes to you</a:t>
            </a:r>
            <a:endParaRPr lang="en-US" sz="1100" dirty="0"/>
          </a:p>
        </p:txBody>
      </p:sp>
      <p:sp>
        <p:nvSpPr>
          <p:cNvPr id="19" name="Shape 15"/>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20" name="Text 16"/>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1" name="Shape 17"/>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22" name="Text 18"/>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23" name="Shape 19"/>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24" name="Text 20"/>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25" name="Shape 21"/>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26" name="Text 22"/>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27" name="Shape 23"/>
          <p:cNvSpPr/>
          <p:nvPr/>
        </p:nvSpPr>
        <p:spPr>
          <a:xfrm>
            <a:off x="7100316" y="6291072"/>
            <a:ext cx="896112" cy="274320"/>
          </a:xfrm>
          <a:prstGeom prst="roundRect">
            <a:avLst>
              <a:gd name="adj" fmla="val 20000"/>
            </a:avLst>
          </a:prstGeom>
          <a:solidFill>
            <a:srgbClr val="EF8B39"/>
          </a:solidFill>
          <a:ln w="6350">
            <a:solidFill>
              <a:srgbClr val="EF8B39"/>
            </a:solidFill>
            <a:prstDash val="solid"/>
          </a:ln>
        </p:spPr>
      </p:sp>
      <p:sp>
        <p:nvSpPr>
          <p:cNvPr id="28" name="Text 24"/>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SHIP</a:t>
            </a:r>
            <a:endParaRPr lang="en-US" sz="800" dirty="0"/>
          </a:p>
        </p:txBody>
      </p:sp>
      <p:sp>
        <p:nvSpPr>
          <p:cNvPr id="29" name="Shape 25"/>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30" name="Text 26"/>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20 / 51</a:t>
            </a:r>
            <a:endParaRPr lang="en-US" sz="900" dirty="0"/>
          </a:p>
        </p:txBody>
      </p:sp>
      <p:sp>
        <p:nvSpPr>
          <p:cNvPr id="5" name="Text 1"/>
          <p:cNvSpPr txBox="1"/>
          <p:nvPr/>
        </p:nvSpPr>
        <p:spPr>
          <a:xfrm>
            <a:off x="640080" y="502920"/>
            <a:ext cx="10908792" cy="274320"/>
          </a:xfrm>
          <a:prstGeom prst="rect">
            <a:avLst/>
          </a:prstGeom>
          <a:noFill/>
          <a:ln/>
        </p:spPr>
        <p:txBody>
          <a:bodyPr wrap="square" lIns="0" tIns="0" rIns="0" bIns="0" rtlCol="0" anchor="ctr"/>
          <a:lstStyle/>
          <a:p>
            <a:pPr indent="0" marL="0">
              <a:buNone/>
            </a:pPr>
            <a:r>
              <a:rPr lang="en-US" sz="1200" b="1" spc="200" kern="0" dirty="0">
                <a:solidFill>
                  <a:srgbClr val="307FE2"/>
                </a:solidFill>
                <a:latin typeface="Courier New" pitchFamily="34" charset="0"/>
                <a:ea typeface="Courier New" pitchFamily="34" charset="-122"/>
                <a:cs typeface="Courier New" pitchFamily="34" charset="-120"/>
              </a:rPr>
              <a:t>// BREAK ONE · 10 MINUTES</a:t>
            </a:r>
            <a:endParaRPr lang="en-US" sz="120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1:25 – 1:35</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700" b="1" dirty="0">
                <a:solidFill>
                  <a:srgbClr val="0D1219"/>
                </a:solidFill>
                <a:latin typeface="Arial" pitchFamily="34" charset="0"/>
                <a:ea typeface="Arial" pitchFamily="34" charset="-122"/>
                <a:cs typeface="Arial" pitchFamily="34" charset="-120"/>
              </a:rPr>
              <a:t>Ticket to the break: two stickies on the front table.</a:t>
            </a:r>
            <a:endParaRPr lang="en-US" sz="2700" dirty="0"/>
          </a:p>
        </p:txBody>
      </p:sp>
      <p:sp>
        <p:nvSpPr>
          <p:cNvPr id="8" name="Shape 4"/>
          <p:cNvSpPr/>
          <p:nvPr/>
        </p:nvSpPr>
        <p:spPr>
          <a:xfrm>
            <a:off x="640080" y="1920240"/>
            <a:ext cx="5394960" cy="2377440"/>
          </a:xfrm>
          <a:prstGeom prst="rect">
            <a:avLst/>
          </a:prstGeom>
          <a:solidFill>
            <a:srgbClr val="F3F6FB"/>
          </a:solidFill>
          <a:ln w="9525">
            <a:solidFill>
              <a:srgbClr val="D9E0EA"/>
            </a:solidFill>
            <a:prstDash val="solid"/>
          </a:ln>
        </p:spPr>
      </p:sp>
      <p:sp>
        <p:nvSpPr>
          <p:cNvPr id="9" name="Shape 5"/>
          <p:cNvSpPr/>
          <p:nvPr/>
        </p:nvSpPr>
        <p:spPr>
          <a:xfrm>
            <a:off x="640080" y="1920240"/>
            <a:ext cx="54864" cy="2377440"/>
          </a:xfrm>
          <a:prstGeom prst="rect">
            <a:avLst/>
          </a:prstGeom>
          <a:solidFill>
            <a:srgbClr val="22C55E"/>
          </a:solidFill>
          <a:ln w="12700">
            <a:solidFill>
              <a:srgbClr val="22C55E"/>
            </a:solidFill>
            <a:prstDash val="solid"/>
          </a:ln>
        </p:spPr>
      </p:sp>
      <p:sp>
        <p:nvSpPr>
          <p:cNvPr id="10" name="Text 6"/>
          <p:cNvSpPr txBox="1"/>
          <p:nvPr/>
        </p:nvSpPr>
        <p:spPr>
          <a:xfrm>
            <a:off x="914400" y="2148840"/>
            <a:ext cx="4846320" cy="365760"/>
          </a:xfrm>
          <a:prstGeom prst="rect">
            <a:avLst/>
          </a:prstGeom>
          <a:noFill/>
          <a:ln/>
        </p:spPr>
        <p:txBody>
          <a:bodyPr wrap="square" lIns="0" tIns="0" rIns="0" bIns="0" rtlCol="0" anchor="t"/>
          <a:lstStyle/>
          <a:p>
            <a:pPr indent="0" marL="0">
              <a:buNone/>
            </a:pPr>
            <a:r>
              <a:rPr lang="en-US" sz="1800" b="1" dirty="0">
                <a:solidFill>
                  <a:srgbClr val="0D1219"/>
                </a:solidFill>
                <a:latin typeface="Arial" pitchFamily="34" charset="0"/>
                <a:ea typeface="Arial" pitchFamily="34" charset="-122"/>
                <a:cs typeface="Arial" pitchFamily="34" charset="-120"/>
              </a:rPr>
              <a:t>One thing you learned</a:t>
            </a:r>
            <a:endParaRPr lang="en-US" sz="1800" dirty="0"/>
          </a:p>
        </p:txBody>
      </p:sp>
      <p:sp>
        <p:nvSpPr>
          <p:cNvPr id="11" name="Text 7"/>
          <p:cNvSpPr txBox="1"/>
          <p:nvPr/>
        </p:nvSpPr>
        <p:spPr>
          <a:xfrm>
            <a:off x="914400" y="2606040"/>
            <a:ext cx="4846320" cy="457200"/>
          </a:xfrm>
          <a:prstGeom prst="rect">
            <a:avLst/>
          </a:prstGeom>
          <a:noFill/>
          <a:ln/>
        </p:spPr>
        <p:txBody>
          <a:bodyPr wrap="square" lIns="0" tIns="0" rIns="0" bIns="0" rtlCol="0" anchor="t"/>
          <a:lstStyle/>
          <a:p>
            <a:pPr algn="l" indent="0" marL="0">
              <a:lnSpc>
                <a:spcPct val="115000"/>
              </a:lnSpc>
              <a:buNone/>
            </a:pPr>
            <a:r>
              <a:rPr lang="en-US" sz="1300" dirty="0">
                <a:solidFill>
                  <a:srgbClr val="5B6675"/>
                </a:solidFill>
                <a:latin typeface="Arial" pitchFamily="34" charset="0"/>
                <a:ea typeface="Arial" pitchFamily="34" charset="-122"/>
                <a:cs typeface="Arial" pitchFamily="34" charset="-120"/>
              </a:rPr>
              <a:t>On the green one.</a:t>
            </a:r>
            <a:endParaRPr lang="en-US" sz="1300" dirty="0"/>
          </a:p>
        </p:txBody>
      </p:sp>
      <p:sp>
        <p:nvSpPr>
          <p:cNvPr id="12" name="Shape 8"/>
          <p:cNvSpPr/>
          <p:nvPr/>
        </p:nvSpPr>
        <p:spPr>
          <a:xfrm>
            <a:off x="6263640" y="1920240"/>
            <a:ext cx="5285232" cy="2377440"/>
          </a:xfrm>
          <a:prstGeom prst="rect">
            <a:avLst/>
          </a:prstGeom>
          <a:solidFill>
            <a:srgbClr val="F3F6FB"/>
          </a:solidFill>
          <a:ln w="9525">
            <a:solidFill>
              <a:srgbClr val="D9E0EA"/>
            </a:solidFill>
            <a:prstDash val="solid"/>
          </a:ln>
        </p:spPr>
      </p:sp>
      <p:sp>
        <p:nvSpPr>
          <p:cNvPr id="13" name="Shape 9"/>
          <p:cNvSpPr/>
          <p:nvPr/>
        </p:nvSpPr>
        <p:spPr>
          <a:xfrm>
            <a:off x="6263640" y="1920240"/>
            <a:ext cx="54864" cy="2377440"/>
          </a:xfrm>
          <a:prstGeom prst="rect">
            <a:avLst/>
          </a:prstGeom>
          <a:solidFill>
            <a:srgbClr val="EF4444"/>
          </a:solidFill>
          <a:ln w="12700">
            <a:solidFill>
              <a:srgbClr val="EF4444"/>
            </a:solidFill>
            <a:prstDash val="solid"/>
          </a:ln>
        </p:spPr>
      </p:sp>
      <p:sp>
        <p:nvSpPr>
          <p:cNvPr id="14" name="Text 10"/>
          <p:cNvSpPr txBox="1"/>
          <p:nvPr/>
        </p:nvSpPr>
        <p:spPr>
          <a:xfrm>
            <a:off x="6537960" y="2148840"/>
            <a:ext cx="4846320" cy="365760"/>
          </a:xfrm>
          <a:prstGeom prst="rect">
            <a:avLst/>
          </a:prstGeom>
          <a:noFill/>
          <a:ln/>
        </p:spPr>
        <p:txBody>
          <a:bodyPr wrap="square" lIns="0" tIns="0" rIns="0" bIns="0" rtlCol="0" anchor="t"/>
          <a:lstStyle/>
          <a:p>
            <a:pPr indent="0" marL="0">
              <a:buNone/>
            </a:pPr>
            <a:r>
              <a:rPr lang="en-US" sz="1800" b="1" dirty="0">
                <a:solidFill>
                  <a:srgbClr val="0D1219"/>
                </a:solidFill>
                <a:latin typeface="Arial" pitchFamily="34" charset="0"/>
                <a:ea typeface="Arial" pitchFamily="34" charset="-122"/>
                <a:cs typeface="Arial" pitchFamily="34" charset="-120"/>
              </a:rPr>
              <a:t>One thing still confusing</a:t>
            </a:r>
            <a:endParaRPr lang="en-US" sz="1800" dirty="0"/>
          </a:p>
        </p:txBody>
      </p:sp>
      <p:sp>
        <p:nvSpPr>
          <p:cNvPr id="15" name="Text 11"/>
          <p:cNvSpPr txBox="1"/>
          <p:nvPr/>
        </p:nvSpPr>
        <p:spPr>
          <a:xfrm>
            <a:off x="6537960" y="2606040"/>
            <a:ext cx="4846320" cy="822960"/>
          </a:xfrm>
          <a:prstGeom prst="rect">
            <a:avLst/>
          </a:prstGeom>
          <a:noFill/>
          <a:ln/>
        </p:spPr>
        <p:txBody>
          <a:bodyPr wrap="square" lIns="0" tIns="0" rIns="0" bIns="0" rtlCol="0" anchor="t"/>
          <a:lstStyle/>
          <a:p>
            <a:pPr algn="l" indent="0" marL="0">
              <a:lnSpc>
                <a:spcPct val="115000"/>
              </a:lnSpc>
              <a:buNone/>
            </a:pPr>
            <a:r>
              <a:rPr lang="en-US" sz="1300" dirty="0">
                <a:solidFill>
                  <a:srgbClr val="5B6675"/>
                </a:solidFill>
                <a:latin typeface="Arial" pitchFamily="34" charset="0"/>
                <a:ea typeface="Arial" pitchFamily="34" charset="-122"/>
                <a:cs typeface="Arial" pitchFamily="34" charset="-120"/>
              </a:rPr>
              <a:t>On the red one. I read them all and change the next hour if you tell me to.</a:t>
            </a:r>
            <a:endParaRPr lang="en-US" sz="1300" dirty="0"/>
          </a:p>
        </p:txBody>
      </p:sp>
      <p:sp>
        <p:nvSpPr>
          <p:cNvPr id="16" name="Text 12"/>
          <p:cNvSpPr txBox="1"/>
          <p:nvPr/>
        </p:nvSpPr>
        <p:spPr>
          <a:xfrm>
            <a:off x="640080" y="4663440"/>
            <a:ext cx="10908792" cy="457200"/>
          </a:xfrm>
          <a:prstGeom prst="rect">
            <a:avLst/>
          </a:prstGeom>
          <a:noFill/>
          <a:ln/>
        </p:spPr>
        <p:txBody>
          <a:bodyPr wrap="square" lIns="0" tIns="0" rIns="0" bIns="0" rtlCol="0" anchor="t"/>
          <a:lstStyle/>
          <a:p>
            <a:pPr algn="l" indent="0" marL="0">
              <a:lnSpc>
                <a:spcPct val="115000"/>
              </a:lnSpc>
              <a:buNone/>
            </a:pPr>
            <a:r>
              <a:rPr lang="en-US" sz="1400" dirty="0">
                <a:solidFill>
                  <a:srgbClr val="0D1219"/>
                </a:solidFill>
                <a:latin typeface="Arial" pitchFamily="34" charset="0"/>
                <a:ea typeface="Arial" pitchFamily="34" charset="-122"/>
                <a:cs typeface="Arial" pitchFamily="34" charset="-120"/>
              </a:rPr>
              <a:t>Not merged yet? Grab a helper now, not after the break. Back at 1:35.</a:t>
            </a:r>
            <a:endParaRPr lang="en-US" sz="1400" dirty="0"/>
          </a:p>
        </p:txBody>
      </p:sp>
      <p:sp>
        <p:nvSpPr>
          <p:cNvPr id="17" name="Shape 13"/>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18" name="Text 14"/>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19" name="Shape 15"/>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20" name="Text 16"/>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21" name="Shape 17"/>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22" name="Text 18"/>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23" name="Shape 19"/>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24" name="Text 20"/>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25" name="Shape 21"/>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26" name="Text 22"/>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27" name="Shape 23"/>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28" name="Text 24"/>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21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5  ·  BUILD THE ONE THING  ·  25 MIN  ·  HANDS-ON</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1:35 – 2:00</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300" b="1" dirty="0">
                <a:solidFill>
                  <a:srgbClr val="0D1219"/>
                </a:solidFill>
                <a:latin typeface="Arial" pitchFamily="34" charset="0"/>
                <a:ea typeface="Arial" pitchFamily="34" charset="-122"/>
                <a:cs typeface="Arial" pitchFamily="34" charset="-120"/>
              </a:rPr>
              <a:t>Build the spreadsheet you came here to replace. One page. On a branch.</a:t>
            </a:r>
            <a:endParaRPr lang="en-US" sz="2300" dirty="0"/>
          </a:p>
        </p:txBody>
      </p:sp>
      <p:sp>
        <p:nvSpPr>
          <p:cNvPr id="8" name="Shape 4"/>
          <p:cNvSpPr/>
          <p:nvPr/>
        </p:nvSpPr>
        <p:spPr>
          <a:xfrm>
            <a:off x="640080" y="1783080"/>
            <a:ext cx="5760720" cy="2377440"/>
          </a:xfrm>
          <a:prstGeom prst="rect">
            <a:avLst/>
          </a:prstGeom>
          <a:solidFill>
            <a:srgbClr val="121B2B"/>
          </a:solidFill>
          <a:ln w="12700">
            <a:solidFill>
              <a:srgbClr val="EF8B39"/>
            </a:solidFill>
            <a:prstDash val="solid"/>
          </a:ln>
        </p:spPr>
      </p:sp>
      <p:sp>
        <p:nvSpPr>
          <p:cNvPr id="9" name="Text 5"/>
          <p:cNvSpPr/>
          <p:nvPr/>
        </p:nvSpPr>
        <p:spPr>
          <a:xfrm>
            <a:off x="822960" y="1892808"/>
            <a:ext cx="5394960" cy="228600"/>
          </a:xfrm>
          <a:prstGeom prst="rect">
            <a:avLst/>
          </a:prstGeom>
          <a:noFill/>
          <a:ln/>
        </p:spPr>
        <p:txBody>
          <a:bodyPr wrap="square" lIns="0" tIns="0" rIns="0" bIns="0" rtlCol="0" anchor="ctr"/>
          <a:lstStyle/>
          <a:p>
            <a:pPr indent="0" marL="0">
              <a:buNone/>
            </a:pPr>
            <a:r>
              <a:rPr lang="en-US" sz="800" b="1" spc="150" kern="0" dirty="0">
                <a:solidFill>
                  <a:srgbClr val="EF8B39"/>
                </a:solidFill>
                <a:latin typeface="Courier New" pitchFamily="34" charset="0"/>
                <a:ea typeface="Courier New" pitchFamily="34" charset="-122"/>
                <a:cs typeface="Courier New" pitchFamily="34" charset="-120"/>
              </a:rPr>
              <a:t>TYPE THIS, VERBATIM</a:t>
            </a:r>
            <a:endParaRPr lang="en-US" sz="800" dirty="0"/>
          </a:p>
        </p:txBody>
      </p:sp>
      <p:sp>
        <p:nvSpPr>
          <p:cNvPr id="10" name="Text 6"/>
          <p:cNvSpPr txBox="1"/>
          <p:nvPr/>
        </p:nvSpPr>
        <p:spPr>
          <a:xfrm>
            <a:off x="822960" y="2167128"/>
            <a:ext cx="5394960" cy="1874520"/>
          </a:xfrm>
          <a:prstGeom prst="rect">
            <a:avLst/>
          </a:prstGeom>
          <a:noFill/>
          <a:ln/>
        </p:spPr>
        <p:txBody>
          <a:bodyPr wrap="square" lIns="0" tIns="0" rIns="0" bIns="0" rtlCol="0" anchor="t"/>
          <a:lstStyle/>
          <a:p>
            <a:pPr indent="0" marL="0">
              <a:lnSpc>
                <a:spcPct val="120000"/>
              </a:lnSpc>
              <a:buNone/>
            </a:pPr>
            <a:r>
              <a:rPr lang="en-US" sz="1050" dirty="0">
                <a:solidFill>
                  <a:srgbClr val="E6EBF2"/>
                </a:solidFill>
                <a:latin typeface="Courier New" pitchFamily="34" charset="0"/>
                <a:ea typeface="Courier New" pitchFamily="34" charset="-122"/>
                <a:cs typeface="Courier New" pitchFamily="34" charset="-120"/>
              </a:rPr>
              <a:t>Read spec.md and the plan we agreed on. On a new branch called my-tool, build it as ONE page in this app: a form to add a row and a table to see the rows, using the starter’s sample data. Do not change anything else. Run the build and fix any errors before you tell me it is done. Then commit, push, and open a pull request.</a:t>
            </a:r>
            <a:endParaRPr lang="en-US" sz="1050" dirty="0"/>
          </a:p>
        </p:txBody>
      </p:sp>
      <p:sp>
        <p:nvSpPr>
          <p:cNvPr id="11" name="Text 7"/>
          <p:cNvSpPr txBox="1"/>
          <p:nvPr/>
        </p:nvSpPr>
        <p:spPr>
          <a:xfrm>
            <a:off x="6629400" y="1783080"/>
            <a:ext cx="4919472" cy="2926080"/>
          </a:xfrm>
          <a:prstGeom prst="rect">
            <a:avLst/>
          </a:prstGeom>
          <a:noFill/>
          <a:ln/>
        </p:spPr>
        <p:txBody>
          <a:bodyPr wrap="square" lIns="0" tIns="0" rIns="0" bIns="0" rtlCol="0" anchor="t"/>
          <a:lstStyle/>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1  Type the prompt. Do not touch the code while it works. Read the diff it shows you.</a:t>
            </a:r>
            <a:endParaRPr lang="en-US" sz="1200" dirty="0"/>
          </a:p>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2  When the PR exists, wait for the Vercel comment and open the preview on your PHONE. Add a row.</a:t>
            </a:r>
            <a:endParaRPr lang="en-US" sz="1200" dirty="0"/>
          </a:p>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3  Send the preview link to your partner. They have two minutes to break it. One bug on a sticky.</a:t>
            </a:r>
            <a:endParaRPr lang="en-US" sz="1200" dirty="0"/>
          </a:p>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4  Do NOT merge. Live hacking is next, then the gate.</a:t>
            </a:r>
            <a:endParaRPr lang="en-US" sz="1200" dirty="0"/>
          </a:p>
        </p:txBody>
      </p:sp>
      <p:sp>
        <p:nvSpPr>
          <p:cNvPr id="12" name="Shape 8"/>
          <p:cNvSpPr/>
          <p:nvPr/>
        </p:nvSpPr>
        <p:spPr>
          <a:xfrm>
            <a:off x="640080" y="4343400"/>
            <a:ext cx="5760720" cy="777240"/>
          </a:xfrm>
          <a:prstGeom prst="rect">
            <a:avLst/>
          </a:prstGeom>
          <a:solidFill>
            <a:srgbClr val="E8EEF7"/>
          </a:solidFill>
          <a:ln w="9525">
            <a:solidFill>
              <a:srgbClr val="D9E0EA"/>
            </a:solidFill>
            <a:prstDash val="solid"/>
          </a:ln>
        </p:spPr>
      </p:sp>
      <p:sp>
        <p:nvSpPr>
          <p:cNvPr id="13" name="Shape 9"/>
          <p:cNvSpPr/>
          <p:nvPr/>
        </p:nvSpPr>
        <p:spPr>
          <a:xfrm>
            <a:off x="640080" y="4343400"/>
            <a:ext cx="54864" cy="777240"/>
          </a:xfrm>
          <a:prstGeom prst="rect">
            <a:avLst/>
          </a:prstGeom>
          <a:solidFill>
            <a:srgbClr val="EF8B39"/>
          </a:solidFill>
          <a:ln w="12700">
            <a:solidFill>
              <a:srgbClr val="EF8B39"/>
            </a:solidFill>
            <a:prstDash val="solid"/>
          </a:ln>
        </p:spPr>
      </p:sp>
      <p:sp>
        <p:nvSpPr>
          <p:cNvPr id="14" name="Text 10"/>
          <p:cNvSpPr txBox="1"/>
          <p:nvPr/>
        </p:nvSpPr>
        <p:spPr>
          <a:xfrm>
            <a:off x="868680" y="4434840"/>
            <a:ext cx="5349240" cy="594360"/>
          </a:xfrm>
          <a:prstGeom prst="rect">
            <a:avLst/>
          </a:prstGeom>
          <a:noFill/>
          <a:ln/>
        </p:spPr>
        <p:txBody>
          <a:bodyPr wrap="square" lIns="0" tIns="0" rIns="0" bIns="0" rtlCol="0" anchor="ctr"/>
          <a:lstStyle/>
          <a:p>
            <a:pPr algn="l" indent="0" marL="0">
              <a:lnSpc>
                <a:spcPct val="115000"/>
              </a:lnSpc>
              <a:buNone/>
            </a:pPr>
            <a:r>
              <a:rPr lang="en-US" sz="1200" dirty="0">
                <a:solidFill>
                  <a:srgbClr val="0D1219"/>
                </a:solidFill>
                <a:latin typeface="Arial" pitchFamily="34" charset="0"/>
                <a:ea typeface="Arial" pitchFamily="34" charset="-122"/>
                <a:cs typeface="Arial" pitchFamily="34" charset="-120"/>
              </a:rPr>
              <a:t>Test it where your customers will use it: on a phone, on a preview, before it is real.</a:t>
            </a:r>
            <a:endParaRPr lang="en-US" sz="1200" dirty="0"/>
          </a:p>
        </p:txBody>
      </p:sp>
      <p:sp>
        <p:nvSpPr>
          <p:cNvPr id="15" name="Shape 11"/>
          <p:cNvSpPr/>
          <p:nvPr/>
        </p:nvSpPr>
        <p:spPr>
          <a:xfrm>
            <a:off x="640080" y="5806440"/>
            <a:ext cx="256032" cy="256032"/>
          </a:xfrm>
          <a:prstGeom prst="rect">
            <a:avLst/>
          </a:prstGeom>
          <a:solidFill>
            <a:srgbClr val="22C55E"/>
          </a:solidFill>
          <a:ln w="12700">
            <a:solidFill>
              <a:srgbClr val="22C55E"/>
            </a:solidFill>
            <a:prstDash val="solid"/>
          </a:ln>
        </p:spPr>
      </p:sp>
      <p:sp>
        <p:nvSpPr>
          <p:cNvPr id="16" name="Text 12"/>
          <p:cNvSpPr/>
          <p:nvPr/>
        </p:nvSpPr>
        <p:spPr>
          <a:xfrm>
            <a:off x="987552" y="5806440"/>
            <a:ext cx="237744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Green sticky = done</a:t>
            </a:r>
            <a:endParaRPr lang="en-US" sz="1100" dirty="0"/>
          </a:p>
        </p:txBody>
      </p:sp>
      <p:sp>
        <p:nvSpPr>
          <p:cNvPr id="17" name="Shape 13"/>
          <p:cNvSpPr/>
          <p:nvPr/>
        </p:nvSpPr>
        <p:spPr>
          <a:xfrm>
            <a:off x="3474720" y="5806440"/>
            <a:ext cx="256032" cy="256032"/>
          </a:xfrm>
          <a:prstGeom prst="rect">
            <a:avLst/>
          </a:prstGeom>
          <a:solidFill>
            <a:srgbClr val="EF4444"/>
          </a:solidFill>
          <a:ln w="12700">
            <a:solidFill>
              <a:srgbClr val="EF4444"/>
            </a:solidFill>
            <a:prstDash val="solid"/>
          </a:ln>
        </p:spPr>
      </p:sp>
      <p:sp>
        <p:nvSpPr>
          <p:cNvPr id="18" name="Text 14"/>
          <p:cNvSpPr/>
          <p:nvPr/>
        </p:nvSpPr>
        <p:spPr>
          <a:xfrm>
            <a:off x="3822192" y="5806440"/>
            <a:ext cx="411480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Red sticky = a helper comes to you</a:t>
            </a:r>
            <a:endParaRPr lang="en-US" sz="1100" dirty="0"/>
          </a:p>
        </p:txBody>
      </p:sp>
      <p:sp>
        <p:nvSpPr>
          <p:cNvPr id="19" name="Shape 15"/>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20" name="Text 16"/>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1" name="Shape 17"/>
          <p:cNvSpPr/>
          <p:nvPr/>
        </p:nvSpPr>
        <p:spPr>
          <a:xfrm>
            <a:off x="4192524" y="6291072"/>
            <a:ext cx="896112" cy="274320"/>
          </a:xfrm>
          <a:prstGeom prst="roundRect">
            <a:avLst>
              <a:gd name="adj" fmla="val 20000"/>
            </a:avLst>
          </a:prstGeom>
          <a:solidFill>
            <a:srgbClr val="EF8B39"/>
          </a:solidFill>
          <a:ln w="6350">
            <a:solidFill>
              <a:srgbClr val="EF8B39"/>
            </a:solidFill>
            <a:prstDash val="solid"/>
          </a:ln>
        </p:spPr>
      </p:sp>
      <p:sp>
        <p:nvSpPr>
          <p:cNvPr id="22" name="Text 18"/>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BUILD</a:t>
            </a:r>
            <a:endParaRPr lang="en-US" sz="800" dirty="0"/>
          </a:p>
        </p:txBody>
      </p:sp>
      <p:sp>
        <p:nvSpPr>
          <p:cNvPr id="23" name="Shape 19"/>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24" name="Text 20"/>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25" name="Shape 21"/>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26" name="Text 22"/>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27" name="Shape 23"/>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28" name="Text 24"/>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29" name="Shape 25"/>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30" name="Text 26"/>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22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5  ·  BUILD THE ONE THING  ·  25 MIN  ·  DEMO</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1:35 – 2:00</a:t>
            </a:r>
            <a:endParaRPr lang="en-US" sz="950" dirty="0"/>
          </a:p>
        </p:txBody>
      </p:sp>
      <p:pic>
        <p:nvPicPr>
          <p:cNvPr id="7" name="Image 1" descr="assets/art-loop.jpg">    </p:cNvPr>
          <p:cNvPicPr>
            <a:picLocks noChangeAspect="1"/>
          </p:cNvPicPr>
          <p:nvPr/>
        </p:nvPicPr>
        <p:blipFill>
          <a:blip r:embed="rId2"/>
          <a:stretch>
            <a:fillRect/>
          </a:stretch>
        </p:blipFill>
        <p:spPr>
          <a:xfrm>
            <a:off x="7891272" y="1463040"/>
            <a:ext cx="3657600" cy="3657600"/>
          </a:xfrm>
          <a:prstGeom prst="rect">
            <a:avLst/>
          </a:prstGeom>
        </p:spPr>
      </p:pic>
      <p:sp>
        <p:nvSpPr>
          <p:cNvPr id="8" name="Text 3"/>
          <p:cNvSpPr txBox="1"/>
          <p:nvPr/>
        </p:nvSpPr>
        <p:spPr>
          <a:xfrm>
            <a:off x="640080" y="822960"/>
            <a:ext cx="6858000" cy="822960"/>
          </a:xfrm>
          <a:prstGeom prst="rect">
            <a:avLst/>
          </a:prstGeom>
          <a:noFill/>
          <a:ln/>
        </p:spPr>
        <p:txBody>
          <a:bodyPr wrap="square" lIns="0" tIns="0" rIns="0" bIns="0" rtlCol="0" anchor="t"/>
          <a:lstStyle/>
          <a:p>
            <a:pPr indent="0" marL="0">
              <a:buNone/>
            </a:pPr>
            <a:r>
              <a:rPr lang="en-US" sz="3000" b="1" dirty="0">
                <a:solidFill>
                  <a:srgbClr val="0D1219"/>
                </a:solidFill>
                <a:latin typeface="Arial" pitchFamily="34" charset="0"/>
                <a:ea typeface="Arial" pitchFamily="34" charset="-122"/>
                <a:cs typeface="Arial" pitchFamily="34" charset="-120"/>
              </a:rPr>
              <a:t>Watch the mistake. That is the lesson.</a:t>
            </a:r>
            <a:endParaRPr lang="en-US" sz="3000" dirty="0"/>
          </a:p>
        </p:txBody>
      </p:sp>
      <p:sp>
        <p:nvSpPr>
          <p:cNvPr id="9" name="Text 4"/>
          <p:cNvSpPr txBox="1"/>
          <p:nvPr/>
        </p:nvSpPr>
        <p:spPr>
          <a:xfrm>
            <a:off x="640080" y="2057400"/>
            <a:ext cx="6675120" cy="3108960"/>
          </a:xfrm>
          <a:prstGeom prst="rect">
            <a:avLst/>
          </a:prstGeom>
          <a:noFill/>
          <a:ln/>
        </p:spPr>
        <p:txBody>
          <a:bodyPr wrap="square" lIns="0" tIns="0" rIns="0" bIns="0" rtlCol="0" anchor="t"/>
          <a:lstStyle/>
          <a:p>
            <a:pPr marL="177800" indent="-177800">
              <a:lnSpc>
                <a:spcPct val="115000"/>
              </a:lnSpc>
              <a:spcAft>
                <a:spcPts val="800"/>
              </a:spcAft>
              <a:buSzPct val="100000"/>
              <a:buChar char="•"/>
            </a:pPr>
            <a:r>
              <a:rPr lang="en-US" sz="1350" dirty="0">
                <a:solidFill>
                  <a:srgbClr val="0D1219"/>
                </a:solidFill>
                <a:latin typeface="Arial" pitchFamily="34" charset="0"/>
                <a:ea typeface="Arial" pitchFamily="34" charset="-122"/>
                <a:cs typeface="Arial" pitchFamily="34" charset="-120"/>
              </a:rPr>
              <a:t>I build mine live, at about twice your speed, on purpose.</a:t>
            </a:r>
            <a:endParaRPr lang="en-US" sz="1350" dirty="0"/>
          </a:p>
          <a:p>
            <a:pPr marL="177800" indent="-177800">
              <a:lnSpc>
                <a:spcPct val="115000"/>
              </a:lnSpc>
              <a:spcAft>
                <a:spcPts val="800"/>
              </a:spcAft>
              <a:buSzPct val="100000"/>
              <a:buChar char="•"/>
            </a:pPr>
            <a:r>
              <a:rPr lang="en-US" sz="1350" dirty="0">
                <a:solidFill>
                  <a:srgbClr val="0D1219"/>
                </a:solidFill>
                <a:latin typeface="Arial" pitchFamily="34" charset="0"/>
                <a:ea typeface="Arial" pitchFamily="34" charset="-122"/>
                <a:cs typeface="Arial" pitchFamily="34" charset="-120"/>
              </a:rPr>
              <a:t>When Claude gets it wrong on my screen: good. That is what you got stuck on at home.</a:t>
            </a:r>
            <a:endParaRPr lang="en-US" sz="1350" dirty="0"/>
          </a:p>
          <a:p>
            <a:pPr marL="177800" indent="-177800">
              <a:lnSpc>
                <a:spcPct val="115000"/>
              </a:lnSpc>
              <a:spcAft>
                <a:spcPts val="800"/>
              </a:spcAft>
              <a:buSzPct val="100000"/>
              <a:buChar char="•"/>
            </a:pPr>
            <a:r>
              <a:rPr lang="en-US" sz="1350" dirty="0">
                <a:solidFill>
                  <a:srgbClr val="0D1219"/>
                </a:solidFill>
                <a:latin typeface="Arial" pitchFamily="34" charset="0"/>
                <a:ea typeface="Arial" pitchFamily="34" charset="-122"/>
                <a:cs typeface="Arial" pitchFamily="34" charset="-120"/>
              </a:rPr>
              <a:t>The moves, in order: read what it did → paste the error back → “fix it, do not change the test” → if it wanders, close the PR and start the branch again.</a:t>
            </a:r>
            <a:endParaRPr lang="en-US" sz="1350" dirty="0"/>
          </a:p>
          <a:p>
            <a:pPr marL="177800" indent="-177800">
              <a:lnSpc>
                <a:spcPct val="115000"/>
              </a:lnSpc>
              <a:spcAft>
                <a:spcPts val="800"/>
              </a:spcAft>
              <a:buSzPct val="100000"/>
              <a:buChar char="•"/>
            </a:pPr>
            <a:r>
              <a:rPr lang="en-US" sz="1350" dirty="0">
                <a:solidFill>
                  <a:srgbClr val="0D1219"/>
                </a:solidFill>
                <a:latin typeface="Arial" pitchFamily="34" charset="0"/>
                <a:ea typeface="Arial" pitchFamily="34" charset="-122"/>
                <a:cs typeface="Arial" pitchFamily="34" charset="-120"/>
              </a:rPr>
              <a:t>Nothing it does on a branch can touch your live site.</a:t>
            </a:r>
            <a:endParaRPr lang="en-US" sz="1350" dirty="0"/>
          </a:p>
        </p:txBody>
      </p:sp>
      <p:sp>
        <p:nvSpPr>
          <p:cNvPr id="10" name="Shape 5"/>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11" name="Text 6"/>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12" name="Shape 7"/>
          <p:cNvSpPr/>
          <p:nvPr/>
        </p:nvSpPr>
        <p:spPr>
          <a:xfrm>
            <a:off x="4192524" y="6291072"/>
            <a:ext cx="896112" cy="274320"/>
          </a:xfrm>
          <a:prstGeom prst="roundRect">
            <a:avLst>
              <a:gd name="adj" fmla="val 20000"/>
            </a:avLst>
          </a:prstGeom>
          <a:solidFill>
            <a:srgbClr val="EF8B39"/>
          </a:solidFill>
          <a:ln w="6350">
            <a:solidFill>
              <a:srgbClr val="EF8B39"/>
            </a:solidFill>
            <a:prstDash val="solid"/>
          </a:ln>
        </p:spPr>
      </p:sp>
      <p:sp>
        <p:nvSpPr>
          <p:cNvPr id="13" name="Text 8"/>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BUILD</a:t>
            </a:r>
            <a:endParaRPr lang="en-US" sz="800" dirty="0"/>
          </a:p>
        </p:txBody>
      </p:sp>
      <p:sp>
        <p:nvSpPr>
          <p:cNvPr id="14" name="Shape 9"/>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15" name="Text 10"/>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16" name="Shape 11"/>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17" name="Text 12"/>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18" name="Shape 13"/>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19" name="Text 14"/>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20" name="Shape 15"/>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21" name="Text 16"/>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23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EF8B39"/>
                </a:solidFill>
                <a:latin typeface="Courier New" pitchFamily="34" charset="0"/>
                <a:ea typeface="Courier New" pitchFamily="34" charset="-122"/>
                <a:cs typeface="Courier New" pitchFamily="34" charset="-120"/>
              </a:rPr>
              <a:t>LIVE HACKING  ·  SPRINT 1 OF 3  ·  20 MIN  ·  YOUR TOOL, YOUR KEYBOARD</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2:00 – 2:20</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700" b="1" dirty="0">
                <a:solidFill>
                  <a:srgbClr val="0D1219"/>
                </a:solidFill>
                <a:latin typeface="Arial" pitchFamily="34" charset="0"/>
                <a:ea typeface="Arial" pitchFamily="34" charset="-122"/>
                <a:cs typeface="Arial" pitchFamily="34" charset="-120"/>
              </a:rPr>
              <a:t>Live hacking, sprint one. Make it yours, on the branch.</a:t>
            </a:r>
            <a:endParaRPr lang="en-US" sz="2700" dirty="0"/>
          </a:p>
        </p:txBody>
      </p:sp>
      <p:sp>
        <p:nvSpPr>
          <p:cNvPr id="8" name="Shape 4"/>
          <p:cNvSpPr/>
          <p:nvPr/>
        </p:nvSpPr>
        <p:spPr>
          <a:xfrm>
            <a:off x="640080" y="1783080"/>
            <a:ext cx="5394960" cy="2514600"/>
          </a:xfrm>
          <a:prstGeom prst="rect">
            <a:avLst/>
          </a:prstGeom>
          <a:solidFill>
            <a:srgbClr val="F3F6FB"/>
          </a:solidFill>
          <a:ln w="9525">
            <a:solidFill>
              <a:srgbClr val="D9E0EA"/>
            </a:solidFill>
            <a:prstDash val="solid"/>
          </a:ln>
        </p:spPr>
      </p:sp>
      <p:sp>
        <p:nvSpPr>
          <p:cNvPr id="9" name="Shape 5"/>
          <p:cNvSpPr/>
          <p:nvPr/>
        </p:nvSpPr>
        <p:spPr>
          <a:xfrm>
            <a:off x="640080" y="1783080"/>
            <a:ext cx="54864" cy="2514600"/>
          </a:xfrm>
          <a:prstGeom prst="rect">
            <a:avLst/>
          </a:prstGeom>
          <a:solidFill>
            <a:srgbClr val="307FE2"/>
          </a:solidFill>
          <a:ln w="12700">
            <a:solidFill>
              <a:srgbClr val="307FE2"/>
            </a:solidFill>
            <a:prstDash val="solid"/>
          </a:ln>
        </p:spPr>
      </p:sp>
      <p:sp>
        <p:nvSpPr>
          <p:cNvPr id="10" name="Text 6"/>
          <p:cNvSpPr txBox="1"/>
          <p:nvPr/>
        </p:nvSpPr>
        <p:spPr>
          <a:xfrm>
            <a:off x="868680" y="1920240"/>
            <a:ext cx="4937760" cy="237744"/>
          </a:xfrm>
          <a:prstGeom prst="rect">
            <a:avLst/>
          </a:prstGeom>
          <a:noFill/>
          <a:ln/>
        </p:spPr>
        <p:txBody>
          <a:bodyPr wrap="square" lIns="0" tIns="0" rIns="0" bIns="0" rtlCol="0" anchor="ctr"/>
          <a:lstStyle/>
          <a:p>
            <a:pPr indent="0" marL="0">
              <a:buNone/>
            </a:pPr>
            <a:r>
              <a:rPr lang="en-US" sz="850" b="1" spc="150" kern="0" dirty="0">
                <a:solidFill>
                  <a:srgbClr val="EF8B39"/>
                </a:solidFill>
                <a:latin typeface="Courier New" pitchFamily="34" charset="0"/>
                <a:ea typeface="Courier New" pitchFamily="34" charset="-122"/>
                <a:cs typeface="Courier New" pitchFamily="34" charset="-120"/>
              </a:rPr>
              <a:t>THE RULES</a:t>
            </a:r>
            <a:endParaRPr lang="en-US" sz="850" dirty="0"/>
          </a:p>
        </p:txBody>
      </p:sp>
      <p:sp>
        <p:nvSpPr>
          <p:cNvPr id="11" name="Text 7"/>
          <p:cNvSpPr txBox="1"/>
          <p:nvPr/>
        </p:nvSpPr>
        <p:spPr>
          <a:xfrm>
            <a:off x="868680" y="2240280"/>
            <a:ext cx="4937760" cy="2011680"/>
          </a:xfrm>
          <a:prstGeom prst="rect">
            <a:avLst/>
          </a:prstGeom>
          <a:noFill/>
          <a:ln/>
        </p:spPr>
        <p:txBody>
          <a:bodyPr wrap="square" lIns="0" tIns="0" rIns="0" bIns="0" rtlCol="0" anchor="t"/>
          <a:lstStyle/>
          <a:p>
            <a:pPr marL="177800" indent="-177800">
              <a:lnSpc>
                <a:spcPct val="115000"/>
              </a:lnSpc>
              <a:spcAft>
                <a:spcPts val="600"/>
              </a:spcAft>
              <a:buSzPct val="100000"/>
              <a:buChar char="•"/>
            </a:pPr>
            <a:r>
              <a:rPr lang="en-US" sz="1200" dirty="0">
                <a:solidFill>
                  <a:srgbClr val="0D1219"/>
                </a:solidFill>
                <a:latin typeface="Arial" pitchFamily="34" charset="0"/>
                <a:ea typeface="Arial" pitchFamily="34" charset="-122"/>
                <a:cs typeface="Arial" pitchFamily="34" charset="-120"/>
              </a:rPr>
              <a:t>Stay on the my-tool branch. Nothing you do here can touch your live site.</a:t>
            </a:r>
            <a:endParaRPr lang="en-US" sz="1200" dirty="0"/>
          </a:p>
          <a:p>
            <a:pPr marL="177800" indent="-177800">
              <a:lnSpc>
                <a:spcPct val="115000"/>
              </a:lnSpc>
              <a:spcAft>
                <a:spcPts val="600"/>
              </a:spcAft>
              <a:buSzPct val="100000"/>
              <a:buChar char="•"/>
            </a:pPr>
            <a:r>
              <a:rPr lang="en-US" sz="1200" dirty="0">
                <a:solidFill>
                  <a:srgbClr val="0D1219"/>
                </a:solidFill>
                <a:latin typeface="Arial" pitchFamily="34" charset="0"/>
                <a:ea typeface="Arial" pitchFamily="34" charset="-122"/>
                <a:cs typeface="Arial" pitchFamily="34" charset="-120"/>
              </a:rPr>
              <a:t>One change per prompt. Open the preview before you ask for the next one.</a:t>
            </a:r>
            <a:endParaRPr lang="en-US" sz="1200" dirty="0"/>
          </a:p>
          <a:p>
            <a:pPr marL="177800" indent="-177800">
              <a:lnSpc>
                <a:spcPct val="115000"/>
              </a:lnSpc>
              <a:spcAft>
                <a:spcPts val="600"/>
              </a:spcAft>
              <a:buSzPct val="100000"/>
              <a:buChar char="•"/>
            </a:pPr>
            <a:r>
              <a:rPr lang="en-US" sz="1200" dirty="0">
                <a:solidFill>
                  <a:srgbClr val="0D1219"/>
                </a:solidFill>
                <a:latin typeface="Arial" pitchFamily="34" charset="0"/>
                <a:ea typeface="Arial" pitchFamily="34" charset="-122"/>
                <a:cs typeface="Arial" pitchFamily="34" charset="-120"/>
              </a:rPr>
              <a:t>Changing what the form does? Change spec.md first. The spec is the contract.</a:t>
            </a:r>
            <a:endParaRPr lang="en-US" sz="1200" dirty="0"/>
          </a:p>
          <a:p>
            <a:pPr marL="177800" indent="-177800">
              <a:lnSpc>
                <a:spcPct val="115000"/>
              </a:lnSpc>
              <a:spcAft>
                <a:spcPts val="600"/>
              </a:spcAft>
              <a:buSzPct val="100000"/>
              <a:buChar char="•"/>
            </a:pPr>
            <a:r>
              <a:rPr lang="en-US" sz="1200" dirty="0">
                <a:solidFill>
                  <a:srgbClr val="0D1219"/>
                </a:solidFill>
                <a:latin typeface="Arial" pitchFamily="34" charset="0"/>
                <a:ea typeface="Arial" pitchFamily="34" charset="-122"/>
                <a:cs typeface="Arial" pitchFamily="34" charset="-120"/>
              </a:rPr>
              <a:t>Do NOT merge. The gate is the next block.</a:t>
            </a:r>
            <a:endParaRPr lang="en-US" sz="1200" dirty="0"/>
          </a:p>
        </p:txBody>
      </p:sp>
      <p:sp>
        <p:nvSpPr>
          <p:cNvPr id="12" name="Shape 8"/>
          <p:cNvSpPr/>
          <p:nvPr/>
        </p:nvSpPr>
        <p:spPr>
          <a:xfrm>
            <a:off x="6263640" y="1783080"/>
            <a:ext cx="5285232" cy="2514600"/>
          </a:xfrm>
          <a:prstGeom prst="rect">
            <a:avLst/>
          </a:prstGeom>
          <a:solidFill>
            <a:srgbClr val="F3F6FB"/>
          </a:solidFill>
          <a:ln w="9525">
            <a:solidFill>
              <a:srgbClr val="D9E0EA"/>
            </a:solidFill>
            <a:prstDash val="solid"/>
          </a:ln>
        </p:spPr>
      </p:sp>
      <p:sp>
        <p:nvSpPr>
          <p:cNvPr id="13" name="Shape 9"/>
          <p:cNvSpPr/>
          <p:nvPr/>
        </p:nvSpPr>
        <p:spPr>
          <a:xfrm>
            <a:off x="6263640" y="1783080"/>
            <a:ext cx="54864" cy="2514600"/>
          </a:xfrm>
          <a:prstGeom prst="rect">
            <a:avLst/>
          </a:prstGeom>
          <a:solidFill>
            <a:srgbClr val="EF8B39"/>
          </a:solidFill>
          <a:ln w="12700">
            <a:solidFill>
              <a:srgbClr val="EF8B39"/>
            </a:solidFill>
            <a:prstDash val="solid"/>
          </a:ln>
        </p:spPr>
      </p:sp>
      <p:sp>
        <p:nvSpPr>
          <p:cNvPr id="14" name="Text 10"/>
          <p:cNvSpPr txBox="1"/>
          <p:nvPr/>
        </p:nvSpPr>
        <p:spPr>
          <a:xfrm>
            <a:off x="6492240" y="1920240"/>
            <a:ext cx="4846320" cy="237744"/>
          </a:xfrm>
          <a:prstGeom prst="rect">
            <a:avLst/>
          </a:prstGeom>
          <a:noFill/>
          <a:ln/>
        </p:spPr>
        <p:txBody>
          <a:bodyPr wrap="square" lIns="0" tIns="0" rIns="0" bIns="0" rtlCol="0" anchor="ctr"/>
          <a:lstStyle/>
          <a:p>
            <a:pPr indent="0" marL="0">
              <a:buNone/>
            </a:pPr>
            <a:r>
              <a:rPr lang="en-US" sz="850" b="1" spc="150" kern="0" dirty="0">
                <a:solidFill>
                  <a:srgbClr val="EF8B39"/>
                </a:solidFill>
                <a:latin typeface="Courier New" pitchFamily="34" charset="0"/>
                <a:ea typeface="Courier New" pitchFamily="34" charset="-122"/>
                <a:cs typeface="Courier New" pitchFamily="34" charset="-120"/>
              </a:rPr>
              <a:t>PICK ONE FROM THE MENU</a:t>
            </a:r>
            <a:endParaRPr lang="en-US" sz="850" dirty="0"/>
          </a:p>
        </p:txBody>
      </p:sp>
      <p:sp>
        <p:nvSpPr>
          <p:cNvPr id="15" name="Text 11"/>
          <p:cNvSpPr txBox="1"/>
          <p:nvPr/>
        </p:nvSpPr>
        <p:spPr>
          <a:xfrm>
            <a:off x="6492240" y="2240280"/>
            <a:ext cx="4846320" cy="2011680"/>
          </a:xfrm>
          <a:prstGeom prst="rect">
            <a:avLst/>
          </a:prstGeom>
          <a:noFill/>
          <a:ln/>
        </p:spPr>
        <p:txBody>
          <a:bodyPr wrap="square" lIns="0" tIns="0" rIns="0" bIns="0" rtlCol="0" anchor="t"/>
          <a:lstStyle/>
          <a:p>
            <a:pPr marL="177800" indent="-177800">
              <a:lnSpc>
                <a:spcPct val="115000"/>
              </a:lnSpc>
              <a:spcAft>
                <a:spcPts val="600"/>
              </a:spcAft>
              <a:buSzPct val="100000"/>
              <a:buChar char="•"/>
            </a:pPr>
            <a:r>
              <a:rPr lang="en-US" sz="1200" dirty="0">
                <a:solidFill>
                  <a:srgbClr val="0D1219"/>
                </a:solidFill>
                <a:latin typeface="Arial" pitchFamily="34" charset="0"/>
                <a:ea typeface="Arial" pitchFamily="34" charset="-122"/>
                <a:cs typeface="Arial" pitchFamily="34" charset="-120"/>
              </a:rPr>
              <a:t>Your real columns and your real prices, from the spreadsheet you brought</a:t>
            </a:r>
            <a:endParaRPr lang="en-US" sz="1200" dirty="0"/>
          </a:p>
          <a:p>
            <a:pPr marL="177800" indent="-177800">
              <a:lnSpc>
                <a:spcPct val="115000"/>
              </a:lnSpc>
              <a:spcAft>
                <a:spcPts val="600"/>
              </a:spcAft>
              <a:buSzPct val="100000"/>
              <a:buChar char="•"/>
            </a:pPr>
            <a:r>
              <a:rPr lang="en-US" sz="1200" dirty="0">
                <a:solidFill>
                  <a:srgbClr val="0D1219"/>
                </a:solidFill>
                <a:latin typeface="Arial" pitchFamily="34" charset="0"/>
                <a:ea typeface="Arial" pitchFamily="34" charset="-122"/>
                <a:cs typeface="Arial" pitchFamily="34" charset="-120"/>
              </a:rPr>
              <a:t>One calculated field: a total, a margin, a due date</a:t>
            </a:r>
            <a:endParaRPr lang="en-US" sz="1200" dirty="0"/>
          </a:p>
          <a:p>
            <a:pPr marL="177800" indent="-177800">
              <a:lnSpc>
                <a:spcPct val="115000"/>
              </a:lnSpc>
              <a:spcAft>
                <a:spcPts val="600"/>
              </a:spcAft>
              <a:buSzPct val="100000"/>
              <a:buChar char="•"/>
            </a:pPr>
            <a:r>
              <a:rPr lang="en-US" sz="1200" dirty="0">
                <a:solidFill>
                  <a:srgbClr val="0D1219"/>
                </a:solidFill>
                <a:latin typeface="Arial" pitchFamily="34" charset="0"/>
                <a:ea typeface="Arial" pitchFamily="34" charset="-122"/>
                <a:cs typeface="Arial" pitchFamily="34" charset="-120"/>
              </a:rPr>
              <a:t>Your business name, colours and logo</a:t>
            </a:r>
            <a:endParaRPr lang="en-US" sz="1200" dirty="0"/>
          </a:p>
          <a:p>
            <a:pPr marL="177800" indent="-177800">
              <a:lnSpc>
                <a:spcPct val="115000"/>
              </a:lnSpc>
              <a:spcAft>
                <a:spcPts val="600"/>
              </a:spcAft>
              <a:buSzPct val="100000"/>
              <a:buChar char="•"/>
            </a:pPr>
            <a:r>
              <a:rPr lang="en-US" sz="1200" dirty="0">
                <a:solidFill>
                  <a:srgbClr val="0D1219"/>
                </a:solidFill>
                <a:latin typeface="Arial" pitchFamily="34" charset="0"/>
                <a:ea typeface="Arial" pitchFamily="34" charset="-122"/>
                <a:cs typeface="Arial" pitchFamily="34" charset="-120"/>
              </a:rPr>
              <a:t>The “what must never happen” line from your spec, enforced on the form</a:t>
            </a:r>
            <a:endParaRPr lang="en-US" sz="1200" dirty="0"/>
          </a:p>
        </p:txBody>
      </p:sp>
      <p:sp>
        <p:nvSpPr>
          <p:cNvPr id="16" name="Shape 12"/>
          <p:cNvSpPr/>
          <p:nvPr/>
        </p:nvSpPr>
        <p:spPr>
          <a:xfrm>
            <a:off x="640080" y="4480560"/>
            <a:ext cx="10908792" cy="868680"/>
          </a:xfrm>
          <a:prstGeom prst="rect">
            <a:avLst/>
          </a:prstGeom>
          <a:solidFill>
            <a:srgbClr val="E8EEF7"/>
          </a:solidFill>
          <a:ln w="9525">
            <a:solidFill>
              <a:srgbClr val="D9E0EA"/>
            </a:solidFill>
            <a:prstDash val="solid"/>
          </a:ln>
        </p:spPr>
      </p:sp>
      <p:sp>
        <p:nvSpPr>
          <p:cNvPr id="17" name="Text 13"/>
          <p:cNvSpPr txBox="1"/>
          <p:nvPr/>
        </p:nvSpPr>
        <p:spPr>
          <a:xfrm>
            <a:off x="868680" y="4553712"/>
            <a:ext cx="10451592" cy="731520"/>
          </a:xfrm>
          <a:prstGeom prst="rect">
            <a:avLst/>
          </a:prstGeom>
          <a:noFill/>
          <a:ln/>
        </p:spPr>
        <p:txBody>
          <a:bodyPr wrap="square" lIns="0" tIns="0" rIns="0" bIns="0" rtlCol="0" anchor="ctr"/>
          <a:lstStyle/>
          <a:p>
            <a:pPr algn="l" indent="0" marL="0">
              <a:lnSpc>
                <a:spcPct val="115000"/>
              </a:lnSpc>
              <a:buNone/>
            </a:pPr>
            <a:r>
              <a:rPr lang="en-US" sz="1200" dirty="0">
                <a:solidFill>
                  <a:srgbClr val="0D1219"/>
                </a:solidFill>
                <a:latin typeface="Arial" pitchFamily="34" charset="0"/>
                <a:ea typeface="Arial" pitchFamily="34" charset="-122"/>
                <a:cs typeface="Arial" pitchFamily="34" charset="-120"/>
              </a:rPr>
              <a:t>I hack on mine on the projector while you hack on yours. When it goes wrong up here, stop and watch: read what it did, paste the error back, and close the pull request if it wanders.</a:t>
            </a:r>
            <a:endParaRPr lang="en-US" sz="1200" dirty="0"/>
          </a:p>
        </p:txBody>
      </p:sp>
      <p:sp>
        <p:nvSpPr>
          <p:cNvPr id="18" name="Shape 14"/>
          <p:cNvSpPr/>
          <p:nvPr/>
        </p:nvSpPr>
        <p:spPr>
          <a:xfrm>
            <a:off x="640080" y="5806440"/>
            <a:ext cx="256032" cy="256032"/>
          </a:xfrm>
          <a:prstGeom prst="rect">
            <a:avLst/>
          </a:prstGeom>
          <a:solidFill>
            <a:srgbClr val="22C55E"/>
          </a:solidFill>
          <a:ln w="12700">
            <a:solidFill>
              <a:srgbClr val="22C55E"/>
            </a:solidFill>
            <a:prstDash val="solid"/>
          </a:ln>
        </p:spPr>
      </p:sp>
      <p:sp>
        <p:nvSpPr>
          <p:cNvPr id="19" name="Text 15"/>
          <p:cNvSpPr/>
          <p:nvPr/>
        </p:nvSpPr>
        <p:spPr>
          <a:xfrm>
            <a:off x="987552" y="5806440"/>
            <a:ext cx="237744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Green sticky = done</a:t>
            </a:r>
            <a:endParaRPr lang="en-US" sz="1100" dirty="0"/>
          </a:p>
        </p:txBody>
      </p:sp>
      <p:sp>
        <p:nvSpPr>
          <p:cNvPr id="20" name="Shape 16"/>
          <p:cNvSpPr/>
          <p:nvPr/>
        </p:nvSpPr>
        <p:spPr>
          <a:xfrm>
            <a:off x="3474720" y="5806440"/>
            <a:ext cx="256032" cy="256032"/>
          </a:xfrm>
          <a:prstGeom prst="rect">
            <a:avLst/>
          </a:prstGeom>
          <a:solidFill>
            <a:srgbClr val="EF4444"/>
          </a:solidFill>
          <a:ln w="12700">
            <a:solidFill>
              <a:srgbClr val="EF4444"/>
            </a:solidFill>
            <a:prstDash val="solid"/>
          </a:ln>
        </p:spPr>
      </p:sp>
      <p:sp>
        <p:nvSpPr>
          <p:cNvPr id="21" name="Text 17"/>
          <p:cNvSpPr/>
          <p:nvPr/>
        </p:nvSpPr>
        <p:spPr>
          <a:xfrm>
            <a:off x="3822192" y="5806440"/>
            <a:ext cx="411480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Red sticky = a helper comes to you</a:t>
            </a:r>
            <a:endParaRPr lang="en-US" sz="1100" dirty="0"/>
          </a:p>
        </p:txBody>
      </p:sp>
      <p:sp>
        <p:nvSpPr>
          <p:cNvPr id="22" name="Shape 18"/>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23" name="Text 19"/>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4" name="Shape 20"/>
          <p:cNvSpPr/>
          <p:nvPr/>
        </p:nvSpPr>
        <p:spPr>
          <a:xfrm>
            <a:off x="4192524" y="6291072"/>
            <a:ext cx="896112" cy="274320"/>
          </a:xfrm>
          <a:prstGeom prst="roundRect">
            <a:avLst>
              <a:gd name="adj" fmla="val 20000"/>
            </a:avLst>
          </a:prstGeom>
          <a:solidFill>
            <a:srgbClr val="EF8B39"/>
          </a:solidFill>
          <a:ln w="6350">
            <a:solidFill>
              <a:srgbClr val="EF8B39"/>
            </a:solidFill>
            <a:prstDash val="solid"/>
          </a:ln>
        </p:spPr>
      </p:sp>
      <p:sp>
        <p:nvSpPr>
          <p:cNvPr id="25" name="Text 21"/>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BUILD</a:t>
            </a:r>
            <a:endParaRPr lang="en-US" sz="800" dirty="0"/>
          </a:p>
        </p:txBody>
      </p:sp>
      <p:sp>
        <p:nvSpPr>
          <p:cNvPr id="26" name="Shape 22"/>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27" name="Text 23"/>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28" name="Shape 24"/>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29" name="Text 25"/>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30" name="Shape 26"/>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31" name="Text 27"/>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32" name="Shape 28"/>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33" name="Text 29"/>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24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6  ·  TEST IS THE GATE  ·  25 MIN  ·  HANDS-ON</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2:20 – 2:45</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3000" b="1" dirty="0">
                <a:solidFill>
                  <a:srgbClr val="0D1219"/>
                </a:solidFill>
                <a:latin typeface="Arial" pitchFamily="34" charset="0"/>
                <a:ea typeface="Arial" pitchFamily="34" charset="-122"/>
                <a:cs typeface="Arial" pitchFamily="34" charset="-120"/>
              </a:rPr>
              <a:t>If you can’t verify it, don’t ship it.</a:t>
            </a:r>
            <a:endParaRPr lang="en-US" sz="30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buNone/>
            </a:pPr>
            <a:r>
              <a:rPr lang="en-US" sz="1400" dirty="0">
                <a:solidFill>
                  <a:srgbClr val="5B6675"/>
                </a:solidFill>
                <a:latin typeface="Arial" pitchFamily="34" charset="0"/>
                <a:ea typeface="Arial" pitchFamily="34" charset="-122"/>
                <a:cs typeface="Arial" pitchFamily="34" charset="-120"/>
              </a:rPr>
              <a:t>Anthropic’s own guidance for Claude Code: give it a check it can run.</a:t>
            </a:r>
            <a:endParaRPr lang="en-US" sz="1400" dirty="0"/>
          </a:p>
        </p:txBody>
      </p:sp>
      <p:sp>
        <p:nvSpPr>
          <p:cNvPr id="9" name="Shape 5"/>
          <p:cNvSpPr/>
          <p:nvPr/>
        </p:nvSpPr>
        <p:spPr>
          <a:xfrm>
            <a:off x="640080" y="2194560"/>
            <a:ext cx="3520440" cy="1463040"/>
          </a:xfrm>
          <a:prstGeom prst="rect">
            <a:avLst/>
          </a:prstGeom>
          <a:solidFill>
            <a:srgbClr val="F3F6FB"/>
          </a:solidFill>
          <a:ln w="9525">
            <a:solidFill>
              <a:srgbClr val="D9E0EA"/>
            </a:solidFill>
            <a:prstDash val="solid"/>
          </a:ln>
        </p:spPr>
      </p:sp>
      <p:sp>
        <p:nvSpPr>
          <p:cNvPr id="10" name="Shape 6"/>
          <p:cNvSpPr/>
          <p:nvPr/>
        </p:nvSpPr>
        <p:spPr>
          <a:xfrm>
            <a:off x="640080" y="2194560"/>
            <a:ext cx="54864" cy="1463040"/>
          </a:xfrm>
          <a:prstGeom prst="rect">
            <a:avLst/>
          </a:prstGeom>
          <a:solidFill>
            <a:srgbClr val="22C55E"/>
          </a:solidFill>
          <a:ln w="12700">
            <a:solidFill>
              <a:srgbClr val="22C55E"/>
            </a:solidFill>
            <a:prstDash val="solid"/>
          </a:ln>
        </p:spPr>
      </p:sp>
      <p:sp>
        <p:nvSpPr>
          <p:cNvPr id="11" name="Text 7"/>
          <p:cNvSpPr txBox="1"/>
          <p:nvPr/>
        </p:nvSpPr>
        <p:spPr>
          <a:xfrm>
            <a:off x="868680" y="2359152"/>
            <a:ext cx="3108960" cy="365760"/>
          </a:xfrm>
          <a:prstGeom prst="rect">
            <a:avLst/>
          </a:prstGeom>
          <a:noFill/>
          <a:ln/>
        </p:spPr>
        <p:txBody>
          <a:bodyPr wrap="square" lIns="0" tIns="0" rIns="0" bIns="0" rtlCol="0" anchor="t"/>
          <a:lstStyle/>
          <a:p>
            <a:pPr indent="0" marL="0">
              <a:buNone/>
            </a:pPr>
            <a:r>
              <a:rPr lang="en-US" sz="1600" b="1" dirty="0">
                <a:solidFill>
                  <a:srgbClr val="0D1219"/>
                </a:solidFill>
                <a:latin typeface="Arial" pitchFamily="34" charset="0"/>
                <a:ea typeface="Arial" pitchFamily="34" charset="-122"/>
                <a:cs typeface="Arial" pitchFamily="34" charset="-120"/>
              </a:rPr>
              <a:t>Tests</a:t>
            </a:r>
            <a:endParaRPr lang="en-US" sz="1600" dirty="0"/>
          </a:p>
        </p:txBody>
      </p:sp>
      <p:sp>
        <p:nvSpPr>
          <p:cNvPr id="12" name="Text 8"/>
          <p:cNvSpPr txBox="1"/>
          <p:nvPr/>
        </p:nvSpPr>
        <p:spPr>
          <a:xfrm>
            <a:off x="868680" y="2743200"/>
            <a:ext cx="3108960" cy="822960"/>
          </a:xfrm>
          <a:prstGeom prst="rect">
            <a:avLst/>
          </a:prstGeom>
          <a:noFill/>
          <a:ln/>
        </p:spPr>
        <p:txBody>
          <a:bodyPr wrap="square" lIns="0" tIns="0" rIns="0" bIns="0" rtlCol="0" anchor="t"/>
          <a:lstStyle/>
          <a:p>
            <a:pPr algn="l" indent="0" marL="0">
              <a:lnSpc>
                <a:spcPct val="115000"/>
              </a:lnSpc>
              <a:buNone/>
            </a:pPr>
            <a:r>
              <a:rPr lang="en-US" sz="1150" dirty="0">
                <a:solidFill>
                  <a:srgbClr val="5B6675"/>
                </a:solidFill>
                <a:latin typeface="Arial" pitchFamily="34" charset="0"/>
                <a:ea typeface="Arial" pitchFamily="34" charset="-122"/>
                <a:cs typeface="Arial" pitchFamily="34" charset="-120"/>
              </a:rPr>
              <a:t>One check that does what your spreadsheet does. Runs on every push.</a:t>
            </a:r>
            <a:endParaRPr lang="en-US" sz="1150" dirty="0"/>
          </a:p>
        </p:txBody>
      </p:sp>
      <p:sp>
        <p:nvSpPr>
          <p:cNvPr id="13" name="Shape 9"/>
          <p:cNvSpPr/>
          <p:nvPr/>
        </p:nvSpPr>
        <p:spPr>
          <a:xfrm>
            <a:off x="4315968" y="2194560"/>
            <a:ext cx="3520440" cy="1463040"/>
          </a:xfrm>
          <a:prstGeom prst="rect">
            <a:avLst/>
          </a:prstGeom>
          <a:solidFill>
            <a:srgbClr val="F3F6FB"/>
          </a:solidFill>
          <a:ln w="9525">
            <a:solidFill>
              <a:srgbClr val="D9E0EA"/>
            </a:solidFill>
            <a:prstDash val="solid"/>
          </a:ln>
        </p:spPr>
      </p:sp>
      <p:sp>
        <p:nvSpPr>
          <p:cNvPr id="14" name="Shape 10"/>
          <p:cNvSpPr/>
          <p:nvPr/>
        </p:nvSpPr>
        <p:spPr>
          <a:xfrm>
            <a:off x="4315968" y="2194560"/>
            <a:ext cx="54864" cy="1463040"/>
          </a:xfrm>
          <a:prstGeom prst="rect">
            <a:avLst/>
          </a:prstGeom>
          <a:solidFill>
            <a:srgbClr val="22C55E"/>
          </a:solidFill>
          <a:ln w="12700">
            <a:solidFill>
              <a:srgbClr val="22C55E"/>
            </a:solidFill>
            <a:prstDash val="solid"/>
          </a:ln>
        </p:spPr>
      </p:sp>
      <p:sp>
        <p:nvSpPr>
          <p:cNvPr id="15" name="Text 11"/>
          <p:cNvSpPr txBox="1"/>
          <p:nvPr/>
        </p:nvSpPr>
        <p:spPr>
          <a:xfrm>
            <a:off x="4544568" y="2359152"/>
            <a:ext cx="3108960" cy="365760"/>
          </a:xfrm>
          <a:prstGeom prst="rect">
            <a:avLst/>
          </a:prstGeom>
          <a:noFill/>
          <a:ln/>
        </p:spPr>
        <p:txBody>
          <a:bodyPr wrap="square" lIns="0" tIns="0" rIns="0" bIns="0" rtlCol="0" anchor="t"/>
          <a:lstStyle/>
          <a:p>
            <a:pPr indent="0" marL="0">
              <a:buNone/>
            </a:pPr>
            <a:r>
              <a:rPr lang="en-US" sz="1600" b="1" dirty="0">
                <a:solidFill>
                  <a:srgbClr val="0D1219"/>
                </a:solidFill>
                <a:latin typeface="Arial" pitchFamily="34" charset="0"/>
                <a:ea typeface="Arial" pitchFamily="34" charset="-122"/>
                <a:cs typeface="Arial" pitchFamily="34" charset="-120"/>
              </a:rPr>
              <a:t>Build</a:t>
            </a:r>
            <a:endParaRPr lang="en-US" sz="1600" dirty="0"/>
          </a:p>
        </p:txBody>
      </p:sp>
      <p:sp>
        <p:nvSpPr>
          <p:cNvPr id="16" name="Text 12"/>
          <p:cNvSpPr txBox="1"/>
          <p:nvPr/>
        </p:nvSpPr>
        <p:spPr>
          <a:xfrm>
            <a:off x="4544568" y="2743200"/>
            <a:ext cx="3108960" cy="822960"/>
          </a:xfrm>
          <a:prstGeom prst="rect">
            <a:avLst/>
          </a:prstGeom>
          <a:noFill/>
          <a:ln/>
        </p:spPr>
        <p:txBody>
          <a:bodyPr wrap="square" lIns="0" tIns="0" rIns="0" bIns="0" rtlCol="0" anchor="t"/>
          <a:lstStyle/>
          <a:p>
            <a:pPr algn="l" indent="0" marL="0">
              <a:lnSpc>
                <a:spcPct val="115000"/>
              </a:lnSpc>
              <a:buNone/>
            </a:pPr>
            <a:r>
              <a:rPr lang="en-US" sz="1150" dirty="0">
                <a:solidFill>
                  <a:srgbClr val="5B6675"/>
                </a:solidFill>
                <a:latin typeface="Arial" pitchFamily="34" charset="0"/>
                <a:ea typeface="Arial" pitchFamily="34" charset="-122"/>
                <a:cs typeface="Arial" pitchFamily="34" charset="-120"/>
              </a:rPr>
              <a:t>Does it compile? Vercel refuses to deploy if not.</a:t>
            </a:r>
            <a:endParaRPr lang="en-US" sz="1150" dirty="0"/>
          </a:p>
        </p:txBody>
      </p:sp>
      <p:sp>
        <p:nvSpPr>
          <p:cNvPr id="17" name="Shape 13"/>
          <p:cNvSpPr/>
          <p:nvPr/>
        </p:nvSpPr>
        <p:spPr>
          <a:xfrm>
            <a:off x="7991856" y="2194560"/>
            <a:ext cx="3520440" cy="1463040"/>
          </a:xfrm>
          <a:prstGeom prst="rect">
            <a:avLst/>
          </a:prstGeom>
          <a:solidFill>
            <a:srgbClr val="F3F6FB"/>
          </a:solidFill>
          <a:ln w="9525">
            <a:solidFill>
              <a:srgbClr val="D9E0EA"/>
            </a:solidFill>
            <a:prstDash val="solid"/>
          </a:ln>
        </p:spPr>
      </p:sp>
      <p:sp>
        <p:nvSpPr>
          <p:cNvPr id="18" name="Shape 14"/>
          <p:cNvSpPr/>
          <p:nvPr/>
        </p:nvSpPr>
        <p:spPr>
          <a:xfrm>
            <a:off x="7991856" y="2194560"/>
            <a:ext cx="54864" cy="1463040"/>
          </a:xfrm>
          <a:prstGeom prst="rect">
            <a:avLst/>
          </a:prstGeom>
          <a:solidFill>
            <a:srgbClr val="22C55E"/>
          </a:solidFill>
          <a:ln w="12700">
            <a:solidFill>
              <a:srgbClr val="22C55E"/>
            </a:solidFill>
            <a:prstDash val="solid"/>
          </a:ln>
        </p:spPr>
      </p:sp>
      <p:sp>
        <p:nvSpPr>
          <p:cNvPr id="19" name="Text 15"/>
          <p:cNvSpPr txBox="1"/>
          <p:nvPr/>
        </p:nvSpPr>
        <p:spPr>
          <a:xfrm>
            <a:off x="8220456" y="2359152"/>
            <a:ext cx="3108960" cy="365760"/>
          </a:xfrm>
          <a:prstGeom prst="rect">
            <a:avLst/>
          </a:prstGeom>
          <a:noFill/>
          <a:ln/>
        </p:spPr>
        <p:txBody>
          <a:bodyPr wrap="square" lIns="0" tIns="0" rIns="0" bIns="0" rtlCol="0" anchor="t"/>
          <a:lstStyle/>
          <a:p>
            <a:pPr indent="0" marL="0">
              <a:buNone/>
            </a:pPr>
            <a:r>
              <a:rPr lang="en-US" sz="1600" b="1" dirty="0">
                <a:solidFill>
                  <a:srgbClr val="0D1219"/>
                </a:solidFill>
                <a:latin typeface="Arial" pitchFamily="34" charset="0"/>
                <a:ea typeface="Arial" pitchFamily="34" charset="-122"/>
                <a:cs typeface="Arial" pitchFamily="34" charset="-120"/>
              </a:rPr>
              <a:t>Screenshot</a:t>
            </a:r>
            <a:endParaRPr lang="en-US" sz="1600" dirty="0"/>
          </a:p>
        </p:txBody>
      </p:sp>
      <p:sp>
        <p:nvSpPr>
          <p:cNvPr id="20" name="Text 16"/>
          <p:cNvSpPr txBox="1"/>
          <p:nvPr/>
        </p:nvSpPr>
        <p:spPr>
          <a:xfrm>
            <a:off x="8220456" y="2743200"/>
            <a:ext cx="3108960" cy="822960"/>
          </a:xfrm>
          <a:prstGeom prst="rect">
            <a:avLst/>
          </a:prstGeom>
          <a:noFill/>
          <a:ln/>
        </p:spPr>
        <p:txBody>
          <a:bodyPr wrap="square" lIns="0" tIns="0" rIns="0" bIns="0" rtlCol="0" anchor="t"/>
          <a:lstStyle/>
          <a:p>
            <a:pPr algn="l" indent="0" marL="0">
              <a:lnSpc>
                <a:spcPct val="115000"/>
              </a:lnSpc>
              <a:buNone/>
            </a:pPr>
            <a:r>
              <a:rPr lang="en-US" sz="1150" dirty="0">
                <a:solidFill>
                  <a:srgbClr val="5B6675"/>
                </a:solidFill>
                <a:latin typeface="Arial" pitchFamily="34" charset="0"/>
                <a:ea typeface="Arial" pitchFamily="34" charset="-122"/>
                <a:cs typeface="Arial" pitchFamily="34" charset="-120"/>
              </a:rPr>
              <a:t>Does it look like the spec? Claude can compare.</a:t>
            </a:r>
            <a:endParaRPr lang="en-US" sz="1150" dirty="0"/>
          </a:p>
        </p:txBody>
      </p:sp>
      <p:sp>
        <p:nvSpPr>
          <p:cNvPr id="21" name="Shape 17"/>
          <p:cNvSpPr/>
          <p:nvPr/>
        </p:nvSpPr>
        <p:spPr>
          <a:xfrm>
            <a:off x="640080" y="3886200"/>
            <a:ext cx="10908792" cy="1280160"/>
          </a:xfrm>
          <a:prstGeom prst="rect">
            <a:avLst/>
          </a:prstGeom>
          <a:solidFill>
            <a:srgbClr val="E8EEF7"/>
          </a:solidFill>
          <a:ln w="9525">
            <a:solidFill>
              <a:srgbClr val="D9E0EA"/>
            </a:solidFill>
            <a:prstDash val="solid"/>
          </a:ln>
        </p:spPr>
      </p:sp>
      <p:sp>
        <p:nvSpPr>
          <p:cNvPr id="22" name="Shape 18"/>
          <p:cNvSpPr/>
          <p:nvPr/>
        </p:nvSpPr>
        <p:spPr>
          <a:xfrm>
            <a:off x="640080" y="3886200"/>
            <a:ext cx="54864" cy="1280160"/>
          </a:xfrm>
          <a:prstGeom prst="rect">
            <a:avLst/>
          </a:prstGeom>
          <a:solidFill>
            <a:srgbClr val="EF8B39"/>
          </a:solidFill>
          <a:ln w="12700">
            <a:solidFill>
              <a:srgbClr val="EF8B39"/>
            </a:solidFill>
            <a:prstDash val="solid"/>
          </a:ln>
        </p:spPr>
      </p:sp>
      <p:sp>
        <p:nvSpPr>
          <p:cNvPr id="23" name="Text 19"/>
          <p:cNvSpPr txBox="1"/>
          <p:nvPr/>
        </p:nvSpPr>
        <p:spPr>
          <a:xfrm>
            <a:off x="868680" y="4023360"/>
            <a:ext cx="4572000" cy="237744"/>
          </a:xfrm>
          <a:prstGeom prst="rect">
            <a:avLst/>
          </a:prstGeom>
          <a:noFill/>
          <a:ln/>
        </p:spPr>
        <p:txBody>
          <a:bodyPr wrap="square" lIns="0" tIns="0" rIns="0" bIns="0" rtlCol="0" anchor="ctr"/>
          <a:lstStyle/>
          <a:p>
            <a:pPr indent="0" marL="0">
              <a:buNone/>
            </a:pPr>
            <a:r>
              <a:rPr lang="en-US" sz="850" b="1" spc="150" kern="0" dirty="0">
                <a:solidFill>
                  <a:srgbClr val="EF8B39"/>
                </a:solidFill>
                <a:latin typeface="Courier New" pitchFamily="34" charset="0"/>
                <a:ea typeface="Courier New" pitchFamily="34" charset="-122"/>
                <a:cs typeface="Courier New" pitchFamily="34" charset="-120"/>
              </a:rPr>
              <a:t>YOU ALREADY WROTE THE TEST</a:t>
            </a:r>
            <a:endParaRPr lang="en-US" sz="850" dirty="0"/>
          </a:p>
        </p:txBody>
      </p:sp>
      <p:sp>
        <p:nvSpPr>
          <p:cNvPr id="24" name="Text 20"/>
          <p:cNvSpPr txBox="1"/>
          <p:nvPr/>
        </p:nvSpPr>
        <p:spPr>
          <a:xfrm>
            <a:off x="868680" y="4297680"/>
            <a:ext cx="10451592" cy="822960"/>
          </a:xfrm>
          <a:prstGeom prst="rect">
            <a:avLst/>
          </a:prstGeom>
          <a:noFill/>
          <a:ln/>
        </p:spPr>
        <p:txBody>
          <a:bodyPr wrap="square" lIns="0" tIns="0" rIns="0" bIns="0" rtlCol="0" anchor="t"/>
          <a:lstStyle/>
          <a:p>
            <a:pPr algn="l" indent="0" marL="0">
              <a:lnSpc>
                <a:spcPct val="115000"/>
              </a:lnSpc>
              <a:buNone/>
            </a:pPr>
            <a:r>
              <a:rPr lang="en-US" sz="1250" dirty="0">
                <a:solidFill>
                  <a:srgbClr val="0D1219"/>
                </a:solidFill>
                <a:latin typeface="Arial" pitchFamily="34" charset="0"/>
                <a:ea typeface="Arial" pitchFamily="34" charset="-122"/>
                <a:cs typeface="Arial" pitchFamily="34" charset="-120"/>
              </a:rPr>
              <a:t>The last heading in spec.md, “How we know it works,” is the test. Playwright turns that sentence into a check. GitHub Actions runs it on every pull request. 2,000 free minutes a month; unlimited on public repos.</a:t>
            </a:r>
            <a:endParaRPr lang="en-US" sz="1250" dirty="0"/>
          </a:p>
        </p:txBody>
      </p:sp>
      <p:sp>
        <p:nvSpPr>
          <p:cNvPr id="25" name="Shape 21"/>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26" name="Text 22"/>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7" name="Shape 23"/>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28" name="Text 24"/>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29" name="Shape 25"/>
          <p:cNvSpPr/>
          <p:nvPr/>
        </p:nvSpPr>
        <p:spPr>
          <a:xfrm>
            <a:off x="5161788" y="6291072"/>
            <a:ext cx="896112" cy="274320"/>
          </a:xfrm>
          <a:prstGeom prst="roundRect">
            <a:avLst>
              <a:gd name="adj" fmla="val 20000"/>
            </a:avLst>
          </a:prstGeom>
          <a:solidFill>
            <a:srgbClr val="EF8B39"/>
          </a:solidFill>
          <a:ln w="6350">
            <a:solidFill>
              <a:srgbClr val="EF8B39"/>
            </a:solidFill>
            <a:prstDash val="solid"/>
          </a:ln>
        </p:spPr>
      </p:sp>
      <p:sp>
        <p:nvSpPr>
          <p:cNvPr id="30" name="Text 26"/>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TEST</a:t>
            </a:r>
            <a:endParaRPr lang="en-US" sz="800" dirty="0"/>
          </a:p>
        </p:txBody>
      </p:sp>
      <p:sp>
        <p:nvSpPr>
          <p:cNvPr id="31" name="Shape 27"/>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32" name="Text 28"/>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33" name="Shape 29"/>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34" name="Text 30"/>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35" name="Shape 31"/>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36" name="Text 32"/>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25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6  ·  TEST IS THE GATE  ·  25 MIN  ·  HANDS-ON</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2:20 – 2:45</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700" b="1" dirty="0">
                <a:solidFill>
                  <a:srgbClr val="0D1219"/>
                </a:solidFill>
                <a:latin typeface="Arial" pitchFamily="34" charset="0"/>
                <a:ea typeface="Arial" pitchFamily="34" charset="-122"/>
                <a:cs typeface="Arial" pitchFamily="34" charset="-120"/>
              </a:rPr>
              <a:t>One test, from your spec. Then the merge waits for green.</a:t>
            </a:r>
            <a:endParaRPr lang="en-US" sz="2700" dirty="0"/>
          </a:p>
        </p:txBody>
      </p:sp>
      <p:sp>
        <p:nvSpPr>
          <p:cNvPr id="8" name="Shape 4"/>
          <p:cNvSpPr/>
          <p:nvPr/>
        </p:nvSpPr>
        <p:spPr>
          <a:xfrm>
            <a:off x="640080" y="1783080"/>
            <a:ext cx="5760720" cy="2514600"/>
          </a:xfrm>
          <a:prstGeom prst="rect">
            <a:avLst/>
          </a:prstGeom>
          <a:solidFill>
            <a:srgbClr val="121B2B"/>
          </a:solidFill>
          <a:ln w="12700">
            <a:solidFill>
              <a:srgbClr val="EF8B39"/>
            </a:solidFill>
            <a:prstDash val="solid"/>
          </a:ln>
        </p:spPr>
      </p:sp>
      <p:sp>
        <p:nvSpPr>
          <p:cNvPr id="9" name="Text 5"/>
          <p:cNvSpPr/>
          <p:nvPr/>
        </p:nvSpPr>
        <p:spPr>
          <a:xfrm>
            <a:off x="822960" y="1892808"/>
            <a:ext cx="5394960" cy="228600"/>
          </a:xfrm>
          <a:prstGeom prst="rect">
            <a:avLst/>
          </a:prstGeom>
          <a:noFill/>
          <a:ln/>
        </p:spPr>
        <p:txBody>
          <a:bodyPr wrap="square" lIns="0" tIns="0" rIns="0" bIns="0" rtlCol="0" anchor="ctr"/>
          <a:lstStyle/>
          <a:p>
            <a:pPr indent="0" marL="0">
              <a:buNone/>
            </a:pPr>
            <a:r>
              <a:rPr lang="en-US" sz="800" b="1" spc="150" kern="0" dirty="0">
                <a:solidFill>
                  <a:srgbClr val="EF8B39"/>
                </a:solidFill>
                <a:latin typeface="Courier New" pitchFamily="34" charset="0"/>
                <a:ea typeface="Courier New" pitchFamily="34" charset="-122"/>
                <a:cs typeface="Courier New" pitchFamily="34" charset="-120"/>
              </a:rPr>
              <a:t>TYPE THIS, VERBATIM</a:t>
            </a:r>
            <a:endParaRPr lang="en-US" sz="800" dirty="0"/>
          </a:p>
        </p:txBody>
      </p:sp>
      <p:sp>
        <p:nvSpPr>
          <p:cNvPr id="10" name="Text 6"/>
          <p:cNvSpPr txBox="1"/>
          <p:nvPr/>
        </p:nvSpPr>
        <p:spPr>
          <a:xfrm>
            <a:off x="822960" y="2167128"/>
            <a:ext cx="5394960" cy="2011680"/>
          </a:xfrm>
          <a:prstGeom prst="rect">
            <a:avLst/>
          </a:prstGeom>
          <a:noFill/>
          <a:ln/>
        </p:spPr>
        <p:txBody>
          <a:bodyPr wrap="square" lIns="0" tIns="0" rIns="0" bIns="0" rtlCol="0" anchor="t"/>
          <a:lstStyle/>
          <a:p>
            <a:pPr indent="0" marL="0">
              <a:lnSpc>
                <a:spcPct val="120000"/>
              </a:lnSpc>
              <a:buNone/>
            </a:pPr>
            <a:r>
              <a:rPr lang="en-US" sz="1050" dirty="0">
                <a:solidFill>
                  <a:srgbClr val="E6EBF2"/>
                </a:solidFill>
                <a:latin typeface="Courier New" pitchFamily="34" charset="0"/>
                <a:ea typeface="Courier New" pitchFamily="34" charset="-122"/>
                <a:cs typeface="Courier New" pitchFamily="34" charset="-120"/>
              </a:rPr>
              <a:t>Add Playwright to this project. Write ONE test that loads my-tool, fills in the form with the example under “How we know it works” in spec.md, submits it, and checks that the result described under “What comes out” appears. Add the GitHub Actions workflow so the test runs on every push and pull request to main. Run the test locally and show me the output. Commit and push to the my-tool branch.</a:t>
            </a:r>
            <a:endParaRPr lang="en-US" sz="1050" dirty="0"/>
          </a:p>
        </p:txBody>
      </p:sp>
      <p:sp>
        <p:nvSpPr>
          <p:cNvPr id="11" name="Text 7"/>
          <p:cNvSpPr txBox="1"/>
          <p:nvPr/>
        </p:nvSpPr>
        <p:spPr>
          <a:xfrm>
            <a:off x="6629400" y="1783080"/>
            <a:ext cx="4919472" cy="2743200"/>
          </a:xfrm>
          <a:prstGeom prst="rect">
            <a:avLst/>
          </a:prstGeom>
          <a:noFill/>
          <a:ln/>
        </p:spPr>
        <p:txBody>
          <a:bodyPr wrap="square" lIns="0" tIns="0" rIns="0" bIns="0" rtlCol="0" anchor="t"/>
          <a:lstStyle/>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1  Type the prompt. Push. Open the my-tool PR on github.com.</a:t>
            </a:r>
            <a:endParaRPr lang="en-US" sz="1200" dirty="0"/>
          </a:p>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2  Watch the check: yellow, then green or red.</a:t>
            </a:r>
            <a:endParaRPr lang="en-US" sz="1200" dirty="0"/>
          </a:p>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3  Red? Paste the failure and say: “Fix the code so the test passes. Do not change the test.”</a:t>
            </a:r>
            <a:endParaRPr lang="en-US" sz="1200" dirty="0"/>
          </a:p>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4  Green? Merge. Your tool is live, and it went through a gate. Green sticky.</a:t>
            </a:r>
            <a:endParaRPr lang="en-US" sz="1200" dirty="0"/>
          </a:p>
        </p:txBody>
      </p:sp>
      <p:sp>
        <p:nvSpPr>
          <p:cNvPr id="12" name="Shape 8"/>
          <p:cNvSpPr/>
          <p:nvPr/>
        </p:nvSpPr>
        <p:spPr>
          <a:xfrm>
            <a:off x="640080" y="4480560"/>
            <a:ext cx="5760720" cy="685800"/>
          </a:xfrm>
          <a:prstGeom prst="rect">
            <a:avLst/>
          </a:prstGeom>
          <a:solidFill>
            <a:srgbClr val="E8EEF7"/>
          </a:solidFill>
          <a:ln w="9525">
            <a:solidFill>
              <a:srgbClr val="D9E0EA"/>
            </a:solidFill>
            <a:prstDash val="solid"/>
          </a:ln>
        </p:spPr>
      </p:sp>
      <p:sp>
        <p:nvSpPr>
          <p:cNvPr id="13" name="Shape 9"/>
          <p:cNvSpPr/>
          <p:nvPr/>
        </p:nvSpPr>
        <p:spPr>
          <a:xfrm>
            <a:off x="640080" y="4480560"/>
            <a:ext cx="54864" cy="685800"/>
          </a:xfrm>
          <a:prstGeom prst="rect">
            <a:avLst/>
          </a:prstGeom>
          <a:solidFill>
            <a:srgbClr val="EF4444"/>
          </a:solidFill>
          <a:ln w="12700">
            <a:solidFill>
              <a:srgbClr val="EF4444"/>
            </a:solidFill>
            <a:prstDash val="solid"/>
          </a:ln>
        </p:spPr>
      </p:sp>
      <p:sp>
        <p:nvSpPr>
          <p:cNvPr id="14" name="Text 10"/>
          <p:cNvSpPr txBox="1"/>
          <p:nvPr/>
        </p:nvSpPr>
        <p:spPr>
          <a:xfrm>
            <a:off x="868680" y="4526280"/>
            <a:ext cx="5349240" cy="594360"/>
          </a:xfrm>
          <a:prstGeom prst="rect">
            <a:avLst/>
          </a:prstGeom>
          <a:noFill/>
          <a:ln/>
        </p:spPr>
        <p:txBody>
          <a:bodyPr wrap="square" lIns="0" tIns="0" rIns="0" bIns="0" rtlCol="0" anchor="ctr"/>
          <a:lstStyle/>
          <a:p>
            <a:pPr algn="l" indent="0" marL="0">
              <a:lnSpc>
                <a:spcPct val="115000"/>
              </a:lnSpc>
              <a:buNone/>
            </a:pPr>
            <a:r>
              <a:rPr lang="en-US" sz="1150" dirty="0">
                <a:solidFill>
                  <a:srgbClr val="0D1219"/>
                </a:solidFill>
                <a:latin typeface="Arial" pitchFamily="34" charset="0"/>
                <a:ea typeface="Arial" pitchFamily="34" charset="-122"/>
                <a:cs typeface="Arial" pitchFamily="34" charset="-120"/>
              </a:rPr>
              <a:t>“Do not change the test.” An AI will happily pass a test by deleting it.</a:t>
            </a:r>
            <a:endParaRPr lang="en-US" sz="1150" dirty="0"/>
          </a:p>
        </p:txBody>
      </p:sp>
      <p:sp>
        <p:nvSpPr>
          <p:cNvPr id="15" name="Shape 11"/>
          <p:cNvSpPr/>
          <p:nvPr/>
        </p:nvSpPr>
        <p:spPr>
          <a:xfrm>
            <a:off x="640080" y="5806440"/>
            <a:ext cx="256032" cy="256032"/>
          </a:xfrm>
          <a:prstGeom prst="rect">
            <a:avLst/>
          </a:prstGeom>
          <a:solidFill>
            <a:srgbClr val="22C55E"/>
          </a:solidFill>
          <a:ln w="12700">
            <a:solidFill>
              <a:srgbClr val="22C55E"/>
            </a:solidFill>
            <a:prstDash val="solid"/>
          </a:ln>
        </p:spPr>
      </p:sp>
      <p:sp>
        <p:nvSpPr>
          <p:cNvPr id="16" name="Text 12"/>
          <p:cNvSpPr/>
          <p:nvPr/>
        </p:nvSpPr>
        <p:spPr>
          <a:xfrm>
            <a:off x="987552" y="5806440"/>
            <a:ext cx="237744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Green sticky = done</a:t>
            </a:r>
            <a:endParaRPr lang="en-US" sz="1100" dirty="0"/>
          </a:p>
        </p:txBody>
      </p:sp>
      <p:sp>
        <p:nvSpPr>
          <p:cNvPr id="17" name="Shape 13"/>
          <p:cNvSpPr/>
          <p:nvPr/>
        </p:nvSpPr>
        <p:spPr>
          <a:xfrm>
            <a:off x="3474720" y="5806440"/>
            <a:ext cx="256032" cy="256032"/>
          </a:xfrm>
          <a:prstGeom prst="rect">
            <a:avLst/>
          </a:prstGeom>
          <a:solidFill>
            <a:srgbClr val="EF4444"/>
          </a:solidFill>
          <a:ln w="12700">
            <a:solidFill>
              <a:srgbClr val="EF4444"/>
            </a:solidFill>
            <a:prstDash val="solid"/>
          </a:ln>
        </p:spPr>
      </p:sp>
      <p:sp>
        <p:nvSpPr>
          <p:cNvPr id="18" name="Text 14"/>
          <p:cNvSpPr/>
          <p:nvPr/>
        </p:nvSpPr>
        <p:spPr>
          <a:xfrm>
            <a:off x="3822192" y="5806440"/>
            <a:ext cx="411480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Red sticky = a helper comes to you</a:t>
            </a:r>
            <a:endParaRPr lang="en-US" sz="1100" dirty="0"/>
          </a:p>
        </p:txBody>
      </p:sp>
      <p:sp>
        <p:nvSpPr>
          <p:cNvPr id="19" name="Shape 15"/>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20" name="Text 16"/>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1" name="Shape 17"/>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22" name="Text 18"/>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23" name="Shape 19"/>
          <p:cNvSpPr/>
          <p:nvPr/>
        </p:nvSpPr>
        <p:spPr>
          <a:xfrm>
            <a:off x="5161788" y="6291072"/>
            <a:ext cx="896112" cy="274320"/>
          </a:xfrm>
          <a:prstGeom prst="roundRect">
            <a:avLst>
              <a:gd name="adj" fmla="val 20000"/>
            </a:avLst>
          </a:prstGeom>
          <a:solidFill>
            <a:srgbClr val="EF8B39"/>
          </a:solidFill>
          <a:ln w="6350">
            <a:solidFill>
              <a:srgbClr val="EF8B39"/>
            </a:solidFill>
            <a:prstDash val="solid"/>
          </a:ln>
        </p:spPr>
      </p:sp>
      <p:sp>
        <p:nvSpPr>
          <p:cNvPr id="24" name="Text 20"/>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TEST</a:t>
            </a:r>
            <a:endParaRPr lang="en-US" sz="800" dirty="0"/>
          </a:p>
        </p:txBody>
      </p:sp>
      <p:sp>
        <p:nvSpPr>
          <p:cNvPr id="25" name="Shape 21"/>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26" name="Text 22"/>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27" name="Shape 23"/>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28" name="Text 24"/>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29" name="Shape 25"/>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30" name="Text 26"/>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26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6  ·  TEST IS THE GATE  ·  25 MIN  ·  HANDS-ON</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2:20 – 2:45</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700" b="1" dirty="0">
                <a:solidFill>
                  <a:srgbClr val="0D1219"/>
                </a:solidFill>
                <a:latin typeface="Arial" pitchFamily="34" charset="0"/>
                <a:ea typeface="Arial" pitchFamily="34" charset="-122"/>
                <a:cs typeface="Arial" pitchFamily="34" charset="-120"/>
              </a:rPr>
              <a:t>Now break it on purpose, and watch the gate close.</a:t>
            </a:r>
            <a:endParaRPr lang="en-US" sz="2700" dirty="0"/>
          </a:p>
        </p:txBody>
      </p:sp>
      <p:sp>
        <p:nvSpPr>
          <p:cNvPr id="8" name="Shape 4"/>
          <p:cNvSpPr/>
          <p:nvPr/>
        </p:nvSpPr>
        <p:spPr>
          <a:xfrm>
            <a:off x="640080" y="1783080"/>
            <a:ext cx="5394960" cy="1554480"/>
          </a:xfrm>
          <a:prstGeom prst="rect">
            <a:avLst/>
          </a:prstGeom>
          <a:solidFill>
            <a:srgbClr val="121B2B"/>
          </a:solidFill>
          <a:ln w="12700">
            <a:solidFill>
              <a:srgbClr val="EF8B39"/>
            </a:solidFill>
            <a:prstDash val="solid"/>
          </a:ln>
        </p:spPr>
      </p:sp>
      <p:sp>
        <p:nvSpPr>
          <p:cNvPr id="9" name="Text 5"/>
          <p:cNvSpPr/>
          <p:nvPr/>
        </p:nvSpPr>
        <p:spPr>
          <a:xfrm>
            <a:off x="822960" y="1892808"/>
            <a:ext cx="5029200" cy="228600"/>
          </a:xfrm>
          <a:prstGeom prst="rect">
            <a:avLst/>
          </a:prstGeom>
          <a:noFill/>
          <a:ln/>
        </p:spPr>
        <p:txBody>
          <a:bodyPr wrap="square" lIns="0" tIns="0" rIns="0" bIns="0" rtlCol="0" anchor="ctr"/>
          <a:lstStyle/>
          <a:p>
            <a:pPr indent="0" marL="0">
              <a:buNone/>
            </a:pPr>
            <a:r>
              <a:rPr lang="en-US" sz="800" b="1" spc="150" kern="0" dirty="0">
                <a:solidFill>
                  <a:srgbClr val="EF8B39"/>
                </a:solidFill>
                <a:latin typeface="Courier New" pitchFamily="34" charset="0"/>
                <a:ea typeface="Courier New" pitchFamily="34" charset="-122"/>
                <a:cs typeface="Courier New" pitchFamily="34" charset="-120"/>
              </a:rPr>
              <a:t>TYPE THIS, VERBATIM</a:t>
            </a:r>
            <a:endParaRPr lang="en-US" sz="800" dirty="0"/>
          </a:p>
        </p:txBody>
      </p:sp>
      <p:sp>
        <p:nvSpPr>
          <p:cNvPr id="10" name="Text 6"/>
          <p:cNvSpPr txBox="1"/>
          <p:nvPr/>
        </p:nvSpPr>
        <p:spPr>
          <a:xfrm>
            <a:off x="822960" y="2167128"/>
            <a:ext cx="5029200" cy="1051560"/>
          </a:xfrm>
          <a:prstGeom prst="rect">
            <a:avLst/>
          </a:prstGeom>
          <a:noFill/>
          <a:ln/>
        </p:spPr>
        <p:txBody>
          <a:bodyPr wrap="square" lIns="0" tIns="0" rIns="0" bIns="0" rtlCol="0" anchor="t"/>
          <a:lstStyle/>
          <a:p>
            <a:pPr indent="0" marL="0">
              <a:lnSpc>
                <a:spcPct val="120000"/>
              </a:lnSpc>
              <a:buNone/>
            </a:pPr>
            <a:r>
              <a:rPr lang="en-US" sz="1050" dirty="0">
                <a:solidFill>
                  <a:srgbClr val="E6EBF2"/>
                </a:solidFill>
                <a:latin typeface="Courier New" pitchFamily="34" charset="0"/>
                <a:ea typeface="Courier New" pitchFamily="34" charset="-122"/>
                <a:cs typeface="Courier New" pitchFamily="34" charset="-120"/>
              </a:rPr>
              <a:t>On a new branch called break-it, rename the first form field label to something else. Commit, push, and open a pull request.</a:t>
            </a:r>
            <a:endParaRPr lang="en-US" sz="1050" dirty="0"/>
          </a:p>
        </p:txBody>
      </p:sp>
      <p:sp>
        <p:nvSpPr>
          <p:cNvPr id="11" name="Text 7"/>
          <p:cNvSpPr txBox="1"/>
          <p:nvPr/>
        </p:nvSpPr>
        <p:spPr>
          <a:xfrm>
            <a:off x="6263640" y="1783080"/>
            <a:ext cx="5285232" cy="2377440"/>
          </a:xfrm>
          <a:prstGeom prst="rect">
            <a:avLst/>
          </a:prstGeom>
          <a:noFill/>
          <a:ln/>
        </p:spPr>
        <p:txBody>
          <a:bodyPr wrap="square" lIns="0" tIns="0" rIns="0" bIns="0" rtlCol="0" anchor="t"/>
          <a:lstStyle/>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1  Type the prompt. Open the PR.</a:t>
            </a:r>
            <a:endParaRPr lang="en-US" sz="1200" dirty="0"/>
          </a:p>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2  Watch the check turn red. Do not merge.</a:t>
            </a:r>
            <a:endParaRPr lang="en-US" sz="1200" dirty="0"/>
          </a:p>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3  Close the pull request. The live site never saw it.</a:t>
            </a:r>
            <a:endParaRPr lang="en-US" sz="1200" dirty="0"/>
          </a:p>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4  Green sticky when you have seen one green and one red check on your own repository.</a:t>
            </a:r>
            <a:endParaRPr lang="en-US" sz="1200" dirty="0"/>
          </a:p>
        </p:txBody>
      </p:sp>
      <p:sp>
        <p:nvSpPr>
          <p:cNvPr id="12" name="Shape 8"/>
          <p:cNvSpPr/>
          <p:nvPr/>
        </p:nvSpPr>
        <p:spPr>
          <a:xfrm>
            <a:off x="640080" y="3611880"/>
            <a:ext cx="10908792" cy="1508760"/>
          </a:xfrm>
          <a:prstGeom prst="rect">
            <a:avLst/>
          </a:prstGeom>
          <a:solidFill>
            <a:srgbClr val="E8EEF7"/>
          </a:solidFill>
          <a:ln w="12700">
            <a:solidFill>
              <a:srgbClr val="EF8B39"/>
            </a:solidFill>
            <a:prstDash val="solid"/>
          </a:ln>
        </p:spPr>
      </p:sp>
      <p:sp>
        <p:nvSpPr>
          <p:cNvPr id="13" name="Text 9"/>
          <p:cNvSpPr txBox="1"/>
          <p:nvPr/>
        </p:nvSpPr>
        <p:spPr>
          <a:xfrm>
            <a:off x="914400" y="3749040"/>
            <a:ext cx="10360152" cy="640080"/>
          </a:xfrm>
          <a:prstGeom prst="rect">
            <a:avLst/>
          </a:prstGeom>
          <a:noFill/>
          <a:ln/>
        </p:spPr>
        <p:txBody>
          <a:bodyPr wrap="square" lIns="0" tIns="0" rIns="0" bIns="0" rtlCol="0" anchor="t"/>
          <a:lstStyle/>
          <a:p>
            <a:pPr algn="l" indent="0" marL="0">
              <a:lnSpc>
                <a:spcPct val="115000"/>
              </a:lnSpc>
              <a:buNone/>
            </a:pPr>
            <a:r>
              <a:rPr lang="en-US" sz="2000" dirty="0">
                <a:solidFill>
                  <a:srgbClr val="0D1219"/>
                </a:solidFill>
                <a:latin typeface="Arial" pitchFamily="34" charset="0"/>
                <a:ea typeface="Arial" pitchFamily="34" charset="-122"/>
                <a:cs typeface="Arial" pitchFamily="34" charset="-120"/>
              </a:rPr>
              <a:t>A red X on a pull request is the cheapest bug you will ever find.</a:t>
            </a:r>
            <a:endParaRPr lang="en-US" sz="2000" dirty="0"/>
          </a:p>
        </p:txBody>
      </p:sp>
      <p:sp>
        <p:nvSpPr>
          <p:cNvPr id="14" name="Text 10"/>
          <p:cNvSpPr txBox="1"/>
          <p:nvPr/>
        </p:nvSpPr>
        <p:spPr>
          <a:xfrm>
            <a:off x="914400" y="4389120"/>
            <a:ext cx="10360152" cy="685800"/>
          </a:xfrm>
          <a:prstGeom prst="rect">
            <a:avLst/>
          </a:prstGeom>
          <a:noFill/>
          <a:ln/>
        </p:spPr>
        <p:txBody>
          <a:bodyPr wrap="square" lIns="0" tIns="0" rIns="0" bIns="0" rtlCol="0" anchor="t"/>
          <a:lstStyle/>
          <a:p>
            <a:pPr algn="l" indent="0" marL="0">
              <a:lnSpc>
                <a:spcPct val="115000"/>
              </a:lnSpc>
              <a:buNone/>
            </a:pPr>
            <a:r>
              <a:rPr lang="en-US" sz="1100" dirty="0">
                <a:solidFill>
                  <a:srgbClr val="5B6675"/>
                </a:solidFill>
                <a:latin typeface="Arial" pitchFamily="34" charset="0"/>
                <a:ea typeface="Arial" pitchFamily="34" charset="-122"/>
                <a:cs typeface="Arial" pitchFamily="34" charset="-120"/>
              </a:rPr>
              <a:t>The one you just made on purpose is what a production incident looks like when nobody has this. Later, if you want it as a hard gate: Vercel Deployment Checks can refuse to promote a build until this check passes. Confirm it is on your plan before relying on it.</a:t>
            </a:r>
            <a:endParaRPr lang="en-US" sz="1100" dirty="0"/>
          </a:p>
        </p:txBody>
      </p:sp>
      <p:sp>
        <p:nvSpPr>
          <p:cNvPr id="15" name="Shape 11"/>
          <p:cNvSpPr/>
          <p:nvPr/>
        </p:nvSpPr>
        <p:spPr>
          <a:xfrm>
            <a:off x="640080" y="5806440"/>
            <a:ext cx="256032" cy="256032"/>
          </a:xfrm>
          <a:prstGeom prst="rect">
            <a:avLst/>
          </a:prstGeom>
          <a:solidFill>
            <a:srgbClr val="22C55E"/>
          </a:solidFill>
          <a:ln w="12700">
            <a:solidFill>
              <a:srgbClr val="22C55E"/>
            </a:solidFill>
            <a:prstDash val="solid"/>
          </a:ln>
        </p:spPr>
      </p:sp>
      <p:sp>
        <p:nvSpPr>
          <p:cNvPr id="16" name="Text 12"/>
          <p:cNvSpPr/>
          <p:nvPr/>
        </p:nvSpPr>
        <p:spPr>
          <a:xfrm>
            <a:off x="987552" y="5806440"/>
            <a:ext cx="237744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Green sticky = done</a:t>
            </a:r>
            <a:endParaRPr lang="en-US" sz="1100" dirty="0"/>
          </a:p>
        </p:txBody>
      </p:sp>
      <p:sp>
        <p:nvSpPr>
          <p:cNvPr id="17" name="Shape 13"/>
          <p:cNvSpPr/>
          <p:nvPr/>
        </p:nvSpPr>
        <p:spPr>
          <a:xfrm>
            <a:off x="3474720" y="5806440"/>
            <a:ext cx="256032" cy="256032"/>
          </a:xfrm>
          <a:prstGeom prst="rect">
            <a:avLst/>
          </a:prstGeom>
          <a:solidFill>
            <a:srgbClr val="EF4444"/>
          </a:solidFill>
          <a:ln w="12700">
            <a:solidFill>
              <a:srgbClr val="EF4444"/>
            </a:solidFill>
            <a:prstDash val="solid"/>
          </a:ln>
        </p:spPr>
      </p:sp>
      <p:sp>
        <p:nvSpPr>
          <p:cNvPr id="18" name="Text 14"/>
          <p:cNvSpPr/>
          <p:nvPr/>
        </p:nvSpPr>
        <p:spPr>
          <a:xfrm>
            <a:off x="3822192" y="5806440"/>
            <a:ext cx="411480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Red sticky = a helper comes to you</a:t>
            </a:r>
            <a:endParaRPr lang="en-US" sz="1100" dirty="0"/>
          </a:p>
        </p:txBody>
      </p:sp>
      <p:sp>
        <p:nvSpPr>
          <p:cNvPr id="19" name="Shape 15"/>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20" name="Text 16"/>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1" name="Shape 17"/>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22" name="Text 18"/>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23" name="Shape 19"/>
          <p:cNvSpPr/>
          <p:nvPr/>
        </p:nvSpPr>
        <p:spPr>
          <a:xfrm>
            <a:off x="5161788" y="6291072"/>
            <a:ext cx="896112" cy="274320"/>
          </a:xfrm>
          <a:prstGeom prst="roundRect">
            <a:avLst>
              <a:gd name="adj" fmla="val 20000"/>
            </a:avLst>
          </a:prstGeom>
          <a:solidFill>
            <a:srgbClr val="EF8B39"/>
          </a:solidFill>
          <a:ln w="6350">
            <a:solidFill>
              <a:srgbClr val="EF8B39"/>
            </a:solidFill>
            <a:prstDash val="solid"/>
          </a:ln>
        </p:spPr>
      </p:sp>
      <p:sp>
        <p:nvSpPr>
          <p:cNvPr id="24" name="Text 20"/>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TEST</a:t>
            </a:r>
            <a:endParaRPr lang="en-US" sz="800" dirty="0"/>
          </a:p>
        </p:txBody>
      </p:sp>
      <p:sp>
        <p:nvSpPr>
          <p:cNvPr id="25" name="Shape 21"/>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26" name="Text 22"/>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27" name="Shape 23"/>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28" name="Text 24"/>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29" name="Shape 25"/>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30" name="Text 26"/>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27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6  ·  TEST IS THE GATE  ·  25 MIN  ·  TALK</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2:20 – 2:45</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3000" b="1" dirty="0">
                <a:solidFill>
                  <a:srgbClr val="0D1219"/>
                </a:solidFill>
                <a:latin typeface="Arial" pitchFamily="34" charset="0"/>
                <a:ea typeface="Arial" pitchFamily="34" charset="-122"/>
                <a:cs typeface="Arial" pitchFamily="34" charset="-120"/>
              </a:rPr>
              <a:t>Code ages. Put one chore on the calendar.</a:t>
            </a:r>
            <a:endParaRPr lang="en-US" sz="3000" dirty="0"/>
          </a:p>
        </p:txBody>
      </p:sp>
      <p:sp>
        <p:nvSpPr>
          <p:cNvPr id="8" name="Shape 4"/>
          <p:cNvSpPr/>
          <p:nvPr/>
        </p:nvSpPr>
        <p:spPr>
          <a:xfrm>
            <a:off x="640080" y="1783080"/>
            <a:ext cx="5394960" cy="3337560"/>
          </a:xfrm>
          <a:prstGeom prst="rect">
            <a:avLst/>
          </a:prstGeom>
          <a:solidFill>
            <a:srgbClr val="F3F6FB"/>
          </a:solidFill>
          <a:ln w="9525">
            <a:solidFill>
              <a:srgbClr val="D9E0EA"/>
            </a:solidFill>
            <a:prstDash val="solid"/>
          </a:ln>
        </p:spPr>
      </p:sp>
      <p:sp>
        <p:nvSpPr>
          <p:cNvPr id="9" name="Shape 5"/>
          <p:cNvSpPr/>
          <p:nvPr/>
        </p:nvSpPr>
        <p:spPr>
          <a:xfrm>
            <a:off x="640080" y="1783080"/>
            <a:ext cx="54864" cy="3337560"/>
          </a:xfrm>
          <a:prstGeom prst="rect">
            <a:avLst/>
          </a:prstGeom>
          <a:solidFill>
            <a:srgbClr val="EF4444"/>
          </a:solidFill>
          <a:ln w="12700">
            <a:solidFill>
              <a:srgbClr val="EF4444"/>
            </a:solidFill>
            <a:prstDash val="solid"/>
          </a:ln>
        </p:spPr>
      </p:sp>
      <p:sp>
        <p:nvSpPr>
          <p:cNvPr id="10" name="Text 6"/>
          <p:cNvSpPr txBox="1"/>
          <p:nvPr/>
        </p:nvSpPr>
        <p:spPr>
          <a:xfrm>
            <a:off x="868680" y="1920240"/>
            <a:ext cx="4937760" cy="237744"/>
          </a:xfrm>
          <a:prstGeom prst="rect">
            <a:avLst/>
          </a:prstGeom>
          <a:noFill/>
          <a:ln/>
        </p:spPr>
        <p:txBody>
          <a:bodyPr wrap="square" lIns="0" tIns="0" rIns="0" bIns="0" rtlCol="0" anchor="ctr"/>
          <a:lstStyle/>
          <a:p>
            <a:pPr indent="0" marL="0">
              <a:buNone/>
            </a:pPr>
            <a:r>
              <a:rPr lang="en-US" sz="850" b="1" spc="150" kern="0" dirty="0">
                <a:solidFill>
                  <a:srgbClr val="EF8B39"/>
                </a:solidFill>
                <a:latin typeface="Courier New" pitchFamily="34" charset="0"/>
                <a:ea typeface="Courier New" pitchFamily="34" charset="-122"/>
                <a:cs typeface="Courier New" pitchFamily="34" charset="-120"/>
              </a:rPr>
              <a:t>MAY 6, 2026 · NEXT.JS · CVE-2026-44575 · HIGH</a:t>
            </a:r>
            <a:endParaRPr lang="en-US" sz="850" dirty="0"/>
          </a:p>
        </p:txBody>
      </p:sp>
      <p:sp>
        <p:nvSpPr>
          <p:cNvPr id="11" name="Text 7"/>
          <p:cNvSpPr txBox="1"/>
          <p:nvPr/>
        </p:nvSpPr>
        <p:spPr>
          <a:xfrm>
            <a:off x="868680" y="2240280"/>
            <a:ext cx="4937760" cy="1463040"/>
          </a:xfrm>
          <a:prstGeom prst="rect">
            <a:avLst/>
          </a:prstGeom>
          <a:noFill/>
          <a:ln/>
        </p:spPr>
        <p:txBody>
          <a:bodyPr wrap="square" lIns="0" tIns="0" rIns="0" bIns="0" rtlCol="0" anchor="t"/>
          <a:lstStyle/>
          <a:p>
            <a:pPr algn="l" indent="0" marL="0">
              <a:lnSpc>
                <a:spcPct val="115000"/>
              </a:lnSpc>
              <a:buNone/>
            </a:pPr>
            <a:r>
              <a:rPr lang="en-US" sz="1200" dirty="0">
                <a:solidFill>
                  <a:srgbClr val="0D1219"/>
                </a:solidFill>
                <a:latin typeface="Arial" pitchFamily="34" charset="0"/>
                <a:ea typeface="Arial" pitchFamily="34" charset="-122"/>
                <a:cs typeface="Arial" pitchFamily="34" charset="-120"/>
              </a:rPr>
              <a:t>A login check that only lives in middleware could be bypassed. Patched in 15.5.16 and 16.2.5. The advisory’s own workaround: enforce authorization in the page or route, not middleware alone.</a:t>
            </a:r>
            <a:endParaRPr lang="en-US" sz="1200" dirty="0"/>
          </a:p>
        </p:txBody>
      </p:sp>
      <p:sp>
        <p:nvSpPr>
          <p:cNvPr id="12" name="Text 8"/>
          <p:cNvSpPr txBox="1"/>
          <p:nvPr/>
        </p:nvSpPr>
        <p:spPr>
          <a:xfrm>
            <a:off x="868680" y="3749040"/>
            <a:ext cx="4937760" cy="1280160"/>
          </a:xfrm>
          <a:prstGeom prst="rect">
            <a:avLst/>
          </a:prstGeom>
          <a:noFill/>
          <a:ln/>
        </p:spPr>
        <p:txBody>
          <a:bodyPr wrap="square" lIns="0" tIns="0" rIns="0" bIns="0" rtlCol="0" anchor="t"/>
          <a:lstStyle/>
          <a:p>
            <a:pPr algn="l" indent="0" marL="0">
              <a:lnSpc>
                <a:spcPct val="115000"/>
              </a:lnSpc>
              <a:buNone/>
            </a:pPr>
            <a:r>
              <a:rPr lang="en-US" sz="1100" dirty="0">
                <a:solidFill>
                  <a:srgbClr val="5B6675"/>
                </a:solidFill>
                <a:latin typeface="Arial" pitchFamily="34" charset="0"/>
                <a:ea typeface="Arial" pitchFamily="34" charset="-122"/>
                <a:cs typeface="Arial" pitchFamily="34" charset="-120"/>
              </a:rPr>
              <a:t>Since Dec 2025, Vercel automatically fails deployments of Next.js versions vulnerable to CVE-2025-66478. Owning the Vercel project means the host refuses known-bad code for you.</a:t>
            </a:r>
            <a:endParaRPr lang="en-US" sz="1100" dirty="0"/>
          </a:p>
        </p:txBody>
      </p:sp>
      <p:sp>
        <p:nvSpPr>
          <p:cNvPr id="13" name="Shape 9"/>
          <p:cNvSpPr/>
          <p:nvPr/>
        </p:nvSpPr>
        <p:spPr>
          <a:xfrm>
            <a:off x="6263640" y="1783080"/>
            <a:ext cx="5285232" cy="2103120"/>
          </a:xfrm>
          <a:prstGeom prst="rect">
            <a:avLst/>
          </a:prstGeom>
          <a:solidFill>
            <a:srgbClr val="121B2B"/>
          </a:solidFill>
          <a:ln w="12700">
            <a:solidFill>
              <a:srgbClr val="EF8B39"/>
            </a:solidFill>
            <a:prstDash val="solid"/>
          </a:ln>
        </p:spPr>
      </p:sp>
      <p:sp>
        <p:nvSpPr>
          <p:cNvPr id="14" name="Text 10"/>
          <p:cNvSpPr/>
          <p:nvPr/>
        </p:nvSpPr>
        <p:spPr>
          <a:xfrm>
            <a:off x="6446520" y="1892808"/>
            <a:ext cx="4919472" cy="228600"/>
          </a:xfrm>
          <a:prstGeom prst="rect">
            <a:avLst/>
          </a:prstGeom>
          <a:noFill/>
          <a:ln/>
        </p:spPr>
        <p:txBody>
          <a:bodyPr wrap="square" lIns="0" tIns="0" rIns="0" bIns="0" rtlCol="0" anchor="ctr"/>
          <a:lstStyle/>
          <a:p>
            <a:pPr indent="0" marL="0">
              <a:buNone/>
            </a:pPr>
            <a:r>
              <a:rPr lang="en-US" sz="800" b="1" spc="150" kern="0" dirty="0">
                <a:solidFill>
                  <a:srgbClr val="EF8B39"/>
                </a:solidFill>
                <a:latin typeface="Courier New" pitchFamily="34" charset="0"/>
                <a:ea typeface="Courier New" pitchFamily="34" charset="-122"/>
                <a:cs typeface="Courier New" pitchFamily="34" charset="-120"/>
              </a:rPr>
              <a:t>THE MONTHLY CHORE · FIRST OF THE MONTH · TWO MINUTES</a:t>
            </a:r>
            <a:endParaRPr lang="en-US" sz="800" dirty="0"/>
          </a:p>
        </p:txBody>
      </p:sp>
      <p:sp>
        <p:nvSpPr>
          <p:cNvPr id="15" name="Text 11"/>
          <p:cNvSpPr txBox="1"/>
          <p:nvPr/>
        </p:nvSpPr>
        <p:spPr>
          <a:xfrm>
            <a:off x="6446520" y="2167128"/>
            <a:ext cx="4919472" cy="1600200"/>
          </a:xfrm>
          <a:prstGeom prst="rect">
            <a:avLst/>
          </a:prstGeom>
          <a:noFill/>
          <a:ln/>
        </p:spPr>
        <p:txBody>
          <a:bodyPr wrap="square" lIns="0" tIns="0" rIns="0" bIns="0" rtlCol="0" anchor="t"/>
          <a:lstStyle/>
          <a:p>
            <a:pPr indent="0" marL="0">
              <a:lnSpc>
                <a:spcPct val="120000"/>
              </a:lnSpc>
              <a:buNone/>
            </a:pPr>
            <a:r>
              <a:rPr lang="en-US" sz="1050" dirty="0">
                <a:solidFill>
                  <a:srgbClr val="E6EBF2"/>
                </a:solidFill>
                <a:latin typeface="Courier New" pitchFamily="34" charset="0"/>
                <a:ea typeface="Courier New" pitchFamily="34" charset="-122"/>
                <a:cs typeface="Courier New" pitchFamily="34" charset="-120"/>
              </a:rPr>
              <a:t>Run npm audit. Update Next.js and any dependency with a known vulnerability to a safe version. Run the build and the Playwright test. Open a pull request with what changed and why.</a:t>
            </a:r>
            <a:endParaRPr lang="en-US" sz="1050" dirty="0"/>
          </a:p>
        </p:txBody>
      </p:sp>
      <p:sp>
        <p:nvSpPr>
          <p:cNvPr id="16" name="Shape 12"/>
          <p:cNvSpPr/>
          <p:nvPr/>
        </p:nvSpPr>
        <p:spPr>
          <a:xfrm>
            <a:off x="6263640" y="4069080"/>
            <a:ext cx="5285232" cy="1051560"/>
          </a:xfrm>
          <a:prstGeom prst="rect">
            <a:avLst/>
          </a:prstGeom>
          <a:solidFill>
            <a:srgbClr val="E8EEF7"/>
          </a:solidFill>
          <a:ln w="9525">
            <a:solidFill>
              <a:srgbClr val="D9E0EA"/>
            </a:solidFill>
            <a:prstDash val="solid"/>
          </a:ln>
        </p:spPr>
      </p:sp>
      <p:sp>
        <p:nvSpPr>
          <p:cNvPr id="17" name="Text 13"/>
          <p:cNvSpPr txBox="1"/>
          <p:nvPr/>
        </p:nvSpPr>
        <p:spPr>
          <a:xfrm>
            <a:off x="6492240" y="4206240"/>
            <a:ext cx="4846320" cy="777240"/>
          </a:xfrm>
          <a:prstGeom prst="rect">
            <a:avLst/>
          </a:prstGeom>
          <a:noFill/>
          <a:ln/>
        </p:spPr>
        <p:txBody>
          <a:bodyPr wrap="square" lIns="0" tIns="0" rIns="0" bIns="0" rtlCol="0" anchor="ctr"/>
          <a:lstStyle/>
          <a:p>
            <a:pPr algn="l" indent="0" marL="0">
              <a:lnSpc>
                <a:spcPct val="115000"/>
              </a:lnSpc>
              <a:buNone/>
            </a:pPr>
            <a:r>
              <a:rPr lang="en-US" sz="1250" dirty="0">
                <a:solidFill>
                  <a:srgbClr val="0D1219"/>
                </a:solidFill>
                <a:latin typeface="Arial" pitchFamily="34" charset="0"/>
                <a:ea typeface="Arial" pitchFamily="34" charset="-122"/>
                <a:cs typeface="Arial" pitchFamily="34" charset="-120"/>
              </a:rPr>
              <a:t>Green check, merge, done. That is what maintenance looks like when a test exists.</a:t>
            </a:r>
            <a:endParaRPr lang="en-US" sz="1250" dirty="0"/>
          </a:p>
        </p:txBody>
      </p:sp>
      <p:sp>
        <p:nvSpPr>
          <p:cNvPr id="18" name="Shape 14"/>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19" name="Text 15"/>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0" name="Shape 16"/>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21" name="Text 17"/>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22" name="Shape 18"/>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23" name="Text 19"/>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24" name="Shape 20"/>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25" name="Text 21"/>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26" name="Shape 22"/>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27" name="Text 23"/>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28" name="Shape 24"/>
          <p:cNvSpPr/>
          <p:nvPr/>
        </p:nvSpPr>
        <p:spPr>
          <a:xfrm>
            <a:off x="8069580" y="6291072"/>
            <a:ext cx="896112" cy="274320"/>
          </a:xfrm>
          <a:prstGeom prst="roundRect">
            <a:avLst>
              <a:gd name="adj" fmla="val 20000"/>
            </a:avLst>
          </a:prstGeom>
          <a:solidFill>
            <a:srgbClr val="EF8B39"/>
          </a:solidFill>
          <a:ln w="6350">
            <a:solidFill>
              <a:srgbClr val="EF8B39"/>
            </a:solidFill>
            <a:prstDash val="solid"/>
          </a:ln>
        </p:spPr>
      </p:sp>
      <p:sp>
        <p:nvSpPr>
          <p:cNvPr id="29" name="Text 25"/>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28 / 51</a:t>
            </a:r>
            <a:endParaRPr lang="en-US" sz="900" dirty="0"/>
          </a:p>
        </p:txBody>
      </p:sp>
      <p:sp>
        <p:nvSpPr>
          <p:cNvPr id="5" name="Text 1"/>
          <p:cNvSpPr txBox="1"/>
          <p:nvPr/>
        </p:nvSpPr>
        <p:spPr>
          <a:xfrm>
            <a:off x="640080" y="502920"/>
            <a:ext cx="10908792" cy="274320"/>
          </a:xfrm>
          <a:prstGeom prst="rect">
            <a:avLst/>
          </a:prstGeom>
          <a:noFill/>
          <a:ln/>
        </p:spPr>
        <p:txBody>
          <a:bodyPr wrap="square" lIns="0" tIns="0" rIns="0" bIns="0" rtlCol="0" anchor="ctr"/>
          <a:lstStyle/>
          <a:p>
            <a:pPr indent="0" marL="0">
              <a:buNone/>
            </a:pPr>
            <a:r>
              <a:rPr lang="en-US" sz="1200" b="1" spc="200" kern="0" dirty="0">
                <a:solidFill>
                  <a:srgbClr val="307FE2"/>
                </a:solidFill>
                <a:latin typeface="Courier New" pitchFamily="34" charset="0"/>
                <a:ea typeface="Courier New" pitchFamily="34" charset="-122"/>
                <a:cs typeface="Courier New" pitchFamily="34" charset="-120"/>
              </a:rPr>
              <a:t>// LUNCH · 30 MINUTES</a:t>
            </a:r>
            <a:endParaRPr lang="en-US" sz="120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2:45 – 3:15</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700" b="1" dirty="0">
                <a:solidFill>
                  <a:srgbClr val="0D1219"/>
                </a:solidFill>
                <a:latin typeface="Arial" pitchFamily="34" charset="0"/>
                <a:ea typeface="Arial" pitchFamily="34" charset="-122"/>
                <a:cs typeface="Arial" pitchFamily="34" charset="-120"/>
              </a:rPr>
              <a:t>Lunch. Your tool is live, and it went through a gate.</a:t>
            </a:r>
            <a:endParaRPr lang="en-US" sz="2700" dirty="0"/>
          </a:p>
        </p:txBody>
      </p:sp>
      <p:sp>
        <p:nvSpPr>
          <p:cNvPr id="8" name="Text 4"/>
          <p:cNvSpPr txBox="1"/>
          <p:nvPr/>
        </p:nvSpPr>
        <p:spPr>
          <a:xfrm>
            <a:off x="640080" y="2011680"/>
            <a:ext cx="10908792" cy="914400"/>
          </a:xfrm>
          <a:prstGeom prst="rect">
            <a:avLst/>
          </a:prstGeom>
          <a:noFill/>
          <a:ln/>
        </p:spPr>
        <p:txBody>
          <a:bodyPr wrap="square" lIns="0" tIns="0" rIns="0" bIns="0" rtlCol="0" anchor="t"/>
          <a:lstStyle/>
          <a:p>
            <a:pPr algn="l" indent="0" marL="0">
              <a:lnSpc>
                <a:spcPct val="115000"/>
              </a:lnSpc>
              <a:buNone/>
            </a:pPr>
            <a:r>
              <a:rPr lang="en-US" sz="1600" dirty="0">
                <a:solidFill>
                  <a:srgbClr val="0D1219"/>
                </a:solidFill>
                <a:latin typeface="Arial" pitchFamily="34" charset="0"/>
                <a:ea typeface="Arial" pitchFamily="34" charset="-122"/>
                <a:cs typeface="Arial" pitchFamily="34" charset="-120"/>
              </a:rPr>
              <a:t>Not merged yet? Find a helper before you find a sandwich. The afternoon starts by breaking production on purpose, and you cannot roll back what you have not shipped.</a:t>
            </a:r>
            <a:endParaRPr lang="en-US" sz="1600" dirty="0"/>
          </a:p>
        </p:txBody>
      </p:sp>
      <p:sp>
        <p:nvSpPr>
          <p:cNvPr id="9" name="Text 5"/>
          <p:cNvSpPr txBox="1"/>
          <p:nvPr/>
        </p:nvSpPr>
        <p:spPr>
          <a:xfrm>
            <a:off x="640080" y="3154680"/>
            <a:ext cx="10908792" cy="731520"/>
          </a:xfrm>
          <a:prstGeom prst="rect">
            <a:avLst/>
          </a:prstGeom>
          <a:noFill/>
          <a:ln/>
        </p:spPr>
        <p:txBody>
          <a:bodyPr wrap="square" lIns="0" tIns="0" rIns="0" bIns="0" rtlCol="0" anchor="t"/>
          <a:lstStyle/>
          <a:p>
            <a:pPr algn="l" indent="0" marL="0">
              <a:lnSpc>
                <a:spcPct val="115000"/>
              </a:lnSpc>
              <a:buNone/>
            </a:pPr>
            <a:r>
              <a:rPr lang="en-US" sz="1300" dirty="0">
                <a:solidFill>
                  <a:srgbClr val="5B6675"/>
                </a:solidFill>
                <a:latin typeface="Arial" pitchFamily="34" charset="0"/>
                <a:ea typeface="Arial" pitchFamily="34" charset="-122"/>
                <a:cs typeface="Arial" pitchFamily="34" charset="-120"/>
              </a:rPr>
              <a:t>After lunch: rollback, secrets, review. Then a database, a second sprint, an email alert, the bill, a skill, and a demo. Back at 3:15.</a:t>
            </a:r>
            <a:endParaRPr lang="en-US" sz="1300" dirty="0"/>
          </a:p>
        </p:txBody>
      </p:sp>
      <p:sp>
        <p:nvSpPr>
          <p:cNvPr id="10" name="Shape 6"/>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11" name="Text 7"/>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12" name="Shape 8"/>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13" name="Text 9"/>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14" name="Shape 10"/>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15" name="Text 11"/>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16" name="Shape 12"/>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17" name="Text 13"/>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18" name="Shape 14"/>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19" name="Text 15"/>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20" name="Shape 16"/>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21" name="Text 17"/>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29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7  ·  SHIP AND OWN IT  ·  20 MIN  ·  HANDS-ON</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3:15 – 3:35</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700" b="1" dirty="0">
                <a:solidFill>
                  <a:srgbClr val="0D1219"/>
                </a:solidFill>
                <a:latin typeface="Arial" pitchFamily="34" charset="0"/>
                <a:ea typeface="Arial" pitchFamily="34" charset="-122"/>
                <a:cs typeface="Arial" pitchFamily="34" charset="-120"/>
              </a:rPr>
              <a:t>Break production on purpose. Put it back in one click.</a:t>
            </a:r>
            <a:endParaRPr lang="en-US" sz="2700" dirty="0"/>
          </a:p>
        </p:txBody>
      </p:sp>
      <p:sp>
        <p:nvSpPr>
          <p:cNvPr id="8" name="Shape 4"/>
          <p:cNvSpPr/>
          <p:nvPr/>
        </p:nvSpPr>
        <p:spPr>
          <a:xfrm>
            <a:off x="640080" y="1783080"/>
            <a:ext cx="5394960" cy="1417320"/>
          </a:xfrm>
          <a:prstGeom prst="rect">
            <a:avLst/>
          </a:prstGeom>
          <a:solidFill>
            <a:srgbClr val="121B2B"/>
          </a:solidFill>
          <a:ln w="12700">
            <a:solidFill>
              <a:srgbClr val="EF8B39"/>
            </a:solidFill>
            <a:prstDash val="solid"/>
          </a:ln>
        </p:spPr>
      </p:sp>
      <p:sp>
        <p:nvSpPr>
          <p:cNvPr id="9" name="Text 5"/>
          <p:cNvSpPr/>
          <p:nvPr/>
        </p:nvSpPr>
        <p:spPr>
          <a:xfrm>
            <a:off x="822960" y="1892808"/>
            <a:ext cx="5029200" cy="228600"/>
          </a:xfrm>
          <a:prstGeom prst="rect">
            <a:avLst/>
          </a:prstGeom>
          <a:noFill/>
          <a:ln/>
        </p:spPr>
        <p:txBody>
          <a:bodyPr wrap="square" lIns="0" tIns="0" rIns="0" bIns="0" rtlCol="0" anchor="ctr"/>
          <a:lstStyle/>
          <a:p>
            <a:pPr indent="0" marL="0">
              <a:buNone/>
            </a:pPr>
            <a:r>
              <a:rPr lang="en-US" sz="800" b="1" spc="150" kern="0" dirty="0">
                <a:solidFill>
                  <a:srgbClr val="EF8B39"/>
                </a:solidFill>
                <a:latin typeface="Courier New" pitchFamily="34" charset="0"/>
                <a:ea typeface="Courier New" pitchFamily="34" charset="-122"/>
                <a:cs typeface="Courier New" pitchFamily="34" charset="-120"/>
              </a:rPr>
              <a:t>TYPE THIS, VERBATIM</a:t>
            </a:r>
            <a:endParaRPr lang="en-US" sz="800" dirty="0"/>
          </a:p>
        </p:txBody>
      </p:sp>
      <p:sp>
        <p:nvSpPr>
          <p:cNvPr id="10" name="Text 6"/>
          <p:cNvSpPr txBox="1"/>
          <p:nvPr/>
        </p:nvSpPr>
        <p:spPr>
          <a:xfrm>
            <a:off x="822960" y="2167128"/>
            <a:ext cx="5029200" cy="914400"/>
          </a:xfrm>
          <a:prstGeom prst="rect">
            <a:avLst/>
          </a:prstGeom>
          <a:noFill/>
          <a:ln/>
        </p:spPr>
        <p:txBody>
          <a:bodyPr wrap="square" lIns="0" tIns="0" rIns="0" bIns="0" rtlCol="0" anchor="t"/>
          <a:lstStyle/>
          <a:p>
            <a:pPr indent="0" marL="0">
              <a:lnSpc>
                <a:spcPct val="120000"/>
              </a:lnSpc>
              <a:buNone/>
            </a:pPr>
            <a:r>
              <a:rPr lang="en-US" sz="1050" dirty="0">
                <a:solidFill>
                  <a:srgbClr val="E6EBF2"/>
                </a:solidFill>
                <a:latin typeface="Courier New" pitchFamily="34" charset="0"/>
                <a:ea typeface="Courier New" pitchFamily="34" charset="-122"/>
                <a:cs typeface="Courier New" pitchFamily="34" charset="-120"/>
              </a:rPr>
              <a:t>On a new branch called oops, change the headline on the home page to OOPS. Commit, push, and open a pull request.</a:t>
            </a:r>
            <a:endParaRPr lang="en-US" sz="1050" dirty="0"/>
          </a:p>
        </p:txBody>
      </p:sp>
      <p:sp>
        <p:nvSpPr>
          <p:cNvPr id="11" name="Text 7"/>
          <p:cNvSpPr txBox="1"/>
          <p:nvPr/>
        </p:nvSpPr>
        <p:spPr>
          <a:xfrm>
            <a:off x="6263640" y="1783080"/>
            <a:ext cx="5285232" cy="2468880"/>
          </a:xfrm>
          <a:prstGeom prst="rect">
            <a:avLst/>
          </a:prstGeom>
          <a:noFill/>
          <a:ln/>
        </p:spPr>
        <p:txBody>
          <a:bodyPr wrap="square" lIns="0" tIns="0" rIns="0" bIns="0" rtlCol="0" anchor="t"/>
          <a:lstStyle/>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1  Merge the oops PR. Confirm OOPS is live on your production URL. Feel that for a second.</a:t>
            </a:r>
            <a:endParaRPr lang="en-US" sz="1200" dirty="0"/>
          </a:p>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2  In Vercel: Deployments → the previous deployment → Instant Rollback. Refresh the site. Fixed.</a:t>
            </a:r>
            <a:endParaRPr lang="en-US" sz="1200" dirty="0"/>
          </a:p>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3  Click Undo Rollback, or nothing you merge later goes live.</a:t>
            </a:r>
            <a:endParaRPr lang="en-US" sz="1200" dirty="0"/>
          </a:p>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4  Tell Claude: “Put the headline back on a branch, push, open a PR.” Merge it. Green sticky.</a:t>
            </a:r>
            <a:endParaRPr lang="en-US" sz="1200" dirty="0"/>
          </a:p>
        </p:txBody>
      </p:sp>
      <p:sp>
        <p:nvSpPr>
          <p:cNvPr id="12" name="Shape 8"/>
          <p:cNvSpPr/>
          <p:nvPr/>
        </p:nvSpPr>
        <p:spPr>
          <a:xfrm>
            <a:off x="640080" y="3429000"/>
            <a:ext cx="5394960" cy="1691640"/>
          </a:xfrm>
          <a:prstGeom prst="rect">
            <a:avLst/>
          </a:prstGeom>
          <a:solidFill>
            <a:srgbClr val="E8EEF7"/>
          </a:solidFill>
          <a:ln w="9525">
            <a:solidFill>
              <a:srgbClr val="D9E0EA"/>
            </a:solidFill>
            <a:prstDash val="solid"/>
          </a:ln>
        </p:spPr>
      </p:sp>
      <p:sp>
        <p:nvSpPr>
          <p:cNvPr id="13" name="Shape 9"/>
          <p:cNvSpPr/>
          <p:nvPr/>
        </p:nvSpPr>
        <p:spPr>
          <a:xfrm>
            <a:off x="640080" y="3429000"/>
            <a:ext cx="54864" cy="1691640"/>
          </a:xfrm>
          <a:prstGeom prst="rect">
            <a:avLst/>
          </a:prstGeom>
          <a:solidFill>
            <a:srgbClr val="EF8B39"/>
          </a:solidFill>
          <a:ln w="12700">
            <a:solidFill>
              <a:srgbClr val="EF8B39"/>
            </a:solidFill>
            <a:prstDash val="solid"/>
          </a:ln>
        </p:spPr>
      </p:sp>
      <p:sp>
        <p:nvSpPr>
          <p:cNvPr id="14" name="Text 10"/>
          <p:cNvSpPr txBox="1"/>
          <p:nvPr/>
        </p:nvSpPr>
        <p:spPr>
          <a:xfrm>
            <a:off x="868680" y="3547872"/>
            <a:ext cx="4937760" cy="237744"/>
          </a:xfrm>
          <a:prstGeom prst="rect">
            <a:avLst/>
          </a:prstGeom>
          <a:noFill/>
          <a:ln/>
        </p:spPr>
        <p:txBody>
          <a:bodyPr wrap="square" lIns="0" tIns="0" rIns="0" bIns="0" rtlCol="0" anchor="ctr"/>
          <a:lstStyle/>
          <a:p>
            <a:pPr indent="0" marL="0">
              <a:buNone/>
            </a:pPr>
            <a:r>
              <a:rPr lang="en-US" sz="850" b="1" spc="150" kern="0" dirty="0">
                <a:solidFill>
                  <a:srgbClr val="EF8B39"/>
                </a:solidFill>
                <a:latin typeface="Courier New" pitchFamily="34" charset="0"/>
                <a:ea typeface="Courier New" pitchFamily="34" charset="-122"/>
                <a:cs typeface="Courier New" pitchFamily="34" charset="-120"/>
              </a:rPr>
              <a:t>THREE GOTCHAS, ALL ON THE CHEAT SHEET</a:t>
            </a:r>
            <a:endParaRPr lang="en-US" sz="850" dirty="0"/>
          </a:p>
        </p:txBody>
      </p:sp>
      <p:sp>
        <p:nvSpPr>
          <p:cNvPr id="15" name="Text 11"/>
          <p:cNvSpPr txBox="1"/>
          <p:nvPr/>
        </p:nvSpPr>
        <p:spPr>
          <a:xfrm>
            <a:off x="868680" y="3822192"/>
            <a:ext cx="4937760" cy="1280160"/>
          </a:xfrm>
          <a:prstGeom prst="rect">
            <a:avLst/>
          </a:prstGeom>
          <a:noFill/>
          <a:ln/>
        </p:spPr>
        <p:txBody>
          <a:bodyPr wrap="square" lIns="0" tIns="0" rIns="0" bIns="0" rtlCol="0" anchor="t"/>
          <a:lstStyle/>
          <a:p>
            <a:pPr marL="177800" indent="-177800">
              <a:lnSpc>
                <a:spcPct val="115000"/>
              </a:lnSpc>
              <a:spcAft>
                <a:spcPts val="300"/>
              </a:spcAft>
              <a:buSzPct val="100000"/>
              <a:buChar char="•"/>
            </a:pPr>
            <a:r>
              <a:rPr lang="en-US" sz="1100" dirty="0">
                <a:solidFill>
                  <a:srgbClr val="5B6675"/>
                </a:solidFill>
                <a:latin typeface="Arial" pitchFamily="34" charset="0"/>
                <a:ea typeface="Arial" pitchFamily="34" charset="-122"/>
                <a:cs typeface="Arial" pitchFamily="34" charset="-120"/>
              </a:rPr>
              <a:t>The first deploy on a project is always production.</a:t>
            </a:r>
            <a:endParaRPr lang="en-US" sz="1100" dirty="0"/>
          </a:p>
          <a:p>
            <a:pPr marL="177800" indent="-177800">
              <a:lnSpc>
                <a:spcPct val="115000"/>
              </a:lnSpc>
              <a:spcAft>
                <a:spcPts val="300"/>
              </a:spcAft>
              <a:buSzPct val="100000"/>
              <a:buChar char="•"/>
            </a:pPr>
            <a:r>
              <a:rPr lang="en-US" sz="1100" dirty="0">
                <a:solidFill>
                  <a:srgbClr val="5B6675"/>
                </a:solidFill>
                <a:latin typeface="Arial" pitchFamily="34" charset="0"/>
                <a:ea typeface="Arial" pitchFamily="34" charset="-122"/>
                <a:cs typeface="Arial" pitchFamily="34" charset="-120"/>
              </a:rPr>
              <a:t>Hobby rolls back one deployment. Pro rolls back to any.</a:t>
            </a:r>
            <a:endParaRPr lang="en-US" sz="1100" dirty="0"/>
          </a:p>
          <a:p>
            <a:pPr marL="177800" indent="-177800">
              <a:lnSpc>
                <a:spcPct val="115000"/>
              </a:lnSpc>
              <a:spcAft>
                <a:spcPts val="300"/>
              </a:spcAft>
              <a:buSzPct val="100000"/>
              <a:buChar char="•"/>
            </a:pPr>
            <a:r>
              <a:rPr lang="en-US" sz="1100" dirty="0">
                <a:solidFill>
                  <a:srgbClr val="5B6675"/>
                </a:solidFill>
                <a:latin typeface="Arial" pitchFamily="34" charset="0"/>
                <a:ea typeface="Arial" pitchFamily="34" charset="-122"/>
                <a:cs typeface="Arial" pitchFamily="34" charset="-120"/>
              </a:rPr>
              <a:t>After a rollback, nothing goes live until Undo Rollback.</a:t>
            </a:r>
            <a:endParaRPr lang="en-US" sz="1100" dirty="0"/>
          </a:p>
        </p:txBody>
      </p:sp>
      <p:sp>
        <p:nvSpPr>
          <p:cNvPr id="16" name="Shape 12"/>
          <p:cNvSpPr/>
          <p:nvPr/>
        </p:nvSpPr>
        <p:spPr>
          <a:xfrm>
            <a:off x="640080" y="5806440"/>
            <a:ext cx="256032" cy="256032"/>
          </a:xfrm>
          <a:prstGeom prst="rect">
            <a:avLst/>
          </a:prstGeom>
          <a:solidFill>
            <a:srgbClr val="22C55E"/>
          </a:solidFill>
          <a:ln w="12700">
            <a:solidFill>
              <a:srgbClr val="22C55E"/>
            </a:solidFill>
            <a:prstDash val="solid"/>
          </a:ln>
        </p:spPr>
      </p:sp>
      <p:sp>
        <p:nvSpPr>
          <p:cNvPr id="17" name="Text 13"/>
          <p:cNvSpPr/>
          <p:nvPr/>
        </p:nvSpPr>
        <p:spPr>
          <a:xfrm>
            <a:off x="987552" y="5806440"/>
            <a:ext cx="237744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Green sticky = done</a:t>
            </a:r>
            <a:endParaRPr lang="en-US" sz="1100" dirty="0"/>
          </a:p>
        </p:txBody>
      </p:sp>
      <p:sp>
        <p:nvSpPr>
          <p:cNvPr id="18" name="Shape 14"/>
          <p:cNvSpPr/>
          <p:nvPr/>
        </p:nvSpPr>
        <p:spPr>
          <a:xfrm>
            <a:off x="3474720" y="5806440"/>
            <a:ext cx="256032" cy="256032"/>
          </a:xfrm>
          <a:prstGeom prst="rect">
            <a:avLst/>
          </a:prstGeom>
          <a:solidFill>
            <a:srgbClr val="EF4444"/>
          </a:solidFill>
          <a:ln w="12700">
            <a:solidFill>
              <a:srgbClr val="EF4444"/>
            </a:solidFill>
            <a:prstDash val="solid"/>
          </a:ln>
        </p:spPr>
      </p:sp>
      <p:sp>
        <p:nvSpPr>
          <p:cNvPr id="19" name="Text 15"/>
          <p:cNvSpPr/>
          <p:nvPr/>
        </p:nvSpPr>
        <p:spPr>
          <a:xfrm>
            <a:off x="3822192" y="5806440"/>
            <a:ext cx="411480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Red sticky = a helper comes to you</a:t>
            </a:r>
            <a:endParaRPr lang="en-US" sz="1100" dirty="0"/>
          </a:p>
        </p:txBody>
      </p:sp>
      <p:sp>
        <p:nvSpPr>
          <p:cNvPr id="20" name="Shape 16"/>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21" name="Text 17"/>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2" name="Shape 18"/>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23" name="Text 19"/>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24" name="Shape 20"/>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25" name="Text 21"/>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26" name="Shape 22"/>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27" name="Text 23"/>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28" name="Shape 24"/>
          <p:cNvSpPr/>
          <p:nvPr/>
        </p:nvSpPr>
        <p:spPr>
          <a:xfrm>
            <a:off x="7100316" y="6291072"/>
            <a:ext cx="896112" cy="274320"/>
          </a:xfrm>
          <a:prstGeom prst="roundRect">
            <a:avLst>
              <a:gd name="adj" fmla="val 20000"/>
            </a:avLst>
          </a:prstGeom>
          <a:solidFill>
            <a:srgbClr val="EF8B39"/>
          </a:solidFill>
          <a:ln w="6350">
            <a:solidFill>
              <a:srgbClr val="EF8B39"/>
            </a:solidFill>
            <a:prstDash val="solid"/>
          </a:ln>
        </p:spPr>
      </p:sp>
      <p:sp>
        <p:nvSpPr>
          <p:cNvPr id="29" name="Text 25"/>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SHIP</a:t>
            </a:r>
            <a:endParaRPr lang="en-US" sz="800" dirty="0"/>
          </a:p>
        </p:txBody>
      </p:sp>
      <p:sp>
        <p:nvSpPr>
          <p:cNvPr id="30" name="Shape 26"/>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31" name="Text 27"/>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30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7  ·  SHIP AND OWN IT  ·  20 MIN  ·  HANDS-ON</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3:15 – 3:35</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300" b="1" dirty="0">
                <a:solidFill>
                  <a:srgbClr val="0D1219"/>
                </a:solidFill>
                <a:latin typeface="Arial" pitchFamily="34" charset="0"/>
                <a:ea typeface="Arial" pitchFamily="34" charset="-122"/>
                <a:cs typeface="Arial" pitchFamily="34" charset="-120"/>
              </a:rPr>
              <a:t>The thing almost every vibe-coded app ships with: a key in the browser.</a:t>
            </a:r>
            <a:endParaRPr lang="en-US" sz="2300" dirty="0"/>
          </a:p>
        </p:txBody>
      </p:sp>
      <p:sp>
        <p:nvSpPr>
          <p:cNvPr id="8" name="Shape 4"/>
          <p:cNvSpPr/>
          <p:nvPr/>
        </p:nvSpPr>
        <p:spPr>
          <a:xfrm>
            <a:off x="640080" y="1783080"/>
            <a:ext cx="5394960" cy="1965960"/>
          </a:xfrm>
          <a:prstGeom prst="rect">
            <a:avLst/>
          </a:prstGeom>
          <a:solidFill>
            <a:srgbClr val="F3F6FB"/>
          </a:solidFill>
          <a:ln w="9525">
            <a:solidFill>
              <a:srgbClr val="D9E0EA"/>
            </a:solidFill>
            <a:prstDash val="solid"/>
          </a:ln>
        </p:spPr>
      </p:sp>
      <p:sp>
        <p:nvSpPr>
          <p:cNvPr id="9" name="Shape 5"/>
          <p:cNvSpPr/>
          <p:nvPr/>
        </p:nvSpPr>
        <p:spPr>
          <a:xfrm>
            <a:off x="640080" y="1783080"/>
            <a:ext cx="54864" cy="1965960"/>
          </a:xfrm>
          <a:prstGeom prst="rect">
            <a:avLst/>
          </a:prstGeom>
          <a:solidFill>
            <a:srgbClr val="EF4444"/>
          </a:solidFill>
          <a:ln w="12700">
            <a:solidFill>
              <a:srgbClr val="EF4444"/>
            </a:solidFill>
            <a:prstDash val="solid"/>
          </a:ln>
        </p:spPr>
      </p:sp>
      <p:sp>
        <p:nvSpPr>
          <p:cNvPr id="10" name="Text 6"/>
          <p:cNvSpPr txBox="1"/>
          <p:nvPr/>
        </p:nvSpPr>
        <p:spPr>
          <a:xfrm>
            <a:off x="868680" y="1920240"/>
            <a:ext cx="4937760" cy="237744"/>
          </a:xfrm>
          <a:prstGeom prst="rect">
            <a:avLst/>
          </a:prstGeom>
          <a:noFill/>
          <a:ln/>
        </p:spPr>
        <p:txBody>
          <a:bodyPr wrap="square" lIns="0" tIns="0" rIns="0" bIns="0" rtlCol="0" anchor="ctr"/>
          <a:lstStyle/>
          <a:p>
            <a:pPr indent="0" marL="0">
              <a:buNone/>
            </a:pPr>
            <a:r>
              <a:rPr lang="en-US" sz="850" b="1" spc="150" kern="0" dirty="0">
                <a:solidFill>
                  <a:srgbClr val="EF8B39"/>
                </a:solidFill>
                <a:latin typeface="Courier New" pitchFamily="34" charset="0"/>
                <a:ea typeface="Courier New" pitchFamily="34" charset="-122"/>
                <a:cs typeface="Courier New" pitchFamily="34" charset="-120"/>
              </a:rPr>
              <a:t>ESCAPE.TECH, OCT 2025 · READ-ONLY SCAN OF THE FRONT-END CODE</a:t>
            </a:r>
            <a:endParaRPr lang="en-US" sz="850" dirty="0"/>
          </a:p>
        </p:txBody>
      </p:sp>
      <p:sp>
        <p:nvSpPr>
          <p:cNvPr id="11" name="Text 7"/>
          <p:cNvSpPr txBox="1"/>
          <p:nvPr/>
        </p:nvSpPr>
        <p:spPr>
          <a:xfrm>
            <a:off x="868680" y="2194560"/>
            <a:ext cx="1737360" cy="777240"/>
          </a:xfrm>
          <a:prstGeom prst="rect">
            <a:avLst/>
          </a:prstGeom>
          <a:noFill/>
          <a:ln/>
        </p:spPr>
        <p:txBody>
          <a:bodyPr wrap="square" lIns="0" tIns="0" rIns="0" bIns="0" rtlCol="0" anchor="ctr"/>
          <a:lstStyle/>
          <a:p>
            <a:pPr indent="0" marL="0">
              <a:buNone/>
            </a:pPr>
            <a:r>
              <a:rPr lang="en-US" sz="2600" b="1" dirty="0">
                <a:solidFill>
                  <a:srgbClr val="307FE2"/>
                </a:solidFill>
                <a:latin typeface="Arial" pitchFamily="34" charset="0"/>
                <a:ea typeface="Arial" pitchFamily="34" charset="-122"/>
                <a:cs typeface="Arial" pitchFamily="34" charset="-120"/>
              </a:rPr>
              <a:t>5,600</a:t>
            </a:r>
            <a:endParaRPr lang="en-US" sz="2600" dirty="0"/>
          </a:p>
        </p:txBody>
      </p:sp>
      <p:sp>
        <p:nvSpPr>
          <p:cNvPr id="12" name="Text 8"/>
          <p:cNvSpPr txBox="1"/>
          <p:nvPr/>
        </p:nvSpPr>
        <p:spPr>
          <a:xfrm>
            <a:off x="868680" y="2999232"/>
            <a:ext cx="1737360" cy="640080"/>
          </a:xfrm>
          <a:prstGeom prst="rect">
            <a:avLst/>
          </a:prstGeom>
          <a:noFill/>
          <a:ln/>
        </p:spPr>
        <p:txBody>
          <a:bodyPr wrap="square" lIns="0" tIns="0" rIns="0" bIns="0" rtlCol="0" anchor="t"/>
          <a:lstStyle/>
          <a:p>
            <a:pPr indent="0" marL="0">
              <a:lnSpc>
                <a:spcPct val="115000"/>
              </a:lnSpc>
              <a:buNone/>
            </a:pPr>
            <a:r>
              <a:rPr lang="en-US" sz="1000" dirty="0">
                <a:solidFill>
                  <a:srgbClr val="5B6675"/>
                </a:solidFill>
                <a:latin typeface="Arial" pitchFamily="34" charset="0"/>
                <a:ea typeface="Arial" pitchFamily="34" charset="-122"/>
                <a:cs typeface="Arial" pitchFamily="34" charset="-120"/>
              </a:rPr>
              <a:t>live apps scanned</a:t>
            </a:r>
            <a:endParaRPr lang="en-US" sz="1000" dirty="0"/>
          </a:p>
        </p:txBody>
      </p:sp>
      <p:sp>
        <p:nvSpPr>
          <p:cNvPr id="13" name="Text 9"/>
          <p:cNvSpPr txBox="1"/>
          <p:nvPr/>
        </p:nvSpPr>
        <p:spPr>
          <a:xfrm>
            <a:off x="2606040" y="2194560"/>
            <a:ext cx="1737360" cy="777240"/>
          </a:xfrm>
          <a:prstGeom prst="rect">
            <a:avLst/>
          </a:prstGeom>
          <a:noFill/>
          <a:ln/>
        </p:spPr>
        <p:txBody>
          <a:bodyPr wrap="square" lIns="0" tIns="0" rIns="0" bIns="0" rtlCol="0" anchor="ctr"/>
          <a:lstStyle/>
          <a:p>
            <a:pPr indent="0" marL="0">
              <a:buNone/>
            </a:pPr>
            <a:r>
              <a:rPr lang="en-US" sz="2600" b="1" dirty="0">
                <a:solidFill>
                  <a:srgbClr val="307FE2"/>
                </a:solidFill>
                <a:latin typeface="Arial" pitchFamily="34" charset="0"/>
                <a:ea typeface="Arial" pitchFamily="34" charset="-122"/>
                <a:cs typeface="Arial" pitchFamily="34" charset="-120"/>
              </a:rPr>
              <a:t>400+</a:t>
            </a:r>
            <a:endParaRPr lang="en-US" sz="2600" dirty="0"/>
          </a:p>
        </p:txBody>
      </p:sp>
      <p:sp>
        <p:nvSpPr>
          <p:cNvPr id="14" name="Text 10"/>
          <p:cNvSpPr txBox="1"/>
          <p:nvPr/>
        </p:nvSpPr>
        <p:spPr>
          <a:xfrm>
            <a:off x="2606040" y="2999232"/>
            <a:ext cx="1737360" cy="640080"/>
          </a:xfrm>
          <a:prstGeom prst="rect">
            <a:avLst/>
          </a:prstGeom>
          <a:noFill/>
          <a:ln/>
        </p:spPr>
        <p:txBody>
          <a:bodyPr wrap="square" lIns="0" tIns="0" rIns="0" bIns="0" rtlCol="0" anchor="t"/>
          <a:lstStyle/>
          <a:p>
            <a:pPr indent="0" marL="0">
              <a:lnSpc>
                <a:spcPct val="115000"/>
              </a:lnSpc>
              <a:buNone/>
            </a:pPr>
            <a:r>
              <a:rPr lang="en-US" sz="1000" dirty="0">
                <a:solidFill>
                  <a:srgbClr val="5B6675"/>
                </a:solidFill>
                <a:latin typeface="Arial" pitchFamily="34" charset="0"/>
                <a:ea typeface="Arial" pitchFamily="34" charset="-122"/>
                <a:cs typeface="Arial" pitchFamily="34" charset="-120"/>
              </a:rPr>
              <a:t>exposed secrets</a:t>
            </a:r>
            <a:endParaRPr lang="en-US" sz="1000" dirty="0"/>
          </a:p>
        </p:txBody>
      </p:sp>
      <p:sp>
        <p:nvSpPr>
          <p:cNvPr id="15" name="Text 11"/>
          <p:cNvSpPr txBox="1"/>
          <p:nvPr/>
        </p:nvSpPr>
        <p:spPr>
          <a:xfrm>
            <a:off x="4297680" y="2194560"/>
            <a:ext cx="1645920" cy="777240"/>
          </a:xfrm>
          <a:prstGeom prst="rect">
            <a:avLst/>
          </a:prstGeom>
          <a:noFill/>
          <a:ln/>
        </p:spPr>
        <p:txBody>
          <a:bodyPr wrap="square" lIns="0" tIns="0" rIns="0" bIns="0" rtlCol="0" anchor="ctr"/>
          <a:lstStyle/>
          <a:p>
            <a:pPr indent="0" marL="0">
              <a:buNone/>
            </a:pPr>
            <a:r>
              <a:rPr lang="en-US" sz="2600" b="1" dirty="0">
                <a:solidFill>
                  <a:srgbClr val="307FE2"/>
                </a:solidFill>
                <a:latin typeface="Arial" pitchFamily="34" charset="0"/>
                <a:ea typeface="Arial" pitchFamily="34" charset="-122"/>
                <a:cs typeface="Arial" pitchFamily="34" charset="-120"/>
              </a:rPr>
              <a:t>2,000+</a:t>
            </a:r>
            <a:endParaRPr lang="en-US" sz="2600" dirty="0"/>
          </a:p>
        </p:txBody>
      </p:sp>
      <p:sp>
        <p:nvSpPr>
          <p:cNvPr id="16" name="Text 12"/>
          <p:cNvSpPr txBox="1"/>
          <p:nvPr/>
        </p:nvSpPr>
        <p:spPr>
          <a:xfrm>
            <a:off x="4297680" y="2999232"/>
            <a:ext cx="1645920" cy="640080"/>
          </a:xfrm>
          <a:prstGeom prst="rect">
            <a:avLst/>
          </a:prstGeom>
          <a:noFill/>
          <a:ln/>
        </p:spPr>
        <p:txBody>
          <a:bodyPr wrap="square" lIns="0" tIns="0" rIns="0" bIns="0" rtlCol="0" anchor="t"/>
          <a:lstStyle/>
          <a:p>
            <a:pPr indent="0" marL="0">
              <a:lnSpc>
                <a:spcPct val="115000"/>
              </a:lnSpc>
              <a:buNone/>
            </a:pPr>
            <a:r>
              <a:rPr lang="en-US" sz="1000" dirty="0">
                <a:solidFill>
                  <a:srgbClr val="5B6675"/>
                </a:solidFill>
                <a:latin typeface="Arial" pitchFamily="34" charset="0"/>
                <a:ea typeface="Arial" pitchFamily="34" charset="-122"/>
                <a:cs typeface="Arial" pitchFamily="34" charset="-120"/>
              </a:rPr>
              <a:t>high-impact holes</a:t>
            </a:r>
            <a:endParaRPr lang="en-US" sz="1000" dirty="0"/>
          </a:p>
        </p:txBody>
      </p:sp>
      <p:sp>
        <p:nvSpPr>
          <p:cNvPr id="17" name="Shape 13"/>
          <p:cNvSpPr/>
          <p:nvPr/>
        </p:nvSpPr>
        <p:spPr>
          <a:xfrm>
            <a:off x="640080" y="3931920"/>
            <a:ext cx="5394960" cy="1188720"/>
          </a:xfrm>
          <a:prstGeom prst="rect">
            <a:avLst/>
          </a:prstGeom>
          <a:solidFill>
            <a:srgbClr val="E8EEF7"/>
          </a:solidFill>
          <a:ln w="9525">
            <a:solidFill>
              <a:srgbClr val="D9E0EA"/>
            </a:solidFill>
            <a:prstDash val="solid"/>
          </a:ln>
        </p:spPr>
      </p:sp>
      <p:sp>
        <p:nvSpPr>
          <p:cNvPr id="18" name="Text 14"/>
          <p:cNvSpPr txBox="1"/>
          <p:nvPr/>
        </p:nvSpPr>
        <p:spPr>
          <a:xfrm>
            <a:off x="868680" y="4023360"/>
            <a:ext cx="4937760" cy="1005840"/>
          </a:xfrm>
          <a:prstGeom prst="rect">
            <a:avLst/>
          </a:prstGeom>
          <a:noFill/>
          <a:ln/>
        </p:spPr>
        <p:txBody>
          <a:bodyPr wrap="square" lIns="0" tIns="0" rIns="0" bIns="0" rtlCol="0" anchor="t"/>
          <a:lstStyle/>
          <a:p>
            <a:pPr algn="l" indent="0" marL="0">
              <a:lnSpc>
                <a:spcPct val="115000"/>
              </a:lnSpc>
              <a:buNone/>
            </a:pPr>
            <a:r>
              <a:rPr lang="en-US" sz="1100" dirty="0">
                <a:solidFill>
                  <a:srgbClr val="0D1219"/>
                </a:solidFill>
                <a:latin typeface="Arial" pitchFamily="34" charset="0"/>
                <a:ea typeface="Arial" pitchFamily="34" charset="-122"/>
                <a:cs typeface="Arial" pitchFamily="34" charset="-120"/>
              </a:rPr>
              <a:t>Where keys live: .env.local on your laptop (already ignored by git in the starter) and Vercel → Settings → Environment Variables, scoped to Production / Preview / Development, marked Sensitive.</a:t>
            </a:r>
            <a:endParaRPr lang="en-US" sz="1100" dirty="0"/>
          </a:p>
        </p:txBody>
      </p:sp>
      <p:sp>
        <p:nvSpPr>
          <p:cNvPr id="19" name="Shape 15"/>
          <p:cNvSpPr/>
          <p:nvPr/>
        </p:nvSpPr>
        <p:spPr>
          <a:xfrm>
            <a:off x="6263640" y="1783080"/>
            <a:ext cx="5285232" cy="2148840"/>
          </a:xfrm>
          <a:prstGeom prst="rect">
            <a:avLst/>
          </a:prstGeom>
          <a:solidFill>
            <a:srgbClr val="121B2B"/>
          </a:solidFill>
          <a:ln w="12700">
            <a:solidFill>
              <a:srgbClr val="EF8B39"/>
            </a:solidFill>
            <a:prstDash val="solid"/>
          </a:ln>
        </p:spPr>
      </p:sp>
      <p:sp>
        <p:nvSpPr>
          <p:cNvPr id="20" name="Text 16"/>
          <p:cNvSpPr/>
          <p:nvPr/>
        </p:nvSpPr>
        <p:spPr>
          <a:xfrm>
            <a:off x="6446520" y="1892808"/>
            <a:ext cx="4919472" cy="228600"/>
          </a:xfrm>
          <a:prstGeom prst="rect">
            <a:avLst/>
          </a:prstGeom>
          <a:noFill/>
          <a:ln/>
        </p:spPr>
        <p:txBody>
          <a:bodyPr wrap="square" lIns="0" tIns="0" rIns="0" bIns="0" rtlCol="0" anchor="ctr"/>
          <a:lstStyle/>
          <a:p>
            <a:pPr indent="0" marL="0">
              <a:buNone/>
            </a:pPr>
            <a:r>
              <a:rPr lang="en-US" sz="800" b="1" spc="150" kern="0" dirty="0">
                <a:solidFill>
                  <a:srgbClr val="EF8B39"/>
                </a:solidFill>
                <a:latin typeface="Courier New" pitchFamily="34" charset="0"/>
                <a:ea typeface="Courier New" pitchFamily="34" charset="-122"/>
                <a:cs typeface="Courier New" pitchFamily="34" charset="-120"/>
              </a:rPr>
              <a:t>TYPE THIS, VERBATIM</a:t>
            </a:r>
            <a:endParaRPr lang="en-US" sz="800" dirty="0"/>
          </a:p>
        </p:txBody>
      </p:sp>
      <p:sp>
        <p:nvSpPr>
          <p:cNvPr id="21" name="Text 17"/>
          <p:cNvSpPr txBox="1"/>
          <p:nvPr/>
        </p:nvSpPr>
        <p:spPr>
          <a:xfrm>
            <a:off x="6446520" y="2167128"/>
            <a:ext cx="4919472" cy="1645920"/>
          </a:xfrm>
          <a:prstGeom prst="rect">
            <a:avLst/>
          </a:prstGeom>
          <a:noFill/>
          <a:ln/>
        </p:spPr>
        <p:txBody>
          <a:bodyPr wrap="square" lIns="0" tIns="0" rIns="0" bIns="0" rtlCol="0" anchor="t"/>
          <a:lstStyle/>
          <a:p>
            <a:pPr indent="0" marL="0">
              <a:lnSpc>
                <a:spcPct val="120000"/>
              </a:lnSpc>
              <a:buNone/>
            </a:pPr>
            <a:r>
              <a:rPr lang="en-US" sz="1050" dirty="0">
                <a:solidFill>
                  <a:srgbClr val="E6EBF2"/>
                </a:solidFill>
                <a:latin typeface="Courier New" pitchFamily="34" charset="0"/>
                <a:ea typeface="Courier New" pitchFamily="34" charset="-122"/>
                <a:cs typeface="Courier New" pitchFamily="34" charset="-120"/>
              </a:rPr>
              <a:t>Confirm .env.local is listed in .gitignore. Search the whole project for anything that looks like an API key, token, or password and list every place you find one. Move any real value into an environment variable and tell me which Vercel environment it belongs in.</a:t>
            </a:r>
            <a:endParaRPr lang="en-US" sz="1050" dirty="0"/>
          </a:p>
        </p:txBody>
      </p:sp>
      <p:sp>
        <p:nvSpPr>
          <p:cNvPr id="22" name="Text 18"/>
          <p:cNvSpPr txBox="1"/>
          <p:nvPr/>
        </p:nvSpPr>
        <p:spPr>
          <a:xfrm>
            <a:off x="6263640" y="4069080"/>
            <a:ext cx="5285232" cy="1097280"/>
          </a:xfrm>
          <a:prstGeom prst="rect">
            <a:avLst/>
          </a:prstGeom>
          <a:noFill/>
          <a:ln/>
        </p:spPr>
        <p:txBody>
          <a:bodyPr wrap="square" lIns="0" tIns="0" rIns="0" bIns="0" rtlCol="0" anchor="t"/>
          <a:lstStyle/>
          <a:p>
            <a:pPr indent="0" marL="0">
              <a:lnSpc>
                <a:spcPct val="115000"/>
              </a:lnSpc>
              <a:spcAft>
                <a:spcPts val="400"/>
              </a:spcAft>
              <a:buNone/>
            </a:pPr>
            <a:r>
              <a:rPr lang="en-US" sz="1100" dirty="0">
                <a:solidFill>
                  <a:srgbClr val="0D1219"/>
                </a:solidFill>
                <a:latin typeface="Arial" pitchFamily="34" charset="0"/>
                <a:ea typeface="Arial" pitchFamily="34" charset="-122"/>
                <a:cs typeface="Arial" pitchFamily="34" charset="-120"/>
              </a:rPr>
              <a:t>1  Type the prompt. Read the list.</a:t>
            </a:r>
            <a:endParaRPr lang="en-US" sz="1100" dirty="0"/>
          </a:p>
          <a:p>
            <a:pPr indent="0" marL="0">
              <a:lnSpc>
                <a:spcPct val="115000"/>
              </a:lnSpc>
              <a:spcAft>
                <a:spcPts val="400"/>
              </a:spcAft>
              <a:buNone/>
            </a:pPr>
            <a:r>
              <a:rPr lang="en-US" sz="1100" dirty="0">
                <a:solidFill>
                  <a:srgbClr val="0D1219"/>
                </a:solidFill>
                <a:latin typeface="Arial" pitchFamily="34" charset="0"/>
                <a:ea typeface="Arial" pitchFamily="34" charset="-122"/>
                <a:cs typeface="Arial" pitchFamily="34" charset="-120"/>
              </a:rPr>
              <a:t>2  Vercel → Settings → Environment Variables → add DEMO_KEY = not-a-real-key, scope Production, tick Sensitive.</a:t>
            </a:r>
            <a:endParaRPr lang="en-US" sz="1100" dirty="0"/>
          </a:p>
          <a:p>
            <a:pPr indent="0" marL="0">
              <a:lnSpc>
                <a:spcPct val="115000"/>
              </a:lnSpc>
              <a:spcAft>
                <a:spcPts val="400"/>
              </a:spcAft>
              <a:buNone/>
            </a:pPr>
            <a:r>
              <a:rPr lang="en-US" sz="1100" dirty="0">
                <a:solidFill>
                  <a:srgbClr val="0D1219"/>
                </a:solidFill>
                <a:latin typeface="Arial" pitchFamily="34" charset="0"/>
                <a:ea typeface="Arial" pitchFamily="34" charset="-122"/>
                <a:cs typeface="Arial" pitchFamily="34" charset="-120"/>
              </a:rPr>
              <a:t>3  Real keys stay in your password manager today.</a:t>
            </a:r>
            <a:endParaRPr lang="en-US" sz="1100" dirty="0"/>
          </a:p>
        </p:txBody>
      </p:sp>
      <p:sp>
        <p:nvSpPr>
          <p:cNvPr id="23" name="Shape 19"/>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24" name="Text 20"/>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5" name="Shape 21"/>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26" name="Text 22"/>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27" name="Shape 23"/>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28" name="Text 24"/>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29" name="Shape 25"/>
          <p:cNvSpPr/>
          <p:nvPr/>
        </p:nvSpPr>
        <p:spPr>
          <a:xfrm>
            <a:off x="6131052" y="6291072"/>
            <a:ext cx="896112" cy="274320"/>
          </a:xfrm>
          <a:prstGeom prst="roundRect">
            <a:avLst>
              <a:gd name="adj" fmla="val 20000"/>
            </a:avLst>
          </a:prstGeom>
          <a:solidFill>
            <a:srgbClr val="EF8B39"/>
          </a:solidFill>
          <a:ln w="6350">
            <a:solidFill>
              <a:srgbClr val="EF8B39"/>
            </a:solidFill>
            <a:prstDash val="solid"/>
          </a:ln>
        </p:spPr>
      </p:sp>
      <p:sp>
        <p:nvSpPr>
          <p:cNvPr id="30" name="Text 26"/>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REVIEW</a:t>
            </a:r>
            <a:endParaRPr lang="en-US" sz="800" dirty="0"/>
          </a:p>
        </p:txBody>
      </p:sp>
      <p:sp>
        <p:nvSpPr>
          <p:cNvPr id="31" name="Shape 27"/>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32" name="Text 28"/>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33" name="Shape 29"/>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34" name="Text 30"/>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31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7  ·  SHIP AND OWN IT  ·  20 MIN  ·  HANDS-ON</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3:15 – 3:35</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500" b="1" dirty="0">
                <a:solidFill>
                  <a:srgbClr val="0D1219"/>
                </a:solidFill>
                <a:latin typeface="Arial" pitchFamily="34" charset="0"/>
                <a:ea typeface="Arial" pitchFamily="34" charset="-122"/>
                <a:cs typeface="Arial" pitchFamily="34" charset="-120"/>
              </a:rPr>
              <a:t>Whoever wrote it does not review it. Same rule for people and models.</a:t>
            </a:r>
            <a:endParaRPr lang="en-US" sz="2500" dirty="0"/>
          </a:p>
        </p:txBody>
      </p:sp>
      <p:sp>
        <p:nvSpPr>
          <p:cNvPr id="8" name="Shape 4"/>
          <p:cNvSpPr/>
          <p:nvPr/>
        </p:nvSpPr>
        <p:spPr>
          <a:xfrm>
            <a:off x="640080" y="1783080"/>
            <a:ext cx="5394960" cy="1097280"/>
          </a:xfrm>
          <a:prstGeom prst="rect">
            <a:avLst/>
          </a:prstGeom>
          <a:solidFill>
            <a:srgbClr val="121B2B"/>
          </a:solidFill>
          <a:ln w="12700">
            <a:solidFill>
              <a:srgbClr val="EF8B39"/>
            </a:solidFill>
            <a:prstDash val="solid"/>
          </a:ln>
        </p:spPr>
      </p:sp>
      <p:sp>
        <p:nvSpPr>
          <p:cNvPr id="9" name="Text 5"/>
          <p:cNvSpPr/>
          <p:nvPr/>
        </p:nvSpPr>
        <p:spPr>
          <a:xfrm>
            <a:off x="822960" y="1892808"/>
            <a:ext cx="5029200" cy="228600"/>
          </a:xfrm>
          <a:prstGeom prst="rect">
            <a:avLst/>
          </a:prstGeom>
          <a:noFill/>
          <a:ln/>
        </p:spPr>
        <p:txBody>
          <a:bodyPr wrap="square" lIns="0" tIns="0" rIns="0" bIns="0" rtlCol="0" anchor="ctr"/>
          <a:lstStyle/>
          <a:p>
            <a:pPr indent="0" marL="0">
              <a:buNone/>
            </a:pPr>
            <a:r>
              <a:rPr lang="en-US" sz="800" b="1" spc="150" kern="0" dirty="0">
                <a:solidFill>
                  <a:srgbClr val="EF8B39"/>
                </a:solidFill>
                <a:latin typeface="Courier New" pitchFamily="34" charset="0"/>
                <a:ea typeface="Courier New" pitchFamily="34" charset="-122"/>
                <a:cs typeface="Courier New" pitchFamily="34" charset="-120"/>
              </a:rPr>
              <a:t>IN A FRESH CLAUDE SESSION, ON YOUR MERGED my-tool CHANGE</a:t>
            </a:r>
            <a:endParaRPr lang="en-US" sz="800" dirty="0"/>
          </a:p>
        </p:txBody>
      </p:sp>
      <p:sp>
        <p:nvSpPr>
          <p:cNvPr id="10" name="Text 6"/>
          <p:cNvSpPr txBox="1"/>
          <p:nvPr/>
        </p:nvSpPr>
        <p:spPr>
          <a:xfrm>
            <a:off x="822960" y="2167128"/>
            <a:ext cx="5029200" cy="594360"/>
          </a:xfrm>
          <a:prstGeom prst="rect">
            <a:avLst/>
          </a:prstGeom>
          <a:noFill/>
          <a:ln/>
        </p:spPr>
        <p:txBody>
          <a:bodyPr wrap="square" lIns="0" tIns="0" rIns="0" bIns="0" rtlCol="0" anchor="t"/>
          <a:lstStyle/>
          <a:p>
            <a:pPr indent="0" marL="0">
              <a:lnSpc>
                <a:spcPct val="120000"/>
              </a:lnSpc>
              <a:buNone/>
            </a:pPr>
            <a:r>
              <a:rPr lang="en-US" sz="1600" dirty="0">
                <a:solidFill>
                  <a:srgbClr val="E6EBF2"/>
                </a:solidFill>
                <a:latin typeface="Courier New" pitchFamily="34" charset="0"/>
                <a:ea typeface="Courier New" pitchFamily="34" charset="-122"/>
                <a:cs typeface="Courier New" pitchFamily="34" charset="-120"/>
              </a:rPr>
              <a:t>/code-review</a:t>
            </a:r>
            <a:endParaRPr lang="en-US" sz="1600" dirty="0"/>
          </a:p>
        </p:txBody>
      </p:sp>
      <p:sp>
        <p:nvSpPr>
          <p:cNvPr id="11" name="Text 7"/>
          <p:cNvSpPr txBox="1"/>
          <p:nvPr/>
        </p:nvSpPr>
        <p:spPr>
          <a:xfrm>
            <a:off x="640080" y="3063240"/>
            <a:ext cx="5394960" cy="1463040"/>
          </a:xfrm>
          <a:prstGeom prst="rect">
            <a:avLst/>
          </a:prstGeom>
          <a:noFill/>
          <a:ln/>
        </p:spPr>
        <p:txBody>
          <a:bodyPr wrap="square" lIns="0" tIns="0" rIns="0" bIns="0" rtlCol="0" anchor="t"/>
          <a:lstStyle/>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1  Read the top three findings out loud to your partner.</a:t>
            </a:r>
            <a:endParaRPr lang="en-US" sz="1200" dirty="0"/>
          </a:p>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2  Fix the one that matches the bug on their sticky from the build block. Branch, PR, green check, merge.</a:t>
            </a:r>
            <a:endParaRPr lang="en-US" sz="1200" dirty="0"/>
          </a:p>
          <a:p>
            <a:pPr indent="0" marL="0">
              <a:lnSpc>
                <a:spcPct val="115000"/>
              </a:lnSpc>
              <a:spcAft>
                <a:spcPts val="700"/>
              </a:spcAft>
              <a:buNone/>
            </a:pPr>
            <a:r>
              <a:rPr lang="en-US" sz="1200" dirty="0">
                <a:solidFill>
                  <a:srgbClr val="0D1219"/>
                </a:solidFill>
                <a:latin typeface="Arial" pitchFamily="34" charset="0"/>
                <a:ea typeface="Arial" pitchFamily="34" charset="-122"/>
                <a:cs typeface="Arial" pitchFamily="34" charset="-120"/>
              </a:rPr>
              <a:t>3  Green sticky when the fix is live.</a:t>
            </a:r>
            <a:endParaRPr lang="en-US" sz="1200" dirty="0"/>
          </a:p>
        </p:txBody>
      </p:sp>
      <p:sp>
        <p:nvSpPr>
          <p:cNvPr id="12" name="Shape 8"/>
          <p:cNvSpPr/>
          <p:nvPr/>
        </p:nvSpPr>
        <p:spPr>
          <a:xfrm>
            <a:off x="6263640" y="1783080"/>
            <a:ext cx="5285232" cy="3337560"/>
          </a:xfrm>
          <a:prstGeom prst="rect">
            <a:avLst/>
          </a:prstGeom>
          <a:solidFill>
            <a:srgbClr val="E8EEF7"/>
          </a:solidFill>
          <a:ln w="9525">
            <a:solidFill>
              <a:srgbClr val="D9E0EA"/>
            </a:solidFill>
            <a:prstDash val="solid"/>
          </a:ln>
        </p:spPr>
      </p:sp>
      <p:sp>
        <p:nvSpPr>
          <p:cNvPr id="13" name="Shape 9"/>
          <p:cNvSpPr/>
          <p:nvPr/>
        </p:nvSpPr>
        <p:spPr>
          <a:xfrm>
            <a:off x="6263640" y="1783080"/>
            <a:ext cx="54864" cy="3337560"/>
          </a:xfrm>
          <a:prstGeom prst="rect">
            <a:avLst/>
          </a:prstGeom>
          <a:solidFill>
            <a:srgbClr val="EF8B39"/>
          </a:solidFill>
          <a:ln w="12700">
            <a:solidFill>
              <a:srgbClr val="EF8B39"/>
            </a:solidFill>
            <a:prstDash val="solid"/>
          </a:ln>
        </p:spPr>
      </p:sp>
      <p:sp>
        <p:nvSpPr>
          <p:cNvPr id="14" name="Text 10"/>
          <p:cNvSpPr txBox="1"/>
          <p:nvPr/>
        </p:nvSpPr>
        <p:spPr>
          <a:xfrm>
            <a:off x="6492240" y="1920240"/>
            <a:ext cx="4846320" cy="237744"/>
          </a:xfrm>
          <a:prstGeom prst="rect">
            <a:avLst/>
          </a:prstGeom>
          <a:noFill/>
          <a:ln/>
        </p:spPr>
        <p:txBody>
          <a:bodyPr wrap="square" lIns="0" tIns="0" rIns="0" bIns="0" rtlCol="0" anchor="ctr"/>
          <a:lstStyle/>
          <a:p>
            <a:pPr indent="0" marL="0">
              <a:buNone/>
            </a:pPr>
            <a:r>
              <a:rPr lang="en-US" sz="850" b="1" spc="150" kern="0" dirty="0">
                <a:solidFill>
                  <a:srgbClr val="EF8B39"/>
                </a:solidFill>
                <a:latin typeface="Courier New" pitchFamily="34" charset="0"/>
                <a:ea typeface="Courier New" pitchFamily="34" charset="-122"/>
                <a:cs typeface="Courier New" pitchFamily="34" charset="-120"/>
              </a:rPr>
              <a:t>FOR THE DATABASE YOU ADD IN THE NEXT BLOCK</a:t>
            </a:r>
            <a:endParaRPr lang="en-US" sz="850" dirty="0"/>
          </a:p>
        </p:txBody>
      </p:sp>
      <p:sp>
        <p:nvSpPr>
          <p:cNvPr id="15" name="Text 11"/>
          <p:cNvSpPr txBox="1"/>
          <p:nvPr/>
        </p:nvSpPr>
        <p:spPr>
          <a:xfrm>
            <a:off x="6492240" y="2240280"/>
            <a:ext cx="4846320" cy="822960"/>
          </a:xfrm>
          <a:prstGeom prst="rect">
            <a:avLst/>
          </a:prstGeom>
          <a:noFill/>
          <a:ln/>
        </p:spPr>
        <p:txBody>
          <a:bodyPr wrap="square" lIns="0" tIns="0" rIns="0" bIns="0" rtlCol="0" anchor="t"/>
          <a:lstStyle/>
          <a:p>
            <a:pPr algn="l" indent="0" marL="0">
              <a:lnSpc>
                <a:spcPct val="115000"/>
              </a:lnSpc>
              <a:buNone/>
            </a:pPr>
            <a:r>
              <a:rPr lang="en-US" sz="1400" dirty="0">
                <a:solidFill>
                  <a:srgbClr val="0D1219"/>
                </a:solidFill>
                <a:latin typeface="Arial" pitchFamily="34" charset="0"/>
                <a:ea typeface="Arial" pitchFamily="34" charset="-122"/>
                <a:cs typeface="Arial" pitchFamily="34" charset="-120"/>
              </a:rPr>
              <a:t>“A table without Row Level Security is readable and writable by any role.”</a:t>
            </a:r>
            <a:endParaRPr lang="en-US" sz="1400" dirty="0"/>
          </a:p>
        </p:txBody>
      </p:sp>
      <p:sp>
        <p:nvSpPr>
          <p:cNvPr id="16" name="Text 12"/>
          <p:cNvSpPr txBox="1"/>
          <p:nvPr/>
        </p:nvSpPr>
        <p:spPr>
          <a:xfrm>
            <a:off x="6492240" y="3108960"/>
            <a:ext cx="4846320" cy="1920240"/>
          </a:xfrm>
          <a:prstGeom prst="rect">
            <a:avLst/>
          </a:prstGeom>
          <a:noFill/>
          <a:ln/>
        </p:spPr>
        <p:txBody>
          <a:bodyPr wrap="square" lIns="0" tIns="0" rIns="0" bIns="0" rtlCol="0" anchor="t"/>
          <a:lstStyle/>
          <a:p>
            <a:pPr algn="l" indent="0" marL="0">
              <a:lnSpc>
                <a:spcPct val="115000"/>
              </a:lnSpc>
              <a:buNone/>
            </a:pPr>
            <a:r>
              <a:rPr lang="en-US" sz="1100" dirty="0">
                <a:solidFill>
                  <a:srgbClr val="5B6675"/>
                </a:solidFill>
                <a:latin typeface="Arial" pitchFamily="34" charset="0"/>
                <a:ea typeface="Arial" pitchFamily="34" charset="-122"/>
                <a:cs typeface="Arial" pitchFamily="34" charset="-120"/>
              </a:rPr>
              <a:t>Supabase’s own docs. That one unchecked box is the Lovable CVE (May 2025), Moltbook (Feb 2026), and RedAccess (May 2026). If you pick Supabase, the prompt: “enable RLS on every table and write policies so users only see their own rows.” Then read the policy out loud.</a:t>
            </a:r>
            <a:endParaRPr lang="en-US" sz="1100" dirty="0"/>
          </a:p>
        </p:txBody>
      </p:sp>
      <p:sp>
        <p:nvSpPr>
          <p:cNvPr id="17" name="Shape 13"/>
          <p:cNvSpPr/>
          <p:nvPr/>
        </p:nvSpPr>
        <p:spPr>
          <a:xfrm>
            <a:off x="640080" y="5806440"/>
            <a:ext cx="256032" cy="256032"/>
          </a:xfrm>
          <a:prstGeom prst="rect">
            <a:avLst/>
          </a:prstGeom>
          <a:solidFill>
            <a:srgbClr val="22C55E"/>
          </a:solidFill>
          <a:ln w="12700">
            <a:solidFill>
              <a:srgbClr val="22C55E"/>
            </a:solidFill>
            <a:prstDash val="solid"/>
          </a:ln>
        </p:spPr>
      </p:sp>
      <p:sp>
        <p:nvSpPr>
          <p:cNvPr id="18" name="Text 14"/>
          <p:cNvSpPr/>
          <p:nvPr/>
        </p:nvSpPr>
        <p:spPr>
          <a:xfrm>
            <a:off x="987552" y="5806440"/>
            <a:ext cx="237744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Green sticky = done</a:t>
            </a:r>
            <a:endParaRPr lang="en-US" sz="1100" dirty="0"/>
          </a:p>
        </p:txBody>
      </p:sp>
      <p:sp>
        <p:nvSpPr>
          <p:cNvPr id="19" name="Shape 15"/>
          <p:cNvSpPr/>
          <p:nvPr/>
        </p:nvSpPr>
        <p:spPr>
          <a:xfrm>
            <a:off x="3474720" y="5806440"/>
            <a:ext cx="256032" cy="256032"/>
          </a:xfrm>
          <a:prstGeom prst="rect">
            <a:avLst/>
          </a:prstGeom>
          <a:solidFill>
            <a:srgbClr val="EF4444"/>
          </a:solidFill>
          <a:ln w="12700">
            <a:solidFill>
              <a:srgbClr val="EF4444"/>
            </a:solidFill>
            <a:prstDash val="solid"/>
          </a:ln>
        </p:spPr>
      </p:sp>
      <p:sp>
        <p:nvSpPr>
          <p:cNvPr id="20" name="Text 16"/>
          <p:cNvSpPr/>
          <p:nvPr/>
        </p:nvSpPr>
        <p:spPr>
          <a:xfrm>
            <a:off x="3822192" y="5806440"/>
            <a:ext cx="411480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Red sticky = a helper comes to you</a:t>
            </a:r>
            <a:endParaRPr lang="en-US" sz="1100" dirty="0"/>
          </a:p>
        </p:txBody>
      </p:sp>
      <p:sp>
        <p:nvSpPr>
          <p:cNvPr id="21" name="Shape 17"/>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22" name="Text 18"/>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3" name="Shape 19"/>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24" name="Text 20"/>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25" name="Shape 21"/>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26" name="Text 22"/>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27" name="Shape 23"/>
          <p:cNvSpPr/>
          <p:nvPr/>
        </p:nvSpPr>
        <p:spPr>
          <a:xfrm>
            <a:off x="6131052" y="6291072"/>
            <a:ext cx="896112" cy="274320"/>
          </a:xfrm>
          <a:prstGeom prst="roundRect">
            <a:avLst>
              <a:gd name="adj" fmla="val 20000"/>
            </a:avLst>
          </a:prstGeom>
          <a:solidFill>
            <a:srgbClr val="EF8B39"/>
          </a:solidFill>
          <a:ln w="6350">
            <a:solidFill>
              <a:srgbClr val="EF8B39"/>
            </a:solidFill>
            <a:prstDash val="solid"/>
          </a:ln>
        </p:spPr>
      </p:sp>
      <p:sp>
        <p:nvSpPr>
          <p:cNvPr id="28" name="Text 24"/>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REVIEW</a:t>
            </a:r>
            <a:endParaRPr lang="en-US" sz="800" dirty="0"/>
          </a:p>
        </p:txBody>
      </p:sp>
      <p:sp>
        <p:nvSpPr>
          <p:cNvPr id="29" name="Shape 25"/>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30" name="Text 26"/>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31" name="Shape 27"/>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32" name="Text 28"/>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32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8  ·  GIVE IT A MEMORY  ·  30 MIN  ·  HANDS-ON</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3:35 – 4:05</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700" b="1" dirty="0">
                <a:solidFill>
                  <a:srgbClr val="0D1219"/>
                </a:solidFill>
                <a:latin typeface="Arial" pitchFamily="34" charset="0"/>
                <a:ea typeface="Arial" pitchFamily="34" charset="-122"/>
                <a:cs typeface="Arial" pitchFamily="34" charset="-120"/>
              </a:rPr>
              <a:t>Sample data forgets. A database in your account remembers.</a:t>
            </a:r>
            <a:endParaRPr lang="en-US" sz="2700" dirty="0"/>
          </a:p>
        </p:txBody>
      </p:sp>
      <p:sp>
        <p:nvSpPr>
          <p:cNvPr id="8" name="Shape 4"/>
          <p:cNvSpPr/>
          <p:nvPr/>
        </p:nvSpPr>
        <p:spPr>
          <a:xfrm>
            <a:off x="640080" y="1783080"/>
            <a:ext cx="3520440" cy="2103120"/>
          </a:xfrm>
          <a:prstGeom prst="rect">
            <a:avLst/>
          </a:prstGeom>
          <a:solidFill>
            <a:srgbClr val="F3F6FB"/>
          </a:solidFill>
          <a:ln w="9525">
            <a:solidFill>
              <a:srgbClr val="D9E0EA"/>
            </a:solidFill>
            <a:prstDash val="solid"/>
          </a:ln>
        </p:spPr>
      </p:sp>
      <p:sp>
        <p:nvSpPr>
          <p:cNvPr id="9" name="Shape 5"/>
          <p:cNvSpPr/>
          <p:nvPr/>
        </p:nvSpPr>
        <p:spPr>
          <a:xfrm>
            <a:off x="640080" y="1783080"/>
            <a:ext cx="54864" cy="2103120"/>
          </a:xfrm>
          <a:prstGeom prst="rect">
            <a:avLst/>
          </a:prstGeom>
          <a:solidFill>
            <a:srgbClr val="307FE2"/>
          </a:solidFill>
          <a:ln w="12700">
            <a:solidFill>
              <a:srgbClr val="307FE2"/>
            </a:solidFill>
            <a:prstDash val="solid"/>
          </a:ln>
        </p:spPr>
      </p:sp>
      <p:sp>
        <p:nvSpPr>
          <p:cNvPr id="10" name="Text 6"/>
          <p:cNvSpPr txBox="1"/>
          <p:nvPr/>
        </p:nvSpPr>
        <p:spPr>
          <a:xfrm>
            <a:off x="868680" y="1965960"/>
            <a:ext cx="3108960" cy="365760"/>
          </a:xfrm>
          <a:prstGeom prst="rect">
            <a:avLst/>
          </a:prstGeom>
          <a:noFill/>
          <a:ln/>
        </p:spPr>
        <p:txBody>
          <a:bodyPr wrap="square" lIns="0" tIns="0" rIns="0" bIns="0" rtlCol="0" anchor="t"/>
          <a:lstStyle/>
          <a:p>
            <a:pPr indent="0" marL="0">
              <a:buNone/>
            </a:pPr>
            <a:r>
              <a:rPr lang="en-US" sz="1600" b="1" dirty="0">
                <a:solidFill>
                  <a:srgbClr val="0D1219"/>
                </a:solidFill>
                <a:latin typeface="Arial" pitchFamily="34" charset="0"/>
                <a:ea typeface="Arial" pitchFamily="34" charset="-122"/>
                <a:cs typeface="Arial" pitchFamily="34" charset="-120"/>
              </a:rPr>
              <a:t>Your database</a:t>
            </a:r>
            <a:endParaRPr lang="en-US" sz="1600" dirty="0"/>
          </a:p>
        </p:txBody>
      </p:sp>
      <p:sp>
        <p:nvSpPr>
          <p:cNvPr id="11" name="Text 7"/>
          <p:cNvSpPr txBox="1"/>
          <p:nvPr/>
        </p:nvSpPr>
        <p:spPr>
          <a:xfrm>
            <a:off x="868680" y="2377440"/>
            <a:ext cx="3108960" cy="1463040"/>
          </a:xfrm>
          <a:prstGeom prst="rect">
            <a:avLst/>
          </a:prstGeom>
          <a:noFill/>
          <a:ln/>
        </p:spPr>
        <p:txBody>
          <a:bodyPr wrap="square" lIns="0" tIns="0" rIns="0" bIns="0" rtlCol="0" anchor="t"/>
          <a:lstStyle/>
          <a:p>
            <a:pPr algn="l" indent="0" marL="0">
              <a:lnSpc>
                <a:spcPct val="115000"/>
              </a:lnSpc>
              <a:buNone/>
            </a:pPr>
            <a:r>
              <a:rPr lang="en-US" sz="1150" dirty="0">
                <a:solidFill>
                  <a:srgbClr val="5B6675"/>
                </a:solidFill>
                <a:latin typeface="Arial" pitchFamily="34" charset="0"/>
                <a:ea typeface="Arial" pitchFamily="34" charset="-122"/>
                <a:cs typeface="Arial" pitchFamily="34" charset="-120"/>
              </a:rPr>
              <a:t>Neon Postgres, created from inside your Vercel project. Free tier. It sleeps when idle and wakes on the next request.</a:t>
            </a:r>
            <a:endParaRPr lang="en-US" sz="1150" dirty="0"/>
          </a:p>
        </p:txBody>
      </p:sp>
      <p:sp>
        <p:nvSpPr>
          <p:cNvPr id="12" name="Shape 8"/>
          <p:cNvSpPr/>
          <p:nvPr/>
        </p:nvSpPr>
        <p:spPr>
          <a:xfrm>
            <a:off x="4315968" y="1783080"/>
            <a:ext cx="3520440" cy="2103120"/>
          </a:xfrm>
          <a:prstGeom prst="rect">
            <a:avLst/>
          </a:prstGeom>
          <a:solidFill>
            <a:srgbClr val="F3F6FB"/>
          </a:solidFill>
          <a:ln w="9525">
            <a:solidFill>
              <a:srgbClr val="D9E0EA"/>
            </a:solidFill>
            <a:prstDash val="solid"/>
          </a:ln>
        </p:spPr>
      </p:sp>
      <p:sp>
        <p:nvSpPr>
          <p:cNvPr id="13" name="Shape 9"/>
          <p:cNvSpPr/>
          <p:nvPr/>
        </p:nvSpPr>
        <p:spPr>
          <a:xfrm>
            <a:off x="4315968" y="1783080"/>
            <a:ext cx="54864" cy="2103120"/>
          </a:xfrm>
          <a:prstGeom prst="rect">
            <a:avLst/>
          </a:prstGeom>
          <a:solidFill>
            <a:srgbClr val="307FE2"/>
          </a:solidFill>
          <a:ln w="12700">
            <a:solidFill>
              <a:srgbClr val="307FE2"/>
            </a:solidFill>
            <a:prstDash val="solid"/>
          </a:ln>
        </p:spPr>
      </p:sp>
      <p:sp>
        <p:nvSpPr>
          <p:cNvPr id="14" name="Text 10"/>
          <p:cNvSpPr txBox="1"/>
          <p:nvPr/>
        </p:nvSpPr>
        <p:spPr>
          <a:xfrm>
            <a:off x="4544568" y="1965960"/>
            <a:ext cx="3108960" cy="365760"/>
          </a:xfrm>
          <a:prstGeom prst="rect">
            <a:avLst/>
          </a:prstGeom>
          <a:noFill/>
          <a:ln/>
        </p:spPr>
        <p:txBody>
          <a:bodyPr wrap="square" lIns="0" tIns="0" rIns="0" bIns="0" rtlCol="0" anchor="t"/>
          <a:lstStyle/>
          <a:p>
            <a:pPr indent="0" marL="0">
              <a:buNone/>
            </a:pPr>
            <a:r>
              <a:rPr lang="en-US" sz="1600" b="1" dirty="0">
                <a:solidFill>
                  <a:srgbClr val="0D1219"/>
                </a:solidFill>
                <a:latin typeface="Arial" pitchFamily="34" charset="0"/>
                <a:ea typeface="Arial" pitchFamily="34" charset="-122"/>
                <a:cs typeface="Arial" pitchFamily="34" charset="-120"/>
              </a:rPr>
              <a:t>Your connection string</a:t>
            </a:r>
            <a:endParaRPr lang="en-US" sz="1600" dirty="0"/>
          </a:p>
        </p:txBody>
      </p:sp>
      <p:sp>
        <p:nvSpPr>
          <p:cNvPr id="15" name="Text 11"/>
          <p:cNvSpPr txBox="1"/>
          <p:nvPr/>
        </p:nvSpPr>
        <p:spPr>
          <a:xfrm>
            <a:off x="4544568" y="2377440"/>
            <a:ext cx="3108960" cy="1463040"/>
          </a:xfrm>
          <a:prstGeom prst="rect">
            <a:avLst/>
          </a:prstGeom>
          <a:noFill/>
          <a:ln/>
        </p:spPr>
        <p:txBody>
          <a:bodyPr wrap="square" lIns="0" tIns="0" rIns="0" bIns="0" rtlCol="0" anchor="t"/>
          <a:lstStyle/>
          <a:p>
            <a:pPr algn="l" indent="0" marL="0">
              <a:lnSpc>
                <a:spcPct val="115000"/>
              </a:lnSpc>
              <a:buNone/>
            </a:pPr>
            <a:r>
              <a:rPr lang="en-US" sz="1150" dirty="0">
                <a:solidFill>
                  <a:srgbClr val="5B6675"/>
                </a:solidFill>
                <a:latin typeface="Arial" pitchFamily="34" charset="0"/>
                <a:ea typeface="Arial" pitchFamily="34" charset="-122"/>
                <a:cs typeface="Arial" pitchFamily="34" charset="-120"/>
              </a:rPr>
              <a:t>Vercel stores it as DATABASE_URL in your environment variables. It never appears in the code. You learned why twenty minutes ago.</a:t>
            </a:r>
            <a:endParaRPr lang="en-US" sz="1150" dirty="0"/>
          </a:p>
        </p:txBody>
      </p:sp>
      <p:sp>
        <p:nvSpPr>
          <p:cNvPr id="16" name="Shape 12"/>
          <p:cNvSpPr/>
          <p:nvPr/>
        </p:nvSpPr>
        <p:spPr>
          <a:xfrm>
            <a:off x="7991856" y="1783080"/>
            <a:ext cx="3520440" cy="2103120"/>
          </a:xfrm>
          <a:prstGeom prst="rect">
            <a:avLst/>
          </a:prstGeom>
          <a:solidFill>
            <a:srgbClr val="F3F6FB"/>
          </a:solidFill>
          <a:ln w="9525">
            <a:solidFill>
              <a:srgbClr val="D9E0EA"/>
            </a:solidFill>
            <a:prstDash val="solid"/>
          </a:ln>
        </p:spPr>
      </p:sp>
      <p:sp>
        <p:nvSpPr>
          <p:cNvPr id="17" name="Shape 13"/>
          <p:cNvSpPr/>
          <p:nvPr/>
        </p:nvSpPr>
        <p:spPr>
          <a:xfrm>
            <a:off x="7991856" y="1783080"/>
            <a:ext cx="54864" cy="2103120"/>
          </a:xfrm>
          <a:prstGeom prst="rect">
            <a:avLst/>
          </a:prstGeom>
          <a:solidFill>
            <a:srgbClr val="EF8B39"/>
          </a:solidFill>
          <a:ln w="12700">
            <a:solidFill>
              <a:srgbClr val="EF8B39"/>
            </a:solidFill>
            <a:prstDash val="solid"/>
          </a:ln>
        </p:spPr>
      </p:sp>
      <p:sp>
        <p:nvSpPr>
          <p:cNvPr id="18" name="Text 14"/>
          <p:cNvSpPr txBox="1"/>
          <p:nvPr/>
        </p:nvSpPr>
        <p:spPr>
          <a:xfrm>
            <a:off x="8220456" y="1965960"/>
            <a:ext cx="3108960" cy="365760"/>
          </a:xfrm>
          <a:prstGeom prst="rect">
            <a:avLst/>
          </a:prstGeom>
          <a:noFill/>
          <a:ln/>
        </p:spPr>
        <p:txBody>
          <a:bodyPr wrap="square" lIns="0" tIns="0" rIns="0" bIns="0" rtlCol="0" anchor="t"/>
          <a:lstStyle/>
          <a:p>
            <a:pPr indent="0" marL="0">
              <a:buNone/>
            </a:pPr>
            <a:r>
              <a:rPr lang="en-US" sz="1600" b="1" dirty="0">
                <a:solidFill>
                  <a:srgbClr val="0D1219"/>
                </a:solidFill>
                <a:latin typeface="Arial" pitchFamily="34" charset="0"/>
                <a:ea typeface="Arial" pitchFamily="34" charset="-122"/>
                <a:cs typeface="Arial" pitchFamily="34" charset="-120"/>
              </a:rPr>
              <a:t>Your exit</a:t>
            </a:r>
            <a:endParaRPr lang="en-US" sz="1600" dirty="0"/>
          </a:p>
        </p:txBody>
      </p:sp>
      <p:sp>
        <p:nvSpPr>
          <p:cNvPr id="19" name="Text 15"/>
          <p:cNvSpPr txBox="1"/>
          <p:nvPr/>
        </p:nvSpPr>
        <p:spPr>
          <a:xfrm>
            <a:off x="8220456" y="2377440"/>
            <a:ext cx="3108960" cy="1463040"/>
          </a:xfrm>
          <a:prstGeom prst="rect">
            <a:avLst/>
          </a:prstGeom>
          <a:noFill/>
          <a:ln/>
        </p:spPr>
        <p:txBody>
          <a:bodyPr wrap="square" lIns="0" tIns="0" rIns="0" bIns="0" rtlCol="0" anchor="t"/>
          <a:lstStyle/>
          <a:p>
            <a:pPr algn="l" indent="0" marL="0">
              <a:lnSpc>
                <a:spcPct val="115000"/>
              </a:lnSpc>
              <a:buNone/>
            </a:pPr>
            <a:r>
              <a:rPr lang="en-US" sz="1150" dirty="0">
                <a:solidFill>
                  <a:srgbClr val="5B6675"/>
                </a:solidFill>
                <a:latin typeface="Arial" pitchFamily="34" charset="0"/>
                <a:ea typeface="Arial" pitchFamily="34" charset="-122"/>
                <a:cs typeface="Arial" pitchFamily="34" charset="-120"/>
              </a:rPr>
              <a:t>It is plain Postgres. Any host can run it, and every row exports when you say so.</a:t>
            </a:r>
            <a:endParaRPr lang="en-US" sz="1150" dirty="0"/>
          </a:p>
        </p:txBody>
      </p:sp>
      <p:sp>
        <p:nvSpPr>
          <p:cNvPr id="20" name="Shape 16"/>
          <p:cNvSpPr/>
          <p:nvPr/>
        </p:nvSpPr>
        <p:spPr>
          <a:xfrm>
            <a:off x="640080" y="4114800"/>
            <a:ext cx="10908792" cy="1097280"/>
          </a:xfrm>
          <a:prstGeom prst="rect">
            <a:avLst/>
          </a:prstGeom>
          <a:solidFill>
            <a:srgbClr val="E8EEF7"/>
          </a:solidFill>
          <a:ln w="9525">
            <a:solidFill>
              <a:srgbClr val="D9E0EA"/>
            </a:solidFill>
            <a:prstDash val="solid"/>
          </a:ln>
        </p:spPr>
      </p:sp>
      <p:sp>
        <p:nvSpPr>
          <p:cNvPr id="21" name="Shape 17"/>
          <p:cNvSpPr/>
          <p:nvPr/>
        </p:nvSpPr>
        <p:spPr>
          <a:xfrm>
            <a:off x="640080" y="4114800"/>
            <a:ext cx="54864" cy="1097280"/>
          </a:xfrm>
          <a:prstGeom prst="rect">
            <a:avLst/>
          </a:prstGeom>
          <a:solidFill>
            <a:srgbClr val="EF4444"/>
          </a:solidFill>
          <a:ln w="12700">
            <a:solidFill>
              <a:srgbClr val="EF4444"/>
            </a:solidFill>
            <a:prstDash val="solid"/>
          </a:ln>
        </p:spPr>
      </p:sp>
      <p:sp>
        <p:nvSpPr>
          <p:cNvPr id="22" name="Text 18"/>
          <p:cNvSpPr txBox="1"/>
          <p:nvPr/>
        </p:nvSpPr>
        <p:spPr>
          <a:xfrm>
            <a:off x="868680" y="4224528"/>
            <a:ext cx="5486400" cy="237744"/>
          </a:xfrm>
          <a:prstGeom prst="rect">
            <a:avLst/>
          </a:prstGeom>
          <a:noFill/>
          <a:ln/>
        </p:spPr>
        <p:txBody>
          <a:bodyPr wrap="square" lIns="0" tIns="0" rIns="0" bIns="0" rtlCol="0" anchor="ctr"/>
          <a:lstStyle/>
          <a:p>
            <a:pPr indent="0" marL="0">
              <a:buNone/>
            </a:pPr>
            <a:r>
              <a:rPr lang="en-US" sz="850" b="1" spc="150" kern="0" dirty="0">
                <a:solidFill>
                  <a:srgbClr val="EF8B39"/>
                </a:solidFill>
                <a:latin typeface="Courier New" pitchFamily="34" charset="0"/>
                <a:ea typeface="Courier New" pitchFamily="34" charset="-122"/>
                <a:cs typeface="Courier New" pitchFamily="34" charset="-120"/>
              </a:rPr>
              <a:t>PICKING SUPABASE INSTEAD</a:t>
            </a:r>
            <a:endParaRPr lang="en-US" sz="850" dirty="0"/>
          </a:p>
        </p:txBody>
      </p:sp>
      <p:sp>
        <p:nvSpPr>
          <p:cNvPr id="23" name="Text 19"/>
          <p:cNvSpPr txBox="1"/>
          <p:nvPr/>
        </p:nvSpPr>
        <p:spPr>
          <a:xfrm>
            <a:off x="868680" y="4498848"/>
            <a:ext cx="10451592" cy="640080"/>
          </a:xfrm>
          <a:prstGeom prst="rect">
            <a:avLst/>
          </a:prstGeom>
          <a:noFill/>
          <a:ln/>
        </p:spPr>
        <p:txBody>
          <a:bodyPr wrap="square" lIns="0" tIns="0" rIns="0" bIns="0" rtlCol="0" anchor="t"/>
          <a:lstStyle/>
          <a:p>
            <a:pPr algn="l" indent="0" marL="0">
              <a:lnSpc>
                <a:spcPct val="115000"/>
              </a:lnSpc>
              <a:buNone/>
            </a:pPr>
            <a:r>
              <a:rPr lang="en-US" sz="1250" dirty="0">
                <a:solidFill>
                  <a:srgbClr val="0D1219"/>
                </a:solidFill>
                <a:latin typeface="Arial" pitchFamily="34" charset="0"/>
                <a:ea typeface="Arial" pitchFamily="34" charset="-122"/>
                <a:cs typeface="Arial" pitchFamily="34" charset="-120"/>
              </a:rPr>
              <a:t>Same steps, one more rule: enable Row Level Security on every table before anything goes live. That unchecked box is the Lovable CVE, Moltbook, and RedAccess.</a:t>
            </a:r>
            <a:endParaRPr lang="en-US" sz="1250" dirty="0"/>
          </a:p>
        </p:txBody>
      </p:sp>
      <p:sp>
        <p:nvSpPr>
          <p:cNvPr id="24" name="Shape 20"/>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25" name="Text 21"/>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6" name="Shape 22"/>
          <p:cNvSpPr/>
          <p:nvPr/>
        </p:nvSpPr>
        <p:spPr>
          <a:xfrm>
            <a:off x="4192524" y="6291072"/>
            <a:ext cx="896112" cy="274320"/>
          </a:xfrm>
          <a:prstGeom prst="roundRect">
            <a:avLst>
              <a:gd name="adj" fmla="val 20000"/>
            </a:avLst>
          </a:prstGeom>
          <a:solidFill>
            <a:srgbClr val="EF8B39"/>
          </a:solidFill>
          <a:ln w="6350">
            <a:solidFill>
              <a:srgbClr val="EF8B39"/>
            </a:solidFill>
            <a:prstDash val="solid"/>
          </a:ln>
        </p:spPr>
      </p:sp>
      <p:sp>
        <p:nvSpPr>
          <p:cNvPr id="27" name="Text 23"/>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BUILD</a:t>
            </a:r>
            <a:endParaRPr lang="en-US" sz="800" dirty="0"/>
          </a:p>
        </p:txBody>
      </p:sp>
      <p:sp>
        <p:nvSpPr>
          <p:cNvPr id="28" name="Shape 24"/>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29" name="Text 25"/>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30" name="Shape 26"/>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31" name="Text 27"/>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32" name="Shape 28"/>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33" name="Text 29"/>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34" name="Shape 30"/>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35" name="Text 31"/>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33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8  ·  GIVE IT A MEMORY  ·  30 MIN  ·  HANDS-ON</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3:35 – 4:05</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700" b="1" dirty="0">
                <a:solidFill>
                  <a:srgbClr val="0D1219"/>
                </a:solidFill>
                <a:latin typeface="Arial" pitchFamily="34" charset="0"/>
                <a:ea typeface="Arial" pitchFamily="34" charset="-122"/>
                <a:cs typeface="Arial" pitchFamily="34" charset="-120"/>
              </a:rPr>
              <a:t>Create the database in Vercel. Let Claude move the rows in.</a:t>
            </a:r>
            <a:endParaRPr lang="en-US" sz="2700" dirty="0"/>
          </a:p>
        </p:txBody>
      </p:sp>
      <p:sp>
        <p:nvSpPr>
          <p:cNvPr id="8" name="Shape 4"/>
          <p:cNvSpPr/>
          <p:nvPr/>
        </p:nvSpPr>
        <p:spPr>
          <a:xfrm>
            <a:off x="640080" y="1783080"/>
            <a:ext cx="5760720" cy="2743200"/>
          </a:xfrm>
          <a:prstGeom prst="rect">
            <a:avLst/>
          </a:prstGeom>
          <a:solidFill>
            <a:srgbClr val="121B2B"/>
          </a:solidFill>
          <a:ln w="12700">
            <a:solidFill>
              <a:srgbClr val="EF8B39"/>
            </a:solidFill>
            <a:prstDash val="solid"/>
          </a:ln>
        </p:spPr>
      </p:sp>
      <p:sp>
        <p:nvSpPr>
          <p:cNvPr id="9" name="Text 5"/>
          <p:cNvSpPr/>
          <p:nvPr/>
        </p:nvSpPr>
        <p:spPr>
          <a:xfrm>
            <a:off x="822960" y="1892808"/>
            <a:ext cx="5394960" cy="228600"/>
          </a:xfrm>
          <a:prstGeom prst="rect">
            <a:avLst/>
          </a:prstGeom>
          <a:noFill/>
          <a:ln/>
        </p:spPr>
        <p:txBody>
          <a:bodyPr wrap="square" lIns="0" tIns="0" rIns="0" bIns="0" rtlCol="0" anchor="ctr"/>
          <a:lstStyle/>
          <a:p>
            <a:pPr indent="0" marL="0">
              <a:buNone/>
            </a:pPr>
            <a:r>
              <a:rPr lang="en-US" sz="800" b="1" spc="150" kern="0" dirty="0">
                <a:solidFill>
                  <a:srgbClr val="EF8B39"/>
                </a:solidFill>
                <a:latin typeface="Courier New" pitchFamily="34" charset="0"/>
                <a:ea typeface="Courier New" pitchFamily="34" charset="-122"/>
                <a:cs typeface="Courier New" pitchFamily="34" charset="-120"/>
              </a:rPr>
              <a:t>TYPE THIS, VERBATIM</a:t>
            </a:r>
            <a:endParaRPr lang="en-US" sz="800" dirty="0"/>
          </a:p>
        </p:txBody>
      </p:sp>
      <p:sp>
        <p:nvSpPr>
          <p:cNvPr id="10" name="Text 6"/>
          <p:cNvSpPr txBox="1"/>
          <p:nvPr/>
        </p:nvSpPr>
        <p:spPr>
          <a:xfrm>
            <a:off x="822960" y="2167128"/>
            <a:ext cx="5394960" cy="2240280"/>
          </a:xfrm>
          <a:prstGeom prst="rect">
            <a:avLst/>
          </a:prstGeom>
          <a:noFill/>
          <a:ln/>
        </p:spPr>
        <p:txBody>
          <a:bodyPr wrap="square" lIns="0" tIns="0" rIns="0" bIns="0" rtlCol="0" anchor="t"/>
          <a:lstStyle/>
          <a:p>
            <a:pPr indent="0" marL="0">
              <a:lnSpc>
                <a:spcPct val="120000"/>
              </a:lnSpc>
              <a:buNone/>
            </a:pPr>
            <a:r>
              <a:rPr lang="en-US" sz="1050" dirty="0">
                <a:solidFill>
                  <a:srgbClr val="E6EBF2"/>
                </a:solidFill>
                <a:latin typeface="Courier New" pitchFamily="34" charset="0"/>
                <a:ea typeface="Courier New" pitchFamily="34" charset="-122"/>
                <a:cs typeface="Courier New" pitchFamily="34" charset="-120"/>
              </a:rPr>
              <a:t>Read spec.md. Use plan mode first. On a new branch called add-database, replace the sample data in my-tool with a Postgres table, using the DATABASE_URL environment variable that Vercel provides. Create the table if it does not exist. Never put the connection string in the code or in any file that git tracks. Keep the Playwright test passing; if the test needs the database, tell me exactly which secret to add in GitHub and where. Commit, push, and open a pull request.</a:t>
            </a:r>
            <a:endParaRPr lang="en-US" sz="1050" dirty="0"/>
          </a:p>
        </p:txBody>
      </p:sp>
      <p:sp>
        <p:nvSpPr>
          <p:cNvPr id="11" name="Text 7"/>
          <p:cNvSpPr txBox="1"/>
          <p:nvPr/>
        </p:nvSpPr>
        <p:spPr>
          <a:xfrm>
            <a:off x="6629400" y="1783080"/>
            <a:ext cx="4919472" cy="3200400"/>
          </a:xfrm>
          <a:prstGeom prst="rect">
            <a:avLst/>
          </a:prstGeom>
          <a:noFill/>
          <a:ln/>
        </p:spPr>
        <p:txBody>
          <a:bodyPr wrap="square" lIns="0" tIns="0" rIns="0" bIns="0" rtlCol="0" anchor="t"/>
          <a:lstStyle/>
          <a:p>
            <a:pPr indent="0" marL="0">
              <a:lnSpc>
                <a:spcPct val="115000"/>
              </a:lnSpc>
              <a:spcAft>
                <a:spcPts val="700"/>
              </a:spcAft>
              <a:buNone/>
            </a:pPr>
            <a:r>
              <a:rPr lang="en-US" sz="1150" dirty="0">
                <a:solidFill>
                  <a:srgbClr val="0D1219"/>
                </a:solidFill>
                <a:latin typeface="Arial" pitchFamily="34" charset="0"/>
                <a:ea typeface="Arial" pitchFamily="34" charset="-122"/>
                <a:cs typeface="Arial" pitchFamily="34" charset="-120"/>
              </a:rPr>
              <a:t>1  Vercel → your project → Storage → Create Database → Neon. Take the free plan. Connect it to Production and Preview.</a:t>
            </a:r>
            <a:endParaRPr lang="en-US" sz="1150" dirty="0"/>
          </a:p>
          <a:p>
            <a:pPr indent="0" marL="0">
              <a:lnSpc>
                <a:spcPct val="115000"/>
              </a:lnSpc>
              <a:spcAft>
                <a:spcPts val="700"/>
              </a:spcAft>
              <a:buNone/>
            </a:pPr>
            <a:r>
              <a:rPr lang="en-US" sz="1150" dirty="0">
                <a:solidFill>
                  <a:srgbClr val="0D1219"/>
                </a:solidFill>
                <a:latin typeface="Arial" pitchFamily="34" charset="0"/>
                <a:ea typeface="Arial" pitchFamily="34" charset="-122"/>
                <a:cs typeface="Arial" pitchFamily="34" charset="-120"/>
              </a:rPr>
              <a:t>2  Settings → Environment Variables: DATABASE_URL is there, and you never saw it in a file.</a:t>
            </a:r>
            <a:endParaRPr lang="en-US" sz="1150" dirty="0"/>
          </a:p>
          <a:p>
            <a:pPr indent="0" marL="0">
              <a:lnSpc>
                <a:spcPct val="115000"/>
              </a:lnSpc>
              <a:spcAft>
                <a:spcPts val="700"/>
              </a:spcAft>
              <a:buNone/>
            </a:pPr>
            <a:r>
              <a:rPr lang="en-US" sz="1150" dirty="0">
                <a:solidFill>
                  <a:srgbClr val="0D1219"/>
                </a:solidFill>
                <a:latin typeface="Arial" pitchFamily="34" charset="0"/>
                <a:ea typeface="Arial" pitchFamily="34" charset="-122"/>
                <a:cs typeface="Arial" pitchFamily="34" charset="-120"/>
              </a:rPr>
              <a:t>3  Type the prompt. Read the plan: one table, the columns in your spec.</a:t>
            </a:r>
            <a:endParaRPr lang="en-US" sz="1150" dirty="0"/>
          </a:p>
          <a:p>
            <a:pPr indent="0" marL="0">
              <a:lnSpc>
                <a:spcPct val="115000"/>
              </a:lnSpc>
              <a:spcAft>
                <a:spcPts val="700"/>
              </a:spcAft>
              <a:buNone/>
            </a:pPr>
            <a:r>
              <a:rPr lang="en-US" sz="1150" dirty="0">
                <a:solidFill>
                  <a:srgbClr val="0D1219"/>
                </a:solidFill>
                <a:latin typeface="Arial" pitchFamily="34" charset="0"/>
                <a:ea typeface="Arial" pitchFamily="34" charset="-122"/>
                <a:cs typeface="Arial" pitchFamily="34" charset="-120"/>
              </a:rPr>
              <a:t>4  Open the preview on your PHONE. Add a row. Refresh. Still there.</a:t>
            </a:r>
            <a:endParaRPr lang="en-US" sz="1150" dirty="0"/>
          </a:p>
          <a:p>
            <a:pPr indent="0" marL="0">
              <a:lnSpc>
                <a:spcPct val="115000"/>
              </a:lnSpc>
              <a:spcAft>
                <a:spcPts val="700"/>
              </a:spcAft>
              <a:buNone/>
            </a:pPr>
            <a:r>
              <a:rPr lang="en-US" sz="1150" dirty="0">
                <a:solidFill>
                  <a:srgbClr val="0D1219"/>
                </a:solidFill>
                <a:latin typeface="Arial" pitchFamily="34" charset="0"/>
                <a:ea typeface="Arial" pitchFamily="34" charset="-122"/>
                <a:cs typeface="Arial" pitchFamily="34" charset="-120"/>
              </a:rPr>
              <a:t>5  Green check, merge, add one row on production. Green sticky.</a:t>
            </a:r>
            <a:endParaRPr lang="en-US" sz="1150" dirty="0"/>
          </a:p>
        </p:txBody>
      </p:sp>
      <p:sp>
        <p:nvSpPr>
          <p:cNvPr id="12" name="Shape 8"/>
          <p:cNvSpPr/>
          <p:nvPr/>
        </p:nvSpPr>
        <p:spPr>
          <a:xfrm>
            <a:off x="640080" y="4709160"/>
            <a:ext cx="5760720" cy="685800"/>
          </a:xfrm>
          <a:prstGeom prst="rect">
            <a:avLst/>
          </a:prstGeom>
          <a:solidFill>
            <a:srgbClr val="E8EEF7"/>
          </a:solidFill>
          <a:ln w="9525">
            <a:solidFill>
              <a:srgbClr val="D9E0EA"/>
            </a:solidFill>
            <a:prstDash val="solid"/>
          </a:ln>
        </p:spPr>
      </p:sp>
      <p:sp>
        <p:nvSpPr>
          <p:cNvPr id="13" name="Shape 9"/>
          <p:cNvSpPr/>
          <p:nvPr/>
        </p:nvSpPr>
        <p:spPr>
          <a:xfrm>
            <a:off x="640080" y="4709160"/>
            <a:ext cx="54864" cy="685800"/>
          </a:xfrm>
          <a:prstGeom prst="rect">
            <a:avLst/>
          </a:prstGeom>
          <a:solidFill>
            <a:srgbClr val="EF8B39"/>
          </a:solidFill>
          <a:ln w="12700">
            <a:solidFill>
              <a:srgbClr val="EF8B39"/>
            </a:solidFill>
            <a:prstDash val="solid"/>
          </a:ln>
        </p:spPr>
      </p:sp>
      <p:sp>
        <p:nvSpPr>
          <p:cNvPr id="14" name="Text 10"/>
          <p:cNvSpPr txBox="1"/>
          <p:nvPr/>
        </p:nvSpPr>
        <p:spPr>
          <a:xfrm>
            <a:off x="868680" y="4754880"/>
            <a:ext cx="5349240" cy="594360"/>
          </a:xfrm>
          <a:prstGeom prst="rect">
            <a:avLst/>
          </a:prstGeom>
          <a:noFill/>
          <a:ln/>
        </p:spPr>
        <p:txBody>
          <a:bodyPr wrap="square" lIns="0" tIns="0" rIns="0" bIns="0" rtlCol="0" anchor="ctr"/>
          <a:lstStyle/>
          <a:p>
            <a:pPr algn="l" indent="0" marL="0">
              <a:lnSpc>
                <a:spcPct val="115000"/>
              </a:lnSpc>
              <a:buNone/>
            </a:pPr>
            <a:r>
              <a:rPr lang="en-US" sz="1200" dirty="0">
                <a:solidFill>
                  <a:srgbClr val="0D1219"/>
                </a:solidFill>
                <a:latin typeface="Arial" pitchFamily="34" charset="0"/>
                <a:ea typeface="Arial" pitchFamily="34" charset="-122"/>
                <a:cs typeface="Arial" pitchFamily="34" charset="-120"/>
              </a:rPr>
              <a:t>Behind at 3:55? Ask a helper for checkpoint-5-database.</a:t>
            </a:r>
            <a:endParaRPr lang="en-US" sz="1200" dirty="0"/>
          </a:p>
        </p:txBody>
      </p:sp>
      <p:sp>
        <p:nvSpPr>
          <p:cNvPr id="15" name="Shape 11"/>
          <p:cNvSpPr/>
          <p:nvPr/>
        </p:nvSpPr>
        <p:spPr>
          <a:xfrm>
            <a:off x="640080" y="5806440"/>
            <a:ext cx="256032" cy="256032"/>
          </a:xfrm>
          <a:prstGeom prst="rect">
            <a:avLst/>
          </a:prstGeom>
          <a:solidFill>
            <a:srgbClr val="22C55E"/>
          </a:solidFill>
          <a:ln w="12700">
            <a:solidFill>
              <a:srgbClr val="22C55E"/>
            </a:solidFill>
            <a:prstDash val="solid"/>
          </a:ln>
        </p:spPr>
      </p:sp>
      <p:sp>
        <p:nvSpPr>
          <p:cNvPr id="16" name="Text 12"/>
          <p:cNvSpPr/>
          <p:nvPr/>
        </p:nvSpPr>
        <p:spPr>
          <a:xfrm>
            <a:off x="987552" y="5806440"/>
            <a:ext cx="237744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Green sticky = done</a:t>
            </a:r>
            <a:endParaRPr lang="en-US" sz="1100" dirty="0"/>
          </a:p>
        </p:txBody>
      </p:sp>
      <p:sp>
        <p:nvSpPr>
          <p:cNvPr id="17" name="Shape 13"/>
          <p:cNvSpPr/>
          <p:nvPr/>
        </p:nvSpPr>
        <p:spPr>
          <a:xfrm>
            <a:off x="3474720" y="5806440"/>
            <a:ext cx="256032" cy="256032"/>
          </a:xfrm>
          <a:prstGeom prst="rect">
            <a:avLst/>
          </a:prstGeom>
          <a:solidFill>
            <a:srgbClr val="EF4444"/>
          </a:solidFill>
          <a:ln w="12700">
            <a:solidFill>
              <a:srgbClr val="EF4444"/>
            </a:solidFill>
            <a:prstDash val="solid"/>
          </a:ln>
        </p:spPr>
      </p:sp>
      <p:sp>
        <p:nvSpPr>
          <p:cNvPr id="18" name="Text 14"/>
          <p:cNvSpPr/>
          <p:nvPr/>
        </p:nvSpPr>
        <p:spPr>
          <a:xfrm>
            <a:off x="3822192" y="5806440"/>
            <a:ext cx="411480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Red sticky = a helper comes to you</a:t>
            </a:r>
            <a:endParaRPr lang="en-US" sz="1100" dirty="0"/>
          </a:p>
        </p:txBody>
      </p:sp>
      <p:sp>
        <p:nvSpPr>
          <p:cNvPr id="19" name="Shape 15"/>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20" name="Text 16"/>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1" name="Shape 17"/>
          <p:cNvSpPr/>
          <p:nvPr/>
        </p:nvSpPr>
        <p:spPr>
          <a:xfrm>
            <a:off x="4192524" y="6291072"/>
            <a:ext cx="896112" cy="274320"/>
          </a:xfrm>
          <a:prstGeom prst="roundRect">
            <a:avLst>
              <a:gd name="adj" fmla="val 20000"/>
            </a:avLst>
          </a:prstGeom>
          <a:solidFill>
            <a:srgbClr val="EF8B39"/>
          </a:solidFill>
          <a:ln w="6350">
            <a:solidFill>
              <a:srgbClr val="EF8B39"/>
            </a:solidFill>
            <a:prstDash val="solid"/>
          </a:ln>
        </p:spPr>
      </p:sp>
      <p:sp>
        <p:nvSpPr>
          <p:cNvPr id="22" name="Text 18"/>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BUILD</a:t>
            </a:r>
            <a:endParaRPr lang="en-US" sz="800" dirty="0"/>
          </a:p>
        </p:txBody>
      </p:sp>
      <p:sp>
        <p:nvSpPr>
          <p:cNvPr id="23" name="Shape 19"/>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24" name="Text 20"/>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25" name="Shape 21"/>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26" name="Text 22"/>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27" name="Shape 23"/>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28" name="Text 24"/>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29" name="Shape 25"/>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30" name="Text 26"/>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34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EF8B39"/>
                </a:solidFill>
                <a:latin typeface="Courier New" pitchFamily="34" charset="0"/>
                <a:ea typeface="Courier New" pitchFamily="34" charset="-122"/>
                <a:cs typeface="Courier New" pitchFamily="34" charset="-120"/>
              </a:rPr>
              <a:t>LIVE HACKING  ·  SPRINT 2 OF 3  ·  20 MIN  ·  YOUR TOOL, YOUR KEYBOARD</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4:05 – 4:25</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500" b="1" dirty="0">
                <a:solidFill>
                  <a:srgbClr val="0D1219"/>
                </a:solidFill>
                <a:latin typeface="Arial" pitchFamily="34" charset="0"/>
                <a:ea typeface="Arial" pitchFamily="34" charset="-122"/>
                <a:cs typeface="Arial" pitchFamily="34" charset="-120"/>
              </a:rPr>
              <a:t>Live hacking, sprint two. Every change goes through the gate.</a:t>
            </a:r>
            <a:endParaRPr lang="en-US" sz="2500" dirty="0"/>
          </a:p>
        </p:txBody>
      </p:sp>
      <p:sp>
        <p:nvSpPr>
          <p:cNvPr id="8" name="Shape 4"/>
          <p:cNvSpPr/>
          <p:nvPr/>
        </p:nvSpPr>
        <p:spPr>
          <a:xfrm>
            <a:off x="640080" y="1783080"/>
            <a:ext cx="5394960" cy="2148840"/>
          </a:xfrm>
          <a:prstGeom prst="rect">
            <a:avLst/>
          </a:prstGeom>
          <a:solidFill>
            <a:srgbClr val="F3F6FB"/>
          </a:solidFill>
          <a:ln w="9525">
            <a:solidFill>
              <a:srgbClr val="D9E0EA"/>
            </a:solidFill>
            <a:prstDash val="solid"/>
          </a:ln>
        </p:spPr>
      </p:sp>
      <p:sp>
        <p:nvSpPr>
          <p:cNvPr id="9" name="Shape 5"/>
          <p:cNvSpPr/>
          <p:nvPr/>
        </p:nvSpPr>
        <p:spPr>
          <a:xfrm>
            <a:off x="640080" y="1783080"/>
            <a:ext cx="54864" cy="2148840"/>
          </a:xfrm>
          <a:prstGeom prst="rect">
            <a:avLst/>
          </a:prstGeom>
          <a:solidFill>
            <a:srgbClr val="307FE2"/>
          </a:solidFill>
          <a:ln w="12700">
            <a:solidFill>
              <a:srgbClr val="307FE2"/>
            </a:solidFill>
            <a:prstDash val="solid"/>
          </a:ln>
        </p:spPr>
      </p:sp>
      <p:sp>
        <p:nvSpPr>
          <p:cNvPr id="10" name="Text 6"/>
          <p:cNvSpPr txBox="1"/>
          <p:nvPr/>
        </p:nvSpPr>
        <p:spPr>
          <a:xfrm>
            <a:off x="868680" y="1901952"/>
            <a:ext cx="4937760" cy="237744"/>
          </a:xfrm>
          <a:prstGeom prst="rect">
            <a:avLst/>
          </a:prstGeom>
          <a:noFill/>
          <a:ln/>
        </p:spPr>
        <p:txBody>
          <a:bodyPr wrap="square" lIns="0" tIns="0" rIns="0" bIns="0" rtlCol="0" anchor="ctr"/>
          <a:lstStyle/>
          <a:p>
            <a:pPr indent="0" marL="0">
              <a:buNone/>
            </a:pPr>
            <a:r>
              <a:rPr lang="en-US" sz="850" b="1" spc="150" kern="0" dirty="0">
                <a:solidFill>
                  <a:srgbClr val="EF8B39"/>
                </a:solidFill>
                <a:latin typeface="Courier New" pitchFamily="34" charset="0"/>
                <a:ea typeface="Courier New" pitchFamily="34" charset="-122"/>
                <a:cs typeface="Courier New" pitchFamily="34" charset="-120"/>
              </a:rPr>
              <a:t>THE RULES</a:t>
            </a:r>
            <a:endParaRPr lang="en-US" sz="850" dirty="0"/>
          </a:p>
        </p:txBody>
      </p:sp>
      <p:sp>
        <p:nvSpPr>
          <p:cNvPr id="11" name="Text 7"/>
          <p:cNvSpPr txBox="1"/>
          <p:nvPr/>
        </p:nvSpPr>
        <p:spPr>
          <a:xfrm>
            <a:off x="868680" y="2194560"/>
            <a:ext cx="4937760" cy="1691640"/>
          </a:xfrm>
          <a:prstGeom prst="rect">
            <a:avLst/>
          </a:prstGeom>
          <a:noFill/>
          <a:ln/>
        </p:spPr>
        <p:txBody>
          <a:bodyPr wrap="square" lIns="0" tIns="0" rIns="0" bIns="0" rtlCol="0" anchor="t"/>
          <a:lstStyle/>
          <a:p>
            <a:pPr marL="177800" indent="-177800">
              <a:lnSpc>
                <a:spcPct val="115000"/>
              </a:lnSpc>
              <a:spcAft>
                <a:spcPts val="400"/>
              </a:spcAft>
              <a:buSzPct val="100000"/>
              <a:buChar char="•"/>
            </a:pPr>
            <a:r>
              <a:rPr lang="en-US" sz="1150" dirty="0">
                <a:solidFill>
                  <a:srgbClr val="0D1219"/>
                </a:solidFill>
                <a:latin typeface="Arial" pitchFamily="34" charset="0"/>
                <a:ea typeface="Arial" pitchFamily="34" charset="-122"/>
                <a:cs typeface="Arial" pitchFamily="34" charset="-120"/>
              </a:rPr>
              <a:t>A new branch for each feature. Pull request, preview, green check, merge.</a:t>
            </a:r>
            <a:endParaRPr lang="en-US" sz="1150" dirty="0"/>
          </a:p>
          <a:p>
            <a:pPr marL="177800" indent="-177800">
              <a:lnSpc>
                <a:spcPct val="115000"/>
              </a:lnSpc>
              <a:spcAft>
                <a:spcPts val="400"/>
              </a:spcAft>
              <a:buSzPct val="100000"/>
              <a:buChar char="•"/>
            </a:pPr>
            <a:r>
              <a:rPr lang="en-US" sz="1150" dirty="0">
                <a:solidFill>
                  <a:srgbClr val="0D1219"/>
                </a:solidFill>
                <a:latin typeface="Arial" pitchFamily="34" charset="0"/>
                <a:ea typeface="Arial" pitchFamily="34" charset="-122"/>
                <a:cs typeface="Arial" pitchFamily="34" charset="-120"/>
              </a:rPr>
              <a:t>One new sentence in spec.md, one new check in the test. Never loosen a test to get green.</a:t>
            </a:r>
            <a:endParaRPr lang="en-US" sz="1150" dirty="0"/>
          </a:p>
          <a:p>
            <a:pPr marL="177800" indent="-177800">
              <a:lnSpc>
                <a:spcPct val="115000"/>
              </a:lnSpc>
              <a:spcAft>
                <a:spcPts val="400"/>
              </a:spcAft>
              <a:buSzPct val="100000"/>
              <a:buChar char="•"/>
            </a:pPr>
            <a:r>
              <a:rPr lang="en-US" sz="1150" dirty="0">
                <a:solidFill>
                  <a:srgbClr val="0D1219"/>
                </a:solidFill>
                <a:latin typeface="Arial" pitchFamily="34" charset="0"/>
                <a:ea typeface="Arial" pitchFamily="34" charset="-122"/>
                <a:cs typeface="Arial" pitchFamily="34" charset="-120"/>
              </a:rPr>
              <a:t>Stuck for five minutes? Red sticky. Close the pull request and start the branch again.</a:t>
            </a:r>
            <a:endParaRPr lang="en-US" sz="1150" dirty="0"/>
          </a:p>
          <a:p>
            <a:pPr marL="177800" indent="-177800">
              <a:lnSpc>
                <a:spcPct val="115000"/>
              </a:lnSpc>
              <a:spcAft>
                <a:spcPts val="400"/>
              </a:spcAft>
              <a:buSzPct val="100000"/>
              <a:buChar char="•"/>
            </a:pPr>
            <a:r>
              <a:rPr lang="en-US" sz="1150" dirty="0">
                <a:solidFill>
                  <a:srgbClr val="0D1219"/>
                </a:solidFill>
                <a:latin typeface="Arial" pitchFamily="34" charset="0"/>
                <a:ea typeface="Arial" pitchFamily="34" charset="-122"/>
                <a:cs typeface="Arial" pitchFamily="34" charset="-120"/>
              </a:rPr>
              <a:t>A merge broke the live site? Roll back. Then Undo Rollback.</a:t>
            </a:r>
            <a:endParaRPr lang="en-US" sz="1150" dirty="0"/>
          </a:p>
        </p:txBody>
      </p:sp>
      <p:sp>
        <p:nvSpPr>
          <p:cNvPr id="12" name="Shape 8"/>
          <p:cNvSpPr/>
          <p:nvPr/>
        </p:nvSpPr>
        <p:spPr>
          <a:xfrm>
            <a:off x="6263640" y="1783080"/>
            <a:ext cx="5285232" cy="2148840"/>
          </a:xfrm>
          <a:prstGeom prst="rect">
            <a:avLst/>
          </a:prstGeom>
          <a:solidFill>
            <a:srgbClr val="F3F6FB"/>
          </a:solidFill>
          <a:ln w="9525">
            <a:solidFill>
              <a:srgbClr val="D9E0EA"/>
            </a:solidFill>
            <a:prstDash val="solid"/>
          </a:ln>
        </p:spPr>
      </p:sp>
      <p:sp>
        <p:nvSpPr>
          <p:cNvPr id="13" name="Shape 9"/>
          <p:cNvSpPr/>
          <p:nvPr/>
        </p:nvSpPr>
        <p:spPr>
          <a:xfrm>
            <a:off x="6263640" y="1783080"/>
            <a:ext cx="54864" cy="2148840"/>
          </a:xfrm>
          <a:prstGeom prst="rect">
            <a:avLst/>
          </a:prstGeom>
          <a:solidFill>
            <a:srgbClr val="EF8B39"/>
          </a:solidFill>
          <a:ln w="12700">
            <a:solidFill>
              <a:srgbClr val="EF8B39"/>
            </a:solidFill>
            <a:prstDash val="solid"/>
          </a:ln>
        </p:spPr>
      </p:sp>
      <p:sp>
        <p:nvSpPr>
          <p:cNvPr id="14" name="Text 10"/>
          <p:cNvSpPr txBox="1"/>
          <p:nvPr/>
        </p:nvSpPr>
        <p:spPr>
          <a:xfrm>
            <a:off x="6492240" y="1901952"/>
            <a:ext cx="4846320" cy="237744"/>
          </a:xfrm>
          <a:prstGeom prst="rect">
            <a:avLst/>
          </a:prstGeom>
          <a:noFill/>
          <a:ln/>
        </p:spPr>
        <p:txBody>
          <a:bodyPr wrap="square" lIns="0" tIns="0" rIns="0" bIns="0" rtlCol="0" anchor="ctr"/>
          <a:lstStyle/>
          <a:p>
            <a:pPr indent="0" marL="0">
              <a:buNone/>
            </a:pPr>
            <a:r>
              <a:rPr lang="en-US" sz="850" b="1" spc="150" kern="0" dirty="0">
                <a:solidFill>
                  <a:srgbClr val="EF8B39"/>
                </a:solidFill>
                <a:latin typeface="Courier New" pitchFamily="34" charset="0"/>
                <a:ea typeface="Courier New" pitchFamily="34" charset="-122"/>
                <a:cs typeface="Courier New" pitchFamily="34" charset="-120"/>
              </a:rPr>
              <a:t>PICK ONE FROM THE MENU</a:t>
            </a:r>
            <a:endParaRPr lang="en-US" sz="850" dirty="0"/>
          </a:p>
        </p:txBody>
      </p:sp>
      <p:sp>
        <p:nvSpPr>
          <p:cNvPr id="15" name="Text 11"/>
          <p:cNvSpPr txBox="1"/>
          <p:nvPr/>
        </p:nvSpPr>
        <p:spPr>
          <a:xfrm>
            <a:off x="6492240" y="2194560"/>
            <a:ext cx="4846320" cy="1691640"/>
          </a:xfrm>
          <a:prstGeom prst="rect">
            <a:avLst/>
          </a:prstGeom>
          <a:noFill/>
          <a:ln/>
        </p:spPr>
        <p:txBody>
          <a:bodyPr wrap="square" lIns="0" tIns="0" rIns="0" bIns="0" rtlCol="0" anchor="t"/>
          <a:lstStyle/>
          <a:p>
            <a:pPr marL="177800" indent="-177800">
              <a:lnSpc>
                <a:spcPct val="115000"/>
              </a:lnSpc>
              <a:spcAft>
                <a:spcPts val="500"/>
              </a:spcAft>
              <a:buSzPct val="100000"/>
              <a:buChar char="•"/>
            </a:pPr>
            <a:r>
              <a:rPr lang="en-US" sz="1200" dirty="0">
                <a:solidFill>
                  <a:srgbClr val="0D1219"/>
                </a:solidFill>
                <a:latin typeface="Arial" pitchFamily="34" charset="0"/>
                <a:ea typeface="Arial" pitchFamily="34" charset="-122"/>
                <a:cs typeface="Arial" pitchFamily="34" charset="-120"/>
              </a:rPr>
              <a:t>Edit and delete a row</a:t>
            </a:r>
            <a:endParaRPr lang="en-US" sz="1200" dirty="0"/>
          </a:p>
          <a:p>
            <a:pPr marL="177800" indent="-177800">
              <a:lnSpc>
                <a:spcPct val="115000"/>
              </a:lnSpc>
              <a:spcAft>
                <a:spcPts val="500"/>
              </a:spcAft>
              <a:buSzPct val="100000"/>
              <a:buChar char="•"/>
            </a:pPr>
            <a:r>
              <a:rPr lang="en-US" sz="1200" dirty="0">
                <a:solidFill>
                  <a:srgbClr val="0D1219"/>
                </a:solidFill>
                <a:latin typeface="Arial" pitchFamily="34" charset="0"/>
                <a:ea typeface="Arial" pitchFamily="34" charset="-122"/>
                <a:cs typeface="Arial" pitchFamily="34" charset="-120"/>
              </a:rPr>
              <a:t>Search or filter the table</a:t>
            </a:r>
            <a:endParaRPr lang="en-US" sz="1200" dirty="0"/>
          </a:p>
          <a:p>
            <a:pPr marL="177800" indent="-177800">
              <a:lnSpc>
                <a:spcPct val="115000"/>
              </a:lnSpc>
              <a:spcAft>
                <a:spcPts val="500"/>
              </a:spcAft>
              <a:buSzPct val="100000"/>
              <a:buChar char="•"/>
            </a:pPr>
            <a:r>
              <a:rPr lang="en-US" sz="1200" dirty="0">
                <a:solidFill>
                  <a:srgbClr val="0D1219"/>
                </a:solidFill>
                <a:latin typeface="Arial" pitchFamily="34" charset="0"/>
                <a:ea typeface="Arial" pitchFamily="34" charset="-122"/>
                <a:cs typeface="Arial" pitchFamily="34" charset="-120"/>
              </a:rPr>
              <a:t>Export to CSV: your data leaves when you say so</a:t>
            </a:r>
            <a:endParaRPr lang="en-US" sz="1200" dirty="0"/>
          </a:p>
          <a:p>
            <a:pPr marL="177800" indent="-177800">
              <a:lnSpc>
                <a:spcPct val="115000"/>
              </a:lnSpc>
              <a:spcAft>
                <a:spcPts val="500"/>
              </a:spcAft>
              <a:buSzPct val="100000"/>
              <a:buChar char="•"/>
            </a:pPr>
            <a:r>
              <a:rPr lang="en-US" sz="1200" dirty="0">
                <a:solidFill>
                  <a:srgbClr val="0D1219"/>
                </a:solidFill>
                <a:latin typeface="Arial" pitchFamily="34" charset="0"/>
                <a:ea typeface="Arial" pitchFamily="34" charset="-122"/>
                <a:cs typeface="Arial" pitchFamily="34" charset="-120"/>
              </a:rPr>
              <a:t>Totals by month, by customer, or by job</a:t>
            </a:r>
            <a:endParaRPr lang="en-US" sz="1200" dirty="0"/>
          </a:p>
        </p:txBody>
      </p:sp>
      <p:sp>
        <p:nvSpPr>
          <p:cNvPr id="16" name="Shape 12"/>
          <p:cNvSpPr/>
          <p:nvPr/>
        </p:nvSpPr>
        <p:spPr>
          <a:xfrm>
            <a:off x="640080" y="4114800"/>
            <a:ext cx="10908792" cy="1325880"/>
          </a:xfrm>
          <a:prstGeom prst="rect">
            <a:avLst/>
          </a:prstGeom>
          <a:solidFill>
            <a:srgbClr val="121B2B"/>
          </a:solidFill>
          <a:ln w="12700">
            <a:solidFill>
              <a:srgbClr val="EF8B39"/>
            </a:solidFill>
            <a:prstDash val="solid"/>
          </a:ln>
        </p:spPr>
      </p:sp>
      <p:sp>
        <p:nvSpPr>
          <p:cNvPr id="17" name="Text 13"/>
          <p:cNvSpPr/>
          <p:nvPr/>
        </p:nvSpPr>
        <p:spPr>
          <a:xfrm>
            <a:off x="822960" y="4224528"/>
            <a:ext cx="10543032" cy="228600"/>
          </a:xfrm>
          <a:prstGeom prst="rect">
            <a:avLst/>
          </a:prstGeom>
          <a:noFill/>
          <a:ln/>
        </p:spPr>
        <p:txBody>
          <a:bodyPr wrap="square" lIns="0" tIns="0" rIns="0" bIns="0" rtlCol="0" anchor="ctr"/>
          <a:lstStyle/>
          <a:p>
            <a:pPr indent="0" marL="0">
              <a:buNone/>
            </a:pPr>
            <a:r>
              <a:rPr lang="en-US" sz="800" b="1" spc="150" kern="0" dirty="0">
                <a:solidFill>
                  <a:srgbClr val="EF8B39"/>
                </a:solidFill>
                <a:latin typeface="Courier New" pitchFamily="34" charset="0"/>
                <a:ea typeface="Courier New" pitchFamily="34" charset="-122"/>
                <a:cs typeface="Courier New" pitchFamily="34" charset="-120"/>
              </a:rPr>
              <a:t>THE SPRINT PROMPT · FILL IN THE BRACKETS</a:t>
            </a:r>
            <a:endParaRPr lang="en-US" sz="800" dirty="0"/>
          </a:p>
        </p:txBody>
      </p:sp>
      <p:sp>
        <p:nvSpPr>
          <p:cNvPr id="18" name="Text 14"/>
          <p:cNvSpPr txBox="1"/>
          <p:nvPr/>
        </p:nvSpPr>
        <p:spPr>
          <a:xfrm>
            <a:off x="822960" y="4498848"/>
            <a:ext cx="10543032" cy="822960"/>
          </a:xfrm>
          <a:prstGeom prst="rect">
            <a:avLst/>
          </a:prstGeom>
          <a:noFill/>
          <a:ln/>
        </p:spPr>
        <p:txBody>
          <a:bodyPr wrap="square" lIns="0" tIns="0" rIns="0" bIns="0" rtlCol="0" anchor="t"/>
          <a:lstStyle/>
          <a:p>
            <a:pPr indent="0" marL="0">
              <a:lnSpc>
                <a:spcPct val="120000"/>
              </a:lnSpc>
              <a:buNone/>
            </a:pPr>
            <a:r>
              <a:rPr lang="en-US" sz="1050" dirty="0">
                <a:solidFill>
                  <a:srgbClr val="E6EBF2"/>
                </a:solidFill>
                <a:latin typeface="Courier New" pitchFamily="34" charset="0"/>
                <a:ea typeface="Courier New" pitchFamily="34" charset="-122"/>
                <a:cs typeface="Courier New" pitchFamily="34" charset="-120"/>
              </a:rPr>
              <a:t>On a new branch called [feature-name], add [one feature] to my-tool. Add one sentence for it under “How we know it works” in spec.md, and extend the Playwright test to check that sentence. Run the build and the tests. Commit, push, and open a pull request.</a:t>
            </a:r>
            <a:endParaRPr lang="en-US" sz="1050" dirty="0"/>
          </a:p>
        </p:txBody>
      </p:sp>
      <p:sp>
        <p:nvSpPr>
          <p:cNvPr id="19" name="Shape 15"/>
          <p:cNvSpPr/>
          <p:nvPr/>
        </p:nvSpPr>
        <p:spPr>
          <a:xfrm>
            <a:off x="640080" y="5806440"/>
            <a:ext cx="256032" cy="256032"/>
          </a:xfrm>
          <a:prstGeom prst="rect">
            <a:avLst/>
          </a:prstGeom>
          <a:solidFill>
            <a:srgbClr val="22C55E"/>
          </a:solidFill>
          <a:ln w="12700">
            <a:solidFill>
              <a:srgbClr val="22C55E"/>
            </a:solidFill>
            <a:prstDash val="solid"/>
          </a:ln>
        </p:spPr>
      </p:sp>
      <p:sp>
        <p:nvSpPr>
          <p:cNvPr id="20" name="Text 16"/>
          <p:cNvSpPr/>
          <p:nvPr/>
        </p:nvSpPr>
        <p:spPr>
          <a:xfrm>
            <a:off x="987552" y="5806440"/>
            <a:ext cx="237744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Green sticky = done</a:t>
            </a:r>
            <a:endParaRPr lang="en-US" sz="1100" dirty="0"/>
          </a:p>
        </p:txBody>
      </p:sp>
      <p:sp>
        <p:nvSpPr>
          <p:cNvPr id="21" name="Shape 17"/>
          <p:cNvSpPr/>
          <p:nvPr/>
        </p:nvSpPr>
        <p:spPr>
          <a:xfrm>
            <a:off x="3474720" y="5806440"/>
            <a:ext cx="256032" cy="256032"/>
          </a:xfrm>
          <a:prstGeom prst="rect">
            <a:avLst/>
          </a:prstGeom>
          <a:solidFill>
            <a:srgbClr val="EF4444"/>
          </a:solidFill>
          <a:ln w="12700">
            <a:solidFill>
              <a:srgbClr val="EF4444"/>
            </a:solidFill>
            <a:prstDash val="solid"/>
          </a:ln>
        </p:spPr>
      </p:sp>
      <p:sp>
        <p:nvSpPr>
          <p:cNvPr id="22" name="Text 18"/>
          <p:cNvSpPr/>
          <p:nvPr/>
        </p:nvSpPr>
        <p:spPr>
          <a:xfrm>
            <a:off x="3822192" y="5806440"/>
            <a:ext cx="411480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Red sticky = a helper comes to you</a:t>
            </a:r>
            <a:endParaRPr lang="en-US" sz="1100" dirty="0"/>
          </a:p>
        </p:txBody>
      </p:sp>
      <p:sp>
        <p:nvSpPr>
          <p:cNvPr id="23" name="Shape 19"/>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24" name="Text 20"/>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5" name="Shape 21"/>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26" name="Text 22"/>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27" name="Shape 23"/>
          <p:cNvSpPr/>
          <p:nvPr/>
        </p:nvSpPr>
        <p:spPr>
          <a:xfrm>
            <a:off x="5161788" y="6291072"/>
            <a:ext cx="896112" cy="274320"/>
          </a:xfrm>
          <a:prstGeom prst="roundRect">
            <a:avLst>
              <a:gd name="adj" fmla="val 20000"/>
            </a:avLst>
          </a:prstGeom>
          <a:solidFill>
            <a:srgbClr val="EF8B39"/>
          </a:solidFill>
          <a:ln w="6350">
            <a:solidFill>
              <a:srgbClr val="EF8B39"/>
            </a:solidFill>
            <a:prstDash val="solid"/>
          </a:ln>
        </p:spPr>
      </p:sp>
      <p:sp>
        <p:nvSpPr>
          <p:cNvPr id="28" name="Text 24"/>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TEST</a:t>
            </a:r>
            <a:endParaRPr lang="en-US" sz="800" dirty="0"/>
          </a:p>
        </p:txBody>
      </p:sp>
      <p:sp>
        <p:nvSpPr>
          <p:cNvPr id="29" name="Shape 25"/>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30" name="Text 26"/>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31" name="Shape 27"/>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32" name="Text 28"/>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33" name="Shape 29"/>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34" name="Text 30"/>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35 / 51</a:t>
            </a:r>
            <a:endParaRPr lang="en-US" sz="900" dirty="0"/>
          </a:p>
        </p:txBody>
      </p:sp>
      <p:sp>
        <p:nvSpPr>
          <p:cNvPr id="5" name="Text 1"/>
          <p:cNvSpPr txBox="1"/>
          <p:nvPr/>
        </p:nvSpPr>
        <p:spPr>
          <a:xfrm>
            <a:off x="640080" y="502920"/>
            <a:ext cx="10908792" cy="274320"/>
          </a:xfrm>
          <a:prstGeom prst="rect">
            <a:avLst/>
          </a:prstGeom>
          <a:noFill/>
          <a:ln/>
        </p:spPr>
        <p:txBody>
          <a:bodyPr wrap="square" lIns="0" tIns="0" rIns="0" bIns="0" rtlCol="0" anchor="ctr"/>
          <a:lstStyle/>
          <a:p>
            <a:pPr indent="0" marL="0">
              <a:buNone/>
            </a:pPr>
            <a:r>
              <a:rPr lang="en-US" sz="1200" b="1" spc="200" kern="0" dirty="0">
                <a:solidFill>
                  <a:srgbClr val="307FE2"/>
                </a:solidFill>
                <a:latin typeface="Courier New" pitchFamily="34" charset="0"/>
                <a:ea typeface="Courier New" pitchFamily="34" charset="-122"/>
                <a:cs typeface="Courier New" pitchFamily="34" charset="-120"/>
              </a:rPr>
              <a:t>// BREAK TWO · 10 MINUTES</a:t>
            </a:r>
            <a:endParaRPr lang="en-US" sz="120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4:25 – 4:35</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700" b="1" dirty="0">
                <a:solidFill>
                  <a:srgbClr val="0D1219"/>
                </a:solidFill>
                <a:latin typeface="Arial" pitchFamily="34" charset="0"/>
                <a:ea typeface="Arial" pitchFamily="34" charset="-122"/>
                <a:cs typeface="Arial" pitchFamily="34" charset="-120"/>
              </a:rPr>
              <a:t>Ten minutes. Two stickies on the front table again.</a:t>
            </a:r>
            <a:endParaRPr lang="en-US" sz="2700" dirty="0"/>
          </a:p>
        </p:txBody>
      </p:sp>
      <p:sp>
        <p:nvSpPr>
          <p:cNvPr id="8" name="Shape 4"/>
          <p:cNvSpPr/>
          <p:nvPr/>
        </p:nvSpPr>
        <p:spPr>
          <a:xfrm>
            <a:off x="640080" y="1920240"/>
            <a:ext cx="5394960" cy="2011680"/>
          </a:xfrm>
          <a:prstGeom prst="rect">
            <a:avLst/>
          </a:prstGeom>
          <a:solidFill>
            <a:srgbClr val="F3F6FB"/>
          </a:solidFill>
          <a:ln w="9525">
            <a:solidFill>
              <a:srgbClr val="D9E0EA"/>
            </a:solidFill>
            <a:prstDash val="solid"/>
          </a:ln>
        </p:spPr>
      </p:sp>
      <p:sp>
        <p:nvSpPr>
          <p:cNvPr id="9" name="Shape 5"/>
          <p:cNvSpPr/>
          <p:nvPr/>
        </p:nvSpPr>
        <p:spPr>
          <a:xfrm>
            <a:off x="640080" y="1920240"/>
            <a:ext cx="54864" cy="2011680"/>
          </a:xfrm>
          <a:prstGeom prst="rect">
            <a:avLst/>
          </a:prstGeom>
          <a:solidFill>
            <a:srgbClr val="22C55E"/>
          </a:solidFill>
          <a:ln w="12700">
            <a:solidFill>
              <a:srgbClr val="22C55E"/>
            </a:solidFill>
            <a:prstDash val="solid"/>
          </a:ln>
        </p:spPr>
      </p:sp>
      <p:sp>
        <p:nvSpPr>
          <p:cNvPr id="10" name="Text 6"/>
          <p:cNvSpPr txBox="1"/>
          <p:nvPr/>
        </p:nvSpPr>
        <p:spPr>
          <a:xfrm>
            <a:off x="914400" y="2148840"/>
            <a:ext cx="4846320" cy="365760"/>
          </a:xfrm>
          <a:prstGeom prst="rect">
            <a:avLst/>
          </a:prstGeom>
          <a:noFill/>
          <a:ln/>
        </p:spPr>
        <p:txBody>
          <a:bodyPr wrap="square" lIns="0" tIns="0" rIns="0" bIns="0" rtlCol="0" anchor="t"/>
          <a:lstStyle/>
          <a:p>
            <a:pPr indent="0" marL="0">
              <a:buNone/>
            </a:pPr>
            <a:r>
              <a:rPr lang="en-US" sz="1800" b="1" dirty="0">
                <a:solidFill>
                  <a:srgbClr val="0D1219"/>
                </a:solidFill>
                <a:latin typeface="Arial" pitchFamily="34" charset="0"/>
                <a:ea typeface="Arial" pitchFamily="34" charset="-122"/>
                <a:cs typeface="Arial" pitchFamily="34" charset="-120"/>
              </a:rPr>
              <a:t>One thing you learned since lunch</a:t>
            </a:r>
            <a:endParaRPr lang="en-US" sz="1800" dirty="0"/>
          </a:p>
        </p:txBody>
      </p:sp>
      <p:sp>
        <p:nvSpPr>
          <p:cNvPr id="11" name="Text 7"/>
          <p:cNvSpPr txBox="1"/>
          <p:nvPr/>
        </p:nvSpPr>
        <p:spPr>
          <a:xfrm>
            <a:off x="914400" y="2606040"/>
            <a:ext cx="4846320" cy="457200"/>
          </a:xfrm>
          <a:prstGeom prst="rect">
            <a:avLst/>
          </a:prstGeom>
          <a:noFill/>
          <a:ln/>
        </p:spPr>
        <p:txBody>
          <a:bodyPr wrap="square" lIns="0" tIns="0" rIns="0" bIns="0" rtlCol="0" anchor="t"/>
          <a:lstStyle/>
          <a:p>
            <a:pPr algn="l" indent="0" marL="0">
              <a:lnSpc>
                <a:spcPct val="115000"/>
              </a:lnSpc>
              <a:buNone/>
            </a:pPr>
            <a:r>
              <a:rPr lang="en-US" sz="1300" dirty="0">
                <a:solidFill>
                  <a:srgbClr val="5B6675"/>
                </a:solidFill>
                <a:latin typeface="Arial" pitchFamily="34" charset="0"/>
                <a:ea typeface="Arial" pitchFamily="34" charset="-122"/>
                <a:cs typeface="Arial" pitchFamily="34" charset="-120"/>
              </a:rPr>
              <a:t>On the green one.</a:t>
            </a:r>
            <a:endParaRPr lang="en-US" sz="1300" dirty="0"/>
          </a:p>
        </p:txBody>
      </p:sp>
      <p:sp>
        <p:nvSpPr>
          <p:cNvPr id="12" name="Shape 8"/>
          <p:cNvSpPr/>
          <p:nvPr/>
        </p:nvSpPr>
        <p:spPr>
          <a:xfrm>
            <a:off x="6263640" y="1920240"/>
            <a:ext cx="5285232" cy="2011680"/>
          </a:xfrm>
          <a:prstGeom prst="rect">
            <a:avLst/>
          </a:prstGeom>
          <a:solidFill>
            <a:srgbClr val="F3F6FB"/>
          </a:solidFill>
          <a:ln w="9525">
            <a:solidFill>
              <a:srgbClr val="D9E0EA"/>
            </a:solidFill>
            <a:prstDash val="solid"/>
          </a:ln>
        </p:spPr>
      </p:sp>
      <p:sp>
        <p:nvSpPr>
          <p:cNvPr id="13" name="Shape 9"/>
          <p:cNvSpPr/>
          <p:nvPr/>
        </p:nvSpPr>
        <p:spPr>
          <a:xfrm>
            <a:off x="6263640" y="1920240"/>
            <a:ext cx="54864" cy="2011680"/>
          </a:xfrm>
          <a:prstGeom prst="rect">
            <a:avLst/>
          </a:prstGeom>
          <a:solidFill>
            <a:srgbClr val="EF4444"/>
          </a:solidFill>
          <a:ln w="12700">
            <a:solidFill>
              <a:srgbClr val="EF4444"/>
            </a:solidFill>
            <a:prstDash val="solid"/>
          </a:ln>
        </p:spPr>
      </p:sp>
      <p:sp>
        <p:nvSpPr>
          <p:cNvPr id="14" name="Text 10"/>
          <p:cNvSpPr txBox="1"/>
          <p:nvPr/>
        </p:nvSpPr>
        <p:spPr>
          <a:xfrm>
            <a:off x="6537960" y="2148840"/>
            <a:ext cx="4846320" cy="365760"/>
          </a:xfrm>
          <a:prstGeom prst="rect">
            <a:avLst/>
          </a:prstGeom>
          <a:noFill/>
          <a:ln/>
        </p:spPr>
        <p:txBody>
          <a:bodyPr wrap="square" lIns="0" tIns="0" rIns="0" bIns="0" rtlCol="0" anchor="t"/>
          <a:lstStyle/>
          <a:p>
            <a:pPr indent="0" marL="0">
              <a:buNone/>
            </a:pPr>
            <a:r>
              <a:rPr lang="en-US" sz="1800" b="1" dirty="0">
                <a:solidFill>
                  <a:srgbClr val="0D1219"/>
                </a:solidFill>
                <a:latin typeface="Arial" pitchFamily="34" charset="0"/>
                <a:ea typeface="Arial" pitchFamily="34" charset="-122"/>
                <a:cs typeface="Arial" pitchFamily="34" charset="-120"/>
              </a:rPr>
              <a:t>One thing still confusing</a:t>
            </a:r>
            <a:endParaRPr lang="en-US" sz="1800" dirty="0"/>
          </a:p>
        </p:txBody>
      </p:sp>
      <p:sp>
        <p:nvSpPr>
          <p:cNvPr id="15" name="Text 11"/>
          <p:cNvSpPr txBox="1"/>
          <p:nvPr/>
        </p:nvSpPr>
        <p:spPr>
          <a:xfrm>
            <a:off x="6537960" y="2606040"/>
            <a:ext cx="4846320" cy="822960"/>
          </a:xfrm>
          <a:prstGeom prst="rect">
            <a:avLst/>
          </a:prstGeom>
          <a:noFill/>
          <a:ln/>
        </p:spPr>
        <p:txBody>
          <a:bodyPr wrap="square" lIns="0" tIns="0" rIns="0" bIns="0" rtlCol="0" anchor="t"/>
          <a:lstStyle/>
          <a:p>
            <a:pPr algn="l" indent="0" marL="0">
              <a:lnSpc>
                <a:spcPct val="115000"/>
              </a:lnSpc>
              <a:buNone/>
            </a:pPr>
            <a:r>
              <a:rPr lang="en-US" sz="1300" dirty="0">
                <a:solidFill>
                  <a:srgbClr val="5B6675"/>
                </a:solidFill>
                <a:latin typeface="Arial" pitchFamily="34" charset="0"/>
                <a:ea typeface="Arial" pitchFamily="34" charset="-122"/>
                <a:cs typeface="Arial" pitchFamily="34" charset="-120"/>
              </a:rPr>
              <a:t>On the red one. I read them all and change the last ninety minutes if you tell me to.</a:t>
            </a:r>
            <a:endParaRPr lang="en-US" sz="1300" dirty="0"/>
          </a:p>
        </p:txBody>
      </p:sp>
      <p:sp>
        <p:nvSpPr>
          <p:cNvPr id="16" name="Text 12"/>
          <p:cNvSpPr txBox="1"/>
          <p:nvPr/>
        </p:nvSpPr>
        <p:spPr>
          <a:xfrm>
            <a:off x="640080" y="4297680"/>
            <a:ext cx="10908792" cy="457200"/>
          </a:xfrm>
          <a:prstGeom prst="rect">
            <a:avLst/>
          </a:prstGeom>
          <a:noFill/>
          <a:ln/>
        </p:spPr>
        <p:txBody>
          <a:bodyPr wrap="square" lIns="0" tIns="0" rIns="0" bIns="0" rtlCol="0" anchor="t"/>
          <a:lstStyle/>
          <a:p>
            <a:pPr algn="l" indent="0" marL="0">
              <a:lnSpc>
                <a:spcPct val="115000"/>
              </a:lnSpc>
              <a:buNone/>
            </a:pPr>
            <a:r>
              <a:rPr lang="en-US" sz="1400" dirty="0">
                <a:solidFill>
                  <a:srgbClr val="0D1219"/>
                </a:solidFill>
                <a:latin typeface="Arial" pitchFamily="34" charset="0"/>
                <a:ea typeface="Arial" pitchFamily="34" charset="-122"/>
                <a:cs typeface="Arial" pitchFamily="34" charset="-120"/>
              </a:rPr>
              <a:t>No database yet? Ask a helper for checkpoint-5-database now. The next block builds on it. Back at 4:35.</a:t>
            </a:r>
            <a:endParaRPr lang="en-US" sz="1400" dirty="0"/>
          </a:p>
        </p:txBody>
      </p:sp>
      <p:sp>
        <p:nvSpPr>
          <p:cNvPr id="17" name="Shape 13"/>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18" name="Text 14"/>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19" name="Shape 15"/>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20" name="Text 16"/>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21" name="Shape 17"/>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22" name="Text 18"/>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23" name="Shape 19"/>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24" name="Text 20"/>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25" name="Shape 21"/>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26" name="Text 22"/>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27" name="Shape 23"/>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28" name="Text 24"/>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36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9  ·  HEAR ABOUT IT  ·  20 MIN  ·  HANDS-ON</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4:35 – 4:55</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700" b="1" dirty="0">
                <a:solidFill>
                  <a:srgbClr val="0D1219"/>
                </a:solidFill>
                <a:latin typeface="Arial" pitchFamily="34" charset="0"/>
                <a:ea typeface="Arial" pitchFamily="34" charset="-122"/>
                <a:cs typeface="Arial" pitchFamily="34" charset="-120"/>
              </a:rPr>
              <a:t>Your spec said “and I get the email.” Build that line.</a:t>
            </a:r>
            <a:endParaRPr lang="en-US" sz="2700" dirty="0"/>
          </a:p>
        </p:txBody>
      </p:sp>
      <p:sp>
        <p:nvSpPr>
          <p:cNvPr id="8" name="Shape 4"/>
          <p:cNvSpPr/>
          <p:nvPr/>
        </p:nvSpPr>
        <p:spPr>
          <a:xfrm>
            <a:off x="640080" y="1783080"/>
            <a:ext cx="3520440" cy="2286000"/>
          </a:xfrm>
          <a:prstGeom prst="rect">
            <a:avLst/>
          </a:prstGeom>
          <a:solidFill>
            <a:srgbClr val="F3F6FB"/>
          </a:solidFill>
          <a:ln w="9525">
            <a:solidFill>
              <a:srgbClr val="D9E0EA"/>
            </a:solidFill>
            <a:prstDash val="solid"/>
          </a:ln>
        </p:spPr>
      </p:sp>
      <p:sp>
        <p:nvSpPr>
          <p:cNvPr id="9" name="Shape 5"/>
          <p:cNvSpPr/>
          <p:nvPr/>
        </p:nvSpPr>
        <p:spPr>
          <a:xfrm>
            <a:off x="640080" y="1783080"/>
            <a:ext cx="54864" cy="2286000"/>
          </a:xfrm>
          <a:prstGeom prst="rect">
            <a:avLst/>
          </a:prstGeom>
          <a:solidFill>
            <a:srgbClr val="EF8B39"/>
          </a:solidFill>
          <a:ln w="12700">
            <a:solidFill>
              <a:srgbClr val="EF8B39"/>
            </a:solidFill>
            <a:prstDash val="solid"/>
          </a:ln>
        </p:spPr>
      </p:sp>
      <p:sp>
        <p:nvSpPr>
          <p:cNvPr id="10" name="Text 6"/>
          <p:cNvSpPr txBox="1"/>
          <p:nvPr/>
        </p:nvSpPr>
        <p:spPr>
          <a:xfrm>
            <a:off x="868680" y="1965960"/>
            <a:ext cx="3108960" cy="365760"/>
          </a:xfrm>
          <a:prstGeom prst="rect">
            <a:avLst/>
          </a:prstGeom>
          <a:noFill/>
          <a:ln/>
        </p:spPr>
        <p:txBody>
          <a:bodyPr wrap="square" lIns="0" tIns="0" rIns="0" bIns="0" rtlCol="0" anchor="t"/>
          <a:lstStyle/>
          <a:p>
            <a:pPr indent="0" marL="0">
              <a:buNone/>
            </a:pPr>
            <a:r>
              <a:rPr lang="en-US" sz="1500" b="1" dirty="0">
                <a:solidFill>
                  <a:srgbClr val="0D1219"/>
                </a:solidFill>
                <a:latin typeface="Arial" pitchFamily="34" charset="0"/>
                <a:ea typeface="Arial" pitchFamily="34" charset="-122"/>
                <a:cs typeface="Arial" pitchFamily="34" charset="-120"/>
              </a:rPr>
              <a:t>An email when it matters</a:t>
            </a:r>
            <a:endParaRPr lang="en-US" sz="1500" dirty="0"/>
          </a:p>
        </p:txBody>
      </p:sp>
      <p:sp>
        <p:nvSpPr>
          <p:cNvPr id="11" name="Text 7"/>
          <p:cNvSpPr txBox="1"/>
          <p:nvPr/>
        </p:nvSpPr>
        <p:spPr>
          <a:xfrm>
            <a:off x="868680" y="2377440"/>
            <a:ext cx="3108960" cy="1645920"/>
          </a:xfrm>
          <a:prstGeom prst="rect">
            <a:avLst/>
          </a:prstGeom>
          <a:noFill/>
          <a:ln/>
        </p:spPr>
        <p:txBody>
          <a:bodyPr wrap="square" lIns="0" tIns="0" rIns="0" bIns="0" rtlCol="0" anchor="t"/>
          <a:lstStyle/>
          <a:p>
            <a:pPr algn="l" indent="0" marL="0">
              <a:lnSpc>
                <a:spcPct val="115000"/>
              </a:lnSpc>
              <a:buNone/>
            </a:pPr>
            <a:r>
              <a:rPr lang="en-US" sz="1150" dirty="0">
                <a:solidFill>
                  <a:srgbClr val="5B6675"/>
                </a:solidFill>
                <a:latin typeface="Arial" pitchFamily="34" charset="0"/>
                <a:ea typeface="Arial" pitchFamily="34" charset="-122"/>
                <a:cs typeface="Arial" pitchFamily="34" charset="-120"/>
              </a:rPr>
              <a:t>Resend, free tier, 100 emails a day. One API key, stored as an environment variable. Until you verify your domain on Monday, it delivers to your own address only.</a:t>
            </a:r>
            <a:endParaRPr lang="en-US" sz="1150" dirty="0"/>
          </a:p>
        </p:txBody>
      </p:sp>
      <p:sp>
        <p:nvSpPr>
          <p:cNvPr id="12" name="Shape 8"/>
          <p:cNvSpPr/>
          <p:nvPr/>
        </p:nvSpPr>
        <p:spPr>
          <a:xfrm>
            <a:off x="4315968" y="1783080"/>
            <a:ext cx="3520440" cy="2286000"/>
          </a:xfrm>
          <a:prstGeom prst="rect">
            <a:avLst/>
          </a:prstGeom>
          <a:solidFill>
            <a:srgbClr val="F3F6FB"/>
          </a:solidFill>
          <a:ln w="9525">
            <a:solidFill>
              <a:srgbClr val="D9E0EA"/>
            </a:solidFill>
            <a:prstDash val="solid"/>
          </a:ln>
        </p:spPr>
      </p:sp>
      <p:sp>
        <p:nvSpPr>
          <p:cNvPr id="13" name="Shape 9"/>
          <p:cNvSpPr/>
          <p:nvPr/>
        </p:nvSpPr>
        <p:spPr>
          <a:xfrm>
            <a:off x="4315968" y="1783080"/>
            <a:ext cx="54864" cy="2286000"/>
          </a:xfrm>
          <a:prstGeom prst="rect">
            <a:avLst/>
          </a:prstGeom>
          <a:solidFill>
            <a:srgbClr val="307FE2"/>
          </a:solidFill>
          <a:ln w="12700">
            <a:solidFill>
              <a:srgbClr val="307FE2"/>
            </a:solidFill>
            <a:prstDash val="solid"/>
          </a:ln>
        </p:spPr>
      </p:sp>
      <p:sp>
        <p:nvSpPr>
          <p:cNvPr id="14" name="Text 10"/>
          <p:cNvSpPr txBox="1"/>
          <p:nvPr/>
        </p:nvSpPr>
        <p:spPr>
          <a:xfrm>
            <a:off x="4544568" y="1965960"/>
            <a:ext cx="3108960" cy="365760"/>
          </a:xfrm>
          <a:prstGeom prst="rect">
            <a:avLst/>
          </a:prstGeom>
          <a:noFill/>
          <a:ln/>
        </p:spPr>
        <p:txBody>
          <a:bodyPr wrap="square" lIns="0" tIns="0" rIns="0" bIns="0" rtlCol="0" anchor="t"/>
          <a:lstStyle/>
          <a:p>
            <a:pPr indent="0" marL="0">
              <a:buNone/>
            </a:pPr>
            <a:r>
              <a:rPr lang="en-US" sz="1500" b="1" dirty="0">
                <a:solidFill>
                  <a:srgbClr val="0D1219"/>
                </a:solidFill>
                <a:latin typeface="Arial" pitchFamily="34" charset="0"/>
                <a:ea typeface="Arial" pitchFamily="34" charset="-122"/>
                <a:cs typeface="Arial" pitchFamily="34" charset="-120"/>
              </a:rPr>
              <a:t>Logs when it breaks</a:t>
            </a:r>
            <a:endParaRPr lang="en-US" sz="1500" dirty="0"/>
          </a:p>
        </p:txBody>
      </p:sp>
      <p:sp>
        <p:nvSpPr>
          <p:cNvPr id="15" name="Text 11"/>
          <p:cNvSpPr txBox="1"/>
          <p:nvPr/>
        </p:nvSpPr>
        <p:spPr>
          <a:xfrm>
            <a:off x="4544568" y="2377440"/>
            <a:ext cx="3108960" cy="1645920"/>
          </a:xfrm>
          <a:prstGeom prst="rect">
            <a:avLst/>
          </a:prstGeom>
          <a:noFill/>
          <a:ln/>
        </p:spPr>
        <p:txBody>
          <a:bodyPr wrap="square" lIns="0" tIns="0" rIns="0" bIns="0" rtlCol="0" anchor="t"/>
          <a:lstStyle/>
          <a:p>
            <a:pPr algn="l" indent="0" marL="0">
              <a:lnSpc>
                <a:spcPct val="115000"/>
              </a:lnSpc>
              <a:buNone/>
            </a:pPr>
            <a:r>
              <a:rPr lang="en-US" sz="1150" dirty="0">
                <a:solidFill>
                  <a:srgbClr val="5B6675"/>
                </a:solidFill>
                <a:latin typeface="Arial" pitchFamily="34" charset="0"/>
                <a:ea typeface="Arial" pitchFamily="34" charset="-122"/>
                <a:cs typeface="Arial" pitchFamily="34" charset="-120"/>
              </a:rPr>
              <a:t>Vercel → Logs shows every request and every error. Hobby keeps one hour, so look the same day.</a:t>
            </a:r>
            <a:endParaRPr lang="en-US" sz="1150" dirty="0"/>
          </a:p>
        </p:txBody>
      </p:sp>
      <p:sp>
        <p:nvSpPr>
          <p:cNvPr id="16" name="Shape 12"/>
          <p:cNvSpPr/>
          <p:nvPr/>
        </p:nvSpPr>
        <p:spPr>
          <a:xfrm>
            <a:off x="7991856" y="1783080"/>
            <a:ext cx="3520440" cy="2286000"/>
          </a:xfrm>
          <a:prstGeom prst="rect">
            <a:avLst/>
          </a:prstGeom>
          <a:solidFill>
            <a:srgbClr val="F3F6FB"/>
          </a:solidFill>
          <a:ln w="9525">
            <a:solidFill>
              <a:srgbClr val="D9E0EA"/>
            </a:solidFill>
            <a:prstDash val="solid"/>
          </a:ln>
        </p:spPr>
      </p:sp>
      <p:sp>
        <p:nvSpPr>
          <p:cNvPr id="17" name="Shape 13"/>
          <p:cNvSpPr/>
          <p:nvPr/>
        </p:nvSpPr>
        <p:spPr>
          <a:xfrm>
            <a:off x="7991856" y="1783080"/>
            <a:ext cx="54864" cy="2286000"/>
          </a:xfrm>
          <a:prstGeom prst="rect">
            <a:avLst/>
          </a:prstGeom>
          <a:solidFill>
            <a:srgbClr val="307FE2"/>
          </a:solidFill>
          <a:ln w="12700">
            <a:solidFill>
              <a:srgbClr val="307FE2"/>
            </a:solidFill>
            <a:prstDash val="solid"/>
          </a:ln>
        </p:spPr>
      </p:sp>
      <p:sp>
        <p:nvSpPr>
          <p:cNvPr id="18" name="Text 14"/>
          <p:cNvSpPr txBox="1"/>
          <p:nvPr/>
        </p:nvSpPr>
        <p:spPr>
          <a:xfrm>
            <a:off x="8220456" y="1965960"/>
            <a:ext cx="3108960" cy="365760"/>
          </a:xfrm>
          <a:prstGeom prst="rect">
            <a:avLst/>
          </a:prstGeom>
          <a:noFill/>
          <a:ln/>
        </p:spPr>
        <p:txBody>
          <a:bodyPr wrap="square" lIns="0" tIns="0" rIns="0" bIns="0" rtlCol="0" anchor="t"/>
          <a:lstStyle/>
          <a:p>
            <a:pPr indent="0" marL="0">
              <a:buNone/>
            </a:pPr>
            <a:r>
              <a:rPr lang="en-US" sz="1500" b="1" dirty="0">
                <a:solidFill>
                  <a:srgbClr val="0D1219"/>
                </a:solidFill>
                <a:latin typeface="Arial" pitchFamily="34" charset="0"/>
                <a:ea typeface="Arial" pitchFamily="34" charset="-122"/>
                <a:cs typeface="Arial" pitchFamily="34" charset="-120"/>
              </a:rPr>
              <a:t>Alerts before the customer calls</a:t>
            </a:r>
            <a:endParaRPr lang="en-US" sz="1500" dirty="0"/>
          </a:p>
        </p:txBody>
      </p:sp>
      <p:sp>
        <p:nvSpPr>
          <p:cNvPr id="19" name="Text 15"/>
          <p:cNvSpPr txBox="1"/>
          <p:nvPr/>
        </p:nvSpPr>
        <p:spPr>
          <a:xfrm>
            <a:off x="8220456" y="2377440"/>
            <a:ext cx="3108960" cy="1645920"/>
          </a:xfrm>
          <a:prstGeom prst="rect">
            <a:avLst/>
          </a:prstGeom>
          <a:noFill/>
          <a:ln/>
        </p:spPr>
        <p:txBody>
          <a:bodyPr wrap="square" lIns="0" tIns="0" rIns="0" bIns="0" rtlCol="0" anchor="t"/>
          <a:lstStyle/>
          <a:p>
            <a:pPr algn="l" indent="0" marL="0">
              <a:lnSpc>
                <a:spcPct val="115000"/>
              </a:lnSpc>
              <a:buNone/>
            </a:pPr>
            <a:r>
              <a:rPr lang="en-US" sz="1150" dirty="0">
                <a:solidFill>
                  <a:srgbClr val="5B6675"/>
                </a:solidFill>
                <a:latin typeface="Arial" pitchFamily="34" charset="0"/>
                <a:ea typeface="Arial" pitchFamily="34" charset="-122"/>
                <a:cs typeface="Arial" pitchFamily="34" charset="-120"/>
              </a:rPr>
              <a:t>Sentry Developer, $0, 5,000 errors a month. I add it live on the projector. You add it Monday with the same prompt.</a:t>
            </a:r>
            <a:endParaRPr lang="en-US" sz="1150" dirty="0"/>
          </a:p>
        </p:txBody>
      </p:sp>
      <p:sp>
        <p:nvSpPr>
          <p:cNvPr id="20" name="Shape 16"/>
          <p:cNvSpPr/>
          <p:nvPr/>
        </p:nvSpPr>
        <p:spPr>
          <a:xfrm>
            <a:off x="640080" y="4297680"/>
            <a:ext cx="10908792" cy="868680"/>
          </a:xfrm>
          <a:prstGeom prst="rect">
            <a:avLst/>
          </a:prstGeom>
          <a:solidFill>
            <a:srgbClr val="E8EEF7"/>
          </a:solidFill>
          <a:ln w="9525">
            <a:solidFill>
              <a:srgbClr val="D9E0EA"/>
            </a:solidFill>
            <a:prstDash val="solid"/>
          </a:ln>
        </p:spPr>
      </p:sp>
      <p:sp>
        <p:nvSpPr>
          <p:cNvPr id="21" name="Text 17"/>
          <p:cNvSpPr txBox="1"/>
          <p:nvPr/>
        </p:nvSpPr>
        <p:spPr>
          <a:xfrm>
            <a:off x="868680" y="4370832"/>
            <a:ext cx="10451592" cy="731520"/>
          </a:xfrm>
          <a:prstGeom prst="rect">
            <a:avLst/>
          </a:prstGeom>
          <a:noFill/>
          <a:ln/>
        </p:spPr>
        <p:txBody>
          <a:bodyPr wrap="square" lIns="0" tIns="0" rIns="0" bIns="0" rtlCol="0" anchor="ctr"/>
          <a:lstStyle/>
          <a:p>
            <a:pPr algn="l" indent="0" marL="0">
              <a:lnSpc>
                <a:spcPct val="115000"/>
              </a:lnSpc>
              <a:buNone/>
            </a:pPr>
            <a:r>
              <a:rPr lang="en-US" sz="1250" dirty="0">
                <a:solidFill>
                  <a:srgbClr val="0D1219"/>
                </a:solidFill>
                <a:latin typeface="Arial" pitchFamily="34" charset="0"/>
                <a:ea typeface="Arial" pitchFamily="34" charset="-122"/>
                <a:cs typeface="Arial" pitchFamily="34" charset="-120"/>
              </a:rPr>
              <a:t>Monitor is the sixth word in the lifecycle. Today it is one email and one log page. That is enough to hear about a problem before your customer tells you.</a:t>
            </a:r>
            <a:endParaRPr lang="en-US" sz="1250" dirty="0"/>
          </a:p>
        </p:txBody>
      </p:sp>
      <p:sp>
        <p:nvSpPr>
          <p:cNvPr id="22" name="Shape 18"/>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23" name="Text 19"/>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4" name="Shape 20"/>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25" name="Text 21"/>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26" name="Shape 22"/>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27" name="Text 23"/>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28" name="Shape 24"/>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29" name="Text 25"/>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30" name="Shape 26"/>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31" name="Text 27"/>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32" name="Shape 28"/>
          <p:cNvSpPr/>
          <p:nvPr/>
        </p:nvSpPr>
        <p:spPr>
          <a:xfrm>
            <a:off x="8069580" y="6291072"/>
            <a:ext cx="896112" cy="274320"/>
          </a:xfrm>
          <a:prstGeom prst="roundRect">
            <a:avLst>
              <a:gd name="adj" fmla="val 20000"/>
            </a:avLst>
          </a:prstGeom>
          <a:solidFill>
            <a:srgbClr val="EF8B39"/>
          </a:solidFill>
          <a:ln w="6350">
            <a:solidFill>
              <a:srgbClr val="EF8B39"/>
            </a:solidFill>
            <a:prstDash val="solid"/>
          </a:ln>
        </p:spPr>
      </p:sp>
      <p:sp>
        <p:nvSpPr>
          <p:cNvPr id="33" name="Text 29"/>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37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9  ·  HEAR ABOUT IT  ·  20 MIN  ·  HANDS-ON</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4:35 – 4:55</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700" b="1" dirty="0">
                <a:solidFill>
                  <a:srgbClr val="0D1219"/>
                </a:solidFill>
                <a:latin typeface="Arial" pitchFamily="34" charset="0"/>
                <a:ea typeface="Arial" pitchFamily="34" charset="-122"/>
                <a:cs typeface="Arial" pitchFamily="34" charset="-120"/>
              </a:rPr>
              <a:t>One key, one environment variable, one email to yourself.</a:t>
            </a:r>
            <a:endParaRPr lang="en-US" sz="2700" dirty="0"/>
          </a:p>
        </p:txBody>
      </p:sp>
      <p:sp>
        <p:nvSpPr>
          <p:cNvPr id="8" name="Shape 4"/>
          <p:cNvSpPr/>
          <p:nvPr/>
        </p:nvSpPr>
        <p:spPr>
          <a:xfrm>
            <a:off x="640080" y="1783080"/>
            <a:ext cx="5760720" cy="2606040"/>
          </a:xfrm>
          <a:prstGeom prst="rect">
            <a:avLst/>
          </a:prstGeom>
          <a:solidFill>
            <a:srgbClr val="121B2B"/>
          </a:solidFill>
          <a:ln w="12700">
            <a:solidFill>
              <a:srgbClr val="EF8B39"/>
            </a:solidFill>
            <a:prstDash val="solid"/>
          </a:ln>
        </p:spPr>
      </p:sp>
      <p:sp>
        <p:nvSpPr>
          <p:cNvPr id="9" name="Text 5"/>
          <p:cNvSpPr/>
          <p:nvPr/>
        </p:nvSpPr>
        <p:spPr>
          <a:xfrm>
            <a:off x="822960" y="1892808"/>
            <a:ext cx="5394960" cy="228600"/>
          </a:xfrm>
          <a:prstGeom prst="rect">
            <a:avLst/>
          </a:prstGeom>
          <a:noFill/>
          <a:ln/>
        </p:spPr>
        <p:txBody>
          <a:bodyPr wrap="square" lIns="0" tIns="0" rIns="0" bIns="0" rtlCol="0" anchor="ctr"/>
          <a:lstStyle/>
          <a:p>
            <a:pPr indent="0" marL="0">
              <a:buNone/>
            </a:pPr>
            <a:r>
              <a:rPr lang="en-US" sz="800" b="1" spc="150" kern="0" dirty="0">
                <a:solidFill>
                  <a:srgbClr val="EF8B39"/>
                </a:solidFill>
                <a:latin typeface="Courier New" pitchFamily="34" charset="0"/>
                <a:ea typeface="Courier New" pitchFamily="34" charset="-122"/>
                <a:cs typeface="Courier New" pitchFamily="34" charset="-120"/>
              </a:rPr>
              <a:t>TYPE THIS, VERBATIM</a:t>
            </a:r>
            <a:endParaRPr lang="en-US" sz="800" dirty="0"/>
          </a:p>
        </p:txBody>
      </p:sp>
      <p:sp>
        <p:nvSpPr>
          <p:cNvPr id="10" name="Text 6"/>
          <p:cNvSpPr txBox="1"/>
          <p:nvPr/>
        </p:nvSpPr>
        <p:spPr>
          <a:xfrm>
            <a:off x="822960" y="2167128"/>
            <a:ext cx="5394960" cy="2103120"/>
          </a:xfrm>
          <a:prstGeom prst="rect">
            <a:avLst/>
          </a:prstGeom>
          <a:noFill/>
          <a:ln/>
        </p:spPr>
        <p:txBody>
          <a:bodyPr wrap="square" lIns="0" tIns="0" rIns="0" bIns="0" rtlCol="0" anchor="t"/>
          <a:lstStyle/>
          <a:p>
            <a:pPr indent="0" marL="0">
              <a:lnSpc>
                <a:spcPct val="120000"/>
              </a:lnSpc>
              <a:buNone/>
            </a:pPr>
            <a:r>
              <a:rPr lang="en-US" sz="1050" dirty="0">
                <a:solidFill>
                  <a:srgbClr val="E6EBF2"/>
                </a:solidFill>
                <a:latin typeface="Courier New" pitchFamily="34" charset="0"/>
                <a:ea typeface="Courier New" pitchFamily="34" charset="-122"/>
                <a:cs typeface="Courier New" pitchFamily="34" charset="-120"/>
              </a:rPr>
              <a:t>On a new branch called notify-me, when the my-tool form is submitted, send an email to [my email address] with what was entered. Use Resend with the RESEND_API_KEY environment variable, sending from onboarding@resend.dev. If the email fails, still save the row and log the error. Never put the key in the code. The Playwright test must not send real email. Commit, push, and open a pull request.</a:t>
            </a:r>
            <a:endParaRPr lang="en-US" sz="1050" dirty="0"/>
          </a:p>
        </p:txBody>
      </p:sp>
      <p:sp>
        <p:nvSpPr>
          <p:cNvPr id="11" name="Text 7"/>
          <p:cNvSpPr txBox="1"/>
          <p:nvPr/>
        </p:nvSpPr>
        <p:spPr>
          <a:xfrm>
            <a:off x="6629400" y="1783080"/>
            <a:ext cx="4919472" cy="3017520"/>
          </a:xfrm>
          <a:prstGeom prst="rect">
            <a:avLst/>
          </a:prstGeom>
          <a:noFill/>
          <a:ln/>
        </p:spPr>
        <p:txBody>
          <a:bodyPr wrap="square" lIns="0" tIns="0" rIns="0" bIns="0" rtlCol="0" anchor="t"/>
          <a:lstStyle/>
          <a:p>
            <a:pPr indent="0" marL="0">
              <a:lnSpc>
                <a:spcPct val="115000"/>
              </a:lnSpc>
              <a:spcAft>
                <a:spcPts val="700"/>
              </a:spcAft>
              <a:buNone/>
            </a:pPr>
            <a:r>
              <a:rPr lang="en-US" sz="1150" dirty="0">
                <a:solidFill>
                  <a:srgbClr val="0D1219"/>
                </a:solidFill>
                <a:latin typeface="Arial" pitchFamily="34" charset="0"/>
                <a:ea typeface="Arial" pitchFamily="34" charset="-122"/>
                <a:cs typeface="Arial" pitchFamily="34" charset="-120"/>
              </a:rPr>
              <a:t>1  resend.com → sign up with the address you want alerts at → API Keys → Create. Copy it once.</a:t>
            </a:r>
            <a:endParaRPr lang="en-US" sz="1150" dirty="0"/>
          </a:p>
          <a:p>
            <a:pPr indent="0" marL="0">
              <a:lnSpc>
                <a:spcPct val="115000"/>
              </a:lnSpc>
              <a:spcAft>
                <a:spcPts val="700"/>
              </a:spcAft>
              <a:buNone/>
            </a:pPr>
            <a:r>
              <a:rPr lang="en-US" sz="1150" dirty="0">
                <a:solidFill>
                  <a:srgbClr val="0D1219"/>
                </a:solidFill>
                <a:latin typeface="Arial" pitchFamily="34" charset="0"/>
                <a:ea typeface="Arial" pitchFamily="34" charset="-122"/>
                <a:cs typeface="Arial" pitchFamily="34" charset="-120"/>
              </a:rPr>
              <a:t>2  Vercel → Settings → Environment Variables → RESEND_API_KEY, Production and Preview, tick Sensitive. Paste. Close the Resend tab.</a:t>
            </a:r>
            <a:endParaRPr lang="en-US" sz="1150" dirty="0"/>
          </a:p>
          <a:p>
            <a:pPr indent="0" marL="0">
              <a:lnSpc>
                <a:spcPct val="115000"/>
              </a:lnSpc>
              <a:spcAft>
                <a:spcPts val="700"/>
              </a:spcAft>
              <a:buNone/>
            </a:pPr>
            <a:r>
              <a:rPr lang="en-US" sz="1150" dirty="0">
                <a:solidFill>
                  <a:srgbClr val="0D1219"/>
                </a:solidFill>
                <a:latin typeface="Arial" pitchFamily="34" charset="0"/>
                <a:ea typeface="Arial" pitchFamily="34" charset="-122"/>
                <a:cs typeface="Arial" pitchFamily="34" charset="-120"/>
              </a:rPr>
              <a:t>3  Type the prompt. Open the preview, submit the form, check your inbox.</a:t>
            </a:r>
            <a:endParaRPr lang="en-US" sz="1150" dirty="0"/>
          </a:p>
          <a:p>
            <a:pPr indent="0" marL="0">
              <a:lnSpc>
                <a:spcPct val="115000"/>
              </a:lnSpc>
              <a:spcAft>
                <a:spcPts val="700"/>
              </a:spcAft>
              <a:buNone/>
            </a:pPr>
            <a:r>
              <a:rPr lang="en-US" sz="1150" dirty="0">
                <a:solidFill>
                  <a:srgbClr val="0D1219"/>
                </a:solidFill>
                <a:latin typeface="Arial" pitchFamily="34" charset="0"/>
                <a:ea typeface="Arial" pitchFamily="34" charset="-122"/>
                <a:cs typeface="Arial" pitchFamily="34" charset="-120"/>
              </a:rPr>
              <a:t>4  Green check, merge, submit once on production. Green sticky when the email lands.</a:t>
            </a:r>
            <a:endParaRPr lang="en-US" sz="1150" dirty="0"/>
          </a:p>
        </p:txBody>
      </p:sp>
      <p:sp>
        <p:nvSpPr>
          <p:cNvPr id="12" name="Shape 8"/>
          <p:cNvSpPr/>
          <p:nvPr/>
        </p:nvSpPr>
        <p:spPr>
          <a:xfrm>
            <a:off x="640080" y="4572000"/>
            <a:ext cx="5760720" cy="777240"/>
          </a:xfrm>
          <a:prstGeom prst="rect">
            <a:avLst/>
          </a:prstGeom>
          <a:solidFill>
            <a:srgbClr val="E8EEF7"/>
          </a:solidFill>
          <a:ln w="9525">
            <a:solidFill>
              <a:srgbClr val="D9E0EA"/>
            </a:solidFill>
            <a:prstDash val="solid"/>
          </a:ln>
        </p:spPr>
      </p:sp>
      <p:sp>
        <p:nvSpPr>
          <p:cNvPr id="13" name="Shape 9"/>
          <p:cNvSpPr/>
          <p:nvPr/>
        </p:nvSpPr>
        <p:spPr>
          <a:xfrm>
            <a:off x="640080" y="4572000"/>
            <a:ext cx="54864" cy="777240"/>
          </a:xfrm>
          <a:prstGeom prst="rect">
            <a:avLst/>
          </a:prstGeom>
          <a:solidFill>
            <a:srgbClr val="EF4444"/>
          </a:solidFill>
          <a:ln w="12700">
            <a:solidFill>
              <a:srgbClr val="EF4444"/>
            </a:solidFill>
            <a:prstDash val="solid"/>
          </a:ln>
        </p:spPr>
      </p:sp>
      <p:sp>
        <p:nvSpPr>
          <p:cNvPr id="14" name="Text 10"/>
          <p:cNvSpPr txBox="1"/>
          <p:nvPr/>
        </p:nvSpPr>
        <p:spPr>
          <a:xfrm>
            <a:off x="868680" y="4617720"/>
            <a:ext cx="5349240" cy="685800"/>
          </a:xfrm>
          <a:prstGeom prst="rect">
            <a:avLst/>
          </a:prstGeom>
          <a:noFill/>
          <a:ln/>
        </p:spPr>
        <p:txBody>
          <a:bodyPr wrap="square" lIns="0" tIns="0" rIns="0" bIns="0" rtlCol="0" anchor="ctr"/>
          <a:lstStyle/>
          <a:p>
            <a:pPr algn="l" indent="0" marL="0">
              <a:lnSpc>
                <a:spcPct val="115000"/>
              </a:lnSpc>
              <a:buNone/>
            </a:pPr>
            <a:r>
              <a:rPr lang="en-US" sz="1200" dirty="0">
                <a:solidFill>
                  <a:srgbClr val="0D1219"/>
                </a:solidFill>
                <a:latin typeface="Arial" pitchFamily="34" charset="0"/>
                <a:ea typeface="Arial" pitchFamily="34" charset="-122"/>
                <a:cs typeface="Arial" pitchFamily="34" charset="-120"/>
              </a:rPr>
              <a:t>The key goes from Resend to Vercel. It never goes into the chat, the code, or a file.</a:t>
            </a:r>
            <a:endParaRPr lang="en-US" sz="1200" dirty="0"/>
          </a:p>
        </p:txBody>
      </p:sp>
      <p:sp>
        <p:nvSpPr>
          <p:cNvPr id="15" name="Shape 11"/>
          <p:cNvSpPr/>
          <p:nvPr/>
        </p:nvSpPr>
        <p:spPr>
          <a:xfrm>
            <a:off x="640080" y="5806440"/>
            <a:ext cx="256032" cy="256032"/>
          </a:xfrm>
          <a:prstGeom prst="rect">
            <a:avLst/>
          </a:prstGeom>
          <a:solidFill>
            <a:srgbClr val="22C55E"/>
          </a:solidFill>
          <a:ln w="12700">
            <a:solidFill>
              <a:srgbClr val="22C55E"/>
            </a:solidFill>
            <a:prstDash val="solid"/>
          </a:ln>
        </p:spPr>
      </p:sp>
      <p:sp>
        <p:nvSpPr>
          <p:cNvPr id="16" name="Text 12"/>
          <p:cNvSpPr/>
          <p:nvPr/>
        </p:nvSpPr>
        <p:spPr>
          <a:xfrm>
            <a:off x="987552" y="5806440"/>
            <a:ext cx="237744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Green sticky = done</a:t>
            </a:r>
            <a:endParaRPr lang="en-US" sz="1100" dirty="0"/>
          </a:p>
        </p:txBody>
      </p:sp>
      <p:sp>
        <p:nvSpPr>
          <p:cNvPr id="17" name="Shape 13"/>
          <p:cNvSpPr/>
          <p:nvPr/>
        </p:nvSpPr>
        <p:spPr>
          <a:xfrm>
            <a:off x="3474720" y="5806440"/>
            <a:ext cx="256032" cy="256032"/>
          </a:xfrm>
          <a:prstGeom prst="rect">
            <a:avLst/>
          </a:prstGeom>
          <a:solidFill>
            <a:srgbClr val="EF4444"/>
          </a:solidFill>
          <a:ln w="12700">
            <a:solidFill>
              <a:srgbClr val="EF4444"/>
            </a:solidFill>
            <a:prstDash val="solid"/>
          </a:ln>
        </p:spPr>
      </p:sp>
      <p:sp>
        <p:nvSpPr>
          <p:cNvPr id="18" name="Text 14"/>
          <p:cNvSpPr/>
          <p:nvPr/>
        </p:nvSpPr>
        <p:spPr>
          <a:xfrm>
            <a:off x="3822192" y="5806440"/>
            <a:ext cx="411480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Red sticky = a helper comes to you</a:t>
            </a:r>
            <a:endParaRPr lang="en-US" sz="1100" dirty="0"/>
          </a:p>
        </p:txBody>
      </p:sp>
      <p:sp>
        <p:nvSpPr>
          <p:cNvPr id="19" name="Shape 15"/>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20" name="Text 16"/>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1" name="Shape 17"/>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22" name="Text 18"/>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23" name="Shape 19"/>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24" name="Text 20"/>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25" name="Shape 21"/>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26" name="Text 22"/>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27" name="Shape 23"/>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28" name="Text 24"/>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29" name="Shape 25"/>
          <p:cNvSpPr/>
          <p:nvPr/>
        </p:nvSpPr>
        <p:spPr>
          <a:xfrm>
            <a:off x="8069580" y="6291072"/>
            <a:ext cx="896112" cy="274320"/>
          </a:xfrm>
          <a:prstGeom prst="roundRect">
            <a:avLst>
              <a:gd name="adj" fmla="val 20000"/>
            </a:avLst>
          </a:prstGeom>
          <a:solidFill>
            <a:srgbClr val="EF8B39"/>
          </a:solidFill>
          <a:ln w="6350">
            <a:solidFill>
              <a:srgbClr val="EF8B39"/>
            </a:solidFill>
            <a:prstDash val="solid"/>
          </a:ln>
        </p:spPr>
      </p:sp>
      <p:sp>
        <p:nvSpPr>
          <p:cNvPr id="30" name="Text 26"/>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38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10  ·  OWN IT  ·  15 MIN  ·  TALK</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4:55 – 5:10</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700" b="1" dirty="0">
                <a:solidFill>
                  <a:srgbClr val="0D1219"/>
                </a:solidFill>
                <a:latin typeface="Arial" pitchFamily="34" charset="0"/>
                <a:ea typeface="Arial" pitchFamily="34" charset="-122"/>
                <a:cs typeface="Arial" pitchFamily="34" charset="-120"/>
              </a:rPr>
              <a:t>The bill. Vendor prices, checked September 7, 2026.</a:t>
            </a:r>
            <a:endParaRPr lang="en-US" sz="27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6629400" cy="914400"/>
        </p:xfrm>
        <a:graphic>
          <a:graphicData uri="http://schemas.openxmlformats.org/drawingml/2006/table">
            <a:tbl>
              <a:tblPr/>
              <a:tblGrid>
                <a:gridCol w="1828800"/>
                <a:gridCol w="1234440"/>
                <a:gridCol w="3566160"/>
              </a:tblGrid>
              <a:tr h="457200">
                <a:tc>
                  <a:txBody>
                    <a:bodyPr/>
                    <a:lstStyle/>
                    <a:p>
                      <a:pPr indent="0" marL="0">
                        <a:buNone/>
                      </a:pPr>
                      <a:r>
                        <a:rPr lang="en-US" sz="850" b="1" spc="120" kern="0" dirty="0">
                          <a:solidFill>
                            <a:srgbClr val="FFFFFF"/>
                          </a:solidFill>
                          <a:latin typeface="Courier New" pitchFamily="34" charset="0"/>
                          <a:ea typeface="Courier New" pitchFamily="34" charset="-122"/>
                          <a:cs typeface="Courier New" pitchFamily="34" charset="-120"/>
                        </a:rPr>
                        <a:t>YOURS</a:t>
                      </a:r>
                      <a:endParaRPr lang="en-US" sz="850" dirty="0">
                        <a:latin typeface="Courier New" charset="0"/>
                        <a:ea typeface="Courier New" charset="0"/>
                        <a:cs typeface="Courier New"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c>
                  <a:txBody>
                    <a:bodyPr/>
                    <a:lstStyle/>
                    <a:p>
                      <a:pPr indent="0" marL="0">
                        <a:buNone/>
                      </a:pPr>
                      <a:r>
                        <a:rPr lang="en-US" sz="850" b="1" spc="120" kern="0" dirty="0">
                          <a:solidFill>
                            <a:srgbClr val="FFFFFF"/>
                          </a:solidFill>
                          <a:latin typeface="Courier New" pitchFamily="34" charset="0"/>
                          <a:ea typeface="Courier New" pitchFamily="34" charset="-122"/>
                          <a:cs typeface="Courier New" pitchFamily="34" charset="-120"/>
                        </a:rPr>
                        <a:t>PRICE</a:t>
                      </a:r>
                      <a:endParaRPr lang="en-US" sz="850" dirty="0">
                        <a:latin typeface="Courier New" charset="0"/>
                        <a:ea typeface="Courier New" charset="0"/>
                        <a:cs typeface="Courier New"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c>
                  <a:txBody>
                    <a:bodyPr/>
                    <a:lstStyle/>
                    <a:p>
                      <a:pPr indent="0" marL="0">
                        <a:buNone/>
                      </a:pPr>
                      <a:r>
                        <a:rPr lang="en-US" sz="850" b="1" spc="120" kern="0" dirty="0">
                          <a:solidFill>
                            <a:srgbClr val="FFFFFF"/>
                          </a:solidFill>
                          <a:latin typeface="Courier New" pitchFamily="34" charset="0"/>
                          <a:ea typeface="Courier New" pitchFamily="34" charset="-122"/>
                          <a:cs typeface="Courier New" pitchFamily="34" charset="-120"/>
                        </a:rPr>
                        <a:t>NOTE</a:t>
                      </a:r>
                      <a:endParaRPr lang="en-US" sz="850" dirty="0">
                        <a:latin typeface="Courier New" charset="0"/>
                        <a:ea typeface="Courier New" charset="0"/>
                        <a:cs typeface="Courier New"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r>
              <a:tr h="457200">
                <a:tc>
                  <a:txBody>
                    <a:bodyPr/>
                    <a:lstStyle/>
                    <a:p>
                      <a:pPr indent="0" marL="0">
                        <a:buNone/>
                      </a:pPr>
                      <a:r>
                        <a:rPr lang="en-US" sz="950" dirty="0">
                          <a:solidFill>
                            <a:srgbClr val="0D1219"/>
                          </a:solidFill>
                          <a:latin typeface="Arial" pitchFamily="34" charset="0"/>
                          <a:ea typeface="Arial" pitchFamily="34" charset="-122"/>
                          <a:cs typeface="Arial" pitchFamily="34" charset="-120"/>
                        </a:rPr>
                        <a:t>.com domain</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50" dirty="0">
                          <a:solidFill>
                            <a:srgbClr val="5B6675"/>
                          </a:solidFill>
                          <a:latin typeface="Arial" pitchFamily="34" charset="0"/>
                          <a:ea typeface="Arial" pitchFamily="34" charset="-122"/>
                          <a:cs typeface="Arial" pitchFamily="34" charset="-120"/>
                        </a:rPr>
                        <a:t>$10–12 / yr</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50" dirty="0">
                          <a:solidFill>
                            <a:srgbClr val="5B6675"/>
                          </a:solidFill>
                          <a:latin typeface="Arial" pitchFamily="34" charset="0"/>
                          <a:ea typeface="Arial" pitchFamily="34" charset="-122"/>
                          <a:cs typeface="Arial" pitchFamily="34" charset="-120"/>
                        </a:rPr>
                        <a:t>$11.25 in Vercel (no DNS step). Porkbun $11.08, same on renewal. Wholesale +$0.71 on Nov 1.</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457200">
                <a:tc>
                  <a:txBody>
                    <a:bodyPr/>
                    <a:lstStyle/>
                    <a:p>
                      <a:pPr indent="0" marL="0">
                        <a:buNone/>
                      </a:pPr>
                      <a:r>
                        <a:rPr lang="en-US" sz="950" dirty="0">
                          <a:solidFill>
                            <a:srgbClr val="0D1219"/>
                          </a:solidFill>
                          <a:latin typeface="Arial" pitchFamily="34" charset="0"/>
                          <a:ea typeface="Arial" pitchFamily="34" charset="-122"/>
                          <a:cs typeface="Arial" pitchFamily="34" charset="-120"/>
                        </a:rPr>
                        <a:t>Vercel</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950" dirty="0">
                          <a:solidFill>
                            <a:srgbClr val="5B6675"/>
                          </a:solidFill>
                          <a:latin typeface="Arial" pitchFamily="34" charset="0"/>
                          <a:ea typeface="Arial" pitchFamily="34" charset="-122"/>
                          <a:cs typeface="Arial" pitchFamily="34" charset="-120"/>
                        </a:rPr>
                        <a:t>$0 or $20 / mo</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950" dirty="0">
                          <a:solidFill>
                            <a:srgbClr val="5B6675"/>
                          </a:solidFill>
                          <a:latin typeface="Arial" pitchFamily="34" charset="0"/>
                          <a:ea typeface="Arial" pitchFamily="34" charset="-122"/>
                          <a:cs typeface="Arial" pitchFamily="34" charset="-120"/>
                        </a:rPr>
                        <a:t>Hobby is free, non-commercial. Pro $20 includes $20 usage credit + 1 TB transfer.</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0D1219"/>
                          </a:solidFill>
                          <a:latin typeface="Arial" pitchFamily="34" charset="0"/>
                          <a:ea typeface="Arial" pitchFamily="34" charset="-122"/>
                          <a:cs typeface="Arial" pitchFamily="34" charset="-120"/>
                        </a:rPr>
                        <a:t>GitHub</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50" dirty="0">
                          <a:solidFill>
                            <a:srgbClr val="5B6675"/>
                          </a:solidFill>
                          <a:latin typeface="Arial" pitchFamily="34" charset="0"/>
                          <a:ea typeface="Arial" pitchFamily="34" charset="-122"/>
                          <a:cs typeface="Arial" pitchFamily="34" charset="-120"/>
                        </a:rPr>
                        <a:t>$0</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50" dirty="0">
                          <a:solidFill>
                            <a:srgbClr val="5B6675"/>
                          </a:solidFill>
                          <a:latin typeface="Arial" pitchFamily="34" charset="0"/>
                          <a:ea typeface="Arial" pitchFamily="34" charset="-122"/>
                          <a:cs typeface="Arial" pitchFamily="34" charset="-120"/>
                        </a:rPr>
                        <a:t>Unlimited private repos. 2,000 Actions minutes.</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457200">
                <a:tc>
                  <a:txBody>
                    <a:bodyPr/>
                    <a:lstStyle/>
                    <a:p>
                      <a:pPr indent="0" marL="0">
                        <a:buNone/>
                      </a:pPr>
                      <a:r>
                        <a:rPr lang="en-US" sz="950" dirty="0">
                          <a:solidFill>
                            <a:srgbClr val="0D1219"/>
                          </a:solidFill>
                          <a:latin typeface="Arial" pitchFamily="34" charset="0"/>
                          <a:ea typeface="Arial" pitchFamily="34" charset="-122"/>
                          <a:cs typeface="Arial" pitchFamily="34" charset="-120"/>
                        </a:rPr>
                        <a:t>Database</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950" dirty="0">
                          <a:solidFill>
                            <a:srgbClr val="5B6675"/>
                          </a:solidFill>
                          <a:latin typeface="Arial" pitchFamily="34" charset="0"/>
                          <a:ea typeface="Arial" pitchFamily="34" charset="-122"/>
                          <a:cs typeface="Arial" pitchFamily="34" charset="-120"/>
                        </a:rPr>
                        <a:t>$0</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950" dirty="0">
                          <a:solidFill>
                            <a:srgbClr val="5B6675"/>
                          </a:solidFill>
                          <a:latin typeface="Arial" pitchFamily="34" charset="0"/>
                          <a:ea typeface="Arial" pitchFamily="34" charset="-122"/>
                          <a:cs typeface="Arial" pitchFamily="34" charset="-120"/>
                        </a:rPr>
                        <a:t>Neon Free (wakes on request) or Supabase Free (pauses after 7 idle days; Pro $25).</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0D1219"/>
                          </a:solidFill>
                          <a:latin typeface="Arial" pitchFamily="34" charset="0"/>
                          <a:ea typeface="Arial" pitchFamily="34" charset="-122"/>
                          <a:cs typeface="Arial" pitchFamily="34" charset="-120"/>
                        </a:rPr>
                        <a:t>Email · errors</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50" dirty="0">
                          <a:solidFill>
                            <a:srgbClr val="5B6675"/>
                          </a:solidFill>
                          <a:latin typeface="Arial" pitchFamily="34" charset="0"/>
                          <a:ea typeface="Arial" pitchFamily="34" charset="-122"/>
                          <a:cs typeface="Arial" pitchFamily="34" charset="-120"/>
                        </a:rPr>
                        <a:t>$0</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50" dirty="0">
                          <a:solidFill>
                            <a:srgbClr val="5B6675"/>
                          </a:solidFill>
                          <a:latin typeface="Arial" pitchFamily="34" charset="0"/>
                          <a:ea typeface="Arial" pitchFamily="34" charset="-122"/>
                          <a:cs typeface="Arial" pitchFamily="34" charset="-120"/>
                        </a:rPr>
                        <a:t>Resend 100/day. Sentry Developer 5k errors/mo.</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457200">
                <a:tc>
                  <a:txBody>
                    <a:bodyPr/>
                    <a:lstStyle/>
                    <a:p>
                      <a:pPr indent="0" marL="0">
                        <a:buNone/>
                      </a:pPr>
                      <a:r>
                        <a:rPr lang="en-US" sz="950" dirty="0">
                          <a:solidFill>
                            <a:srgbClr val="0D1219"/>
                          </a:solidFill>
                          <a:latin typeface="Arial" pitchFamily="34" charset="0"/>
                          <a:ea typeface="Arial" pitchFamily="34" charset="-122"/>
                          <a:cs typeface="Arial" pitchFamily="34" charset="-120"/>
                        </a:rPr>
                        <a:t>The AI you build with</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950" dirty="0">
                          <a:solidFill>
                            <a:srgbClr val="5B6675"/>
                          </a:solidFill>
                          <a:latin typeface="Arial" pitchFamily="34" charset="0"/>
                          <a:ea typeface="Arial" pitchFamily="34" charset="-122"/>
                          <a:cs typeface="Arial" pitchFamily="34" charset="-120"/>
                        </a:rPr>
                        <a:t>$20 / mo</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950" dirty="0">
                          <a:solidFill>
                            <a:srgbClr val="5B6675"/>
                          </a:solidFill>
                          <a:latin typeface="Arial" pitchFamily="34" charset="0"/>
                          <a:ea typeface="Arial" pitchFamily="34" charset="-122"/>
                          <a:cs typeface="Arial" pitchFamily="34" charset="-120"/>
                        </a:rPr>
                        <a:t>Claude Pro → Claude Code. Or ChatGPT Plus → Codex. Cancel any time.</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bl>
          </a:graphicData>
        </a:graphic>
      </p:graphicFrame>
      <p:graphicFrame>
        <p:nvGraphicFramePr>
          <p:cNvPr id="77" name="Table 1"/>
          <p:cNvGraphicFramePr>
            <a:graphicFrameLocks noGrp="1"/>
          </p:cNvGraphicFramePr>
          <p:nvPr>
            <p:extLst>
              <p:ext uri="{D42A27DB-BD31-4B8C-83A1-F6EECF244321}">
                <p14:modId xmlns:p14="http://schemas.microsoft.com/office/powerpoint/2010/main" val="1579011935"/>
              </p:ext>
            </p:extLst>
          </p:nvPr>
        </p:nvGraphicFramePr>
        <p:xfrm>
          <a:off x="7360920" y="1783080"/>
          <a:ext cx="4233672" cy="914400"/>
        </p:xfrm>
        <a:graphic>
          <a:graphicData uri="http://schemas.openxmlformats.org/drawingml/2006/table">
            <a:tbl>
              <a:tblPr/>
              <a:tblGrid>
                <a:gridCol w="1417320"/>
                <a:gridCol w="960120"/>
                <a:gridCol w="1856232"/>
              </a:tblGrid>
              <a:tr h="457200">
                <a:tc>
                  <a:txBody>
                    <a:bodyPr/>
                    <a:lstStyle/>
                    <a:p>
                      <a:pPr indent="0" marL="0">
                        <a:buNone/>
                      </a:pPr>
                      <a:r>
                        <a:rPr lang="en-US" sz="850" b="1" spc="120" kern="0" dirty="0">
                          <a:solidFill>
                            <a:srgbClr val="FFFFFF"/>
                          </a:solidFill>
                          <a:latin typeface="Courier New" pitchFamily="34" charset="0"/>
                          <a:ea typeface="Courier New" pitchFamily="34" charset="-122"/>
                          <a:cs typeface="Courier New" pitchFamily="34" charset="-120"/>
                        </a:rPr>
                        <a:t>THE BUILDERS</a:t>
                      </a:r>
                      <a:endParaRPr lang="en-US" sz="850" dirty="0">
                        <a:latin typeface="Courier New" charset="0"/>
                        <a:ea typeface="Courier New" charset="0"/>
                        <a:cs typeface="Courier New"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c>
                  <a:txBody>
                    <a:bodyPr/>
                    <a:lstStyle/>
                    <a:p>
                      <a:pPr indent="0" marL="0">
                        <a:buNone/>
                      </a:pPr>
                      <a:r>
                        <a:rPr lang="en-US" sz="850" b="1" spc="120" kern="0" dirty="0">
                          <a:solidFill>
                            <a:srgbClr val="FFFFFF"/>
                          </a:solidFill>
                          <a:latin typeface="Courier New" pitchFamily="34" charset="0"/>
                          <a:ea typeface="Courier New" pitchFamily="34" charset="-122"/>
                          <a:cs typeface="Courier New" pitchFamily="34" charset="-120"/>
                        </a:rPr>
                        <a:t>PRICE</a:t>
                      </a:r>
                      <a:endParaRPr lang="en-US" sz="850" dirty="0">
                        <a:latin typeface="Courier New" charset="0"/>
                        <a:ea typeface="Courier New" charset="0"/>
                        <a:cs typeface="Courier New"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c>
                  <a:txBody>
                    <a:bodyPr/>
                    <a:lstStyle/>
                    <a:p>
                      <a:pPr indent="0" marL="0">
                        <a:buNone/>
                      </a:pPr>
                      <a:r>
                        <a:rPr lang="en-US" sz="850" b="1" spc="120" kern="0" dirty="0">
                          <a:solidFill>
                            <a:srgbClr val="FFFFFF"/>
                          </a:solidFill>
                          <a:latin typeface="Courier New" pitchFamily="34" charset="0"/>
                          <a:ea typeface="Courier New" pitchFamily="34" charset="-122"/>
                          <a:cs typeface="Courier New" pitchFamily="34" charset="-120"/>
                        </a:rPr>
                        <a:t>WHAT YOU STILL DON’T OWN</a:t>
                      </a:r>
                      <a:endParaRPr lang="en-US" sz="850" dirty="0">
                        <a:latin typeface="Courier New" charset="0"/>
                        <a:ea typeface="Courier New" charset="0"/>
                        <a:cs typeface="Courier New"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r>
              <a:tr h="457200">
                <a:tc>
                  <a:txBody>
                    <a:bodyPr/>
                    <a:lstStyle/>
                    <a:p>
                      <a:pPr indent="0" marL="0">
                        <a:buNone/>
                      </a:pPr>
                      <a:r>
                        <a:rPr lang="en-US" sz="950" dirty="0">
                          <a:solidFill>
                            <a:srgbClr val="0D1219"/>
                          </a:solidFill>
                          <a:latin typeface="Arial" pitchFamily="34" charset="0"/>
                          <a:ea typeface="Arial" pitchFamily="34" charset="-122"/>
                          <a:cs typeface="Arial" pitchFamily="34" charset="-120"/>
                        </a:rPr>
                        <a:t>Lovable Pro</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50" dirty="0">
                          <a:solidFill>
                            <a:srgbClr val="5B6675"/>
                          </a:solidFill>
                          <a:latin typeface="Arial" pitchFamily="34" charset="0"/>
                          <a:ea typeface="Arial" pitchFamily="34" charset="-122"/>
                          <a:cs typeface="Arial" pitchFamily="34" charset="-120"/>
                        </a:rPr>
                        <a:t>$25 / mo</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50" dirty="0">
                          <a:solidFill>
                            <a:srgbClr val="5B6675"/>
                          </a:solidFill>
                          <a:latin typeface="Arial" pitchFamily="34" charset="0"/>
                          <a:ea typeface="Arial" pitchFamily="34" charset="-122"/>
                          <a:cs typeface="Arial" pitchFamily="34" charset="-120"/>
                        </a:rPr>
                        <a:t>The backend. No one-click migration off Lovable Cloud; secrets never export.</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457200">
                <a:tc>
                  <a:txBody>
                    <a:bodyPr/>
                    <a:lstStyle/>
                    <a:p>
                      <a:pPr indent="0" marL="0">
                        <a:buNone/>
                      </a:pPr>
                      <a:r>
                        <a:rPr lang="en-US" sz="950" dirty="0">
                          <a:solidFill>
                            <a:srgbClr val="0D1219"/>
                          </a:solidFill>
                          <a:latin typeface="Arial" pitchFamily="34" charset="0"/>
                          <a:ea typeface="Arial" pitchFamily="34" charset="-122"/>
                          <a:cs typeface="Arial" pitchFamily="34" charset="-120"/>
                        </a:rPr>
                        <a:t>Bolt Pro</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950" dirty="0">
                          <a:solidFill>
                            <a:srgbClr val="5B6675"/>
                          </a:solidFill>
                          <a:latin typeface="Arial" pitchFamily="34" charset="0"/>
                          <a:ea typeface="Arial" pitchFamily="34" charset="-122"/>
                          <a:cs typeface="Arial" pitchFamily="34" charset="-120"/>
                        </a:rPr>
                        <a:t>$25 / mo</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950" dirty="0">
                          <a:solidFill>
                            <a:srgbClr val="5B6675"/>
                          </a:solidFill>
                          <a:latin typeface="Arial" pitchFamily="34" charset="0"/>
                          <a:ea typeface="Arial" pitchFamily="34" charset="-122"/>
                          <a:cs typeface="Arial" pitchFamily="34" charset="-120"/>
                        </a:rPr>
                        <a:t>Needed for export and a domain. Version history and the bolt.host URL stay.</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r h="457200">
                <a:tc>
                  <a:txBody>
                    <a:bodyPr/>
                    <a:lstStyle/>
                    <a:p>
                      <a:pPr indent="0" marL="0">
                        <a:buNone/>
                      </a:pPr>
                      <a:r>
                        <a:rPr lang="en-US" sz="950" dirty="0">
                          <a:solidFill>
                            <a:srgbClr val="0D1219"/>
                          </a:solidFill>
                          <a:latin typeface="Arial" pitchFamily="34" charset="0"/>
                          <a:ea typeface="Arial" pitchFamily="34" charset="-122"/>
                          <a:cs typeface="Arial" pitchFamily="34" charset="-120"/>
                        </a:rPr>
                        <a:t>Replit Core</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50" dirty="0">
                          <a:solidFill>
                            <a:srgbClr val="5B6675"/>
                          </a:solidFill>
                          <a:latin typeface="Arial" pitchFamily="34" charset="0"/>
                          <a:ea typeface="Arial" pitchFamily="34" charset="-122"/>
                          <a:cs typeface="Arial" pitchFamily="34" charset="-120"/>
                        </a:rPr>
                        <a:t>$20 + metered</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50" dirty="0">
                          <a:solidFill>
                            <a:srgbClr val="5B6675"/>
                          </a:solidFill>
                          <a:latin typeface="Arial" pitchFamily="34" charset="0"/>
                          <a:ea typeface="Arial" pitchFamily="34" charset="-122"/>
                          <a:cs typeface="Arial" pitchFamily="34" charset="-120"/>
                        </a:rPr>
                        <a:t>Hosting usage-billed since Aug 2026. Cancel: “published apps may go offline.”</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457200">
                <a:tc>
                  <a:txBody>
                    <a:bodyPr/>
                    <a:lstStyle/>
                    <a:p>
                      <a:pPr indent="0" marL="0">
                        <a:buNone/>
                      </a:pPr>
                      <a:r>
                        <a:rPr lang="en-US" sz="950" dirty="0">
                          <a:solidFill>
                            <a:srgbClr val="0D1219"/>
                          </a:solidFill>
                          <a:latin typeface="Arial" pitchFamily="34" charset="0"/>
                          <a:ea typeface="Arial" pitchFamily="34" charset="-122"/>
                          <a:cs typeface="Arial" pitchFamily="34" charset="-120"/>
                        </a:rPr>
                        <a:t>Base44 Builder</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950" dirty="0">
                          <a:solidFill>
                            <a:srgbClr val="5B6675"/>
                          </a:solidFill>
                          <a:latin typeface="Arial" pitchFamily="34" charset="0"/>
                          <a:ea typeface="Arial" pitchFamily="34" charset="-122"/>
                          <a:cs typeface="Arial" pitchFamily="34" charset="-120"/>
                        </a:rPr>
                        <a:t>$50 / mo</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950" dirty="0">
                          <a:solidFill>
                            <a:srgbClr val="5B6675"/>
                          </a:solidFill>
                          <a:latin typeface="Arial" pitchFamily="34" charset="0"/>
                          <a:ea typeface="Arial" pitchFamily="34" charset="-122"/>
                          <a:cs typeface="Arial" pitchFamily="34" charset="-120"/>
                        </a:rPr>
                        <a:t>The tier where GitHub sync begins. Backend functions need Base44’s runtime.</a:t>
                      </a:r>
                      <a:endParaRPr lang="en-US" sz="95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bl>
          </a:graphicData>
        </a:graphic>
      </p:graphicFrame>
      <p:sp>
        <p:nvSpPr>
          <p:cNvPr id="10" name="Text 4"/>
          <p:cNvSpPr txBox="1"/>
          <p:nvPr/>
        </p:nvSpPr>
        <p:spPr>
          <a:xfrm>
            <a:off x="640080" y="5074920"/>
            <a:ext cx="10908792" cy="457200"/>
          </a:xfrm>
          <a:prstGeom prst="rect">
            <a:avLst/>
          </a:prstGeom>
          <a:noFill/>
          <a:ln/>
        </p:spPr>
        <p:txBody>
          <a:bodyPr wrap="square" lIns="0" tIns="0" rIns="0" bIns="0" rtlCol="0" anchor="t"/>
          <a:lstStyle/>
          <a:p>
            <a:pPr algn="l" indent="0" marL="0">
              <a:lnSpc>
                <a:spcPct val="115000"/>
              </a:lnSpc>
              <a:buNone/>
            </a:pPr>
            <a:r>
              <a:rPr lang="en-US" sz="1300" dirty="0">
                <a:solidFill>
                  <a:srgbClr val="0D1219"/>
                </a:solidFill>
                <a:latin typeface="Arial" pitchFamily="34" charset="0"/>
                <a:ea typeface="Arial" pitchFamily="34" charset="-122"/>
                <a:cs typeface="Arial" pitchFamily="34" charset="-120"/>
              </a:rPr>
              <a:t>Most sites: $20 a month, max, plus a domain. And every line on the left is an account with your name on it.</a:t>
            </a:r>
            <a:endParaRPr lang="en-US" sz="1300" dirty="0"/>
          </a:p>
        </p:txBody>
      </p:sp>
      <p:sp>
        <p:nvSpPr>
          <p:cNvPr id="11" name="Shape 5"/>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12" name="Text 6"/>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13" name="Shape 7"/>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14" name="Text 8"/>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15" name="Shape 9"/>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16" name="Text 10"/>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17" name="Shape 11"/>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18" name="Text 12"/>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19" name="Shape 13"/>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20" name="Text 14"/>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21" name="Shape 15"/>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22" name="Text 16"/>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39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10  ·  OWN IT  ·  15 MIN  ·  TALK</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4:55 – 5:10</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500" b="1" dirty="0">
                <a:solidFill>
                  <a:srgbClr val="0D1219"/>
                </a:solidFill>
                <a:latin typeface="Arial" pitchFamily="34" charset="0"/>
                <a:ea typeface="Arial" pitchFamily="34" charset="-122"/>
                <a:cs typeface="Arial" pitchFamily="34" charset="-120"/>
              </a:rPr>
              <a:t>The honest line on “free”: budget $20 the day the site is real.</a:t>
            </a:r>
            <a:endParaRPr lang="en-US" sz="2500" dirty="0"/>
          </a:p>
        </p:txBody>
      </p:sp>
      <p:sp>
        <p:nvSpPr>
          <p:cNvPr id="8" name="Shape 4"/>
          <p:cNvSpPr/>
          <p:nvPr/>
        </p:nvSpPr>
        <p:spPr>
          <a:xfrm>
            <a:off x="640080" y="1783080"/>
            <a:ext cx="10908792" cy="2011680"/>
          </a:xfrm>
          <a:prstGeom prst="rect">
            <a:avLst/>
          </a:prstGeom>
          <a:solidFill>
            <a:srgbClr val="F3F6FB"/>
          </a:solidFill>
          <a:ln w="15875">
            <a:solidFill>
              <a:srgbClr val="EF8B39"/>
            </a:solidFill>
            <a:prstDash val="solid"/>
          </a:ln>
        </p:spPr>
      </p:sp>
      <p:sp>
        <p:nvSpPr>
          <p:cNvPr id="9" name="Text 5"/>
          <p:cNvSpPr txBox="1"/>
          <p:nvPr/>
        </p:nvSpPr>
        <p:spPr>
          <a:xfrm>
            <a:off x="914400" y="1828800"/>
            <a:ext cx="914400" cy="914400"/>
          </a:xfrm>
          <a:prstGeom prst="rect">
            <a:avLst/>
          </a:prstGeom>
          <a:noFill/>
          <a:ln/>
        </p:spPr>
        <p:txBody>
          <a:bodyPr wrap="square" lIns="0" tIns="0" rIns="0" bIns="0" rtlCol="0" anchor="ctr"/>
          <a:lstStyle/>
          <a:p>
            <a:pPr indent="0" marL="0">
              <a:buNone/>
            </a:pPr>
            <a:r>
              <a:rPr lang="en-US" sz="6400" dirty="0">
                <a:solidFill>
                  <a:srgbClr val="EF8B39"/>
                </a:solidFill>
                <a:latin typeface="Georgia" pitchFamily="34" charset="0"/>
                <a:ea typeface="Georgia" pitchFamily="34" charset="-122"/>
                <a:cs typeface="Georgia" pitchFamily="34" charset="-120"/>
              </a:rPr>
              <a:t>“</a:t>
            </a:r>
            <a:endParaRPr lang="en-US" sz="6400" dirty="0"/>
          </a:p>
        </p:txBody>
      </p:sp>
      <p:sp>
        <p:nvSpPr>
          <p:cNvPr id="10" name="Text 6"/>
          <p:cNvSpPr txBox="1"/>
          <p:nvPr/>
        </p:nvSpPr>
        <p:spPr>
          <a:xfrm>
            <a:off x="1188720" y="2286000"/>
            <a:ext cx="9811512" cy="822960"/>
          </a:xfrm>
          <a:prstGeom prst="rect">
            <a:avLst/>
          </a:prstGeom>
          <a:noFill/>
          <a:ln/>
        </p:spPr>
        <p:txBody>
          <a:bodyPr wrap="square" lIns="0" tIns="0" rIns="0" bIns="0" rtlCol="0" anchor="ctr"/>
          <a:lstStyle/>
          <a:p>
            <a:pPr indent="0" marL="0">
              <a:lnSpc>
                <a:spcPct val="120000"/>
              </a:lnSpc>
              <a:buNone/>
            </a:pPr>
            <a:r>
              <a:rPr lang="en-US" sz="1600" dirty="0">
                <a:solidFill>
                  <a:srgbClr val="0D1219"/>
                </a:solidFill>
                <a:latin typeface="Arial" pitchFamily="34" charset="0"/>
                <a:ea typeface="Arial" pitchFamily="34" charset="-122"/>
                <a:cs typeface="Arial" pitchFamily="34" charset="-120"/>
              </a:rPr>
              <a:t>Commercial usage… includes receiving payment to create, update, or host the site, and the inclusion of advertisements.</a:t>
            </a:r>
            <a:endParaRPr lang="en-US" sz="1600" dirty="0"/>
          </a:p>
        </p:txBody>
      </p:sp>
      <p:sp>
        <p:nvSpPr>
          <p:cNvPr id="11" name="Text 7"/>
          <p:cNvSpPr txBox="1"/>
          <p:nvPr/>
        </p:nvSpPr>
        <p:spPr>
          <a:xfrm>
            <a:off x="1188720" y="3200400"/>
            <a:ext cx="9811512" cy="365760"/>
          </a:xfrm>
          <a:prstGeom prst="rect">
            <a:avLst/>
          </a:prstGeom>
          <a:noFill/>
          <a:ln/>
        </p:spPr>
        <p:txBody>
          <a:bodyPr wrap="square" lIns="0" tIns="0" rIns="0" bIns="0" rtlCol="0" anchor="ctr"/>
          <a:lstStyle/>
          <a:p>
            <a:pPr indent="0" marL="0">
              <a:buNone/>
            </a:pPr>
            <a:r>
              <a:rPr lang="en-US" sz="1000" dirty="0">
                <a:solidFill>
                  <a:srgbClr val="7B8594"/>
                </a:solidFill>
                <a:latin typeface="Courier New" pitchFamily="34" charset="0"/>
                <a:ea typeface="Courier New" pitchFamily="34" charset="-122"/>
                <a:cs typeface="Courier New" pitchFamily="34" charset="-120"/>
              </a:rPr>
              <a:t>Vercel fair-use guidelines, paraphrased from the Hobby plan docs (updated Aug 31, 2026)</a:t>
            </a:r>
            <a:endParaRPr lang="en-US" sz="1000" dirty="0"/>
          </a:p>
        </p:txBody>
      </p:sp>
      <p:sp>
        <p:nvSpPr>
          <p:cNvPr id="12" name="Shape 8"/>
          <p:cNvSpPr/>
          <p:nvPr/>
        </p:nvSpPr>
        <p:spPr>
          <a:xfrm>
            <a:off x="640080" y="3977640"/>
            <a:ext cx="3520440" cy="1188720"/>
          </a:xfrm>
          <a:prstGeom prst="rect">
            <a:avLst/>
          </a:prstGeom>
          <a:solidFill>
            <a:srgbClr val="F3F6FB"/>
          </a:solidFill>
          <a:ln w="9525">
            <a:solidFill>
              <a:srgbClr val="D9E0EA"/>
            </a:solidFill>
            <a:prstDash val="solid"/>
          </a:ln>
        </p:spPr>
      </p:sp>
      <p:sp>
        <p:nvSpPr>
          <p:cNvPr id="13" name="Shape 9"/>
          <p:cNvSpPr/>
          <p:nvPr/>
        </p:nvSpPr>
        <p:spPr>
          <a:xfrm>
            <a:off x="640080" y="3977640"/>
            <a:ext cx="54864" cy="1188720"/>
          </a:xfrm>
          <a:prstGeom prst="rect">
            <a:avLst/>
          </a:prstGeom>
          <a:solidFill>
            <a:srgbClr val="307FE2"/>
          </a:solidFill>
          <a:ln w="12700">
            <a:solidFill>
              <a:srgbClr val="307FE2"/>
            </a:solidFill>
            <a:prstDash val="solid"/>
          </a:ln>
        </p:spPr>
      </p:sp>
      <p:sp>
        <p:nvSpPr>
          <p:cNvPr id="14" name="Text 10"/>
          <p:cNvSpPr txBox="1"/>
          <p:nvPr/>
        </p:nvSpPr>
        <p:spPr>
          <a:xfrm>
            <a:off x="841248" y="4087368"/>
            <a:ext cx="3108960" cy="365760"/>
          </a:xfrm>
          <a:prstGeom prst="rect">
            <a:avLst/>
          </a:prstGeom>
          <a:noFill/>
          <a:ln/>
        </p:spPr>
        <p:txBody>
          <a:bodyPr wrap="square" lIns="0" tIns="0" rIns="0" bIns="0" rtlCol="0" anchor="t"/>
          <a:lstStyle/>
          <a:p>
            <a:pPr indent="0" marL="0">
              <a:buNone/>
            </a:pPr>
            <a:r>
              <a:rPr lang="en-US" sz="1300" b="1" dirty="0">
                <a:solidFill>
                  <a:srgbClr val="0D1219"/>
                </a:solidFill>
                <a:latin typeface="Arial" pitchFamily="34" charset="0"/>
                <a:ea typeface="Arial" pitchFamily="34" charset="-122"/>
                <a:cs typeface="Arial" pitchFamily="34" charset="-120"/>
              </a:rPr>
              <a:t>Hobby, $0</a:t>
            </a:r>
            <a:endParaRPr lang="en-US" sz="1300" dirty="0"/>
          </a:p>
        </p:txBody>
      </p:sp>
      <p:sp>
        <p:nvSpPr>
          <p:cNvPr id="15" name="Text 11"/>
          <p:cNvSpPr txBox="1"/>
          <p:nvPr/>
        </p:nvSpPr>
        <p:spPr>
          <a:xfrm>
            <a:off x="841248" y="4407408"/>
            <a:ext cx="3154680" cy="731520"/>
          </a:xfrm>
          <a:prstGeom prst="rect">
            <a:avLst/>
          </a:prstGeom>
          <a:noFill/>
          <a:ln/>
        </p:spPr>
        <p:txBody>
          <a:bodyPr wrap="square" lIns="0" tIns="0" rIns="0" bIns="0" rtlCol="0" anchor="t"/>
          <a:lstStyle/>
          <a:p>
            <a:pPr algn="l" indent="0" marL="0">
              <a:lnSpc>
                <a:spcPct val="115000"/>
              </a:lnSpc>
              <a:buNone/>
            </a:pPr>
            <a:r>
              <a:rPr lang="en-US" sz="1000" dirty="0">
                <a:solidFill>
                  <a:srgbClr val="5B6675"/>
                </a:solidFill>
                <a:latin typeface="Arial" pitchFamily="34" charset="0"/>
                <a:ea typeface="Arial" pitchFamily="34" charset="-122"/>
                <a:cs typeface="Arial" pitchFamily="34" charset="-120"/>
              </a:rPr>
              <a:t>Personal, non-commercial. Exceed a limit and, in most cases, you wait 30 days. Rollback reaches one deployment back.</a:t>
            </a:r>
            <a:endParaRPr lang="en-US" sz="1000" dirty="0"/>
          </a:p>
        </p:txBody>
      </p:sp>
      <p:sp>
        <p:nvSpPr>
          <p:cNvPr id="16" name="Shape 12"/>
          <p:cNvSpPr/>
          <p:nvPr/>
        </p:nvSpPr>
        <p:spPr>
          <a:xfrm>
            <a:off x="4315968" y="3977640"/>
            <a:ext cx="3520440" cy="1188720"/>
          </a:xfrm>
          <a:prstGeom prst="rect">
            <a:avLst/>
          </a:prstGeom>
          <a:solidFill>
            <a:srgbClr val="F3F6FB"/>
          </a:solidFill>
          <a:ln w="9525">
            <a:solidFill>
              <a:srgbClr val="D9E0EA"/>
            </a:solidFill>
            <a:prstDash val="solid"/>
          </a:ln>
        </p:spPr>
      </p:sp>
      <p:sp>
        <p:nvSpPr>
          <p:cNvPr id="17" name="Shape 13"/>
          <p:cNvSpPr/>
          <p:nvPr/>
        </p:nvSpPr>
        <p:spPr>
          <a:xfrm>
            <a:off x="4315968" y="3977640"/>
            <a:ext cx="54864" cy="1188720"/>
          </a:xfrm>
          <a:prstGeom prst="rect">
            <a:avLst/>
          </a:prstGeom>
          <a:solidFill>
            <a:srgbClr val="307FE2"/>
          </a:solidFill>
          <a:ln w="12700">
            <a:solidFill>
              <a:srgbClr val="307FE2"/>
            </a:solidFill>
            <a:prstDash val="solid"/>
          </a:ln>
        </p:spPr>
      </p:sp>
      <p:sp>
        <p:nvSpPr>
          <p:cNvPr id="18" name="Text 14"/>
          <p:cNvSpPr txBox="1"/>
          <p:nvPr/>
        </p:nvSpPr>
        <p:spPr>
          <a:xfrm>
            <a:off x="4517136" y="4087368"/>
            <a:ext cx="3108960" cy="365760"/>
          </a:xfrm>
          <a:prstGeom prst="rect">
            <a:avLst/>
          </a:prstGeom>
          <a:noFill/>
          <a:ln/>
        </p:spPr>
        <p:txBody>
          <a:bodyPr wrap="square" lIns="0" tIns="0" rIns="0" bIns="0" rtlCol="0" anchor="t"/>
          <a:lstStyle/>
          <a:p>
            <a:pPr indent="0" marL="0">
              <a:buNone/>
            </a:pPr>
            <a:r>
              <a:rPr lang="en-US" sz="1300" b="1" dirty="0">
                <a:solidFill>
                  <a:srgbClr val="0D1219"/>
                </a:solidFill>
                <a:latin typeface="Arial" pitchFamily="34" charset="0"/>
                <a:ea typeface="Arial" pitchFamily="34" charset="-122"/>
                <a:cs typeface="Arial" pitchFamily="34" charset="-120"/>
              </a:rPr>
              <a:t>Pro, $20 / mo</a:t>
            </a:r>
            <a:endParaRPr lang="en-US" sz="1300" dirty="0"/>
          </a:p>
        </p:txBody>
      </p:sp>
      <p:sp>
        <p:nvSpPr>
          <p:cNvPr id="19" name="Text 15"/>
          <p:cNvSpPr txBox="1"/>
          <p:nvPr/>
        </p:nvSpPr>
        <p:spPr>
          <a:xfrm>
            <a:off x="4517136" y="4407408"/>
            <a:ext cx="3154680" cy="731520"/>
          </a:xfrm>
          <a:prstGeom prst="rect">
            <a:avLst/>
          </a:prstGeom>
          <a:noFill/>
          <a:ln/>
        </p:spPr>
        <p:txBody>
          <a:bodyPr wrap="square" lIns="0" tIns="0" rIns="0" bIns="0" rtlCol="0" anchor="t"/>
          <a:lstStyle/>
          <a:p>
            <a:pPr algn="l" indent="0" marL="0">
              <a:lnSpc>
                <a:spcPct val="115000"/>
              </a:lnSpc>
              <a:buNone/>
            </a:pPr>
            <a:r>
              <a:rPr lang="en-US" sz="1000" dirty="0">
                <a:solidFill>
                  <a:srgbClr val="5B6675"/>
                </a:solidFill>
                <a:latin typeface="Arial" pitchFamily="34" charset="0"/>
                <a:ea typeface="Arial" pitchFamily="34" charset="-122"/>
                <a:cs typeface="Arial" pitchFamily="34" charset="-120"/>
              </a:rPr>
              <a:t>$20 usage credit and 1 TB transfer included. Rollback to any deployment. One free first-year .app / .dev / .site domain.</a:t>
            </a:r>
            <a:endParaRPr lang="en-US" sz="1000" dirty="0"/>
          </a:p>
        </p:txBody>
      </p:sp>
      <p:sp>
        <p:nvSpPr>
          <p:cNvPr id="20" name="Shape 16"/>
          <p:cNvSpPr/>
          <p:nvPr/>
        </p:nvSpPr>
        <p:spPr>
          <a:xfrm>
            <a:off x="7991856" y="3977640"/>
            <a:ext cx="3520440" cy="1188720"/>
          </a:xfrm>
          <a:prstGeom prst="rect">
            <a:avLst/>
          </a:prstGeom>
          <a:solidFill>
            <a:srgbClr val="F3F6FB"/>
          </a:solidFill>
          <a:ln w="9525">
            <a:solidFill>
              <a:srgbClr val="D9E0EA"/>
            </a:solidFill>
            <a:prstDash val="solid"/>
          </a:ln>
        </p:spPr>
      </p:sp>
      <p:sp>
        <p:nvSpPr>
          <p:cNvPr id="21" name="Shape 17"/>
          <p:cNvSpPr/>
          <p:nvPr/>
        </p:nvSpPr>
        <p:spPr>
          <a:xfrm>
            <a:off x="7991856" y="3977640"/>
            <a:ext cx="54864" cy="1188720"/>
          </a:xfrm>
          <a:prstGeom prst="rect">
            <a:avLst/>
          </a:prstGeom>
          <a:solidFill>
            <a:srgbClr val="EF8B39"/>
          </a:solidFill>
          <a:ln w="12700">
            <a:solidFill>
              <a:srgbClr val="EF8B39"/>
            </a:solidFill>
            <a:prstDash val="solid"/>
          </a:ln>
        </p:spPr>
      </p:sp>
      <p:sp>
        <p:nvSpPr>
          <p:cNvPr id="22" name="Text 18"/>
          <p:cNvSpPr txBox="1"/>
          <p:nvPr/>
        </p:nvSpPr>
        <p:spPr>
          <a:xfrm>
            <a:off x="8193024" y="4087368"/>
            <a:ext cx="3108960" cy="365760"/>
          </a:xfrm>
          <a:prstGeom prst="rect">
            <a:avLst/>
          </a:prstGeom>
          <a:noFill/>
          <a:ln/>
        </p:spPr>
        <p:txBody>
          <a:bodyPr wrap="square" lIns="0" tIns="0" rIns="0" bIns="0" rtlCol="0" anchor="t"/>
          <a:lstStyle/>
          <a:p>
            <a:pPr indent="0" marL="0">
              <a:buNone/>
            </a:pPr>
            <a:r>
              <a:rPr lang="en-US" sz="1300" b="1" dirty="0">
                <a:solidFill>
                  <a:srgbClr val="0D1219"/>
                </a:solidFill>
                <a:latin typeface="Arial" pitchFamily="34" charset="0"/>
                <a:ea typeface="Arial" pitchFamily="34" charset="-122"/>
                <a:cs typeface="Arial" pitchFamily="34" charset="-120"/>
              </a:rPr>
              <a:t>Day one on Pro</a:t>
            </a:r>
            <a:endParaRPr lang="en-US" sz="1300" dirty="0"/>
          </a:p>
        </p:txBody>
      </p:sp>
      <p:sp>
        <p:nvSpPr>
          <p:cNvPr id="23" name="Text 19"/>
          <p:cNvSpPr txBox="1"/>
          <p:nvPr/>
        </p:nvSpPr>
        <p:spPr>
          <a:xfrm>
            <a:off x="8193024" y="4407408"/>
            <a:ext cx="3154680" cy="731520"/>
          </a:xfrm>
          <a:prstGeom prst="rect">
            <a:avLst/>
          </a:prstGeom>
          <a:noFill/>
          <a:ln/>
        </p:spPr>
        <p:txBody>
          <a:bodyPr wrap="square" lIns="0" tIns="0" rIns="0" bIns="0" rtlCol="0" anchor="t"/>
          <a:lstStyle/>
          <a:p>
            <a:pPr algn="l" indent="0" marL="0">
              <a:lnSpc>
                <a:spcPct val="115000"/>
              </a:lnSpc>
              <a:buNone/>
            </a:pPr>
            <a:r>
              <a:rPr lang="en-US" sz="1000" dirty="0">
                <a:solidFill>
                  <a:srgbClr val="5B6675"/>
                </a:solidFill>
                <a:latin typeface="Arial" pitchFamily="34" charset="0"/>
                <a:ea typeface="Arial" pitchFamily="34" charset="-122"/>
                <a:cs typeface="Arial" pitchFamily="34" charset="-120"/>
              </a:rPr>
              <a:t>Turn on spend management. Lower the notification from the $200 default. Nobody gets a surprise bill from a bot storm.</a:t>
            </a:r>
            <a:endParaRPr lang="en-US" sz="1000" dirty="0"/>
          </a:p>
        </p:txBody>
      </p:sp>
      <p:sp>
        <p:nvSpPr>
          <p:cNvPr id="24" name="Shape 20"/>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25" name="Text 21"/>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6" name="Shape 22"/>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27" name="Text 23"/>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28" name="Shape 24"/>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29" name="Text 25"/>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30" name="Shape 26"/>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31" name="Text 27"/>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32" name="Shape 28"/>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33" name="Text 29"/>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34" name="Shape 30"/>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35" name="Text 31"/>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40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10  ·  OWN IT  ·  15 MIN  ·  TALK</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4:55 – 5:10</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500" b="1" dirty="0">
                <a:solidFill>
                  <a:srgbClr val="0D1219"/>
                </a:solidFill>
                <a:latin typeface="Arial" pitchFamily="34" charset="0"/>
                <a:ea typeface="Arial" pitchFamily="34" charset="-122"/>
                <a:cs typeface="Arial" pitchFamily="34" charset="-120"/>
              </a:rPr>
              <a:t>Rent versus own, tool by tool. The code is rarely the hostage.</a:t>
            </a:r>
            <a:endParaRPr lang="en-US" sz="25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914400"/>
        </p:xfrm>
        <a:graphic>
          <a:graphicData uri="http://schemas.openxmlformats.org/drawingml/2006/table">
            <a:tbl>
              <a:tblPr/>
              <a:tblGrid>
                <a:gridCol w="1417320"/>
                <a:gridCol w="1417320"/>
                <a:gridCol w="1691640"/>
                <a:gridCol w="1097280"/>
                <a:gridCol w="2788920"/>
                <a:gridCol w="2496312"/>
              </a:tblGrid>
              <a:tr h="402336">
                <a:tc>
                  <a:txBody>
                    <a:bodyPr/>
                    <a:lstStyle/>
                    <a:p>
                      <a:pPr indent="0" marL="0">
                        <a:buNone/>
                      </a:pPr>
                      <a:r>
                        <a:rPr lang="en-US" sz="800" b="1" spc="120" kern="0" dirty="0">
                          <a:solidFill>
                            <a:srgbClr val="FFFFFF"/>
                          </a:solidFill>
                          <a:latin typeface="Courier New" pitchFamily="34" charset="0"/>
                          <a:ea typeface="Courier New" pitchFamily="34" charset="-122"/>
                          <a:cs typeface="Courier New" pitchFamily="34" charset="-120"/>
                        </a:rPr>
                        <a:t>TOOL</a:t>
                      </a:r>
                      <a:endParaRPr lang="en-US" sz="800" dirty="0">
                        <a:latin typeface="Courier New" charset="0"/>
                        <a:ea typeface="Courier New" charset="0"/>
                        <a:cs typeface="Courier New"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c>
                  <a:txBody>
                    <a:bodyPr/>
                    <a:lstStyle/>
                    <a:p>
                      <a:pPr indent="0" marL="0">
                        <a:buNone/>
                      </a:pPr>
                      <a:r>
                        <a:rPr lang="en-US" sz="800" b="1" spc="120" kern="0" dirty="0">
                          <a:solidFill>
                            <a:srgbClr val="FFFFFF"/>
                          </a:solidFill>
                          <a:latin typeface="Courier New" pitchFamily="34" charset="0"/>
                          <a:ea typeface="Courier New" pitchFamily="34" charset="-122"/>
                          <a:cs typeface="Courier New" pitchFamily="34" charset="-120"/>
                        </a:rPr>
                        <a:t>EXPORT</a:t>
                      </a:r>
                      <a:endParaRPr lang="en-US" sz="800" dirty="0">
                        <a:latin typeface="Courier New" charset="0"/>
                        <a:ea typeface="Courier New" charset="0"/>
                        <a:cs typeface="Courier New"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c>
                  <a:txBody>
                    <a:bodyPr/>
                    <a:lstStyle/>
                    <a:p>
                      <a:pPr indent="0" marL="0">
                        <a:buNone/>
                      </a:pPr>
                      <a:r>
                        <a:rPr lang="en-US" sz="800" b="1" spc="120" kern="0" dirty="0">
                          <a:solidFill>
                            <a:srgbClr val="FFFFFF"/>
                          </a:solidFill>
                          <a:latin typeface="Courier New" pitchFamily="34" charset="0"/>
                          <a:ea typeface="Courier New" pitchFamily="34" charset="-122"/>
                          <a:cs typeface="Courier New" pitchFamily="34" charset="-120"/>
                        </a:rPr>
                        <a:t>GITHUB SYNC</a:t>
                      </a:r>
                      <a:endParaRPr lang="en-US" sz="800" dirty="0">
                        <a:latin typeface="Courier New" charset="0"/>
                        <a:ea typeface="Courier New" charset="0"/>
                        <a:cs typeface="Courier New"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c>
                  <a:txBody>
                    <a:bodyPr/>
                    <a:lstStyle/>
                    <a:p>
                      <a:pPr indent="0" marL="0">
                        <a:buNone/>
                      </a:pPr>
                      <a:r>
                        <a:rPr lang="en-US" sz="800" b="1" spc="120" kern="0" dirty="0">
                          <a:solidFill>
                            <a:srgbClr val="FFFFFF"/>
                          </a:solidFill>
                          <a:latin typeface="Courier New" pitchFamily="34" charset="0"/>
                          <a:ea typeface="Courier New" pitchFamily="34" charset="-122"/>
                          <a:cs typeface="Courier New" pitchFamily="34" charset="-120"/>
                        </a:rPr>
                        <a:t>PLAN GATE</a:t>
                      </a:r>
                      <a:endParaRPr lang="en-US" sz="800" dirty="0">
                        <a:latin typeface="Courier New" charset="0"/>
                        <a:ea typeface="Courier New" charset="0"/>
                        <a:cs typeface="Courier New"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c>
                  <a:txBody>
                    <a:bodyPr/>
                    <a:lstStyle/>
                    <a:p>
                      <a:pPr indent="0" marL="0">
                        <a:buNone/>
                      </a:pPr>
                      <a:r>
                        <a:rPr lang="en-US" sz="800" b="1" spc="120" kern="0" dirty="0">
                          <a:solidFill>
                            <a:srgbClr val="FFFFFF"/>
                          </a:solidFill>
                          <a:latin typeface="Courier New" pitchFamily="34" charset="0"/>
                          <a:ea typeface="Courier New" pitchFamily="34" charset="-122"/>
                          <a:cs typeface="Courier New" pitchFamily="34" charset="-120"/>
                        </a:rPr>
                        <a:t>BACKEND PORTABLE?</a:t>
                      </a:r>
                      <a:endParaRPr lang="en-US" sz="800" dirty="0">
                        <a:latin typeface="Courier New" charset="0"/>
                        <a:ea typeface="Courier New" charset="0"/>
                        <a:cs typeface="Courier New"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c>
                  <a:txBody>
                    <a:bodyPr/>
                    <a:lstStyle/>
                    <a:p>
                      <a:pPr indent="0" marL="0">
                        <a:buNone/>
                      </a:pPr>
                      <a:r>
                        <a:rPr lang="en-US" sz="800" b="1" spc="120" kern="0" dirty="0">
                          <a:solidFill>
                            <a:srgbClr val="FFFFFF"/>
                          </a:solidFill>
                          <a:latin typeface="Courier New" pitchFamily="34" charset="0"/>
                          <a:ea typeface="Courier New" pitchFamily="34" charset="-122"/>
                          <a:cs typeface="Courier New" pitchFamily="34" charset="-120"/>
                        </a:rPr>
                        <a:t>CANCEL → SITE STAYS UP?</a:t>
                      </a:r>
                      <a:endParaRPr lang="en-US" sz="800" dirty="0">
                        <a:latin typeface="Courier New" charset="0"/>
                        <a:ea typeface="Courier New" charset="0"/>
                        <a:cs typeface="Courier New"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r>
              <a:tr h="402336">
                <a:tc>
                  <a:txBody>
                    <a:bodyPr/>
                    <a:lstStyle/>
                    <a:p>
                      <a:pPr indent="0" marL="0">
                        <a:buNone/>
                      </a:pPr>
                      <a:r>
                        <a:rPr lang="en-US" sz="900" dirty="0">
                          <a:solidFill>
                            <a:srgbClr val="0D1219"/>
                          </a:solidFill>
                          <a:latin typeface="Arial" pitchFamily="34" charset="0"/>
                          <a:ea typeface="Arial" pitchFamily="34" charset="-122"/>
                          <a:cs typeface="Arial" pitchFamily="34" charset="-120"/>
                        </a:rPr>
                        <a:t>Lovable</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ZIP (paid) · GitHub</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Two-way, one branch</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All plans</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No. Cloud data exports; secrets and functions do not</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Yes, site and domains stay live</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402336">
                <a:tc>
                  <a:txBody>
                    <a:bodyPr/>
                    <a:lstStyle/>
                    <a:p>
                      <a:pPr indent="0" marL="0">
                        <a:buNone/>
                      </a:pPr>
                      <a:r>
                        <a:rPr lang="en-US" sz="900" dirty="0">
                          <a:solidFill>
                            <a:srgbClr val="0D1219"/>
                          </a:solidFill>
                          <a:latin typeface="Arial" pitchFamily="34" charset="0"/>
                          <a:ea typeface="Arial" pitchFamily="34" charset="-122"/>
                          <a:cs typeface="Arial" pitchFamily="34" charset="-120"/>
                        </a:rPr>
                        <a:t>v0 (Vercel)</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ZIP · GitHub</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Branch + PR flow</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Free</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Plain Next.js. Nothing proprietary</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n/a, it is your Vercel</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r h="402336">
                <a:tc>
                  <a:txBody>
                    <a:bodyPr/>
                    <a:lstStyle/>
                    <a:p>
                      <a:pPr indent="0" marL="0">
                        <a:buNone/>
                      </a:pPr>
                      <a:r>
                        <a:rPr lang="en-US" sz="900" dirty="0">
                          <a:solidFill>
                            <a:srgbClr val="0D1219"/>
                          </a:solidFill>
                          <a:latin typeface="Arial" pitchFamily="34" charset="0"/>
                          <a:ea typeface="Arial" pitchFamily="34" charset="-122"/>
                          <a:cs typeface="Arial" pitchFamily="34" charset="-120"/>
                        </a:rPr>
                        <a:t>Bolt</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GitHub (Pro)</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Two-way, polls every 30s</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Pro $25</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Rows, logins, uploads, secrets stay</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Not stated</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402336">
                <a:tc>
                  <a:txBody>
                    <a:bodyPr/>
                    <a:lstStyle/>
                    <a:p>
                      <a:pPr indent="0" marL="0">
                        <a:buNone/>
                      </a:pPr>
                      <a:r>
                        <a:rPr lang="en-US" sz="900" dirty="0">
                          <a:solidFill>
                            <a:srgbClr val="0D1219"/>
                          </a:solidFill>
                          <a:latin typeface="Arial" pitchFamily="34" charset="0"/>
                          <a:ea typeface="Arial" pitchFamily="34" charset="-122"/>
                          <a:cs typeface="Arial" pitchFamily="34" charset="-120"/>
                        </a:rPr>
                        <a:t>Replit</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ZIP · GitHub panel</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Push / pull</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Any</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DB, auth, secrets are Replit’s</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“Published apps may go offline”</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r h="402336">
                <a:tc>
                  <a:txBody>
                    <a:bodyPr/>
                    <a:lstStyle/>
                    <a:p>
                      <a:pPr indent="0" marL="0">
                        <a:buNone/>
                      </a:pPr>
                      <a:r>
                        <a:rPr lang="en-US" sz="900" dirty="0">
                          <a:solidFill>
                            <a:srgbClr val="0D1219"/>
                          </a:solidFill>
                          <a:latin typeface="Arial" pitchFamily="34" charset="0"/>
                          <a:ea typeface="Arial" pitchFamily="34" charset="-122"/>
                          <a:cs typeface="Arial" pitchFamily="34" charset="-120"/>
                        </a:rPr>
                        <a:t>Base44 (Wix)</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GitHub (Builder)</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Two-way, main only</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Builder $50</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Functions need Base44’s runtime</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“Apps stay live,” no detail</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402336">
                <a:tc>
                  <a:txBody>
                    <a:bodyPr/>
                    <a:lstStyle/>
                    <a:p>
                      <a:pPr indent="0" marL="0">
                        <a:buNone/>
                      </a:pPr>
                      <a:r>
                        <a:rPr lang="en-US" sz="900" dirty="0">
                          <a:solidFill>
                            <a:srgbClr val="0D1219"/>
                          </a:solidFill>
                          <a:latin typeface="Arial" pitchFamily="34" charset="0"/>
                          <a:ea typeface="Arial" pitchFamily="34" charset="-122"/>
                          <a:cs typeface="Arial" pitchFamily="34" charset="-120"/>
                        </a:rPr>
                        <a:t>Google AI Studio</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ZIP · GitHub</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Two-way, conflict UI</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Free</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Standard React + Node on Cloud Run</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Deployed apps keep running</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r h="402336">
                <a:tc>
                  <a:txBody>
                    <a:bodyPr/>
                    <a:lstStyle/>
                    <a:p>
                      <a:pPr indent="0" marL="0">
                        <a:buNone/>
                      </a:pPr>
                      <a:r>
                        <a:rPr lang="en-US" sz="900" dirty="0">
                          <a:solidFill>
                            <a:srgbClr val="0D1219"/>
                          </a:solidFill>
                          <a:latin typeface="Arial" pitchFamily="34" charset="0"/>
                          <a:ea typeface="Arial" pitchFamily="34" charset="-122"/>
                          <a:cs typeface="Arial" pitchFamily="34" charset="-120"/>
                        </a:rPr>
                        <a:t>Firebase Studio</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GitHub, one-way</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Publish branch</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Free</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Ends Mar 22, 2027. Data deleted.</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900" dirty="0">
                          <a:solidFill>
                            <a:srgbClr val="5B6675"/>
                          </a:solidFill>
                          <a:latin typeface="Arial" pitchFamily="34" charset="0"/>
                          <a:ea typeface="Arial" pitchFamily="34" charset="-122"/>
                          <a:cs typeface="Arial" pitchFamily="34" charset="-120"/>
                        </a:rPr>
                        <a:t>Product is being shut down</a:t>
                      </a:r>
                      <a:endParaRPr lang="en-US" sz="900" dirty="0">
                        <a:latin typeface="Arial" charset="0"/>
                        <a:ea typeface="Arial" charset="0"/>
                        <a:cs typeface="Arial" charset="0"/>
                      </a:endParaRPr>
                    </a:p>
                  </a:txBody>
                  <a:tcPr marL="76200" marR="762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bl>
          </a:graphicData>
        </a:graphic>
      </p:graphicFrame>
      <p:sp>
        <p:nvSpPr>
          <p:cNvPr id="9" name="Text 4"/>
          <p:cNvSpPr txBox="1"/>
          <p:nvPr/>
        </p:nvSpPr>
        <p:spPr>
          <a:xfrm>
            <a:off x="640080" y="5120640"/>
            <a:ext cx="10908792" cy="457200"/>
          </a:xfrm>
          <a:prstGeom prst="rect">
            <a:avLst/>
          </a:prstGeom>
          <a:noFill/>
          <a:ln/>
        </p:spPr>
        <p:txBody>
          <a:bodyPr wrap="square" lIns="0" tIns="0" rIns="0" bIns="0" rtlCol="0" anchor="t"/>
          <a:lstStyle/>
          <a:p>
            <a:pPr algn="l" indent="0" marL="0">
              <a:lnSpc>
                <a:spcPct val="115000"/>
              </a:lnSpc>
              <a:buNone/>
            </a:pPr>
            <a:r>
              <a:rPr lang="en-US" sz="1100" dirty="0">
                <a:solidFill>
                  <a:srgbClr val="0D1219"/>
                </a:solidFill>
                <a:latin typeface="Arial" pitchFamily="34" charset="0"/>
                <a:ea typeface="Arial" pitchFamily="34" charset="-122"/>
                <a:cs typeface="Arial" pitchFamily="34" charset="-120"/>
              </a:rPr>
              <a:t>Three questions before your next builder: which pricing row says GitHub, which doc says which way sync goes, and what happens on cancel. If any answer is missing, assume the worst.</a:t>
            </a:r>
            <a:endParaRPr lang="en-US" sz="1100" dirty="0"/>
          </a:p>
        </p:txBody>
      </p:sp>
      <p:sp>
        <p:nvSpPr>
          <p:cNvPr id="10" name="Shape 5"/>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11" name="Text 6"/>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12" name="Shape 7"/>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13" name="Text 8"/>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14" name="Shape 9"/>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15" name="Text 10"/>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16" name="Shape 11"/>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17" name="Text 12"/>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18" name="Shape 13"/>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19" name="Text 14"/>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20" name="Shape 15"/>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21" name="Text 16"/>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41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10  ·  OWN IT  ·  15 MIN  ·  TALK</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4:55 – 5:10</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3000" b="1" dirty="0">
                <a:solidFill>
                  <a:srgbClr val="0D1219"/>
                </a:solidFill>
                <a:latin typeface="Arial" pitchFamily="34" charset="0"/>
                <a:ea typeface="Arial" pitchFamily="34" charset="-122"/>
                <a:cs typeface="Arial" pitchFamily="34" charset="-120"/>
              </a:rPr>
              <a:t>The code was never the hostage.</a:t>
            </a:r>
            <a:endParaRPr lang="en-US" sz="3000" dirty="0"/>
          </a:p>
        </p:txBody>
      </p:sp>
      <p:sp>
        <p:nvSpPr>
          <p:cNvPr id="8" name="Shape 4"/>
          <p:cNvSpPr/>
          <p:nvPr/>
        </p:nvSpPr>
        <p:spPr>
          <a:xfrm>
            <a:off x="640080" y="1828800"/>
            <a:ext cx="2103120" cy="1005840"/>
          </a:xfrm>
          <a:prstGeom prst="rect">
            <a:avLst/>
          </a:prstGeom>
          <a:solidFill>
            <a:srgbClr val="F3F6FB"/>
          </a:solidFill>
          <a:ln w="9525">
            <a:solidFill>
              <a:srgbClr val="D9E0EA"/>
            </a:solidFill>
            <a:prstDash val="solid"/>
          </a:ln>
        </p:spPr>
      </p:sp>
      <p:sp>
        <p:nvSpPr>
          <p:cNvPr id="9" name="Shape 5"/>
          <p:cNvSpPr/>
          <p:nvPr/>
        </p:nvSpPr>
        <p:spPr>
          <a:xfrm>
            <a:off x="640080" y="1828800"/>
            <a:ext cx="54864" cy="1005840"/>
          </a:xfrm>
          <a:prstGeom prst="rect">
            <a:avLst/>
          </a:prstGeom>
          <a:solidFill>
            <a:srgbClr val="EF4444"/>
          </a:solidFill>
          <a:ln w="12700">
            <a:solidFill>
              <a:srgbClr val="EF4444"/>
            </a:solidFill>
            <a:prstDash val="solid"/>
          </a:ln>
        </p:spPr>
      </p:sp>
      <p:sp>
        <p:nvSpPr>
          <p:cNvPr id="10" name="Text 6"/>
          <p:cNvSpPr txBox="1"/>
          <p:nvPr/>
        </p:nvSpPr>
        <p:spPr>
          <a:xfrm>
            <a:off x="640080" y="1828800"/>
            <a:ext cx="2103120" cy="1005840"/>
          </a:xfrm>
          <a:prstGeom prst="rect">
            <a:avLst/>
          </a:prstGeom>
          <a:noFill/>
          <a:ln/>
        </p:spPr>
        <p:txBody>
          <a:bodyPr wrap="square" lIns="0" tIns="0" rIns="0" bIns="0" rtlCol="0" anchor="ctr"/>
          <a:lstStyle/>
          <a:p>
            <a:pPr algn="ctr" indent="0" marL="0">
              <a:lnSpc>
                <a:spcPct val="115000"/>
              </a:lnSpc>
              <a:buNone/>
            </a:pPr>
            <a:r>
              <a:rPr lang="en-US" sz="1500" b="1" dirty="0">
                <a:solidFill>
                  <a:srgbClr val="0D1219"/>
                </a:solidFill>
                <a:latin typeface="Arial" pitchFamily="34" charset="0"/>
                <a:ea typeface="Arial" pitchFamily="34" charset="-122"/>
                <a:cs typeface="Arial" pitchFamily="34" charset="-120"/>
              </a:rPr>
              <a:t>Your data</a:t>
            </a:r>
            <a:endParaRPr lang="en-US" sz="1500" dirty="0"/>
          </a:p>
        </p:txBody>
      </p:sp>
      <p:sp>
        <p:nvSpPr>
          <p:cNvPr id="11" name="Shape 7"/>
          <p:cNvSpPr/>
          <p:nvPr/>
        </p:nvSpPr>
        <p:spPr>
          <a:xfrm>
            <a:off x="2852928" y="1828800"/>
            <a:ext cx="2103120" cy="1005840"/>
          </a:xfrm>
          <a:prstGeom prst="rect">
            <a:avLst/>
          </a:prstGeom>
          <a:solidFill>
            <a:srgbClr val="F3F6FB"/>
          </a:solidFill>
          <a:ln w="9525">
            <a:solidFill>
              <a:srgbClr val="D9E0EA"/>
            </a:solidFill>
            <a:prstDash val="solid"/>
          </a:ln>
        </p:spPr>
      </p:sp>
      <p:sp>
        <p:nvSpPr>
          <p:cNvPr id="12" name="Shape 8"/>
          <p:cNvSpPr/>
          <p:nvPr/>
        </p:nvSpPr>
        <p:spPr>
          <a:xfrm>
            <a:off x="2852928" y="1828800"/>
            <a:ext cx="54864" cy="1005840"/>
          </a:xfrm>
          <a:prstGeom prst="rect">
            <a:avLst/>
          </a:prstGeom>
          <a:solidFill>
            <a:srgbClr val="EF4444"/>
          </a:solidFill>
          <a:ln w="12700">
            <a:solidFill>
              <a:srgbClr val="EF4444"/>
            </a:solidFill>
            <a:prstDash val="solid"/>
          </a:ln>
        </p:spPr>
      </p:sp>
      <p:sp>
        <p:nvSpPr>
          <p:cNvPr id="13" name="Text 9"/>
          <p:cNvSpPr txBox="1"/>
          <p:nvPr/>
        </p:nvSpPr>
        <p:spPr>
          <a:xfrm>
            <a:off x="2852928" y="1828800"/>
            <a:ext cx="2103120" cy="1005840"/>
          </a:xfrm>
          <a:prstGeom prst="rect">
            <a:avLst/>
          </a:prstGeom>
          <a:noFill/>
          <a:ln/>
        </p:spPr>
        <p:txBody>
          <a:bodyPr wrap="square" lIns="0" tIns="0" rIns="0" bIns="0" rtlCol="0" anchor="ctr"/>
          <a:lstStyle/>
          <a:p>
            <a:pPr algn="ctr" indent="0" marL="0">
              <a:lnSpc>
                <a:spcPct val="115000"/>
              </a:lnSpc>
              <a:buNone/>
            </a:pPr>
            <a:r>
              <a:rPr lang="en-US" sz="1500" b="1" dirty="0">
                <a:solidFill>
                  <a:srgbClr val="0D1219"/>
                </a:solidFill>
                <a:latin typeface="Arial" pitchFamily="34" charset="0"/>
                <a:ea typeface="Arial" pitchFamily="34" charset="-122"/>
                <a:cs typeface="Arial" pitchFamily="34" charset="-120"/>
              </a:rPr>
              <a:t>Your logins</a:t>
            </a:r>
            <a:endParaRPr lang="en-US" sz="1500" dirty="0"/>
          </a:p>
        </p:txBody>
      </p:sp>
      <p:sp>
        <p:nvSpPr>
          <p:cNvPr id="14" name="Shape 10"/>
          <p:cNvSpPr/>
          <p:nvPr/>
        </p:nvSpPr>
        <p:spPr>
          <a:xfrm>
            <a:off x="5065776" y="1828800"/>
            <a:ext cx="2103120" cy="1005840"/>
          </a:xfrm>
          <a:prstGeom prst="rect">
            <a:avLst/>
          </a:prstGeom>
          <a:solidFill>
            <a:srgbClr val="F3F6FB"/>
          </a:solidFill>
          <a:ln w="9525">
            <a:solidFill>
              <a:srgbClr val="D9E0EA"/>
            </a:solidFill>
            <a:prstDash val="solid"/>
          </a:ln>
        </p:spPr>
      </p:sp>
      <p:sp>
        <p:nvSpPr>
          <p:cNvPr id="15" name="Shape 11"/>
          <p:cNvSpPr/>
          <p:nvPr/>
        </p:nvSpPr>
        <p:spPr>
          <a:xfrm>
            <a:off x="5065776" y="1828800"/>
            <a:ext cx="54864" cy="1005840"/>
          </a:xfrm>
          <a:prstGeom prst="rect">
            <a:avLst/>
          </a:prstGeom>
          <a:solidFill>
            <a:srgbClr val="EF4444"/>
          </a:solidFill>
          <a:ln w="12700">
            <a:solidFill>
              <a:srgbClr val="EF4444"/>
            </a:solidFill>
            <a:prstDash val="solid"/>
          </a:ln>
        </p:spPr>
      </p:sp>
      <p:sp>
        <p:nvSpPr>
          <p:cNvPr id="16" name="Text 12"/>
          <p:cNvSpPr txBox="1"/>
          <p:nvPr/>
        </p:nvSpPr>
        <p:spPr>
          <a:xfrm>
            <a:off x="5065776" y="1828800"/>
            <a:ext cx="2103120" cy="1005840"/>
          </a:xfrm>
          <a:prstGeom prst="rect">
            <a:avLst/>
          </a:prstGeom>
          <a:noFill/>
          <a:ln/>
        </p:spPr>
        <p:txBody>
          <a:bodyPr wrap="square" lIns="0" tIns="0" rIns="0" bIns="0" rtlCol="0" anchor="ctr"/>
          <a:lstStyle/>
          <a:p>
            <a:pPr algn="ctr" indent="0" marL="0">
              <a:lnSpc>
                <a:spcPct val="115000"/>
              </a:lnSpc>
              <a:buNone/>
            </a:pPr>
            <a:r>
              <a:rPr lang="en-US" sz="1500" b="1" dirty="0">
                <a:solidFill>
                  <a:srgbClr val="0D1219"/>
                </a:solidFill>
                <a:latin typeface="Arial" pitchFamily="34" charset="0"/>
                <a:ea typeface="Arial" pitchFamily="34" charset="-122"/>
                <a:cs typeface="Arial" pitchFamily="34" charset="-120"/>
              </a:rPr>
              <a:t>Your secrets</a:t>
            </a:r>
            <a:endParaRPr lang="en-US" sz="1500" dirty="0"/>
          </a:p>
        </p:txBody>
      </p:sp>
      <p:sp>
        <p:nvSpPr>
          <p:cNvPr id="17" name="Shape 13"/>
          <p:cNvSpPr/>
          <p:nvPr/>
        </p:nvSpPr>
        <p:spPr>
          <a:xfrm>
            <a:off x="7278624" y="1828800"/>
            <a:ext cx="2103120" cy="1005840"/>
          </a:xfrm>
          <a:prstGeom prst="rect">
            <a:avLst/>
          </a:prstGeom>
          <a:solidFill>
            <a:srgbClr val="F3F6FB"/>
          </a:solidFill>
          <a:ln w="9525">
            <a:solidFill>
              <a:srgbClr val="D9E0EA"/>
            </a:solidFill>
            <a:prstDash val="solid"/>
          </a:ln>
        </p:spPr>
      </p:sp>
      <p:sp>
        <p:nvSpPr>
          <p:cNvPr id="18" name="Shape 14"/>
          <p:cNvSpPr/>
          <p:nvPr/>
        </p:nvSpPr>
        <p:spPr>
          <a:xfrm>
            <a:off x="7278624" y="1828800"/>
            <a:ext cx="54864" cy="1005840"/>
          </a:xfrm>
          <a:prstGeom prst="rect">
            <a:avLst/>
          </a:prstGeom>
          <a:solidFill>
            <a:srgbClr val="EF4444"/>
          </a:solidFill>
          <a:ln w="12700">
            <a:solidFill>
              <a:srgbClr val="EF4444"/>
            </a:solidFill>
            <a:prstDash val="solid"/>
          </a:ln>
        </p:spPr>
      </p:sp>
      <p:sp>
        <p:nvSpPr>
          <p:cNvPr id="19" name="Text 15"/>
          <p:cNvSpPr txBox="1"/>
          <p:nvPr/>
        </p:nvSpPr>
        <p:spPr>
          <a:xfrm>
            <a:off x="7278624" y="1828800"/>
            <a:ext cx="2103120" cy="1005840"/>
          </a:xfrm>
          <a:prstGeom prst="rect">
            <a:avLst/>
          </a:prstGeom>
          <a:noFill/>
          <a:ln/>
        </p:spPr>
        <p:txBody>
          <a:bodyPr wrap="square" lIns="0" tIns="0" rIns="0" bIns="0" rtlCol="0" anchor="ctr"/>
          <a:lstStyle/>
          <a:p>
            <a:pPr algn="ctr" indent="0" marL="0">
              <a:lnSpc>
                <a:spcPct val="115000"/>
              </a:lnSpc>
              <a:buNone/>
            </a:pPr>
            <a:r>
              <a:rPr lang="en-US" sz="1500" b="1" dirty="0">
                <a:solidFill>
                  <a:srgbClr val="0D1219"/>
                </a:solidFill>
                <a:latin typeface="Arial" pitchFamily="34" charset="0"/>
                <a:ea typeface="Arial" pitchFamily="34" charset="-122"/>
                <a:cs typeface="Arial" pitchFamily="34" charset="-120"/>
              </a:rPr>
              <a:t>Your domain</a:t>
            </a:r>
            <a:endParaRPr lang="en-US" sz="1500" dirty="0"/>
          </a:p>
        </p:txBody>
      </p:sp>
      <p:sp>
        <p:nvSpPr>
          <p:cNvPr id="20" name="Shape 16"/>
          <p:cNvSpPr/>
          <p:nvPr/>
        </p:nvSpPr>
        <p:spPr>
          <a:xfrm>
            <a:off x="9491472" y="1828800"/>
            <a:ext cx="2103120" cy="1005840"/>
          </a:xfrm>
          <a:prstGeom prst="rect">
            <a:avLst/>
          </a:prstGeom>
          <a:solidFill>
            <a:srgbClr val="F3F6FB"/>
          </a:solidFill>
          <a:ln w="9525">
            <a:solidFill>
              <a:srgbClr val="D9E0EA"/>
            </a:solidFill>
            <a:prstDash val="solid"/>
          </a:ln>
        </p:spPr>
      </p:sp>
      <p:sp>
        <p:nvSpPr>
          <p:cNvPr id="21" name="Shape 17"/>
          <p:cNvSpPr/>
          <p:nvPr/>
        </p:nvSpPr>
        <p:spPr>
          <a:xfrm>
            <a:off x="9491472" y="1828800"/>
            <a:ext cx="54864" cy="1005840"/>
          </a:xfrm>
          <a:prstGeom prst="rect">
            <a:avLst/>
          </a:prstGeom>
          <a:solidFill>
            <a:srgbClr val="EF4444"/>
          </a:solidFill>
          <a:ln w="12700">
            <a:solidFill>
              <a:srgbClr val="EF4444"/>
            </a:solidFill>
            <a:prstDash val="solid"/>
          </a:ln>
        </p:spPr>
      </p:sp>
      <p:sp>
        <p:nvSpPr>
          <p:cNvPr id="22" name="Text 18"/>
          <p:cNvSpPr txBox="1"/>
          <p:nvPr/>
        </p:nvSpPr>
        <p:spPr>
          <a:xfrm>
            <a:off x="9491472" y="1828800"/>
            <a:ext cx="2103120" cy="1005840"/>
          </a:xfrm>
          <a:prstGeom prst="rect">
            <a:avLst/>
          </a:prstGeom>
          <a:noFill/>
          <a:ln/>
        </p:spPr>
        <p:txBody>
          <a:bodyPr wrap="square" lIns="0" tIns="0" rIns="0" bIns="0" rtlCol="0" anchor="ctr"/>
          <a:lstStyle/>
          <a:p>
            <a:pPr algn="ctr" indent="0" marL="0">
              <a:lnSpc>
                <a:spcPct val="115000"/>
              </a:lnSpc>
              <a:buNone/>
            </a:pPr>
            <a:r>
              <a:rPr lang="en-US" sz="1500" b="1" dirty="0">
                <a:solidFill>
                  <a:srgbClr val="0D1219"/>
                </a:solidFill>
                <a:latin typeface="Arial" pitchFamily="34" charset="0"/>
                <a:ea typeface="Arial" pitchFamily="34" charset="-122"/>
                <a:cs typeface="Arial" pitchFamily="34" charset="-120"/>
              </a:rPr>
              <a:t>Your history</a:t>
            </a:r>
            <a:endParaRPr lang="en-US" sz="1500" dirty="0"/>
          </a:p>
        </p:txBody>
      </p:sp>
      <p:sp>
        <p:nvSpPr>
          <p:cNvPr id="23" name="Text 19"/>
          <p:cNvSpPr txBox="1"/>
          <p:nvPr/>
        </p:nvSpPr>
        <p:spPr>
          <a:xfrm>
            <a:off x="640080" y="2971800"/>
            <a:ext cx="10908792" cy="457200"/>
          </a:xfrm>
          <a:prstGeom prst="rect">
            <a:avLst/>
          </a:prstGeom>
          <a:noFill/>
          <a:ln/>
        </p:spPr>
        <p:txBody>
          <a:bodyPr wrap="square" lIns="0" tIns="0" rIns="0" bIns="0" rtlCol="0" anchor="t"/>
          <a:lstStyle/>
          <a:p>
            <a:pPr algn="l" indent="0" marL="0">
              <a:lnSpc>
                <a:spcPct val="115000"/>
              </a:lnSpc>
              <a:buNone/>
            </a:pPr>
            <a:r>
              <a:rPr lang="en-US" sz="1250" dirty="0">
                <a:solidFill>
                  <a:srgbClr val="5B6675"/>
                </a:solidFill>
                <a:latin typeface="Arial" pitchFamily="34" charset="0"/>
                <a:ea typeface="Arial" pitchFamily="34" charset="-122"/>
                <a:cs typeface="Arial" pitchFamily="34" charset="-120"/>
              </a:rPr>
              <a:t>These are what the export button leaves behind, and what you moved into your own accounts today.</a:t>
            </a:r>
            <a:endParaRPr lang="en-US" sz="1250" dirty="0"/>
          </a:p>
        </p:txBody>
      </p:sp>
      <p:sp>
        <p:nvSpPr>
          <p:cNvPr id="24" name="Shape 20"/>
          <p:cNvSpPr/>
          <p:nvPr/>
        </p:nvSpPr>
        <p:spPr>
          <a:xfrm>
            <a:off x="640080" y="3611880"/>
            <a:ext cx="10908792" cy="1554480"/>
          </a:xfrm>
          <a:prstGeom prst="rect">
            <a:avLst/>
          </a:prstGeom>
          <a:solidFill>
            <a:srgbClr val="E8EEF7"/>
          </a:solidFill>
          <a:ln w="9525">
            <a:solidFill>
              <a:srgbClr val="D9E0EA"/>
            </a:solidFill>
            <a:prstDash val="solid"/>
          </a:ln>
        </p:spPr>
      </p:sp>
      <p:sp>
        <p:nvSpPr>
          <p:cNvPr id="25" name="Shape 21"/>
          <p:cNvSpPr/>
          <p:nvPr/>
        </p:nvSpPr>
        <p:spPr>
          <a:xfrm>
            <a:off x="640080" y="3611880"/>
            <a:ext cx="54864" cy="1554480"/>
          </a:xfrm>
          <a:prstGeom prst="rect">
            <a:avLst/>
          </a:prstGeom>
          <a:solidFill>
            <a:srgbClr val="EF8B39"/>
          </a:solidFill>
          <a:ln w="12700">
            <a:solidFill>
              <a:srgbClr val="EF8B39"/>
            </a:solidFill>
            <a:prstDash val="solid"/>
          </a:ln>
        </p:spPr>
      </p:sp>
      <p:sp>
        <p:nvSpPr>
          <p:cNvPr id="26" name="Text 22"/>
          <p:cNvSpPr txBox="1"/>
          <p:nvPr/>
        </p:nvSpPr>
        <p:spPr>
          <a:xfrm>
            <a:off x="868680" y="3749040"/>
            <a:ext cx="3657600" cy="237744"/>
          </a:xfrm>
          <a:prstGeom prst="rect">
            <a:avLst/>
          </a:prstGeom>
          <a:noFill/>
          <a:ln/>
        </p:spPr>
        <p:txBody>
          <a:bodyPr wrap="square" lIns="0" tIns="0" rIns="0" bIns="0" rtlCol="0" anchor="ctr"/>
          <a:lstStyle/>
          <a:p>
            <a:pPr indent="0" marL="0">
              <a:buNone/>
            </a:pPr>
            <a:r>
              <a:rPr lang="en-US" sz="850" b="1" spc="150" kern="0" dirty="0">
                <a:solidFill>
                  <a:srgbClr val="EF8B39"/>
                </a:solidFill>
                <a:latin typeface="Courier New" pitchFamily="34" charset="0"/>
                <a:ea typeface="Courier New" pitchFamily="34" charset="-122"/>
                <a:cs typeface="Courier New" pitchFamily="34" charset="-120"/>
              </a:rPr>
              <a:t>EVEN GOOGLE</a:t>
            </a:r>
            <a:endParaRPr lang="en-US" sz="850" dirty="0"/>
          </a:p>
        </p:txBody>
      </p:sp>
      <p:sp>
        <p:nvSpPr>
          <p:cNvPr id="27" name="Text 23"/>
          <p:cNvSpPr txBox="1"/>
          <p:nvPr/>
        </p:nvSpPr>
        <p:spPr>
          <a:xfrm>
            <a:off x="868680" y="4023360"/>
            <a:ext cx="10451592" cy="548640"/>
          </a:xfrm>
          <a:prstGeom prst="rect">
            <a:avLst/>
          </a:prstGeom>
          <a:noFill/>
          <a:ln/>
        </p:spPr>
        <p:txBody>
          <a:bodyPr wrap="square" lIns="0" tIns="0" rIns="0" bIns="0" rtlCol="0" anchor="t"/>
          <a:lstStyle/>
          <a:p>
            <a:pPr algn="l" indent="0" marL="0">
              <a:lnSpc>
                <a:spcPct val="115000"/>
              </a:lnSpc>
              <a:buNone/>
            </a:pPr>
            <a:r>
              <a:rPr lang="en-US" sz="1250" dirty="0">
                <a:solidFill>
                  <a:srgbClr val="0D1219"/>
                </a:solidFill>
                <a:latin typeface="Arial" pitchFamily="34" charset="0"/>
                <a:ea typeface="Arial" pitchFamily="34" charset="-122"/>
                <a:cs typeface="Arial" pitchFamily="34" charset="-120"/>
              </a:rPr>
              <a:t>Firebase Studio: launched Apr 10, 2025 · sunset announced Mar 19, 2026 · signups closed Jun 22, 2026 · all remaining data permanently deleted Mar 22, 2027.</a:t>
            </a:r>
            <a:endParaRPr lang="en-US" sz="1250" dirty="0"/>
          </a:p>
        </p:txBody>
      </p:sp>
      <p:sp>
        <p:nvSpPr>
          <p:cNvPr id="28" name="Text 24"/>
          <p:cNvSpPr txBox="1"/>
          <p:nvPr/>
        </p:nvSpPr>
        <p:spPr>
          <a:xfrm>
            <a:off x="868680" y="4572000"/>
            <a:ext cx="10451592" cy="548640"/>
          </a:xfrm>
          <a:prstGeom prst="rect">
            <a:avLst/>
          </a:prstGeom>
          <a:noFill/>
          <a:ln/>
        </p:spPr>
        <p:txBody>
          <a:bodyPr wrap="square" lIns="0" tIns="0" rIns="0" bIns="0" rtlCol="0" anchor="t"/>
          <a:lstStyle/>
          <a:p>
            <a:pPr algn="l" indent="0" marL="0">
              <a:lnSpc>
                <a:spcPct val="115000"/>
              </a:lnSpc>
              <a:buNone/>
            </a:pPr>
            <a:r>
              <a:rPr lang="en-US" sz="1150" dirty="0">
                <a:solidFill>
                  <a:srgbClr val="5B6675"/>
                </a:solidFill>
                <a:latin typeface="Arial" pitchFamily="34" charset="0"/>
                <a:ea typeface="Arial" pitchFamily="34" charset="-122"/>
                <a:cs typeface="Arial" pitchFamily="34" charset="-120"/>
              </a:rPr>
              <a:t>Anyone whose code was in GitHub and whose app ran on their own host lost nothing. Your repo does not care which editor goes out of business.</a:t>
            </a:r>
            <a:endParaRPr lang="en-US" sz="1150" dirty="0"/>
          </a:p>
        </p:txBody>
      </p:sp>
      <p:sp>
        <p:nvSpPr>
          <p:cNvPr id="29" name="Shape 25"/>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30" name="Text 26"/>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31" name="Shape 27"/>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32" name="Text 28"/>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33" name="Shape 29"/>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34" name="Text 30"/>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35" name="Shape 31"/>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36" name="Text 32"/>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37" name="Shape 33"/>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38" name="Text 34"/>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39" name="Shape 35"/>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40" name="Text 36"/>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42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10  ·  OWN IT  ·  15 MIN  ·  TALK</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4:55 – 5:10</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300" b="1" dirty="0">
                <a:solidFill>
                  <a:srgbClr val="0D1219"/>
                </a:solidFill>
                <a:latin typeface="Arial" pitchFamily="34" charset="0"/>
                <a:ea typeface="Arial" pitchFamily="34" charset="-122"/>
                <a:cs typeface="Arial" pitchFamily="34" charset="-120"/>
              </a:rPr>
              <a:t>And if Vercel ever annoys you: the code is in GitHub. Moving is a reconnect.</a:t>
            </a:r>
            <a:endParaRPr lang="en-US" sz="2300" dirty="0"/>
          </a:p>
        </p:txBody>
      </p:sp>
      <p:sp>
        <p:nvSpPr>
          <p:cNvPr id="8" name="Shape 4"/>
          <p:cNvSpPr/>
          <p:nvPr/>
        </p:nvSpPr>
        <p:spPr>
          <a:xfrm>
            <a:off x="640080" y="1828800"/>
            <a:ext cx="3520440" cy="2377440"/>
          </a:xfrm>
          <a:prstGeom prst="rect">
            <a:avLst/>
          </a:prstGeom>
          <a:solidFill>
            <a:srgbClr val="F3F6FB"/>
          </a:solidFill>
          <a:ln w="9525">
            <a:solidFill>
              <a:srgbClr val="D9E0EA"/>
            </a:solidFill>
            <a:prstDash val="solid"/>
          </a:ln>
        </p:spPr>
      </p:sp>
      <p:sp>
        <p:nvSpPr>
          <p:cNvPr id="9" name="Shape 5"/>
          <p:cNvSpPr/>
          <p:nvPr/>
        </p:nvSpPr>
        <p:spPr>
          <a:xfrm>
            <a:off x="640080" y="1828800"/>
            <a:ext cx="54864" cy="2377440"/>
          </a:xfrm>
          <a:prstGeom prst="rect">
            <a:avLst/>
          </a:prstGeom>
          <a:solidFill>
            <a:srgbClr val="307FE2"/>
          </a:solidFill>
          <a:ln w="12700">
            <a:solidFill>
              <a:srgbClr val="307FE2"/>
            </a:solidFill>
            <a:prstDash val="solid"/>
          </a:ln>
        </p:spPr>
      </p:sp>
      <p:sp>
        <p:nvSpPr>
          <p:cNvPr id="10" name="Text 6"/>
          <p:cNvSpPr txBox="1"/>
          <p:nvPr/>
        </p:nvSpPr>
        <p:spPr>
          <a:xfrm>
            <a:off x="868680" y="2011680"/>
            <a:ext cx="3108960" cy="365760"/>
          </a:xfrm>
          <a:prstGeom prst="rect">
            <a:avLst/>
          </a:prstGeom>
          <a:noFill/>
          <a:ln/>
        </p:spPr>
        <p:txBody>
          <a:bodyPr wrap="square" lIns="0" tIns="0" rIns="0" bIns="0" rtlCol="0" anchor="t"/>
          <a:lstStyle/>
          <a:p>
            <a:pPr indent="0" marL="0">
              <a:buNone/>
            </a:pPr>
            <a:r>
              <a:rPr lang="en-US" sz="1600" b="1" dirty="0">
                <a:solidFill>
                  <a:srgbClr val="0D1219"/>
                </a:solidFill>
                <a:latin typeface="Arial" pitchFamily="34" charset="0"/>
                <a:ea typeface="Arial" pitchFamily="34" charset="-122"/>
                <a:cs typeface="Arial" pitchFamily="34" charset="-120"/>
              </a:rPr>
              <a:t>Netlify</a:t>
            </a:r>
            <a:endParaRPr lang="en-US" sz="1600" dirty="0"/>
          </a:p>
        </p:txBody>
      </p:sp>
      <p:sp>
        <p:nvSpPr>
          <p:cNvPr id="11" name="Text 7"/>
          <p:cNvSpPr txBox="1"/>
          <p:nvPr/>
        </p:nvSpPr>
        <p:spPr>
          <a:xfrm>
            <a:off x="868680" y="2423160"/>
            <a:ext cx="3108960" cy="1737360"/>
          </a:xfrm>
          <a:prstGeom prst="rect">
            <a:avLst/>
          </a:prstGeom>
          <a:noFill/>
          <a:ln/>
        </p:spPr>
        <p:txBody>
          <a:bodyPr wrap="square" lIns="0" tIns="0" rIns="0" bIns="0" rtlCol="0" anchor="t"/>
          <a:lstStyle/>
          <a:p>
            <a:pPr algn="l" indent="0" marL="0">
              <a:lnSpc>
                <a:spcPct val="115000"/>
              </a:lnSpc>
              <a:buNone/>
            </a:pPr>
            <a:r>
              <a:rPr lang="en-US" sz="1100" dirty="0">
                <a:solidFill>
                  <a:srgbClr val="5B6675"/>
                </a:solidFill>
                <a:latin typeface="Arial" pitchFamily="34" charset="0"/>
                <a:ea typeface="Arial" pitchFamily="34" charset="-122"/>
                <a:cs typeface="Arial" pitchFamily="34" charset="-120"/>
              </a:rPr>
              <a:t>Free: 300 credits / month, hard cap. A production deploy is 15 credits; when they run out, every site shows “Site not available.” Personal $9 / mo.</a:t>
            </a:r>
            <a:endParaRPr lang="en-US" sz="1100" dirty="0"/>
          </a:p>
        </p:txBody>
      </p:sp>
      <p:sp>
        <p:nvSpPr>
          <p:cNvPr id="12" name="Shape 8"/>
          <p:cNvSpPr/>
          <p:nvPr/>
        </p:nvSpPr>
        <p:spPr>
          <a:xfrm>
            <a:off x="4315968" y="1828800"/>
            <a:ext cx="3520440" cy="2377440"/>
          </a:xfrm>
          <a:prstGeom prst="rect">
            <a:avLst/>
          </a:prstGeom>
          <a:solidFill>
            <a:srgbClr val="F3F6FB"/>
          </a:solidFill>
          <a:ln w="9525">
            <a:solidFill>
              <a:srgbClr val="D9E0EA"/>
            </a:solidFill>
            <a:prstDash val="solid"/>
          </a:ln>
        </p:spPr>
      </p:sp>
      <p:sp>
        <p:nvSpPr>
          <p:cNvPr id="13" name="Shape 9"/>
          <p:cNvSpPr/>
          <p:nvPr/>
        </p:nvSpPr>
        <p:spPr>
          <a:xfrm>
            <a:off x="4315968" y="1828800"/>
            <a:ext cx="54864" cy="2377440"/>
          </a:xfrm>
          <a:prstGeom prst="rect">
            <a:avLst/>
          </a:prstGeom>
          <a:solidFill>
            <a:srgbClr val="307FE2"/>
          </a:solidFill>
          <a:ln w="12700">
            <a:solidFill>
              <a:srgbClr val="307FE2"/>
            </a:solidFill>
            <a:prstDash val="solid"/>
          </a:ln>
        </p:spPr>
      </p:sp>
      <p:sp>
        <p:nvSpPr>
          <p:cNvPr id="14" name="Text 10"/>
          <p:cNvSpPr txBox="1"/>
          <p:nvPr/>
        </p:nvSpPr>
        <p:spPr>
          <a:xfrm>
            <a:off x="4544568" y="2011680"/>
            <a:ext cx="3108960" cy="365760"/>
          </a:xfrm>
          <a:prstGeom prst="rect">
            <a:avLst/>
          </a:prstGeom>
          <a:noFill/>
          <a:ln/>
        </p:spPr>
        <p:txBody>
          <a:bodyPr wrap="square" lIns="0" tIns="0" rIns="0" bIns="0" rtlCol="0" anchor="t"/>
          <a:lstStyle/>
          <a:p>
            <a:pPr indent="0" marL="0">
              <a:buNone/>
            </a:pPr>
            <a:r>
              <a:rPr lang="en-US" sz="1600" b="1" dirty="0">
                <a:solidFill>
                  <a:srgbClr val="0D1219"/>
                </a:solidFill>
                <a:latin typeface="Arial" pitchFamily="34" charset="0"/>
                <a:ea typeface="Arial" pitchFamily="34" charset="-122"/>
                <a:cs typeface="Arial" pitchFamily="34" charset="-120"/>
              </a:rPr>
              <a:t>Cloudflare Workers</a:t>
            </a:r>
            <a:endParaRPr lang="en-US" sz="1600" dirty="0"/>
          </a:p>
        </p:txBody>
      </p:sp>
      <p:sp>
        <p:nvSpPr>
          <p:cNvPr id="15" name="Text 11"/>
          <p:cNvSpPr txBox="1"/>
          <p:nvPr/>
        </p:nvSpPr>
        <p:spPr>
          <a:xfrm>
            <a:off x="4544568" y="2423160"/>
            <a:ext cx="3108960" cy="1737360"/>
          </a:xfrm>
          <a:prstGeom prst="rect">
            <a:avLst/>
          </a:prstGeom>
          <a:noFill/>
          <a:ln/>
        </p:spPr>
        <p:txBody>
          <a:bodyPr wrap="square" lIns="0" tIns="0" rIns="0" bIns="0" rtlCol="0" anchor="t"/>
          <a:lstStyle/>
          <a:p>
            <a:pPr algn="l" indent="0" marL="0">
              <a:lnSpc>
                <a:spcPct val="115000"/>
              </a:lnSpc>
              <a:buNone/>
            </a:pPr>
            <a:r>
              <a:rPr lang="en-US" sz="1100" dirty="0">
                <a:solidFill>
                  <a:srgbClr val="5B6675"/>
                </a:solidFill>
                <a:latin typeface="Arial" pitchFamily="34" charset="0"/>
                <a:ea typeface="Arial" pitchFamily="34" charset="-122"/>
                <a:cs typeface="Arial" pitchFamily="34" charset="-120"/>
              </a:rPr>
              <a:t>Static asset requests free and unlimited on any plan. Cloudflare now steers new sites to Workers, not Pages. Workers Paid $5 / mo minimum.</a:t>
            </a:r>
            <a:endParaRPr lang="en-US" sz="1100" dirty="0"/>
          </a:p>
        </p:txBody>
      </p:sp>
      <p:sp>
        <p:nvSpPr>
          <p:cNvPr id="16" name="Shape 12"/>
          <p:cNvSpPr/>
          <p:nvPr/>
        </p:nvSpPr>
        <p:spPr>
          <a:xfrm>
            <a:off x="7991856" y="1828800"/>
            <a:ext cx="3520440" cy="2377440"/>
          </a:xfrm>
          <a:prstGeom prst="rect">
            <a:avLst/>
          </a:prstGeom>
          <a:solidFill>
            <a:srgbClr val="F3F6FB"/>
          </a:solidFill>
          <a:ln w="9525">
            <a:solidFill>
              <a:srgbClr val="D9E0EA"/>
            </a:solidFill>
            <a:prstDash val="solid"/>
          </a:ln>
        </p:spPr>
      </p:sp>
      <p:sp>
        <p:nvSpPr>
          <p:cNvPr id="17" name="Shape 13"/>
          <p:cNvSpPr/>
          <p:nvPr/>
        </p:nvSpPr>
        <p:spPr>
          <a:xfrm>
            <a:off x="7991856" y="1828800"/>
            <a:ext cx="54864" cy="2377440"/>
          </a:xfrm>
          <a:prstGeom prst="rect">
            <a:avLst/>
          </a:prstGeom>
          <a:solidFill>
            <a:srgbClr val="EF8B39"/>
          </a:solidFill>
          <a:ln w="12700">
            <a:solidFill>
              <a:srgbClr val="EF8B39"/>
            </a:solidFill>
            <a:prstDash val="solid"/>
          </a:ln>
        </p:spPr>
      </p:sp>
      <p:sp>
        <p:nvSpPr>
          <p:cNvPr id="18" name="Text 14"/>
          <p:cNvSpPr txBox="1"/>
          <p:nvPr/>
        </p:nvSpPr>
        <p:spPr>
          <a:xfrm>
            <a:off x="8220456" y="2011680"/>
            <a:ext cx="3108960" cy="365760"/>
          </a:xfrm>
          <a:prstGeom prst="rect">
            <a:avLst/>
          </a:prstGeom>
          <a:noFill/>
          <a:ln/>
        </p:spPr>
        <p:txBody>
          <a:bodyPr wrap="square" lIns="0" tIns="0" rIns="0" bIns="0" rtlCol="0" anchor="t"/>
          <a:lstStyle/>
          <a:p>
            <a:pPr indent="0" marL="0">
              <a:buNone/>
            </a:pPr>
            <a:r>
              <a:rPr lang="en-US" sz="1600" b="1" dirty="0">
                <a:solidFill>
                  <a:srgbClr val="0D1219"/>
                </a:solidFill>
                <a:latin typeface="Arial" pitchFamily="34" charset="0"/>
                <a:ea typeface="Arial" pitchFamily="34" charset="-122"/>
                <a:cs typeface="Arial" pitchFamily="34" charset="-120"/>
              </a:rPr>
              <a:t>Anywhere else</a:t>
            </a:r>
            <a:endParaRPr lang="en-US" sz="1600" dirty="0"/>
          </a:p>
        </p:txBody>
      </p:sp>
      <p:sp>
        <p:nvSpPr>
          <p:cNvPr id="19" name="Text 15"/>
          <p:cNvSpPr txBox="1"/>
          <p:nvPr/>
        </p:nvSpPr>
        <p:spPr>
          <a:xfrm>
            <a:off x="8220456" y="2423160"/>
            <a:ext cx="3108960" cy="1737360"/>
          </a:xfrm>
          <a:prstGeom prst="rect">
            <a:avLst/>
          </a:prstGeom>
          <a:noFill/>
          <a:ln/>
        </p:spPr>
        <p:txBody>
          <a:bodyPr wrap="square" lIns="0" tIns="0" rIns="0" bIns="0" rtlCol="0" anchor="t"/>
          <a:lstStyle/>
          <a:p>
            <a:pPr algn="l" indent="0" marL="0">
              <a:lnSpc>
                <a:spcPct val="115000"/>
              </a:lnSpc>
              <a:buNone/>
            </a:pPr>
            <a:r>
              <a:rPr lang="en-US" sz="1100" dirty="0">
                <a:solidFill>
                  <a:srgbClr val="5B6675"/>
                </a:solidFill>
                <a:latin typeface="Arial" pitchFamily="34" charset="0"/>
                <a:ea typeface="Arial" pitchFamily="34" charset="-122"/>
                <a:cs typeface="Arial" pitchFamily="34" charset="-120"/>
              </a:rPr>
              <a:t>The repo is the product. Connect a new host to GitHub, push, done. Compare that to leaving a builder.</a:t>
            </a:r>
            <a:endParaRPr lang="en-US" sz="1100" dirty="0"/>
          </a:p>
        </p:txBody>
      </p:sp>
      <p:sp>
        <p:nvSpPr>
          <p:cNvPr id="20" name="Text 16"/>
          <p:cNvSpPr txBox="1"/>
          <p:nvPr/>
        </p:nvSpPr>
        <p:spPr>
          <a:xfrm>
            <a:off x="640080" y="4526280"/>
            <a:ext cx="10908792" cy="640080"/>
          </a:xfrm>
          <a:prstGeom prst="rect">
            <a:avLst/>
          </a:prstGeom>
          <a:noFill/>
          <a:ln/>
        </p:spPr>
        <p:txBody>
          <a:bodyPr wrap="square" lIns="0" tIns="0" rIns="0" bIns="0" rtlCol="0" anchor="t"/>
          <a:lstStyle/>
          <a:p>
            <a:pPr algn="l" indent="0" marL="0">
              <a:lnSpc>
                <a:spcPct val="115000"/>
              </a:lnSpc>
              <a:buNone/>
            </a:pPr>
            <a:r>
              <a:rPr lang="en-US" sz="1300" dirty="0">
                <a:solidFill>
                  <a:srgbClr val="0D1219"/>
                </a:solidFill>
                <a:latin typeface="Arial" pitchFamily="34" charset="0"/>
                <a:ea typeface="Arial" pitchFamily="34" charset="-122"/>
                <a:cs typeface="Arial" pitchFamily="34" charset="-120"/>
              </a:rPr>
              <a:t>Ownership all the way down: files on your laptop, history in your GitHub, a site on whichever host you pick this year, a domain with your name on it.</a:t>
            </a:r>
            <a:endParaRPr lang="en-US" sz="1300" dirty="0"/>
          </a:p>
        </p:txBody>
      </p:sp>
      <p:sp>
        <p:nvSpPr>
          <p:cNvPr id="21" name="Shape 17"/>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22" name="Text 18"/>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3" name="Shape 19"/>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24" name="Text 20"/>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25" name="Shape 21"/>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26" name="Text 22"/>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27" name="Shape 23"/>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28" name="Text 24"/>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29" name="Shape 25"/>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30" name="Text 26"/>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31" name="Shape 27"/>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32" name="Text 28"/>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43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10  ·  OWN IT  ·  15 MIN  ·  TALK</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4:55 – 5:10</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700" b="1" dirty="0">
                <a:solidFill>
                  <a:srgbClr val="0D1219"/>
                </a:solidFill>
                <a:latin typeface="Arial" pitchFamily="34" charset="0"/>
                <a:ea typeface="Arial" pitchFamily="34" charset="-122"/>
                <a:cs typeface="Arial" pitchFamily="34" charset="-120"/>
              </a:rPr>
              <a:t>When to call a professional, and how to be a great client.</a:t>
            </a:r>
            <a:endParaRPr lang="en-US" sz="2700" dirty="0"/>
          </a:p>
        </p:txBody>
      </p:sp>
      <p:sp>
        <p:nvSpPr>
          <p:cNvPr id="8" name="Shape 4"/>
          <p:cNvSpPr/>
          <p:nvPr/>
        </p:nvSpPr>
        <p:spPr>
          <a:xfrm>
            <a:off x="640080" y="1783080"/>
            <a:ext cx="5394960" cy="2743200"/>
          </a:xfrm>
          <a:prstGeom prst="rect">
            <a:avLst/>
          </a:prstGeom>
          <a:solidFill>
            <a:srgbClr val="F3F6FB"/>
          </a:solidFill>
          <a:ln w="9525">
            <a:solidFill>
              <a:srgbClr val="D9E0EA"/>
            </a:solidFill>
            <a:prstDash val="solid"/>
          </a:ln>
        </p:spPr>
      </p:sp>
      <p:sp>
        <p:nvSpPr>
          <p:cNvPr id="9" name="Shape 5"/>
          <p:cNvSpPr/>
          <p:nvPr/>
        </p:nvSpPr>
        <p:spPr>
          <a:xfrm>
            <a:off x="640080" y="1783080"/>
            <a:ext cx="54864" cy="2743200"/>
          </a:xfrm>
          <a:prstGeom prst="rect">
            <a:avLst/>
          </a:prstGeom>
          <a:solidFill>
            <a:srgbClr val="EF4444"/>
          </a:solidFill>
          <a:ln w="12700">
            <a:solidFill>
              <a:srgbClr val="EF4444"/>
            </a:solidFill>
            <a:prstDash val="solid"/>
          </a:ln>
        </p:spPr>
      </p:sp>
      <p:sp>
        <p:nvSpPr>
          <p:cNvPr id="10" name="Text 6"/>
          <p:cNvSpPr txBox="1"/>
          <p:nvPr/>
        </p:nvSpPr>
        <p:spPr>
          <a:xfrm>
            <a:off x="868680" y="1920240"/>
            <a:ext cx="4937760" cy="237744"/>
          </a:xfrm>
          <a:prstGeom prst="rect">
            <a:avLst/>
          </a:prstGeom>
          <a:noFill/>
          <a:ln/>
        </p:spPr>
        <p:txBody>
          <a:bodyPr wrap="square" lIns="0" tIns="0" rIns="0" bIns="0" rtlCol="0" anchor="ctr"/>
          <a:lstStyle/>
          <a:p>
            <a:pPr indent="0" marL="0">
              <a:buNone/>
            </a:pPr>
            <a:r>
              <a:rPr lang="en-US" sz="850" b="1" spc="150" kern="0" dirty="0">
                <a:solidFill>
                  <a:srgbClr val="EF8B39"/>
                </a:solidFill>
                <a:latin typeface="Courier New" pitchFamily="34" charset="0"/>
                <a:ea typeface="Courier New" pitchFamily="34" charset="-122"/>
                <a:cs typeface="Courier New" pitchFamily="34" charset="-120"/>
              </a:rPr>
              <a:t>CALL ONE WHEN</a:t>
            </a:r>
            <a:endParaRPr lang="en-US" sz="850" dirty="0"/>
          </a:p>
        </p:txBody>
      </p:sp>
      <p:sp>
        <p:nvSpPr>
          <p:cNvPr id="11" name="Text 7"/>
          <p:cNvSpPr txBox="1"/>
          <p:nvPr/>
        </p:nvSpPr>
        <p:spPr>
          <a:xfrm>
            <a:off x="868680" y="2240280"/>
            <a:ext cx="4937760" cy="2240280"/>
          </a:xfrm>
          <a:prstGeom prst="rect">
            <a:avLst/>
          </a:prstGeom>
          <a:noFill/>
          <a:ln/>
        </p:spPr>
        <p:txBody>
          <a:bodyPr wrap="square" lIns="0" tIns="0" rIns="0" bIns="0" rtlCol="0" anchor="t"/>
          <a:lstStyle/>
          <a:p>
            <a:pPr marL="177800" indent="-177800">
              <a:lnSpc>
                <a:spcPct val="115000"/>
              </a:lnSpc>
              <a:spcAft>
                <a:spcPts val="600"/>
              </a:spcAft>
              <a:buSzPct val="100000"/>
              <a:buChar char="•"/>
            </a:pPr>
            <a:r>
              <a:rPr lang="en-US" sz="1200" dirty="0">
                <a:solidFill>
                  <a:srgbClr val="0D1219"/>
                </a:solidFill>
                <a:latin typeface="Arial" pitchFamily="34" charset="0"/>
                <a:ea typeface="Arial" pitchFamily="34" charset="-122"/>
                <a:cs typeface="Arial" pitchFamily="34" charset="-120"/>
              </a:rPr>
              <a:t>You take card numbers or move money in your own code, instead of sending people to a hosted checkout</a:t>
            </a:r>
            <a:endParaRPr lang="en-US" sz="1200" dirty="0"/>
          </a:p>
          <a:p>
            <a:pPr marL="177800" indent="-177800">
              <a:lnSpc>
                <a:spcPct val="115000"/>
              </a:lnSpc>
              <a:spcAft>
                <a:spcPts val="600"/>
              </a:spcAft>
              <a:buSzPct val="100000"/>
              <a:buChar char="•"/>
            </a:pPr>
            <a:r>
              <a:rPr lang="en-US" sz="1200" dirty="0">
                <a:solidFill>
                  <a:srgbClr val="0D1219"/>
                </a:solidFill>
                <a:latin typeface="Arial" pitchFamily="34" charset="0"/>
                <a:ea typeface="Arial" pitchFamily="34" charset="-122"/>
                <a:cs typeface="Arial" pitchFamily="34" charset="-120"/>
              </a:rPr>
              <a:t>You hold health, children’s, or financial records</a:t>
            </a:r>
            <a:endParaRPr lang="en-US" sz="1200" dirty="0"/>
          </a:p>
          <a:p>
            <a:pPr marL="177800" indent="-177800">
              <a:lnSpc>
                <a:spcPct val="115000"/>
              </a:lnSpc>
              <a:spcAft>
                <a:spcPts val="600"/>
              </a:spcAft>
              <a:buSzPct val="100000"/>
              <a:buChar char="•"/>
            </a:pPr>
            <a:r>
              <a:rPr lang="en-US" sz="1200" dirty="0">
                <a:solidFill>
                  <a:srgbClr val="0D1219"/>
                </a:solidFill>
                <a:latin typeface="Arial" pitchFamily="34" charset="0"/>
                <a:ea typeface="Arial" pitchFamily="34" charset="-122"/>
                <a:cs typeface="Arial" pitchFamily="34" charset="-120"/>
              </a:rPr>
              <a:t>Strangers log in and must never see each other’s data</a:t>
            </a:r>
            <a:endParaRPr lang="en-US" sz="1200" dirty="0"/>
          </a:p>
          <a:p>
            <a:pPr marL="177800" indent="-177800">
              <a:lnSpc>
                <a:spcPct val="115000"/>
              </a:lnSpc>
              <a:spcAft>
                <a:spcPts val="600"/>
              </a:spcAft>
              <a:buSzPct val="100000"/>
              <a:buChar char="•"/>
            </a:pPr>
            <a:r>
              <a:rPr lang="en-US" sz="1200" dirty="0">
                <a:solidFill>
                  <a:srgbClr val="0D1219"/>
                </a:solidFill>
                <a:latin typeface="Arial" pitchFamily="34" charset="0"/>
                <a:ea typeface="Arial" pitchFamily="34" charset="-122"/>
                <a:cs typeface="Arial" pitchFamily="34" charset="-120"/>
              </a:rPr>
              <a:t>An hour of downtime costs more than a day of a developer</a:t>
            </a:r>
            <a:endParaRPr lang="en-US" sz="1200" dirty="0"/>
          </a:p>
        </p:txBody>
      </p:sp>
      <p:sp>
        <p:nvSpPr>
          <p:cNvPr id="12" name="Shape 8"/>
          <p:cNvSpPr/>
          <p:nvPr/>
        </p:nvSpPr>
        <p:spPr>
          <a:xfrm>
            <a:off x="6263640" y="1783080"/>
            <a:ext cx="5285232" cy="2743200"/>
          </a:xfrm>
          <a:prstGeom prst="rect">
            <a:avLst/>
          </a:prstGeom>
          <a:solidFill>
            <a:srgbClr val="F3F6FB"/>
          </a:solidFill>
          <a:ln w="9525">
            <a:solidFill>
              <a:srgbClr val="D9E0EA"/>
            </a:solidFill>
            <a:prstDash val="solid"/>
          </a:ln>
        </p:spPr>
      </p:sp>
      <p:sp>
        <p:nvSpPr>
          <p:cNvPr id="13" name="Shape 9"/>
          <p:cNvSpPr/>
          <p:nvPr/>
        </p:nvSpPr>
        <p:spPr>
          <a:xfrm>
            <a:off x="6263640" y="1783080"/>
            <a:ext cx="54864" cy="2743200"/>
          </a:xfrm>
          <a:prstGeom prst="rect">
            <a:avLst/>
          </a:prstGeom>
          <a:solidFill>
            <a:srgbClr val="22C55E"/>
          </a:solidFill>
          <a:ln w="12700">
            <a:solidFill>
              <a:srgbClr val="22C55E"/>
            </a:solidFill>
            <a:prstDash val="solid"/>
          </a:ln>
        </p:spPr>
      </p:sp>
      <p:sp>
        <p:nvSpPr>
          <p:cNvPr id="14" name="Text 10"/>
          <p:cNvSpPr txBox="1"/>
          <p:nvPr/>
        </p:nvSpPr>
        <p:spPr>
          <a:xfrm>
            <a:off x="6492240" y="1920240"/>
            <a:ext cx="4846320" cy="237744"/>
          </a:xfrm>
          <a:prstGeom prst="rect">
            <a:avLst/>
          </a:prstGeom>
          <a:noFill/>
          <a:ln/>
        </p:spPr>
        <p:txBody>
          <a:bodyPr wrap="square" lIns="0" tIns="0" rIns="0" bIns="0" rtlCol="0" anchor="ctr"/>
          <a:lstStyle/>
          <a:p>
            <a:pPr indent="0" marL="0">
              <a:buNone/>
            </a:pPr>
            <a:r>
              <a:rPr lang="en-US" sz="850" b="1" spc="150" kern="0" dirty="0">
                <a:solidFill>
                  <a:srgbClr val="EF8B39"/>
                </a:solidFill>
                <a:latin typeface="Courier New" pitchFamily="34" charset="0"/>
                <a:ea typeface="Courier New" pitchFamily="34" charset="-122"/>
                <a:cs typeface="Courier New" pitchFamily="34" charset="-120"/>
              </a:rPr>
              <a:t>WHAT YOU HAND THEM</a:t>
            </a:r>
            <a:endParaRPr lang="en-US" sz="850" dirty="0"/>
          </a:p>
        </p:txBody>
      </p:sp>
      <p:sp>
        <p:nvSpPr>
          <p:cNvPr id="15" name="Text 11"/>
          <p:cNvSpPr txBox="1"/>
          <p:nvPr/>
        </p:nvSpPr>
        <p:spPr>
          <a:xfrm>
            <a:off x="6492240" y="2240280"/>
            <a:ext cx="4846320" cy="2240280"/>
          </a:xfrm>
          <a:prstGeom prst="rect">
            <a:avLst/>
          </a:prstGeom>
          <a:noFill/>
          <a:ln/>
        </p:spPr>
        <p:txBody>
          <a:bodyPr wrap="square" lIns="0" tIns="0" rIns="0" bIns="0" rtlCol="0" anchor="t"/>
          <a:lstStyle/>
          <a:p>
            <a:pPr marL="177800" indent="-177800">
              <a:lnSpc>
                <a:spcPct val="115000"/>
              </a:lnSpc>
              <a:spcAft>
                <a:spcPts val="600"/>
              </a:spcAft>
              <a:buSzPct val="100000"/>
              <a:buChar char="•"/>
            </a:pPr>
            <a:r>
              <a:rPr lang="en-US" sz="1200" dirty="0">
                <a:solidFill>
                  <a:srgbClr val="0D1219"/>
                </a:solidFill>
                <a:latin typeface="Arial" pitchFamily="34" charset="0"/>
                <a:ea typeface="Arial" pitchFamily="34" charset="-122"/>
                <a:cs typeface="Arial" pitchFamily="34" charset="-120"/>
              </a:rPr>
              <a:t>The repo, as a collaborator. Never your password.</a:t>
            </a:r>
            <a:endParaRPr lang="en-US" sz="1200" dirty="0"/>
          </a:p>
          <a:p>
            <a:pPr marL="177800" indent="-177800">
              <a:lnSpc>
                <a:spcPct val="115000"/>
              </a:lnSpc>
              <a:spcAft>
                <a:spcPts val="600"/>
              </a:spcAft>
              <a:buSzPct val="100000"/>
              <a:buChar char="•"/>
            </a:pPr>
            <a:r>
              <a:rPr lang="en-US" sz="1200" dirty="0">
                <a:solidFill>
                  <a:srgbClr val="0D1219"/>
                </a:solidFill>
                <a:latin typeface="Arial" pitchFamily="34" charset="0"/>
                <a:ea typeface="Arial" pitchFamily="34" charset="-122"/>
                <a:cs typeface="Arial" pitchFamily="34" charset="-120"/>
              </a:rPr>
              <a:t>spec.md: what it does, and what must never happen</a:t>
            </a:r>
            <a:endParaRPr lang="en-US" sz="1200" dirty="0"/>
          </a:p>
          <a:p>
            <a:pPr marL="177800" indent="-177800">
              <a:lnSpc>
                <a:spcPct val="115000"/>
              </a:lnSpc>
              <a:spcAft>
                <a:spcPts val="600"/>
              </a:spcAft>
              <a:buSzPct val="100000"/>
              <a:buChar char="•"/>
            </a:pPr>
            <a:r>
              <a:rPr lang="en-US" sz="1200" dirty="0">
                <a:solidFill>
                  <a:srgbClr val="0D1219"/>
                </a:solidFill>
                <a:latin typeface="Arial" pitchFamily="34" charset="0"/>
                <a:ea typeface="Arial" pitchFamily="34" charset="-122"/>
                <a:cs typeface="Arial" pitchFamily="34" charset="-120"/>
              </a:rPr>
              <a:t>The test, and the list of bugs you have seen</a:t>
            </a:r>
            <a:endParaRPr lang="en-US" sz="1200" dirty="0"/>
          </a:p>
          <a:p>
            <a:pPr marL="177800" indent="-177800">
              <a:lnSpc>
                <a:spcPct val="115000"/>
              </a:lnSpc>
              <a:spcAft>
                <a:spcPts val="600"/>
              </a:spcAft>
              <a:buSzPct val="100000"/>
              <a:buChar char="•"/>
            </a:pPr>
            <a:r>
              <a:rPr lang="en-US" sz="1200" dirty="0">
                <a:solidFill>
                  <a:srgbClr val="0D1219"/>
                </a:solidFill>
                <a:latin typeface="Arial" pitchFamily="34" charset="0"/>
                <a:ea typeface="Arial" pitchFamily="34" charset="-122"/>
                <a:cs typeface="Arial" pitchFamily="34" charset="-120"/>
              </a:rPr>
              <a:t>One rule: work on a branch, open pull requests, leave every account in my name</a:t>
            </a:r>
            <a:endParaRPr lang="en-US" sz="1200" dirty="0"/>
          </a:p>
        </p:txBody>
      </p:sp>
      <p:sp>
        <p:nvSpPr>
          <p:cNvPr id="16" name="Shape 12"/>
          <p:cNvSpPr/>
          <p:nvPr/>
        </p:nvSpPr>
        <p:spPr>
          <a:xfrm>
            <a:off x="640080" y="4709160"/>
            <a:ext cx="10908792" cy="731520"/>
          </a:xfrm>
          <a:prstGeom prst="rect">
            <a:avLst/>
          </a:prstGeom>
          <a:solidFill>
            <a:srgbClr val="E8EEF7"/>
          </a:solidFill>
          <a:ln w="9525">
            <a:solidFill>
              <a:srgbClr val="D9E0EA"/>
            </a:solidFill>
            <a:prstDash val="solid"/>
          </a:ln>
        </p:spPr>
      </p:sp>
      <p:sp>
        <p:nvSpPr>
          <p:cNvPr id="17" name="Text 13"/>
          <p:cNvSpPr txBox="1"/>
          <p:nvPr/>
        </p:nvSpPr>
        <p:spPr>
          <a:xfrm>
            <a:off x="868680" y="4754880"/>
            <a:ext cx="10451592" cy="640080"/>
          </a:xfrm>
          <a:prstGeom prst="rect">
            <a:avLst/>
          </a:prstGeom>
          <a:noFill/>
          <a:ln/>
        </p:spPr>
        <p:txBody>
          <a:bodyPr wrap="square" lIns="0" tIns="0" rIns="0" bIns="0" rtlCol="0" anchor="ctr"/>
          <a:lstStyle/>
          <a:p>
            <a:pPr algn="l" indent="0" marL="0">
              <a:lnSpc>
                <a:spcPct val="115000"/>
              </a:lnSpc>
              <a:buNone/>
            </a:pPr>
            <a:r>
              <a:rPr lang="en-US" sz="1250" dirty="0">
                <a:solidFill>
                  <a:srgbClr val="0D1219"/>
                </a:solidFill>
                <a:latin typeface="Arial" pitchFamily="34" charset="0"/>
                <a:ea typeface="Arial" pitchFamily="34" charset="-122"/>
                <a:cs typeface="Arial" pitchFamily="34" charset="-120"/>
              </a:rPr>
              <a:t>You are handing over a repo with a spec, a test, and a history. A developer can quote against that.</a:t>
            </a:r>
            <a:endParaRPr lang="en-US" sz="1250" dirty="0"/>
          </a:p>
        </p:txBody>
      </p:sp>
      <p:sp>
        <p:nvSpPr>
          <p:cNvPr id="18" name="Shape 14"/>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19" name="Text 15"/>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0" name="Shape 16"/>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21" name="Text 17"/>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22" name="Shape 18"/>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23" name="Text 19"/>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24" name="Shape 20"/>
          <p:cNvSpPr/>
          <p:nvPr/>
        </p:nvSpPr>
        <p:spPr>
          <a:xfrm>
            <a:off x="6131052" y="6291072"/>
            <a:ext cx="896112" cy="274320"/>
          </a:xfrm>
          <a:prstGeom prst="roundRect">
            <a:avLst>
              <a:gd name="adj" fmla="val 20000"/>
            </a:avLst>
          </a:prstGeom>
          <a:solidFill>
            <a:srgbClr val="EF8B39"/>
          </a:solidFill>
          <a:ln w="6350">
            <a:solidFill>
              <a:srgbClr val="EF8B39"/>
            </a:solidFill>
            <a:prstDash val="solid"/>
          </a:ln>
        </p:spPr>
      </p:sp>
      <p:sp>
        <p:nvSpPr>
          <p:cNvPr id="25" name="Text 21"/>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REVIEW</a:t>
            </a:r>
            <a:endParaRPr lang="en-US" sz="800" dirty="0"/>
          </a:p>
        </p:txBody>
      </p:sp>
      <p:sp>
        <p:nvSpPr>
          <p:cNvPr id="26" name="Shape 22"/>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27" name="Text 23"/>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28" name="Shape 24"/>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29" name="Text 25"/>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44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11  ·  SKILLS  ·  20 MIN  ·  HANDS-ON</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5:10 – 5:30</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700" b="1" dirty="0">
                <a:solidFill>
                  <a:srgbClr val="0D1219"/>
                </a:solidFill>
                <a:latin typeface="Arial" pitchFamily="34" charset="0"/>
                <a:ea typeface="Arial" pitchFamily="34" charset="-122"/>
                <a:cs typeface="Arial" pitchFamily="34" charset="-120"/>
              </a:rPr>
              <a:t>A skill is a folder and one file. 46 tools read it.</a:t>
            </a:r>
            <a:endParaRPr lang="en-US" sz="2700" dirty="0"/>
          </a:p>
        </p:txBody>
      </p:sp>
      <p:sp>
        <p:nvSpPr>
          <p:cNvPr id="8" name="Shape 4"/>
          <p:cNvSpPr/>
          <p:nvPr/>
        </p:nvSpPr>
        <p:spPr>
          <a:xfrm>
            <a:off x="640080" y="1783080"/>
            <a:ext cx="5760720" cy="3383280"/>
          </a:xfrm>
          <a:prstGeom prst="rect">
            <a:avLst/>
          </a:prstGeom>
          <a:solidFill>
            <a:srgbClr val="121B2B"/>
          </a:solidFill>
          <a:ln w="12700">
            <a:solidFill>
              <a:srgbClr val="307FE2"/>
            </a:solidFill>
            <a:prstDash val="solid"/>
          </a:ln>
        </p:spPr>
      </p:sp>
      <p:sp>
        <p:nvSpPr>
          <p:cNvPr id="9" name="Text 5"/>
          <p:cNvSpPr/>
          <p:nvPr/>
        </p:nvSpPr>
        <p:spPr>
          <a:xfrm>
            <a:off x="822960" y="1892808"/>
            <a:ext cx="5394960" cy="228600"/>
          </a:xfrm>
          <a:prstGeom prst="rect">
            <a:avLst/>
          </a:prstGeom>
          <a:noFill/>
          <a:ln/>
        </p:spPr>
        <p:txBody>
          <a:bodyPr wrap="square" lIns="0" tIns="0" rIns="0" bIns="0" rtlCol="0" anchor="ctr"/>
          <a:lstStyle/>
          <a:p>
            <a:pPr indent="0" marL="0">
              <a:buNone/>
            </a:pPr>
            <a:r>
              <a:rPr lang="en-US" sz="800" b="1" spc="150" kern="0" dirty="0">
                <a:solidFill>
                  <a:srgbClr val="EF8B39"/>
                </a:solidFill>
                <a:latin typeface="Courier New" pitchFamily="34" charset="0"/>
                <a:ea typeface="Courier New" pitchFamily="34" charset="-122"/>
                <a:cs typeface="Courier New" pitchFamily="34" charset="-120"/>
              </a:rPr>
              <a:t>.claude/skills/my-deploy-checklist/SKILL.md</a:t>
            </a:r>
            <a:endParaRPr lang="en-US" sz="800" dirty="0"/>
          </a:p>
        </p:txBody>
      </p:sp>
      <p:sp>
        <p:nvSpPr>
          <p:cNvPr id="10" name="Text 6"/>
          <p:cNvSpPr txBox="1"/>
          <p:nvPr/>
        </p:nvSpPr>
        <p:spPr>
          <a:xfrm>
            <a:off x="822960" y="2167128"/>
            <a:ext cx="5394960" cy="2880360"/>
          </a:xfrm>
          <a:prstGeom prst="rect">
            <a:avLst/>
          </a:prstGeom>
          <a:noFill/>
          <a:ln/>
        </p:spPr>
        <p:txBody>
          <a:bodyPr wrap="square" lIns="0" tIns="0" rIns="0" bIns="0" rtlCol="0" anchor="t"/>
          <a:lstStyle/>
          <a:p>
            <a:pPr indent="0" marL="0">
              <a:lnSpc>
                <a:spcPct val="120000"/>
              </a:lnSpc>
              <a:buNone/>
            </a:pPr>
            <a:r>
              <a:rPr lang="en-US" sz="1050" dirty="0">
                <a:solidFill>
                  <a:srgbClr val="E6EBF2"/>
                </a:solidFill>
                <a:latin typeface="Courier New" pitchFamily="34" charset="0"/>
                <a:ea typeface="Courier New" pitchFamily="34" charset="-122"/>
                <a:cs typeface="Courier New" pitchFamily="34" charset="-120"/>
              </a:rPr>
              <a:t>---</a:t>
            </a:r>
            <a:endParaRPr lang="en-US" sz="1050" dirty="0"/>
          </a:p>
          <a:p>
            <a:pPr indent="0" marL="0">
              <a:lnSpc>
                <a:spcPct val="120000"/>
              </a:lnSpc>
              <a:buNone/>
            </a:pPr>
            <a:r>
              <a:rPr lang="en-US" sz="1050" dirty="0">
                <a:solidFill>
                  <a:srgbClr val="E6EBF2"/>
                </a:solidFill>
                <a:latin typeface="Courier New" pitchFamily="34" charset="0"/>
                <a:ea typeface="Courier New" pitchFamily="34" charset="-122"/>
                <a:cs typeface="Courier New" pitchFamily="34" charset="-120"/>
              </a:rPr>
              <a:t>name: my-deploy-checklist</a:t>
            </a:r>
            <a:endParaRPr lang="en-US" sz="1050" dirty="0"/>
          </a:p>
          <a:p>
            <a:pPr indent="0" marL="0">
              <a:lnSpc>
                <a:spcPct val="120000"/>
              </a:lnSpc>
              <a:buNone/>
            </a:pPr>
            <a:r>
              <a:rPr lang="en-US" sz="1050" dirty="0">
                <a:solidFill>
                  <a:srgbClr val="E6EBF2"/>
                </a:solidFill>
                <a:latin typeface="Courier New" pitchFamily="34" charset="0"/>
                <a:ea typeface="Courier New" pitchFamily="34" charset="-122"/>
                <a:cs typeface="Courier New" pitchFamily="34" charset="-120"/>
              </a:rPr>
              <a:t>description: Run before merging any pull request to main in this project.</a:t>
            </a:r>
            <a:endParaRPr lang="en-US" sz="1050" dirty="0"/>
          </a:p>
          <a:p>
            <a:pPr indent="0" marL="0">
              <a:lnSpc>
                <a:spcPct val="120000"/>
              </a:lnSpc>
              <a:buNone/>
            </a:pPr>
            <a:r>
              <a:rPr lang="en-US" sz="1050" dirty="0">
                <a:solidFill>
                  <a:srgbClr val="E6EBF2"/>
                </a:solidFill>
                <a:latin typeface="Courier New" pitchFamily="34" charset="0"/>
                <a:ea typeface="Courier New" pitchFamily="34" charset="-122"/>
                <a:cs typeface="Courier New" pitchFamily="34" charset="-120"/>
              </a:rPr>
              <a:t>---</a:t>
            </a:r>
            <a:endParaRPr lang="en-US" sz="1050" dirty="0"/>
          </a:p>
          <a:p>
            <a:pPr indent="0" marL="0">
              <a:lnSpc>
                <a:spcPct val="120000"/>
              </a:lnSpc>
              <a:buNone/>
            </a:pPr>
            <a:endParaRPr lang="en-US" sz="1050" dirty="0"/>
          </a:p>
          <a:p>
            <a:pPr indent="0" marL="0">
              <a:lnSpc>
                <a:spcPct val="120000"/>
              </a:lnSpc>
              <a:buNone/>
            </a:pPr>
            <a:r>
              <a:rPr lang="en-US" sz="1050" dirty="0">
                <a:solidFill>
                  <a:srgbClr val="E6EBF2"/>
                </a:solidFill>
                <a:latin typeface="Courier New" pitchFamily="34" charset="0"/>
                <a:ea typeface="Courier New" pitchFamily="34" charset="-122"/>
                <a:cs typeface="Courier New" pitchFamily="34" charset="-120"/>
              </a:rPr>
              <a:t>1. Run the Playwright test.</a:t>
            </a:r>
            <a:endParaRPr lang="en-US" sz="1050" dirty="0"/>
          </a:p>
          <a:p>
            <a:pPr indent="0" marL="0">
              <a:lnSpc>
                <a:spcPct val="120000"/>
              </a:lnSpc>
              <a:buNone/>
            </a:pPr>
            <a:r>
              <a:rPr lang="en-US" sz="1050" dirty="0">
                <a:solidFill>
                  <a:srgbClr val="E6EBF2"/>
                </a:solidFill>
                <a:latin typeface="Courier New" pitchFamily="34" charset="0"/>
                <a:ea typeface="Courier New" pitchFamily="34" charset="-122"/>
                <a:cs typeface="Courier New" pitchFamily="34" charset="-120"/>
              </a:rPr>
              <a:t>2. Search the project for keys outside environment variables.</a:t>
            </a:r>
            <a:endParaRPr lang="en-US" sz="1050" dirty="0"/>
          </a:p>
          <a:p>
            <a:pPr indent="0" marL="0">
              <a:lnSpc>
                <a:spcPct val="120000"/>
              </a:lnSpc>
              <a:buNone/>
            </a:pPr>
            <a:r>
              <a:rPr lang="en-US" sz="1050" dirty="0">
                <a:solidFill>
                  <a:srgbClr val="E6EBF2"/>
                </a:solidFill>
                <a:latin typeface="Courier New" pitchFamily="34" charset="0"/>
                <a:ea typeface="Courier New" pitchFamily="34" charset="-122"/>
                <a:cs typeface="Courier New" pitchFamily="34" charset="-120"/>
              </a:rPr>
              <a:t>3. Confirm .env.local is in .gitignore.</a:t>
            </a:r>
            <a:endParaRPr lang="en-US" sz="1050" dirty="0"/>
          </a:p>
          <a:p>
            <a:pPr indent="0" marL="0">
              <a:lnSpc>
                <a:spcPct val="120000"/>
              </a:lnSpc>
              <a:buNone/>
            </a:pPr>
            <a:r>
              <a:rPr lang="en-US" sz="1050" dirty="0">
                <a:solidFill>
                  <a:srgbClr val="E6EBF2"/>
                </a:solidFill>
                <a:latin typeface="Courier New" pitchFamily="34" charset="0"/>
                <a:ea typeface="Courier New" pitchFamily="34" charset="-122"/>
                <a:cs typeface="Courier New" pitchFamily="34" charset="-120"/>
              </a:rPr>
              <a:t>4. Open a PR and wait for the green check.</a:t>
            </a:r>
            <a:endParaRPr lang="en-US" sz="1050" dirty="0"/>
          </a:p>
          <a:p>
            <a:pPr indent="0" marL="0">
              <a:lnSpc>
                <a:spcPct val="120000"/>
              </a:lnSpc>
              <a:buNone/>
            </a:pPr>
            <a:r>
              <a:rPr lang="en-US" sz="1050" dirty="0">
                <a:solidFill>
                  <a:srgbClr val="E6EBF2"/>
                </a:solidFill>
                <a:latin typeface="Courier New" pitchFamily="34" charset="0"/>
                <a:ea typeface="Courier New" pitchFamily="34" charset="-122"/>
                <a:cs typeface="Courier New" pitchFamily="34" charset="-120"/>
              </a:rPr>
              <a:t>5. After merge, open the production URL and submit the form once.</a:t>
            </a:r>
            <a:endParaRPr lang="en-US" sz="1050" dirty="0"/>
          </a:p>
          <a:p>
            <a:pPr indent="0" marL="0">
              <a:lnSpc>
                <a:spcPct val="120000"/>
              </a:lnSpc>
              <a:buNone/>
            </a:pPr>
            <a:r>
              <a:rPr lang="en-US" sz="1050" dirty="0">
                <a:solidFill>
                  <a:srgbClr val="E6EBF2"/>
                </a:solidFill>
                <a:latin typeface="Courier New" pitchFamily="34" charset="0"/>
                <a:ea typeface="Courier New" pitchFamily="34" charset="-122"/>
                <a:cs typeface="Courier New" pitchFamily="34" charset="-120"/>
              </a:rPr>
              <a:t>6. If anything is broken: Instant Rollback in Vercel, then Undo Rollback after the fix.</a:t>
            </a:r>
            <a:endParaRPr lang="en-US" sz="1050" dirty="0"/>
          </a:p>
        </p:txBody>
      </p:sp>
      <p:sp>
        <p:nvSpPr>
          <p:cNvPr id="11" name="Shape 7"/>
          <p:cNvSpPr/>
          <p:nvPr/>
        </p:nvSpPr>
        <p:spPr>
          <a:xfrm>
            <a:off x="6629400" y="1783080"/>
            <a:ext cx="4919472" cy="3383280"/>
          </a:xfrm>
          <a:prstGeom prst="rect">
            <a:avLst/>
          </a:prstGeom>
          <a:solidFill>
            <a:srgbClr val="E8EEF7"/>
          </a:solidFill>
          <a:ln w="9525">
            <a:solidFill>
              <a:srgbClr val="D9E0EA"/>
            </a:solidFill>
            <a:prstDash val="solid"/>
          </a:ln>
        </p:spPr>
      </p:sp>
      <p:sp>
        <p:nvSpPr>
          <p:cNvPr id="12" name="Shape 8"/>
          <p:cNvSpPr/>
          <p:nvPr/>
        </p:nvSpPr>
        <p:spPr>
          <a:xfrm>
            <a:off x="6629400" y="1783080"/>
            <a:ext cx="54864" cy="3383280"/>
          </a:xfrm>
          <a:prstGeom prst="rect">
            <a:avLst/>
          </a:prstGeom>
          <a:solidFill>
            <a:srgbClr val="EF8B39"/>
          </a:solidFill>
          <a:ln w="12700">
            <a:solidFill>
              <a:srgbClr val="EF8B39"/>
            </a:solidFill>
            <a:prstDash val="solid"/>
          </a:ln>
        </p:spPr>
      </p:sp>
      <p:sp>
        <p:nvSpPr>
          <p:cNvPr id="13" name="Text 9"/>
          <p:cNvSpPr txBox="1"/>
          <p:nvPr/>
        </p:nvSpPr>
        <p:spPr>
          <a:xfrm>
            <a:off x="6858000" y="1920240"/>
            <a:ext cx="4389120" cy="237744"/>
          </a:xfrm>
          <a:prstGeom prst="rect">
            <a:avLst/>
          </a:prstGeom>
          <a:noFill/>
          <a:ln/>
        </p:spPr>
        <p:txBody>
          <a:bodyPr wrap="square" lIns="0" tIns="0" rIns="0" bIns="0" rtlCol="0" anchor="ctr"/>
          <a:lstStyle/>
          <a:p>
            <a:pPr indent="0" marL="0">
              <a:buNone/>
            </a:pPr>
            <a:r>
              <a:rPr lang="en-US" sz="850" b="1" spc="150" kern="0" dirty="0">
                <a:solidFill>
                  <a:srgbClr val="EF8B39"/>
                </a:solidFill>
                <a:latin typeface="Courier New" pitchFamily="34" charset="0"/>
                <a:ea typeface="Courier New" pitchFamily="34" charset="-122"/>
                <a:cs typeface="Courier New" pitchFamily="34" charset="-120"/>
              </a:rPr>
              <a:t>THE WHOLE FORMAT</a:t>
            </a:r>
            <a:endParaRPr lang="en-US" sz="850" dirty="0"/>
          </a:p>
        </p:txBody>
      </p:sp>
      <p:sp>
        <p:nvSpPr>
          <p:cNvPr id="14" name="Text 10"/>
          <p:cNvSpPr txBox="1"/>
          <p:nvPr/>
        </p:nvSpPr>
        <p:spPr>
          <a:xfrm>
            <a:off x="6858000" y="2240280"/>
            <a:ext cx="4480560" cy="2834640"/>
          </a:xfrm>
          <a:prstGeom prst="rect">
            <a:avLst/>
          </a:prstGeom>
          <a:noFill/>
          <a:ln/>
        </p:spPr>
        <p:txBody>
          <a:bodyPr wrap="square" lIns="0" tIns="0" rIns="0" bIns="0" rtlCol="0" anchor="t"/>
          <a:lstStyle/>
          <a:p>
            <a:pPr marL="177800" indent="-177800">
              <a:lnSpc>
                <a:spcPct val="115000"/>
              </a:lnSpc>
              <a:spcAft>
                <a:spcPts val="600"/>
              </a:spcAft>
              <a:buSzPct val="100000"/>
              <a:buChar char="•"/>
            </a:pPr>
            <a:r>
              <a:rPr lang="en-US" sz="1150" dirty="0">
                <a:solidFill>
                  <a:srgbClr val="5B6675"/>
                </a:solidFill>
                <a:latin typeface="Arial" pitchFamily="34" charset="0"/>
                <a:ea typeface="Arial" pitchFamily="34" charset="-122"/>
                <a:cs typeface="Arial" pitchFamily="34" charset="-120"/>
              </a:rPr>
              <a:t>Front matter: name and description. That is all it needs.</a:t>
            </a:r>
            <a:endParaRPr lang="en-US" sz="1150" dirty="0"/>
          </a:p>
          <a:p>
            <a:pPr marL="177800" indent="-177800">
              <a:lnSpc>
                <a:spcPct val="115000"/>
              </a:lnSpc>
              <a:spcAft>
                <a:spcPts val="600"/>
              </a:spcAft>
              <a:buSzPct val="100000"/>
              <a:buChar char="•"/>
            </a:pPr>
            <a:r>
              <a:rPr lang="en-US" sz="1150" dirty="0">
                <a:solidFill>
                  <a:srgbClr val="5B6675"/>
                </a:solidFill>
                <a:latin typeface="Arial" pitchFamily="34" charset="0"/>
                <a:ea typeface="Arial" pitchFamily="34" charset="-122"/>
                <a:cs typeface="Arial" pitchFamily="34" charset="-120"/>
              </a:rPr>
              <a:t>Body: plain English, numbered steps, under 500 lines.</a:t>
            </a:r>
            <a:endParaRPr lang="en-US" sz="1150" dirty="0"/>
          </a:p>
          <a:p>
            <a:pPr marL="177800" indent="-177800">
              <a:lnSpc>
                <a:spcPct val="115000"/>
              </a:lnSpc>
              <a:spcAft>
                <a:spcPts val="600"/>
              </a:spcAft>
              <a:buSzPct val="100000"/>
              <a:buChar char="•"/>
            </a:pPr>
            <a:r>
              <a:rPr lang="en-US" sz="1150" dirty="0">
                <a:solidFill>
                  <a:srgbClr val="5B6675"/>
                </a:solidFill>
                <a:latin typeface="Arial" pitchFamily="34" charset="0"/>
                <a:ea typeface="Arial" pitchFamily="34" charset="-122"/>
                <a:cs typeface="Arial" pitchFamily="34" charset="-120"/>
              </a:rPr>
              <a:t>Description under 200 characters, so the same folder also uploads to the Claude app and Cowork.</a:t>
            </a:r>
            <a:endParaRPr lang="en-US" sz="1150" dirty="0"/>
          </a:p>
          <a:p>
            <a:pPr marL="177800" indent="-177800">
              <a:lnSpc>
                <a:spcPct val="115000"/>
              </a:lnSpc>
              <a:spcAft>
                <a:spcPts val="600"/>
              </a:spcAft>
              <a:buSzPct val="100000"/>
              <a:buChar char="•"/>
            </a:pPr>
            <a:r>
              <a:rPr lang="en-US" sz="1150" dirty="0">
                <a:solidFill>
                  <a:srgbClr val="5B6675"/>
                </a:solidFill>
                <a:latin typeface="Arial" pitchFamily="34" charset="0"/>
                <a:ea typeface="Arial" pitchFamily="34" charset="-122"/>
                <a:cs typeface="Arial" pitchFamily="34" charset="-120"/>
              </a:rPr>
              <a:t>Read by Claude Code, ChatGPT &amp; Codex, Cursor, Copilot, VS Code, Gemini CLI: 46 products on agentskills.io, Sept 2026.</a:t>
            </a:r>
            <a:endParaRPr lang="en-US" sz="1150" dirty="0"/>
          </a:p>
        </p:txBody>
      </p:sp>
      <p:sp>
        <p:nvSpPr>
          <p:cNvPr id="15" name="Shape 11"/>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16" name="Text 12"/>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17" name="Shape 13"/>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18" name="Text 14"/>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19" name="Shape 15"/>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20" name="Text 16"/>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21" name="Shape 17"/>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22" name="Text 18"/>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23" name="Shape 19"/>
          <p:cNvSpPr/>
          <p:nvPr/>
        </p:nvSpPr>
        <p:spPr>
          <a:xfrm>
            <a:off x="7100316" y="6291072"/>
            <a:ext cx="896112" cy="274320"/>
          </a:xfrm>
          <a:prstGeom prst="roundRect">
            <a:avLst>
              <a:gd name="adj" fmla="val 20000"/>
            </a:avLst>
          </a:prstGeom>
          <a:solidFill>
            <a:srgbClr val="EF8B39"/>
          </a:solidFill>
          <a:ln w="6350">
            <a:solidFill>
              <a:srgbClr val="EF8B39"/>
            </a:solidFill>
            <a:prstDash val="solid"/>
          </a:ln>
        </p:spPr>
      </p:sp>
      <p:sp>
        <p:nvSpPr>
          <p:cNvPr id="24" name="Text 20"/>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SHIP</a:t>
            </a:r>
            <a:endParaRPr lang="en-US" sz="800" dirty="0"/>
          </a:p>
        </p:txBody>
      </p:sp>
      <p:sp>
        <p:nvSpPr>
          <p:cNvPr id="25" name="Shape 21"/>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26" name="Text 22"/>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45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11  ·  SKILLS  ·  20 MIN  ·  HANDS-ON</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5:10 – 5:30</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3000" b="1" dirty="0">
                <a:solidFill>
                  <a:srgbClr val="0D1219"/>
                </a:solidFill>
                <a:latin typeface="Arial" pitchFamily="34" charset="0"/>
                <a:ea typeface="Arial" pitchFamily="34" charset="-122"/>
                <a:cs typeface="Arial" pitchFamily="34" charset="-120"/>
              </a:rPr>
              <a:t>CLAUDE.md is always on. A skill is on demand.</a:t>
            </a:r>
            <a:endParaRPr lang="en-US" sz="3000" dirty="0"/>
          </a:p>
        </p:txBody>
      </p:sp>
      <p:sp>
        <p:nvSpPr>
          <p:cNvPr id="8" name="Shape 4"/>
          <p:cNvSpPr/>
          <p:nvPr/>
        </p:nvSpPr>
        <p:spPr>
          <a:xfrm>
            <a:off x="640080" y="1783080"/>
            <a:ext cx="5394960" cy="2834640"/>
          </a:xfrm>
          <a:prstGeom prst="rect">
            <a:avLst/>
          </a:prstGeom>
          <a:solidFill>
            <a:srgbClr val="F3F6FB"/>
          </a:solidFill>
          <a:ln w="9525">
            <a:solidFill>
              <a:srgbClr val="D9E0EA"/>
            </a:solidFill>
            <a:prstDash val="solid"/>
          </a:ln>
        </p:spPr>
      </p:sp>
      <p:sp>
        <p:nvSpPr>
          <p:cNvPr id="9" name="Shape 5"/>
          <p:cNvSpPr/>
          <p:nvPr/>
        </p:nvSpPr>
        <p:spPr>
          <a:xfrm>
            <a:off x="640080" y="1783080"/>
            <a:ext cx="54864" cy="2834640"/>
          </a:xfrm>
          <a:prstGeom prst="rect">
            <a:avLst/>
          </a:prstGeom>
          <a:solidFill>
            <a:srgbClr val="307FE2"/>
          </a:solidFill>
          <a:ln w="12700">
            <a:solidFill>
              <a:srgbClr val="307FE2"/>
            </a:solidFill>
            <a:prstDash val="solid"/>
          </a:ln>
        </p:spPr>
      </p:sp>
      <p:sp>
        <p:nvSpPr>
          <p:cNvPr id="10" name="Text 6"/>
          <p:cNvSpPr txBox="1"/>
          <p:nvPr/>
        </p:nvSpPr>
        <p:spPr>
          <a:xfrm>
            <a:off x="868680" y="1965960"/>
            <a:ext cx="4937760" cy="365760"/>
          </a:xfrm>
          <a:prstGeom prst="rect">
            <a:avLst/>
          </a:prstGeom>
          <a:noFill/>
          <a:ln/>
        </p:spPr>
        <p:txBody>
          <a:bodyPr wrap="square" lIns="0" tIns="0" rIns="0" bIns="0" rtlCol="0" anchor="t"/>
          <a:lstStyle/>
          <a:p>
            <a:pPr indent="0" marL="0">
              <a:buNone/>
            </a:pPr>
            <a:r>
              <a:rPr lang="en-US" sz="1700" b="1" dirty="0">
                <a:solidFill>
                  <a:srgbClr val="0D1219"/>
                </a:solidFill>
                <a:latin typeface="Arial" pitchFamily="34" charset="0"/>
                <a:ea typeface="Arial" pitchFamily="34" charset="-122"/>
                <a:cs typeface="Arial" pitchFamily="34" charset="-120"/>
              </a:rPr>
              <a:t>CLAUDE.md / AGENTS.md</a:t>
            </a:r>
            <a:endParaRPr lang="en-US" sz="1700" dirty="0"/>
          </a:p>
        </p:txBody>
      </p:sp>
      <p:sp>
        <p:nvSpPr>
          <p:cNvPr id="11" name="Text 7"/>
          <p:cNvSpPr txBox="1"/>
          <p:nvPr/>
        </p:nvSpPr>
        <p:spPr>
          <a:xfrm>
            <a:off x="868680" y="2377440"/>
            <a:ext cx="4937760" cy="457200"/>
          </a:xfrm>
          <a:prstGeom prst="rect">
            <a:avLst/>
          </a:prstGeom>
          <a:noFill/>
          <a:ln/>
        </p:spPr>
        <p:txBody>
          <a:bodyPr wrap="square" lIns="0" tIns="0" rIns="0" bIns="0" rtlCol="0" anchor="t"/>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What it must know every single time. Short. Advisory.</a:t>
            </a:r>
            <a:endParaRPr lang="en-US" sz="1200" dirty="0"/>
          </a:p>
        </p:txBody>
      </p:sp>
      <p:sp>
        <p:nvSpPr>
          <p:cNvPr id="12" name="Shape 8"/>
          <p:cNvSpPr/>
          <p:nvPr/>
        </p:nvSpPr>
        <p:spPr>
          <a:xfrm>
            <a:off x="868680" y="2880360"/>
            <a:ext cx="4937760" cy="1600200"/>
          </a:xfrm>
          <a:prstGeom prst="rect">
            <a:avLst/>
          </a:prstGeom>
          <a:solidFill>
            <a:srgbClr val="121B2B"/>
          </a:solidFill>
          <a:ln w="12700">
            <a:solidFill>
              <a:srgbClr val="307FE2"/>
            </a:solidFill>
            <a:prstDash val="solid"/>
          </a:ln>
        </p:spPr>
      </p:sp>
      <p:sp>
        <p:nvSpPr>
          <p:cNvPr id="13" name="Text 9"/>
          <p:cNvSpPr/>
          <p:nvPr/>
        </p:nvSpPr>
        <p:spPr>
          <a:xfrm>
            <a:off x="1051560" y="2990088"/>
            <a:ext cx="4572000" cy="228600"/>
          </a:xfrm>
          <a:prstGeom prst="rect">
            <a:avLst/>
          </a:prstGeom>
          <a:noFill/>
          <a:ln/>
        </p:spPr>
        <p:txBody>
          <a:bodyPr wrap="square" lIns="0" tIns="0" rIns="0" bIns="0" rtlCol="0" anchor="ctr"/>
          <a:lstStyle/>
          <a:p>
            <a:pPr indent="0" marL="0">
              <a:buNone/>
            </a:pPr>
            <a:r>
              <a:rPr lang="en-US" sz="800" b="1" spc="150" kern="0" dirty="0">
                <a:solidFill>
                  <a:srgbClr val="EF8B39"/>
                </a:solidFill>
                <a:latin typeface="Courier New" pitchFamily="34" charset="0"/>
                <a:ea typeface="Courier New" pitchFamily="34" charset="-122"/>
                <a:cs typeface="Courier New" pitchFamily="34" charset="-120"/>
              </a:rPr>
              <a:t>CLAUDE.md, in full</a:t>
            </a:r>
            <a:endParaRPr lang="en-US" sz="800" dirty="0"/>
          </a:p>
        </p:txBody>
      </p:sp>
      <p:sp>
        <p:nvSpPr>
          <p:cNvPr id="14" name="Text 10"/>
          <p:cNvSpPr txBox="1"/>
          <p:nvPr/>
        </p:nvSpPr>
        <p:spPr>
          <a:xfrm>
            <a:off x="1051560" y="3264408"/>
            <a:ext cx="4572000" cy="1097280"/>
          </a:xfrm>
          <a:prstGeom prst="rect">
            <a:avLst/>
          </a:prstGeom>
          <a:noFill/>
          <a:ln/>
        </p:spPr>
        <p:txBody>
          <a:bodyPr wrap="square" lIns="0" tIns="0" rIns="0" bIns="0" rtlCol="0" anchor="t"/>
          <a:lstStyle/>
          <a:p>
            <a:pPr indent="0" marL="0">
              <a:lnSpc>
                <a:spcPct val="120000"/>
              </a:lnSpc>
              <a:buNone/>
            </a:pPr>
            <a:r>
              <a:rPr lang="en-US" sz="1000" dirty="0">
                <a:solidFill>
                  <a:srgbClr val="E6EBF2"/>
                </a:solidFill>
                <a:latin typeface="Courier New" pitchFamily="34" charset="0"/>
                <a:ea typeface="Courier New" pitchFamily="34" charset="-122"/>
                <a:cs typeface="Courier New" pitchFamily="34" charset="-120"/>
              </a:rPr>
              <a:t>Always follow spec.md.</a:t>
            </a:r>
            <a:endParaRPr lang="en-US" sz="1000" dirty="0"/>
          </a:p>
          <a:p>
            <a:pPr indent="0" marL="0">
              <a:lnSpc>
                <a:spcPct val="120000"/>
              </a:lnSpc>
              <a:buNone/>
            </a:pPr>
            <a:r>
              <a:rPr lang="en-US" sz="1000" dirty="0">
                <a:solidFill>
                  <a:srgbClr val="E6EBF2"/>
                </a:solidFill>
                <a:latin typeface="Courier New" pitchFamily="34" charset="0"/>
                <a:ea typeface="Courier New" pitchFamily="34" charset="-122"/>
                <a:cs typeface="Courier New" pitchFamily="34" charset="-120"/>
              </a:rPr>
              <a:t>Never commit .env files.</a:t>
            </a:r>
            <a:endParaRPr lang="en-US" sz="1000" dirty="0"/>
          </a:p>
          <a:p>
            <a:pPr indent="0" marL="0">
              <a:lnSpc>
                <a:spcPct val="120000"/>
              </a:lnSpc>
              <a:buNone/>
            </a:pPr>
            <a:r>
              <a:rPr lang="en-US" sz="1000" dirty="0">
                <a:solidFill>
                  <a:srgbClr val="E6EBF2"/>
                </a:solidFill>
                <a:latin typeface="Courier New" pitchFamily="34" charset="0"/>
                <a:ea typeface="Courier New" pitchFamily="34" charset="-122"/>
                <a:cs typeface="Courier New" pitchFamily="34" charset="-120"/>
              </a:rPr>
              <a:t>Build on a branch and open a PR; never push to main.</a:t>
            </a:r>
            <a:endParaRPr lang="en-US" sz="1000" dirty="0"/>
          </a:p>
          <a:p>
            <a:pPr indent="0" marL="0">
              <a:lnSpc>
                <a:spcPct val="120000"/>
              </a:lnSpc>
              <a:buNone/>
            </a:pPr>
            <a:r>
              <a:rPr lang="en-US" sz="1000" dirty="0">
                <a:solidFill>
                  <a:srgbClr val="E6EBF2"/>
                </a:solidFill>
                <a:latin typeface="Courier New" pitchFamily="34" charset="0"/>
                <a:ea typeface="Courier New" pitchFamily="34" charset="-122"/>
                <a:cs typeface="Courier New" pitchFamily="34" charset="-120"/>
              </a:rPr>
              <a:t>Ask for a plan before changing more than one file.</a:t>
            </a:r>
            <a:endParaRPr lang="en-US" sz="1000" dirty="0"/>
          </a:p>
        </p:txBody>
      </p:sp>
      <p:sp>
        <p:nvSpPr>
          <p:cNvPr id="15" name="Shape 11"/>
          <p:cNvSpPr/>
          <p:nvPr/>
        </p:nvSpPr>
        <p:spPr>
          <a:xfrm>
            <a:off x="6263640" y="1783080"/>
            <a:ext cx="5285232" cy="2834640"/>
          </a:xfrm>
          <a:prstGeom prst="rect">
            <a:avLst/>
          </a:prstGeom>
          <a:solidFill>
            <a:srgbClr val="F3F6FB"/>
          </a:solidFill>
          <a:ln w="9525">
            <a:solidFill>
              <a:srgbClr val="D9E0EA"/>
            </a:solidFill>
            <a:prstDash val="solid"/>
          </a:ln>
        </p:spPr>
      </p:sp>
      <p:sp>
        <p:nvSpPr>
          <p:cNvPr id="16" name="Shape 12"/>
          <p:cNvSpPr/>
          <p:nvPr/>
        </p:nvSpPr>
        <p:spPr>
          <a:xfrm>
            <a:off x="6263640" y="1783080"/>
            <a:ext cx="54864" cy="2834640"/>
          </a:xfrm>
          <a:prstGeom prst="rect">
            <a:avLst/>
          </a:prstGeom>
          <a:solidFill>
            <a:srgbClr val="EF8B39"/>
          </a:solidFill>
          <a:ln w="12700">
            <a:solidFill>
              <a:srgbClr val="EF8B39"/>
            </a:solidFill>
            <a:prstDash val="solid"/>
          </a:ln>
        </p:spPr>
      </p:sp>
      <p:sp>
        <p:nvSpPr>
          <p:cNvPr id="17" name="Text 13"/>
          <p:cNvSpPr txBox="1"/>
          <p:nvPr/>
        </p:nvSpPr>
        <p:spPr>
          <a:xfrm>
            <a:off x="6492240" y="1965960"/>
            <a:ext cx="4846320" cy="365760"/>
          </a:xfrm>
          <a:prstGeom prst="rect">
            <a:avLst/>
          </a:prstGeom>
          <a:noFill/>
          <a:ln/>
        </p:spPr>
        <p:txBody>
          <a:bodyPr wrap="square" lIns="0" tIns="0" rIns="0" bIns="0" rtlCol="0" anchor="t"/>
          <a:lstStyle/>
          <a:p>
            <a:pPr indent="0" marL="0">
              <a:buNone/>
            </a:pPr>
            <a:r>
              <a:rPr lang="en-US" sz="1700" b="1" dirty="0">
                <a:solidFill>
                  <a:srgbClr val="0D1219"/>
                </a:solidFill>
                <a:latin typeface="Arial" pitchFamily="34" charset="0"/>
                <a:ea typeface="Arial" pitchFamily="34" charset="-122"/>
                <a:cs typeface="Arial" pitchFamily="34" charset="-120"/>
              </a:rPr>
              <a:t>Skills</a:t>
            </a:r>
            <a:endParaRPr lang="en-US" sz="1700" dirty="0"/>
          </a:p>
        </p:txBody>
      </p:sp>
      <p:sp>
        <p:nvSpPr>
          <p:cNvPr id="18" name="Text 14"/>
          <p:cNvSpPr txBox="1"/>
          <p:nvPr/>
        </p:nvSpPr>
        <p:spPr>
          <a:xfrm>
            <a:off x="6492240" y="2377440"/>
            <a:ext cx="4846320" cy="822960"/>
          </a:xfrm>
          <a:prstGeom prst="rect">
            <a:avLst/>
          </a:prstGeom>
          <a:noFill/>
          <a:ln/>
        </p:spPr>
        <p:txBody>
          <a:bodyPr wrap="square" lIns="0" tIns="0" rIns="0" bIns="0" rtlCol="0" anchor="t"/>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Multi-step routines it runs when asked, or when the description matches. Deploy checklist. Brand voice. Test before merge.</a:t>
            </a:r>
            <a:endParaRPr lang="en-US" sz="1200" dirty="0"/>
          </a:p>
        </p:txBody>
      </p:sp>
      <p:sp>
        <p:nvSpPr>
          <p:cNvPr id="19" name="Text 15"/>
          <p:cNvSpPr txBox="1"/>
          <p:nvPr/>
        </p:nvSpPr>
        <p:spPr>
          <a:xfrm>
            <a:off x="6492240" y="3063240"/>
            <a:ext cx="2194560" cy="777240"/>
          </a:xfrm>
          <a:prstGeom prst="rect">
            <a:avLst/>
          </a:prstGeom>
          <a:noFill/>
          <a:ln/>
        </p:spPr>
        <p:txBody>
          <a:bodyPr wrap="square" lIns="0" tIns="0" rIns="0" bIns="0" rtlCol="0" anchor="ctr"/>
          <a:lstStyle/>
          <a:p>
            <a:pPr indent="0" marL="0">
              <a:buNone/>
            </a:pPr>
            <a:r>
              <a:rPr lang="en-US" sz="2600" b="1" dirty="0">
                <a:solidFill>
                  <a:srgbClr val="307FE2"/>
                </a:solidFill>
                <a:latin typeface="Arial" pitchFamily="34" charset="0"/>
                <a:ea typeface="Arial" pitchFamily="34" charset="-122"/>
                <a:cs typeface="Arial" pitchFamily="34" charset="-120"/>
              </a:rPr>
              <a:t>100%</a:t>
            </a:r>
            <a:endParaRPr lang="en-US" sz="2600" dirty="0"/>
          </a:p>
        </p:txBody>
      </p:sp>
      <p:sp>
        <p:nvSpPr>
          <p:cNvPr id="20" name="Text 16"/>
          <p:cNvSpPr txBox="1"/>
          <p:nvPr/>
        </p:nvSpPr>
        <p:spPr>
          <a:xfrm>
            <a:off x="6492240" y="3867912"/>
            <a:ext cx="2194560" cy="640080"/>
          </a:xfrm>
          <a:prstGeom prst="rect">
            <a:avLst/>
          </a:prstGeom>
          <a:noFill/>
          <a:ln/>
        </p:spPr>
        <p:txBody>
          <a:bodyPr wrap="square" lIns="0" tIns="0" rIns="0" bIns="0" rtlCol="0" anchor="t"/>
          <a:lstStyle/>
          <a:p>
            <a:pPr indent="0" marL="0">
              <a:lnSpc>
                <a:spcPct val="115000"/>
              </a:lnSpc>
              <a:buNone/>
            </a:pPr>
            <a:r>
              <a:rPr lang="en-US" sz="950" dirty="0">
                <a:solidFill>
                  <a:srgbClr val="5B6675"/>
                </a:solidFill>
                <a:latin typeface="Arial" pitchFamily="34" charset="0"/>
                <a:ea typeface="Arial" pitchFamily="34" charset="-122"/>
                <a:cs typeface="Arial" pitchFamily="34" charset="-120"/>
              </a:rPr>
              <a:t>always-on file</a:t>
            </a:r>
            <a:endParaRPr lang="en-US" sz="950" dirty="0"/>
          </a:p>
        </p:txBody>
      </p:sp>
      <p:sp>
        <p:nvSpPr>
          <p:cNvPr id="21" name="Text 17"/>
          <p:cNvSpPr txBox="1"/>
          <p:nvPr/>
        </p:nvSpPr>
        <p:spPr>
          <a:xfrm>
            <a:off x="8595360" y="3063240"/>
            <a:ext cx="2743200" cy="777240"/>
          </a:xfrm>
          <a:prstGeom prst="rect">
            <a:avLst/>
          </a:prstGeom>
          <a:noFill/>
          <a:ln/>
        </p:spPr>
        <p:txBody>
          <a:bodyPr wrap="square" lIns="0" tIns="0" rIns="0" bIns="0" rtlCol="0" anchor="ctr"/>
          <a:lstStyle/>
          <a:p>
            <a:pPr indent="0" marL="0">
              <a:buNone/>
            </a:pPr>
            <a:r>
              <a:rPr lang="en-US" sz="2600" b="1" dirty="0">
                <a:solidFill>
                  <a:srgbClr val="307FE2"/>
                </a:solidFill>
                <a:latin typeface="Arial" pitchFamily="34" charset="0"/>
                <a:ea typeface="Arial" pitchFamily="34" charset="-122"/>
                <a:cs typeface="Arial" pitchFamily="34" charset="-120"/>
              </a:rPr>
              <a:t>79%</a:t>
            </a:r>
            <a:endParaRPr lang="en-US" sz="2600" dirty="0"/>
          </a:p>
        </p:txBody>
      </p:sp>
      <p:sp>
        <p:nvSpPr>
          <p:cNvPr id="22" name="Text 18"/>
          <p:cNvSpPr txBox="1"/>
          <p:nvPr/>
        </p:nvSpPr>
        <p:spPr>
          <a:xfrm>
            <a:off x="8595360" y="3867912"/>
            <a:ext cx="2743200" cy="640080"/>
          </a:xfrm>
          <a:prstGeom prst="rect">
            <a:avLst/>
          </a:prstGeom>
          <a:noFill/>
          <a:ln/>
        </p:spPr>
        <p:txBody>
          <a:bodyPr wrap="square" lIns="0" tIns="0" rIns="0" bIns="0" rtlCol="0" anchor="t"/>
          <a:lstStyle/>
          <a:p>
            <a:pPr indent="0" marL="0">
              <a:lnSpc>
                <a:spcPct val="115000"/>
              </a:lnSpc>
              <a:buNone/>
            </a:pPr>
            <a:r>
              <a:rPr lang="en-US" sz="950" dirty="0">
                <a:solidFill>
                  <a:srgbClr val="5B6675"/>
                </a:solidFill>
                <a:latin typeface="Arial" pitchFamily="34" charset="0"/>
                <a:ea typeface="Arial" pitchFamily="34" charset="-122"/>
                <a:cs typeface="Arial" pitchFamily="34" charset="-120"/>
              </a:rPr>
              <a:t>skill, even with “use the skill”</a:t>
            </a:r>
            <a:endParaRPr lang="en-US" sz="950" dirty="0"/>
          </a:p>
        </p:txBody>
      </p:sp>
      <p:sp>
        <p:nvSpPr>
          <p:cNvPr id="23" name="Text 19"/>
          <p:cNvSpPr txBox="1"/>
          <p:nvPr/>
        </p:nvSpPr>
        <p:spPr>
          <a:xfrm>
            <a:off x="640080" y="4800600"/>
            <a:ext cx="10908792" cy="457200"/>
          </a:xfrm>
          <a:prstGeom prst="rect">
            <a:avLst/>
          </a:prstGeom>
          <a:noFill/>
          <a:ln/>
        </p:spPr>
        <p:txBody>
          <a:bodyPr wrap="square" lIns="0" tIns="0" rIns="0" bIns="0" rtlCol="0" anchor="t"/>
          <a:lstStyle/>
          <a:p>
            <a:pPr algn="l" indent="0" marL="0">
              <a:lnSpc>
                <a:spcPct val="115000"/>
              </a:lnSpc>
              <a:buNone/>
            </a:pPr>
            <a:r>
              <a:rPr lang="en-US" sz="1150" dirty="0">
                <a:solidFill>
                  <a:srgbClr val="0D1219"/>
                </a:solidFill>
                <a:latin typeface="Arial" pitchFamily="34" charset="0"/>
                <a:ea typeface="Arial" pitchFamily="34" charset="-122"/>
                <a:cs typeface="Arial" pitchFamily="34" charset="-120"/>
              </a:rPr>
              <a:t>Vercel evals, Jan 2026: in 56% of runs the skill was never invoked. Rules go in the always-on file; workflows go in skills.</a:t>
            </a:r>
            <a:endParaRPr lang="en-US" sz="1150" dirty="0"/>
          </a:p>
        </p:txBody>
      </p:sp>
      <p:sp>
        <p:nvSpPr>
          <p:cNvPr id="24" name="Shape 20"/>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25" name="Text 21"/>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6" name="Shape 22"/>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27" name="Text 23"/>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28" name="Shape 24"/>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29" name="Text 25"/>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30" name="Shape 26"/>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31" name="Text 27"/>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32" name="Shape 28"/>
          <p:cNvSpPr/>
          <p:nvPr/>
        </p:nvSpPr>
        <p:spPr>
          <a:xfrm>
            <a:off x="7100316" y="6291072"/>
            <a:ext cx="896112" cy="274320"/>
          </a:xfrm>
          <a:prstGeom prst="roundRect">
            <a:avLst>
              <a:gd name="adj" fmla="val 20000"/>
            </a:avLst>
          </a:prstGeom>
          <a:solidFill>
            <a:srgbClr val="EF8B39"/>
          </a:solidFill>
          <a:ln w="6350">
            <a:solidFill>
              <a:srgbClr val="EF8B39"/>
            </a:solidFill>
            <a:prstDash val="solid"/>
          </a:ln>
        </p:spPr>
      </p:sp>
      <p:sp>
        <p:nvSpPr>
          <p:cNvPr id="33" name="Text 29"/>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SHIP</a:t>
            </a:r>
            <a:endParaRPr lang="en-US" sz="800" dirty="0"/>
          </a:p>
        </p:txBody>
      </p:sp>
      <p:sp>
        <p:nvSpPr>
          <p:cNvPr id="34" name="Shape 30"/>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35" name="Text 31"/>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46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11  ·  SKILLS  ·  20 MIN  ·  HANDS-ON</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5:10 – 5:30</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700" b="1" dirty="0">
                <a:solidFill>
                  <a:srgbClr val="0D1219"/>
                </a:solidFill>
                <a:latin typeface="Arial" pitchFamily="34" charset="0"/>
                <a:ea typeface="Arial" pitchFamily="34" charset="-122"/>
                <a:cs typeface="Arial" pitchFamily="34" charset="-120"/>
              </a:rPr>
              <a:t>Write the day down once. Then make the AI run it.</a:t>
            </a:r>
            <a:endParaRPr lang="en-US" sz="2700" dirty="0"/>
          </a:p>
        </p:txBody>
      </p:sp>
      <p:sp>
        <p:nvSpPr>
          <p:cNvPr id="8" name="Shape 4"/>
          <p:cNvSpPr/>
          <p:nvPr/>
        </p:nvSpPr>
        <p:spPr>
          <a:xfrm>
            <a:off x="640080" y="1783080"/>
            <a:ext cx="5760720" cy="2514600"/>
          </a:xfrm>
          <a:prstGeom prst="rect">
            <a:avLst/>
          </a:prstGeom>
          <a:solidFill>
            <a:srgbClr val="121B2B"/>
          </a:solidFill>
          <a:ln w="12700">
            <a:solidFill>
              <a:srgbClr val="EF8B39"/>
            </a:solidFill>
            <a:prstDash val="solid"/>
          </a:ln>
        </p:spPr>
      </p:sp>
      <p:sp>
        <p:nvSpPr>
          <p:cNvPr id="9" name="Text 5"/>
          <p:cNvSpPr/>
          <p:nvPr/>
        </p:nvSpPr>
        <p:spPr>
          <a:xfrm>
            <a:off x="822960" y="1892808"/>
            <a:ext cx="5394960" cy="228600"/>
          </a:xfrm>
          <a:prstGeom prst="rect">
            <a:avLst/>
          </a:prstGeom>
          <a:noFill/>
          <a:ln/>
        </p:spPr>
        <p:txBody>
          <a:bodyPr wrap="square" lIns="0" tIns="0" rIns="0" bIns="0" rtlCol="0" anchor="ctr"/>
          <a:lstStyle/>
          <a:p>
            <a:pPr indent="0" marL="0">
              <a:buNone/>
            </a:pPr>
            <a:r>
              <a:rPr lang="en-US" sz="800" b="1" spc="150" kern="0" dirty="0">
                <a:solidFill>
                  <a:srgbClr val="EF8B39"/>
                </a:solidFill>
                <a:latin typeface="Courier New" pitchFamily="34" charset="0"/>
                <a:ea typeface="Courier New" pitchFamily="34" charset="-122"/>
                <a:cs typeface="Courier New" pitchFamily="34" charset="-120"/>
              </a:rPr>
              <a:t>TYPE THIS, VERBATIM</a:t>
            </a:r>
            <a:endParaRPr lang="en-US" sz="800" dirty="0"/>
          </a:p>
        </p:txBody>
      </p:sp>
      <p:sp>
        <p:nvSpPr>
          <p:cNvPr id="10" name="Text 6"/>
          <p:cNvSpPr txBox="1"/>
          <p:nvPr/>
        </p:nvSpPr>
        <p:spPr>
          <a:xfrm>
            <a:off x="822960" y="2167128"/>
            <a:ext cx="5394960" cy="2011680"/>
          </a:xfrm>
          <a:prstGeom prst="rect">
            <a:avLst/>
          </a:prstGeom>
          <a:noFill/>
          <a:ln/>
        </p:spPr>
        <p:txBody>
          <a:bodyPr wrap="square" lIns="0" tIns="0" rIns="0" bIns="0" rtlCol="0" anchor="t"/>
          <a:lstStyle/>
          <a:p>
            <a:pPr indent="0" marL="0">
              <a:lnSpc>
                <a:spcPct val="120000"/>
              </a:lnSpc>
              <a:buNone/>
            </a:pPr>
            <a:r>
              <a:rPr lang="en-US" sz="1050" dirty="0">
                <a:solidFill>
                  <a:srgbClr val="E6EBF2"/>
                </a:solidFill>
                <a:latin typeface="Courier New" pitchFamily="34" charset="0"/>
                <a:ea typeface="Courier New" pitchFamily="34" charset="-122"/>
                <a:cs typeface="Courier New" pitchFamily="34" charset="-120"/>
              </a:rPr>
              <a:t>Create .claude/skills/my-deploy-checklist/SKILL.md. Front matter: name my-deploy-checklist; description, under 200 characters, saying to run it before merging any pull request to main. Body: a numbered checklist that (1) runs the Playwright test, (2) confirms .env.local is in .gitignore and no key strings are in the code, (3) confirms the PR has a green check and a preview URL I looked at, (4) only then merges, (5) after merge opens the production URL and submits the form once. Under 40 lines.</a:t>
            </a:r>
            <a:endParaRPr lang="en-US" sz="1050" dirty="0"/>
          </a:p>
        </p:txBody>
      </p:sp>
      <p:sp>
        <p:nvSpPr>
          <p:cNvPr id="11" name="Text 7"/>
          <p:cNvSpPr txBox="1"/>
          <p:nvPr/>
        </p:nvSpPr>
        <p:spPr>
          <a:xfrm>
            <a:off x="6629400" y="1783080"/>
            <a:ext cx="4919472" cy="3017520"/>
          </a:xfrm>
          <a:prstGeom prst="rect">
            <a:avLst/>
          </a:prstGeom>
          <a:noFill/>
          <a:ln/>
        </p:spPr>
        <p:txBody>
          <a:bodyPr wrap="square" lIns="0" tIns="0" rIns="0" bIns="0" rtlCol="0" anchor="t"/>
          <a:lstStyle/>
          <a:p>
            <a:pPr indent="0" marL="0">
              <a:lnSpc>
                <a:spcPct val="115000"/>
              </a:lnSpc>
              <a:spcAft>
                <a:spcPts val="700"/>
              </a:spcAft>
              <a:buNone/>
            </a:pPr>
            <a:r>
              <a:rPr lang="en-US" sz="1150" dirty="0">
                <a:solidFill>
                  <a:srgbClr val="0D1219"/>
                </a:solidFill>
                <a:latin typeface="Arial" pitchFamily="34" charset="0"/>
                <a:ea typeface="Arial" pitchFamily="34" charset="-122"/>
                <a:cs typeface="Arial" pitchFamily="34" charset="-120"/>
              </a:rPr>
              <a:t>1  Type the prompt. Open the file. Change one line to how YOU actually work.</a:t>
            </a:r>
            <a:endParaRPr lang="en-US" sz="1150" dirty="0"/>
          </a:p>
          <a:p>
            <a:pPr indent="0" marL="0">
              <a:lnSpc>
                <a:spcPct val="115000"/>
              </a:lnSpc>
              <a:spcAft>
                <a:spcPts val="700"/>
              </a:spcAft>
              <a:buNone/>
            </a:pPr>
            <a:r>
              <a:rPr lang="en-US" sz="1150" dirty="0">
                <a:solidFill>
                  <a:srgbClr val="0D1219"/>
                </a:solidFill>
                <a:latin typeface="Arial" pitchFamily="34" charset="0"/>
                <a:ea typeface="Arial" pitchFamily="34" charset="-122"/>
                <a:cs typeface="Arial" pitchFamily="34" charset="-120"/>
              </a:rPr>
              <a:t>2  Type /my-deploy-checklist and watch Claude walk your list against your repo.</a:t>
            </a:r>
            <a:endParaRPr lang="en-US" sz="1150" dirty="0"/>
          </a:p>
          <a:p>
            <a:pPr indent="0" marL="0">
              <a:lnSpc>
                <a:spcPct val="115000"/>
              </a:lnSpc>
              <a:spcAft>
                <a:spcPts val="700"/>
              </a:spcAft>
              <a:buNone/>
            </a:pPr>
            <a:r>
              <a:rPr lang="en-US" sz="1150" dirty="0">
                <a:solidFill>
                  <a:srgbClr val="0D1219"/>
                </a:solidFill>
                <a:latin typeface="Arial" pitchFamily="34" charset="0"/>
                <a:ea typeface="Arial" pitchFamily="34" charset="-122"/>
                <a:cs typeface="Arial" pitchFamily="34" charset="-120"/>
              </a:rPr>
              <a:t>3  Type: “Copy this skill to .agents/skills so Codex and Cursor read it too. Commit, push, open a PR.” Merge.</a:t>
            </a:r>
            <a:endParaRPr lang="en-US" sz="1150" dirty="0"/>
          </a:p>
          <a:p>
            <a:pPr indent="0" marL="0">
              <a:lnSpc>
                <a:spcPct val="115000"/>
              </a:lnSpc>
              <a:spcAft>
                <a:spcPts val="700"/>
              </a:spcAft>
              <a:buNone/>
            </a:pPr>
            <a:r>
              <a:rPr lang="en-US" sz="1150" dirty="0">
                <a:solidFill>
                  <a:srgbClr val="0D1219"/>
                </a:solidFill>
                <a:latin typeface="Arial" pitchFamily="34" charset="0"/>
                <a:ea typeface="Arial" pitchFamily="34" charset="-122"/>
                <a:cs typeface="Arial" pitchFamily="34" charset="-120"/>
              </a:rPr>
              <a:t>4  Green sticky when the skill ran. You will run it for real in the last sprint. Homework skills: my-brand-voice, my-test-before-merge.</a:t>
            </a:r>
            <a:endParaRPr lang="en-US" sz="1150" dirty="0"/>
          </a:p>
        </p:txBody>
      </p:sp>
      <p:sp>
        <p:nvSpPr>
          <p:cNvPr id="12" name="Shape 8"/>
          <p:cNvSpPr/>
          <p:nvPr/>
        </p:nvSpPr>
        <p:spPr>
          <a:xfrm>
            <a:off x="640080" y="4480560"/>
            <a:ext cx="5760720" cy="685800"/>
          </a:xfrm>
          <a:prstGeom prst="rect">
            <a:avLst/>
          </a:prstGeom>
          <a:solidFill>
            <a:srgbClr val="E8EEF7"/>
          </a:solidFill>
          <a:ln w="9525">
            <a:solidFill>
              <a:srgbClr val="D9E0EA"/>
            </a:solidFill>
            <a:prstDash val="solid"/>
          </a:ln>
        </p:spPr>
      </p:sp>
      <p:sp>
        <p:nvSpPr>
          <p:cNvPr id="13" name="Shape 9"/>
          <p:cNvSpPr/>
          <p:nvPr/>
        </p:nvSpPr>
        <p:spPr>
          <a:xfrm>
            <a:off x="640080" y="4480560"/>
            <a:ext cx="54864" cy="685800"/>
          </a:xfrm>
          <a:prstGeom prst="rect">
            <a:avLst/>
          </a:prstGeom>
          <a:solidFill>
            <a:srgbClr val="EF8B39"/>
          </a:solidFill>
          <a:ln w="12700">
            <a:solidFill>
              <a:srgbClr val="EF8B39"/>
            </a:solidFill>
            <a:prstDash val="solid"/>
          </a:ln>
        </p:spPr>
      </p:sp>
      <p:sp>
        <p:nvSpPr>
          <p:cNvPr id="14" name="Text 10"/>
          <p:cNvSpPr txBox="1"/>
          <p:nvPr/>
        </p:nvSpPr>
        <p:spPr>
          <a:xfrm>
            <a:off x="868680" y="4526280"/>
            <a:ext cx="5349240" cy="594360"/>
          </a:xfrm>
          <a:prstGeom prst="rect">
            <a:avLst/>
          </a:prstGeom>
          <a:noFill/>
          <a:ln/>
        </p:spPr>
        <p:txBody>
          <a:bodyPr wrap="square" lIns="0" tIns="0" rIns="0" bIns="0" rtlCol="0" anchor="ctr"/>
          <a:lstStyle/>
          <a:p>
            <a:pPr algn="l" indent="0" marL="0">
              <a:lnSpc>
                <a:spcPct val="115000"/>
              </a:lnSpc>
              <a:buNone/>
            </a:pPr>
            <a:r>
              <a:rPr lang="en-US" sz="1200" dirty="0">
                <a:solidFill>
                  <a:srgbClr val="0D1219"/>
                </a:solidFill>
                <a:latin typeface="Arial" pitchFamily="34" charset="0"/>
                <a:ea typeface="Arial" pitchFamily="34" charset="-122"/>
                <a:cs typeface="Arial" pitchFamily="34" charset="-120"/>
              </a:rPr>
              <a:t>This is not a Claude feature. It is a file in your repo. It leaves with you.</a:t>
            </a:r>
            <a:endParaRPr lang="en-US" sz="1200" dirty="0"/>
          </a:p>
        </p:txBody>
      </p:sp>
      <p:sp>
        <p:nvSpPr>
          <p:cNvPr id="15" name="Shape 11"/>
          <p:cNvSpPr/>
          <p:nvPr/>
        </p:nvSpPr>
        <p:spPr>
          <a:xfrm>
            <a:off x="640080" y="5806440"/>
            <a:ext cx="256032" cy="256032"/>
          </a:xfrm>
          <a:prstGeom prst="rect">
            <a:avLst/>
          </a:prstGeom>
          <a:solidFill>
            <a:srgbClr val="22C55E"/>
          </a:solidFill>
          <a:ln w="12700">
            <a:solidFill>
              <a:srgbClr val="22C55E"/>
            </a:solidFill>
            <a:prstDash val="solid"/>
          </a:ln>
        </p:spPr>
      </p:sp>
      <p:sp>
        <p:nvSpPr>
          <p:cNvPr id="16" name="Text 12"/>
          <p:cNvSpPr/>
          <p:nvPr/>
        </p:nvSpPr>
        <p:spPr>
          <a:xfrm>
            <a:off x="987552" y="5806440"/>
            <a:ext cx="237744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Green sticky = done</a:t>
            </a:r>
            <a:endParaRPr lang="en-US" sz="1100" dirty="0"/>
          </a:p>
        </p:txBody>
      </p:sp>
      <p:sp>
        <p:nvSpPr>
          <p:cNvPr id="17" name="Shape 13"/>
          <p:cNvSpPr/>
          <p:nvPr/>
        </p:nvSpPr>
        <p:spPr>
          <a:xfrm>
            <a:off x="3474720" y="5806440"/>
            <a:ext cx="256032" cy="256032"/>
          </a:xfrm>
          <a:prstGeom prst="rect">
            <a:avLst/>
          </a:prstGeom>
          <a:solidFill>
            <a:srgbClr val="EF4444"/>
          </a:solidFill>
          <a:ln w="12700">
            <a:solidFill>
              <a:srgbClr val="EF4444"/>
            </a:solidFill>
            <a:prstDash val="solid"/>
          </a:ln>
        </p:spPr>
      </p:sp>
      <p:sp>
        <p:nvSpPr>
          <p:cNvPr id="18" name="Text 14"/>
          <p:cNvSpPr/>
          <p:nvPr/>
        </p:nvSpPr>
        <p:spPr>
          <a:xfrm>
            <a:off x="3822192" y="5806440"/>
            <a:ext cx="411480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Red sticky = a helper comes to you</a:t>
            </a:r>
            <a:endParaRPr lang="en-US" sz="1100" dirty="0"/>
          </a:p>
        </p:txBody>
      </p:sp>
      <p:sp>
        <p:nvSpPr>
          <p:cNvPr id="19" name="Shape 15"/>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20" name="Text 16"/>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1" name="Shape 17"/>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22" name="Text 18"/>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23" name="Shape 19"/>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24" name="Text 20"/>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25" name="Shape 21"/>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26" name="Text 22"/>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27" name="Shape 23"/>
          <p:cNvSpPr/>
          <p:nvPr/>
        </p:nvSpPr>
        <p:spPr>
          <a:xfrm>
            <a:off x="7100316" y="6291072"/>
            <a:ext cx="896112" cy="274320"/>
          </a:xfrm>
          <a:prstGeom prst="roundRect">
            <a:avLst>
              <a:gd name="adj" fmla="val 20000"/>
            </a:avLst>
          </a:prstGeom>
          <a:solidFill>
            <a:srgbClr val="EF8B39"/>
          </a:solidFill>
          <a:ln w="6350">
            <a:solidFill>
              <a:srgbClr val="EF8B39"/>
            </a:solidFill>
            <a:prstDash val="solid"/>
          </a:ln>
        </p:spPr>
      </p:sp>
      <p:sp>
        <p:nvSpPr>
          <p:cNvPr id="28" name="Text 24"/>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SHIP</a:t>
            </a:r>
            <a:endParaRPr lang="en-US" sz="800" dirty="0"/>
          </a:p>
        </p:txBody>
      </p:sp>
      <p:sp>
        <p:nvSpPr>
          <p:cNvPr id="29" name="Shape 25"/>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30" name="Text 26"/>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47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11  ·  SKILLS  ·  20 MIN  ·  DEMO</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5:10 – 5:30</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500" b="1" dirty="0">
                <a:solidFill>
                  <a:srgbClr val="0D1219"/>
                </a:solidFill>
                <a:latin typeface="Arial" pitchFamily="34" charset="0"/>
                <a:ea typeface="Arial" pitchFamily="34" charset="-122"/>
                <a:cs typeface="Arial" pitchFamily="34" charset="-120"/>
              </a:rPr>
              <a:t>What it looks like grown up: four skills that run a small-business site.</a:t>
            </a:r>
            <a:endParaRPr lang="en-US" sz="2500" dirty="0"/>
          </a:p>
        </p:txBody>
      </p:sp>
      <p:sp>
        <p:nvSpPr>
          <p:cNvPr id="8" name="Shape 4"/>
          <p:cNvSpPr/>
          <p:nvPr/>
        </p:nvSpPr>
        <p:spPr>
          <a:xfrm>
            <a:off x="640080" y="1783080"/>
            <a:ext cx="2606040" cy="2103120"/>
          </a:xfrm>
          <a:prstGeom prst="rect">
            <a:avLst/>
          </a:prstGeom>
          <a:solidFill>
            <a:srgbClr val="F3F6FB"/>
          </a:solidFill>
          <a:ln w="9525">
            <a:solidFill>
              <a:srgbClr val="D9E0EA"/>
            </a:solidFill>
            <a:prstDash val="solid"/>
          </a:ln>
        </p:spPr>
      </p:sp>
      <p:sp>
        <p:nvSpPr>
          <p:cNvPr id="9" name="Shape 5"/>
          <p:cNvSpPr/>
          <p:nvPr/>
        </p:nvSpPr>
        <p:spPr>
          <a:xfrm>
            <a:off x="640080" y="1783080"/>
            <a:ext cx="54864" cy="2103120"/>
          </a:xfrm>
          <a:prstGeom prst="rect">
            <a:avLst/>
          </a:prstGeom>
          <a:solidFill>
            <a:srgbClr val="307FE2"/>
          </a:solidFill>
          <a:ln w="12700">
            <a:solidFill>
              <a:srgbClr val="307FE2"/>
            </a:solidFill>
            <a:prstDash val="solid"/>
          </a:ln>
        </p:spPr>
      </p:sp>
      <p:sp>
        <p:nvSpPr>
          <p:cNvPr id="10" name="Text 6"/>
          <p:cNvSpPr txBox="1"/>
          <p:nvPr/>
        </p:nvSpPr>
        <p:spPr>
          <a:xfrm>
            <a:off x="841248" y="1938528"/>
            <a:ext cx="2286000" cy="274320"/>
          </a:xfrm>
          <a:prstGeom prst="rect">
            <a:avLst/>
          </a:prstGeom>
          <a:noFill/>
          <a:ln/>
        </p:spPr>
        <p:txBody>
          <a:bodyPr wrap="square" lIns="0" tIns="0" rIns="0" bIns="0" rtlCol="0" anchor="t"/>
          <a:lstStyle/>
          <a:p>
            <a:pPr algn="l" indent="0" marL="0">
              <a:lnSpc>
                <a:spcPct val="115000"/>
              </a:lnSpc>
              <a:buNone/>
            </a:pPr>
            <a:r>
              <a:rPr lang="en-US" sz="1050" dirty="0">
                <a:solidFill>
                  <a:srgbClr val="EF8B39"/>
                </a:solidFill>
                <a:latin typeface="Courier New" pitchFamily="34" charset="0"/>
                <a:ea typeface="Courier New" pitchFamily="34" charset="-122"/>
                <a:cs typeface="Courier New" pitchFamily="34" charset="-120"/>
              </a:rPr>
              <a:t>brand-voice</a:t>
            </a:r>
            <a:endParaRPr lang="en-US" sz="1050" dirty="0"/>
          </a:p>
        </p:txBody>
      </p:sp>
      <p:sp>
        <p:nvSpPr>
          <p:cNvPr id="11" name="Text 7"/>
          <p:cNvSpPr txBox="1"/>
          <p:nvPr/>
        </p:nvSpPr>
        <p:spPr>
          <a:xfrm>
            <a:off x="841248" y="2286000"/>
            <a:ext cx="2240280" cy="1554480"/>
          </a:xfrm>
          <a:prstGeom prst="rect">
            <a:avLst/>
          </a:prstGeom>
          <a:noFill/>
          <a:ln/>
        </p:spPr>
        <p:txBody>
          <a:bodyPr wrap="square" lIns="0" tIns="0" rIns="0" bIns="0" rtlCol="0" anchor="t"/>
          <a:lstStyle/>
          <a:p>
            <a:pPr algn="l" indent="0" marL="0">
              <a:lnSpc>
                <a:spcPct val="115000"/>
              </a:lnSpc>
              <a:buNone/>
            </a:pPr>
            <a:r>
              <a:rPr lang="en-US" sz="1100" dirty="0">
                <a:solidFill>
                  <a:srgbClr val="5B6675"/>
                </a:solidFill>
                <a:latin typeface="Arial" pitchFamily="34" charset="0"/>
                <a:ea typeface="Arial" pitchFamily="34" charset="-122"/>
                <a:cs typeface="Arial" pitchFamily="34" charset="-120"/>
              </a:rPr>
              <a:t>A guided interview that produces a living brand bible. Every page in your voice.</a:t>
            </a:r>
            <a:endParaRPr lang="en-US" sz="1100" dirty="0"/>
          </a:p>
        </p:txBody>
      </p:sp>
      <p:sp>
        <p:nvSpPr>
          <p:cNvPr id="12" name="Shape 8"/>
          <p:cNvSpPr/>
          <p:nvPr/>
        </p:nvSpPr>
        <p:spPr>
          <a:xfrm>
            <a:off x="3383280" y="1783080"/>
            <a:ext cx="2606040" cy="2103120"/>
          </a:xfrm>
          <a:prstGeom prst="rect">
            <a:avLst/>
          </a:prstGeom>
          <a:solidFill>
            <a:srgbClr val="F3F6FB"/>
          </a:solidFill>
          <a:ln w="9525">
            <a:solidFill>
              <a:srgbClr val="D9E0EA"/>
            </a:solidFill>
            <a:prstDash val="solid"/>
          </a:ln>
        </p:spPr>
      </p:sp>
      <p:sp>
        <p:nvSpPr>
          <p:cNvPr id="13" name="Shape 9"/>
          <p:cNvSpPr/>
          <p:nvPr/>
        </p:nvSpPr>
        <p:spPr>
          <a:xfrm>
            <a:off x="3383280" y="1783080"/>
            <a:ext cx="54864" cy="2103120"/>
          </a:xfrm>
          <a:prstGeom prst="rect">
            <a:avLst/>
          </a:prstGeom>
          <a:solidFill>
            <a:srgbClr val="307FE2"/>
          </a:solidFill>
          <a:ln w="12700">
            <a:solidFill>
              <a:srgbClr val="307FE2"/>
            </a:solidFill>
            <a:prstDash val="solid"/>
          </a:ln>
        </p:spPr>
      </p:sp>
      <p:sp>
        <p:nvSpPr>
          <p:cNvPr id="14" name="Text 10"/>
          <p:cNvSpPr txBox="1"/>
          <p:nvPr/>
        </p:nvSpPr>
        <p:spPr>
          <a:xfrm>
            <a:off x="3584448" y="1938528"/>
            <a:ext cx="2286000" cy="274320"/>
          </a:xfrm>
          <a:prstGeom prst="rect">
            <a:avLst/>
          </a:prstGeom>
          <a:noFill/>
          <a:ln/>
        </p:spPr>
        <p:txBody>
          <a:bodyPr wrap="square" lIns="0" tIns="0" rIns="0" bIns="0" rtlCol="0" anchor="t"/>
          <a:lstStyle/>
          <a:p>
            <a:pPr algn="l" indent="0" marL="0">
              <a:lnSpc>
                <a:spcPct val="115000"/>
              </a:lnSpc>
              <a:buNone/>
            </a:pPr>
            <a:r>
              <a:rPr lang="en-US" sz="1050" dirty="0">
                <a:solidFill>
                  <a:srgbClr val="EF8B39"/>
                </a:solidFill>
                <a:latin typeface="Courier New" pitchFamily="34" charset="0"/>
                <a:ea typeface="Courier New" pitchFamily="34" charset="-122"/>
                <a:cs typeface="Courier New" pitchFamily="34" charset="-120"/>
              </a:rPr>
              <a:t>deploy-to-vercel</a:t>
            </a:r>
            <a:endParaRPr lang="en-US" sz="1050" dirty="0"/>
          </a:p>
        </p:txBody>
      </p:sp>
      <p:sp>
        <p:nvSpPr>
          <p:cNvPr id="15" name="Text 11"/>
          <p:cNvSpPr txBox="1"/>
          <p:nvPr/>
        </p:nvSpPr>
        <p:spPr>
          <a:xfrm>
            <a:off x="3584448" y="2286000"/>
            <a:ext cx="2240280" cy="1554480"/>
          </a:xfrm>
          <a:prstGeom prst="rect">
            <a:avLst/>
          </a:prstGeom>
          <a:noFill/>
          <a:ln/>
        </p:spPr>
        <p:txBody>
          <a:bodyPr wrap="square" lIns="0" tIns="0" rIns="0" bIns="0" rtlCol="0" anchor="t"/>
          <a:lstStyle/>
          <a:p>
            <a:pPr algn="l" indent="0" marL="0">
              <a:lnSpc>
                <a:spcPct val="115000"/>
              </a:lnSpc>
              <a:buNone/>
            </a:pPr>
            <a:r>
              <a:rPr lang="en-US" sz="1100" dirty="0">
                <a:solidFill>
                  <a:srgbClr val="5B6675"/>
                </a:solidFill>
                <a:latin typeface="Arial" pitchFamily="34" charset="0"/>
                <a:ea typeface="Arial" pitchFamily="34" charset="-122"/>
                <a:cs typeface="Arial" pitchFamily="34" charset="-120"/>
              </a:rPr>
              <a:t>GitHub → Vercel pipeline, custom domain, and the fixes for every failed deploy I have hit.</a:t>
            </a:r>
            <a:endParaRPr lang="en-US" sz="1100" dirty="0"/>
          </a:p>
        </p:txBody>
      </p:sp>
      <p:sp>
        <p:nvSpPr>
          <p:cNvPr id="16" name="Shape 12"/>
          <p:cNvSpPr/>
          <p:nvPr/>
        </p:nvSpPr>
        <p:spPr>
          <a:xfrm>
            <a:off x="6126480" y="1783080"/>
            <a:ext cx="2606040" cy="2103120"/>
          </a:xfrm>
          <a:prstGeom prst="rect">
            <a:avLst/>
          </a:prstGeom>
          <a:solidFill>
            <a:srgbClr val="F3F6FB"/>
          </a:solidFill>
          <a:ln w="9525">
            <a:solidFill>
              <a:srgbClr val="D9E0EA"/>
            </a:solidFill>
            <a:prstDash val="solid"/>
          </a:ln>
        </p:spPr>
      </p:sp>
      <p:sp>
        <p:nvSpPr>
          <p:cNvPr id="17" name="Shape 13"/>
          <p:cNvSpPr/>
          <p:nvPr/>
        </p:nvSpPr>
        <p:spPr>
          <a:xfrm>
            <a:off x="6126480" y="1783080"/>
            <a:ext cx="54864" cy="2103120"/>
          </a:xfrm>
          <a:prstGeom prst="rect">
            <a:avLst/>
          </a:prstGeom>
          <a:solidFill>
            <a:srgbClr val="307FE2"/>
          </a:solidFill>
          <a:ln w="12700">
            <a:solidFill>
              <a:srgbClr val="307FE2"/>
            </a:solidFill>
            <a:prstDash val="solid"/>
          </a:ln>
        </p:spPr>
      </p:sp>
      <p:sp>
        <p:nvSpPr>
          <p:cNvPr id="18" name="Text 14"/>
          <p:cNvSpPr txBox="1"/>
          <p:nvPr/>
        </p:nvSpPr>
        <p:spPr>
          <a:xfrm>
            <a:off x="6327648" y="1938528"/>
            <a:ext cx="2286000" cy="274320"/>
          </a:xfrm>
          <a:prstGeom prst="rect">
            <a:avLst/>
          </a:prstGeom>
          <a:noFill/>
          <a:ln/>
        </p:spPr>
        <p:txBody>
          <a:bodyPr wrap="square" lIns="0" tIns="0" rIns="0" bIns="0" rtlCol="0" anchor="t"/>
          <a:lstStyle/>
          <a:p>
            <a:pPr algn="l" indent="0" marL="0">
              <a:lnSpc>
                <a:spcPct val="115000"/>
              </a:lnSpc>
              <a:buNone/>
            </a:pPr>
            <a:r>
              <a:rPr lang="en-US" sz="1050" dirty="0">
                <a:solidFill>
                  <a:srgbClr val="EF8B39"/>
                </a:solidFill>
                <a:latin typeface="Courier New" pitchFamily="34" charset="0"/>
                <a:ea typeface="Courier New" pitchFamily="34" charset="-122"/>
                <a:cs typeface="Courier New" pitchFamily="34" charset="-120"/>
              </a:rPr>
              <a:t>qa-tester</a:t>
            </a:r>
            <a:endParaRPr lang="en-US" sz="1050" dirty="0"/>
          </a:p>
        </p:txBody>
      </p:sp>
      <p:sp>
        <p:nvSpPr>
          <p:cNvPr id="19" name="Text 15"/>
          <p:cNvSpPr txBox="1"/>
          <p:nvPr/>
        </p:nvSpPr>
        <p:spPr>
          <a:xfrm>
            <a:off x="6327648" y="2286000"/>
            <a:ext cx="2240280" cy="1554480"/>
          </a:xfrm>
          <a:prstGeom prst="rect">
            <a:avLst/>
          </a:prstGeom>
          <a:noFill/>
          <a:ln/>
        </p:spPr>
        <p:txBody>
          <a:bodyPr wrap="square" lIns="0" tIns="0" rIns="0" bIns="0" rtlCol="0" anchor="t"/>
          <a:lstStyle/>
          <a:p>
            <a:pPr algn="l" indent="0" marL="0">
              <a:lnSpc>
                <a:spcPct val="115000"/>
              </a:lnSpc>
              <a:buNone/>
            </a:pPr>
            <a:r>
              <a:rPr lang="en-US" sz="1100" dirty="0">
                <a:solidFill>
                  <a:srgbClr val="5B6675"/>
                </a:solidFill>
                <a:latin typeface="Arial" pitchFamily="34" charset="0"/>
                <a:ea typeface="Arial" pitchFamily="34" charset="-122"/>
                <a:cs typeface="Arial" pitchFamily="34" charset="-120"/>
              </a:rPr>
              <a:t>“Does this site actually work?” The smoke test before launch: forms, links, phones.</a:t>
            </a:r>
            <a:endParaRPr lang="en-US" sz="1100" dirty="0"/>
          </a:p>
        </p:txBody>
      </p:sp>
      <p:sp>
        <p:nvSpPr>
          <p:cNvPr id="20" name="Shape 16"/>
          <p:cNvSpPr/>
          <p:nvPr/>
        </p:nvSpPr>
        <p:spPr>
          <a:xfrm>
            <a:off x="8869680" y="1783080"/>
            <a:ext cx="2606040" cy="2103120"/>
          </a:xfrm>
          <a:prstGeom prst="rect">
            <a:avLst/>
          </a:prstGeom>
          <a:solidFill>
            <a:srgbClr val="F3F6FB"/>
          </a:solidFill>
          <a:ln w="9525">
            <a:solidFill>
              <a:srgbClr val="D9E0EA"/>
            </a:solidFill>
            <a:prstDash val="solid"/>
          </a:ln>
        </p:spPr>
      </p:sp>
      <p:sp>
        <p:nvSpPr>
          <p:cNvPr id="21" name="Shape 17"/>
          <p:cNvSpPr/>
          <p:nvPr/>
        </p:nvSpPr>
        <p:spPr>
          <a:xfrm>
            <a:off x="8869680" y="1783080"/>
            <a:ext cx="54864" cy="2103120"/>
          </a:xfrm>
          <a:prstGeom prst="rect">
            <a:avLst/>
          </a:prstGeom>
          <a:solidFill>
            <a:srgbClr val="EF8B39"/>
          </a:solidFill>
          <a:ln w="12700">
            <a:solidFill>
              <a:srgbClr val="EF8B39"/>
            </a:solidFill>
            <a:prstDash val="solid"/>
          </a:ln>
        </p:spPr>
      </p:sp>
      <p:sp>
        <p:nvSpPr>
          <p:cNvPr id="22" name="Text 18"/>
          <p:cNvSpPr txBox="1"/>
          <p:nvPr/>
        </p:nvSpPr>
        <p:spPr>
          <a:xfrm>
            <a:off x="9070848" y="1938528"/>
            <a:ext cx="2286000" cy="274320"/>
          </a:xfrm>
          <a:prstGeom prst="rect">
            <a:avLst/>
          </a:prstGeom>
          <a:noFill/>
          <a:ln/>
        </p:spPr>
        <p:txBody>
          <a:bodyPr wrap="square" lIns="0" tIns="0" rIns="0" bIns="0" rtlCol="0" anchor="t"/>
          <a:lstStyle/>
          <a:p>
            <a:pPr algn="l" indent="0" marL="0">
              <a:lnSpc>
                <a:spcPct val="115000"/>
              </a:lnSpc>
              <a:buNone/>
            </a:pPr>
            <a:r>
              <a:rPr lang="en-US" sz="1050" dirty="0">
                <a:solidFill>
                  <a:srgbClr val="EF8B39"/>
                </a:solidFill>
                <a:latin typeface="Courier New" pitchFamily="34" charset="0"/>
                <a:ea typeface="Courier New" pitchFamily="34" charset="-122"/>
                <a:cs typeface="Courier New" pitchFamily="34" charset="-120"/>
              </a:rPr>
              <a:t>webmaster</a:t>
            </a:r>
            <a:endParaRPr lang="en-US" sz="1050" dirty="0"/>
          </a:p>
        </p:txBody>
      </p:sp>
      <p:sp>
        <p:nvSpPr>
          <p:cNvPr id="23" name="Text 19"/>
          <p:cNvSpPr txBox="1"/>
          <p:nvPr/>
        </p:nvSpPr>
        <p:spPr>
          <a:xfrm>
            <a:off x="9070848" y="2286000"/>
            <a:ext cx="2240280" cy="1554480"/>
          </a:xfrm>
          <a:prstGeom prst="rect">
            <a:avLst/>
          </a:prstGeom>
          <a:noFill/>
          <a:ln/>
        </p:spPr>
        <p:txBody>
          <a:bodyPr wrap="square" lIns="0" tIns="0" rIns="0" bIns="0" rtlCol="0" anchor="t"/>
          <a:lstStyle/>
          <a:p>
            <a:pPr algn="l" indent="0" marL="0">
              <a:lnSpc>
                <a:spcPct val="115000"/>
              </a:lnSpc>
              <a:buNone/>
            </a:pPr>
            <a:r>
              <a:rPr lang="en-US" sz="1100" dirty="0">
                <a:solidFill>
                  <a:srgbClr val="5B6675"/>
                </a:solidFill>
                <a:latin typeface="Arial" pitchFamily="34" charset="0"/>
                <a:ea typeface="Arial" pitchFamily="34" charset="-122"/>
                <a:cs typeface="Arial" pitchFamily="34" charset="-120"/>
              </a:rPr>
              <a:t>The pre-launch checklist. Runs the other three, in order, and stops on a failure.</a:t>
            </a:r>
            <a:endParaRPr lang="en-US" sz="1100" dirty="0"/>
          </a:p>
        </p:txBody>
      </p:sp>
      <p:sp>
        <p:nvSpPr>
          <p:cNvPr id="24" name="Shape 20"/>
          <p:cNvSpPr/>
          <p:nvPr/>
        </p:nvSpPr>
        <p:spPr>
          <a:xfrm>
            <a:off x="640080" y="4069080"/>
            <a:ext cx="6766560" cy="1051560"/>
          </a:xfrm>
          <a:prstGeom prst="rect">
            <a:avLst/>
          </a:prstGeom>
          <a:solidFill>
            <a:srgbClr val="121B2B"/>
          </a:solidFill>
          <a:ln w="12700">
            <a:solidFill>
              <a:srgbClr val="307FE2"/>
            </a:solidFill>
            <a:prstDash val="solid"/>
          </a:ln>
        </p:spPr>
      </p:sp>
      <p:sp>
        <p:nvSpPr>
          <p:cNvPr id="25" name="Text 21"/>
          <p:cNvSpPr/>
          <p:nvPr/>
        </p:nvSpPr>
        <p:spPr>
          <a:xfrm>
            <a:off x="822960" y="4178808"/>
            <a:ext cx="6400800" cy="228600"/>
          </a:xfrm>
          <a:prstGeom prst="rect">
            <a:avLst/>
          </a:prstGeom>
          <a:noFill/>
          <a:ln/>
        </p:spPr>
        <p:txBody>
          <a:bodyPr wrap="square" lIns="0" tIns="0" rIns="0" bIns="0" rtlCol="0" anchor="ctr"/>
          <a:lstStyle/>
          <a:p>
            <a:pPr indent="0" marL="0">
              <a:buNone/>
            </a:pPr>
            <a:r>
              <a:rPr lang="en-US" sz="800" b="1" spc="150" kern="0" dirty="0">
                <a:solidFill>
                  <a:srgbClr val="EF8B39"/>
                </a:solidFill>
                <a:latin typeface="Courier New" pitchFamily="34" charset="0"/>
                <a:ea typeface="Courier New" pitchFamily="34" charset="-122"/>
                <a:cs typeface="Courier New" pitchFamily="34" charset="-120"/>
              </a:rPr>
              <a:t>ONE LINE INSTALLS VERCEL’S OWN 70-RULE REVIEW SKILL · THEN: “REVIEW MY APP AGAINST IT”</a:t>
            </a:r>
            <a:endParaRPr lang="en-US" sz="800" dirty="0"/>
          </a:p>
        </p:txBody>
      </p:sp>
      <p:sp>
        <p:nvSpPr>
          <p:cNvPr id="26" name="Text 22"/>
          <p:cNvSpPr txBox="1"/>
          <p:nvPr/>
        </p:nvSpPr>
        <p:spPr>
          <a:xfrm>
            <a:off x="822960" y="4453128"/>
            <a:ext cx="6400800" cy="548640"/>
          </a:xfrm>
          <a:prstGeom prst="rect">
            <a:avLst/>
          </a:prstGeom>
          <a:noFill/>
          <a:ln/>
        </p:spPr>
        <p:txBody>
          <a:bodyPr wrap="square" lIns="0" tIns="0" rIns="0" bIns="0" rtlCol="0" anchor="t"/>
          <a:lstStyle/>
          <a:p>
            <a:pPr indent="0" marL="0">
              <a:lnSpc>
                <a:spcPct val="120000"/>
              </a:lnSpc>
              <a:buNone/>
            </a:pPr>
            <a:r>
              <a:rPr lang="en-US" sz="1050" dirty="0">
                <a:solidFill>
                  <a:srgbClr val="E6EBF2"/>
                </a:solidFill>
                <a:latin typeface="Courier New" pitchFamily="34" charset="0"/>
                <a:ea typeface="Courier New" pitchFamily="34" charset="-122"/>
                <a:cs typeface="Courier New" pitchFamily="34" charset="-120"/>
              </a:rPr>
              <a:t>npx skills add vercel-labs/agent-skills --skill vercel-react-best-practices</a:t>
            </a:r>
            <a:endParaRPr lang="en-US" sz="1050" dirty="0"/>
          </a:p>
        </p:txBody>
      </p:sp>
      <p:sp>
        <p:nvSpPr>
          <p:cNvPr id="27" name="Shape 23"/>
          <p:cNvSpPr/>
          <p:nvPr/>
        </p:nvSpPr>
        <p:spPr>
          <a:xfrm>
            <a:off x="7635240" y="4069080"/>
            <a:ext cx="3913632" cy="1051560"/>
          </a:xfrm>
          <a:prstGeom prst="rect">
            <a:avLst/>
          </a:prstGeom>
          <a:solidFill>
            <a:srgbClr val="E8EEF7"/>
          </a:solidFill>
          <a:ln w="9525">
            <a:solidFill>
              <a:srgbClr val="D9E0EA"/>
            </a:solidFill>
            <a:prstDash val="solid"/>
          </a:ln>
        </p:spPr>
      </p:sp>
      <p:sp>
        <p:nvSpPr>
          <p:cNvPr id="28" name="Shape 24"/>
          <p:cNvSpPr/>
          <p:nvPr/>
        </p:nvSpPr>
        <p:spPr>
          <a:xfrm>
            <a:off x="7635240" y="4069080"/>
            <a:ext cx="54864" cy="1051560"/>
          </a:xfrm>
          <a:prstGeom prst="rect">
            <a:avLst/>
          </a:prstGeom>
          <a:solidFill>
            <a:srgbClr val="EF4444"/>
          </a:solidFill>
          <a:ln w="12700">
            <a:solidFill>
              <a:srgbClr val="EF4444"/>
            </a:solidFill>
            <a:prstDash val="solid"/>
          </a:ln>
        </p:spPr>
      </p:sp>
      <p:sp>
        <p:nvSpPr>
          <p:cNvPr id="29" name="Text 25"/>
          <p:cNvSpPr txBox="1"/>
          <p:nvPr/>
        </p:nvSpPr>
        <p:spPr>
          <a:xfrm>
            <a:off x="7818120" y="4133088"/>
            <a:ext cx="3611880" cy="914400"/>
          </a:xfrm>
          <a:prstGeom prst="rect">
            <a:avLst/>
          </a:prstGeom>
          <a:noFill/>
          <a:ln/>
        </p:spPr>
        <p:txBody>
          <a:bodyPr wrap="square" lIns="0" tIns="0" rIns="0" bIns="0" rtlCol="0" anchor="ctr"/>
          <a:lstStyle/>
          <a:p>
            <a:pPr algn="l" indent="0" marL="0">
              <a:lnSpc>
                <a:spcPct val="115000"/>
              </a:lnSpc>
              <a:buNone/>
            </a:pPr>
            <a:r>
              <a:rPr lang="en-US" sz="1050" dirty="0">
                <a:solidFill>
                  <a:srgbClr val="0D1219"/>
                </a:solidFill>
                <a:latin typeface="Arial" pitchFamily="34" charset="0"/>
                <a:ea typeface="Arial" pitchFamily="34" charset="-122"/>
                <a:cs typeface="Arial" pitchFamily="34" charset="-120"/>
              </a:rPr>
              <a:t>Read a skill before you install it, the way you would read a contract. skills.sh ranks by installs, not quality.</a:t>
            </a:r>
            <a:endParaRPr lang="en-US" sz="1050" dirty="0"/>
          </a:p>
        </p:txBody>
      </p:sp>
      <p:sp>
        <p:nvSpPr>
          <p:cNvPr id="30" name="Shape 26"/>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31" name="Text 27"/>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32" name="Shape 28"/>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33" name="Text 29"/>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34" name="Shape 30"/>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35" name="Text 31"/>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36" name="Shape 32"/>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37" name="Text 33"/>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38" name="Shape 34"/>
          <p:cNvSpPr/>
          <p:nvPr/>
        </p:nvSpPr>
        <p:spPr>
          <a:xfrm>
            <a:off x="7100316" y="6291072"/>
            <a:ext cx="896112" cy="274320"/>
          </a:xfrm>
          <a:prstGeom prst="roundRect">
            <a:avLst>
              <a:gd name="adj" fmla="val 20000"/>
            </a:avLst>
          </a:prstGeom>
          <a:solidFill>
            <a:srgbClr val="EF8B39"/>
          </a:solidFill>
          <a:ln w="6350">
            <a:solidFill>
              <a:srgbClr val="EF8B39"/>
            </a:solidFill>
            <a:prstDash val="solid"/>
          </a:ln>
        </p:spPr>
      </p:sp>
      <p:sp>
        <p:nvSpPr>
          <p:cNvPr id="39" name="Text 35"/>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SHIP</a:t>
            </a:r>
            <a:endParaRPr lang="en-US" sz="800" dirty="0"/>
          </a:p>
        </p:txBody>
      </p:sp>
      <p:sp>
        <p:nvSpPr>
          <p:cNvPr id="40" name="Shape 36"/>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41" name="Text 37"/>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48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EF8B39"/>
                </a:solidFill>
                <a:latin typeface="Courier New" pitchFamily="34" charset="0"/>
                <a:ea typeface="Courier New" pitchFamily="34" charset="-122"/>
                <a:cs typeface="Courier New" pitchFamily="34" charset="-120"/>
              </a:rPr>
              <a:t>LIVE HACKING  ·  SPRINT 3 OF 3  ·  20 MIN  ·  YOUR TOOL, YOUR KEYBOARD</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5:30 – 5:50</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700" b="1" dirty="0">
                <a:solidFill>
                  <a:srgbClr val="0D1219"/>
                </a:solidFill>
                <a:latin typeface="Arial" pitchFamily="34" charset="0"/>
                <a:ea typeface="Arial" pitchFamily="34" charset="-122"/>
                <a:cs typeface="Arial" pitchFamily="34" charset="-120"/>
              </a:rPr>
              <a:t>Live hacking, sprint three. Ship it, then show it.</a:t>
            </a:r>
            <a:endParaRPr lang="en-US" sz="2700" dirty="0"/>
          </a:p>
        </p:txBody>
      </p:sp>
      <p:sp>
        <p:nvSpPr>
          <p:cNvPr id="8" name="Shape 4"/>
          <p:cNvSpPr/>
          <p:nvPr/>
        </p:nvSpPr>
        <p:spPr>
          <a:xfrm>
            <a:off x="640080" y="1783080"/>
            <a:ext cx="5394960" cy="2606040"/>
          </a:xfrm>
          <a:prstGeom prst="rect">
            <a:avLst/>
          </a:prstGeom>
          <a:solidFill>
            <a:srgbClr val="F3F6FB"/>
          </a:solidFill>
          <a:ln w="9525">
            <a:solidFill>
              <a:srgbClr val="D9E0EA"/>
            </a:solidFill>
            <a:prstDash val="solid"/>
          </a:ln>
        </p:spPr>
      </p:sp>
      <p:sp>
        <p:nvSpPr>
          <p:cNvPr id="9" name="Shape 5"/>
          <p:cNvSpPr/>
          <p:nvPr/>
        </p:nvSpPr>
        <p:spPr>
          <a:xfrm>
            <a:off x="640080" y="1783080"/>
            <a:ext cx="54864" cy="2606040"/>
          </a:xfrm>
          <a:prstGeom prst="rect">
            <a:avLst/>
          </a:prstGeom>
          <a:solidFill>
            <a:srgbClr val="307FE2"/>
          </a:solidFill>
          <a:ln w="12700">
            <a:solidFill>
              <a:srgbClr val="307FE2"/>
            </a:solidFill>
            <a:prstDash val="solid"/>
          </a:ln>
        </p:spPr>
      </p:sp>
      <p:sp>
        <p:nvSpPr>
          <p:cNvPr id="10" name="Text 6"/>
          <p:cNvSpPr txBox="1"/>
          <p:nvPr/>
        </p:nvSpPr>
        <p:spPr>
          <a:xfrm>
            <a:off x="868680" y="1920240"/>
            <a:ext cx="4937760" cy="237744"/>
          </a:xfrm>
          <a:prstGeom prst="rect">
            <a:avLst/>
          </a:prstGeom>
          <a:noFill/>
          <a:ln/>
        </p:spPr>
        <p:txBody>
          <a:bodyPr wrap="square" lIns="0" tIns="0" rIns="0" bIns="0" rtlCol="0" anchor="ctr"/>
          <a:lstStyle/>
          <a:p>
            <a:pPr indent="0" marL="0">
              <a:buNone/>
            </a:pPr>
            <a:r>
              <a:rPr lang="en-US" sz="850" b="1" spc="150" kern="0" dirty="0">
                <a:solidFill>
                  <a:srgbClr val="EF8B39"/>
                </a:solidFill>
                <a:latin typeface="Courier New" pitchFamily="34" charset="0"/>
                <a:ea typeface="Courier New" pitchFamily="34" charset="-122"/>
                <a:cs typeface="Courier New" pitchFamily="34" charset="-120"/>
              </a:rPr>
              <a:t>TWELVE MINUTES TO SHIP</a:t>
            </a:r>
            <a:endParaRPr lang="en-US" sz="850" dirty="0"/>
          </a:p>
        </p:txBody>
      </p:sp>
      <p:sp>
        <p:nvSpPr>
          <p:cNvPr id="11" name="Text 7"/>
          <p:cNvSpPr txBox="1"/>
          <p:nvPr/>
        </p:nvSpPr>
        <p:spPr>
          <a:xfrm>
            <a:off x="868680" y="2240280"/>
            <a:ext cx="4937760" cy="2103120"/>
          </a:xfrm>
          <a:prstGeom prst="rect">
            <a:avLst/>
          </a:prstGeom>
          <a:noFill/>
          <a:ln/>
        </p:spPr>
        <p:txBody>
          <a:bodyPr wrap="square" lIns="0" tIns="0" rIns="0" bIns="0" rtlCol="0" anchor="t"/>
          <a:lstStyle/>
          <a:p>
            <a:pPr marL="177800" indent="-177800">
              <a:lnSpc>
                <a:spcPct val="115000"/>
              </a:lnSpc>
              <a:spcAft>
                <a:spcPts val="700"/>
              </a:spcAft>
              <a:buSzPct val="100000"/>
              <a:buChar char="•"/>
            </a:pPr>
            <a:r>
              <a:rPr lang="en-US" sz="1250" dirty="0">
                <a:solidFill>
                  <a:srgbClr val="0D1219"/>
                </a:solidFill>
                <a:latin typeface="Arial" pitchFamily="34" charset="0"/>
                <a:ea typeface="Arial" pitchFamily="34" charset="-122"/>
                <a:cs typeface="Arial" pitchFamily="34" charset="-120"/>
              </a:rPr>
              <a:t>Finish one thing. Not three.</a:t>
            </a:r>
            <a:endParaRPr lang="en-US" sz="1250" dirty="0"/>
          </a:p>
          <a:p>
            <a:pPr marL="177800" indent="-177800">
              <a:lnSpc>
                <a:spcPct val="115000"/>
              </a:lnSpc>
              <a:spcAft>
                <a:spcPts val="700"/>
              </a:spcAft>
              <a:buSzPct val="100000"/>
              <a:buChar char="•"/>
            </a:pPr>
            <a:r>
              <a:rPr lang="en-US" sz="1250" dirty="0">
                <a:solidFill>
                  <a:srgbClr val="0D1219"/>
                </a:solidFill>
                <a:latin typeface="Arial" pitchFamily="34" charset="0"/>
                <a:ea typeface="Arial" pitchFamily="34" charset="-122"/>
                <a:cs typeface="Arial" pitchFamily="34" charset="-120"/>
              </a:rPr>
              <a:t>Run /my-deploy-checklist before the last merge.</a:t>
            </a:r>
            <a:endParaRPr lang="en-US" sz="1250" dirty="0"/>
          </a:p>
          <a:p>
            <a:pPr marL="177800" indent="-177800">
              <a:lnSpc>
                <a:spcPct val="115000"/>
              </a:lnSpc>
              <a:spcAft>
                <a:spcPts val="700"/>
              </a:spcAft>
              <a:buSzPct val="100000"/>
              <a:buChar char="•"/>
            </a:pPr>
            <a:r>
              <a:rPr lang="en-US" sz="1250" dirty="0">
                <a:solidFill>
                  <a:srgbClr val="0D1219"/>
                </a:solidFill>
                <a:latin typeface="Arial" pitchFamily="34" charset="0"/>
                <a:ea typeface="Arial" pitchFamily="34" charset="-122"/>
                <a:cs typeface="Arial" pitchFamily="34" charset="-120"/>
              </a:rPr>
              <a:t>Open the production URL on your phone and submit the form once.</a:t>
            </a:r>
            <a:endParaRPr lang="en-US" sz="1250" dirty="0"/>
          </a:p>
          <a:p>
            <a:pPr marL="177800" indent="-177800">
              <a:lnSpc>
                <a:spcPct val="115000"/>
              </a:lnSpc>
              <a:spcAft>
                <a:spcPts val="700"/>
              </a:spcAft>
              <a:buSzPct val="100000"/>
              <a:buChar char="•"/>
            </a:pPr>
            <a:r>
              <a:rPr lang="en-US" sz="1250" dirty="0">
                <a:solidFill>
                  <a:srgbClr val="0D1219"/>
                </a:solidFill>
                <a:latin typeface="Arial" pitchFamily="34" charset="0"/>
                <a:ea typeface="Arial" pitchFamily="34" charset="-122"/>
                <a:cs typeface="Arial" pitchFamily="34" charset="-120"/>
              </a:rPr>
              <a:t>Paste your production URL in the shared doc.</a:t>
            </a:r>
            <a:endParaRPr lang="en-US" sz="1250" dirty="0"/>
          </a:p>
        </p:txBody>
      </p:sp>
      <p:sp>
        <p:nvSpPr>
          <p:cNvPr id="12" name="Shape 8"/>
          <p:cNvSpPr/>
          <p:nvPr/>
        </p:nvSpPr>
        <p:spPr>
          <a:xfrm>
            <a:off x="6263640" y="1783080"/>
            <a:ext cx="5285232" cy="2606040"/>
          </a:xfrm>
          <a:prstGeom prst="rect">
            <a:avLst/>
          </a:prstGeom>
          <a:solidFill>
            <a:srgbClr val="F3F6FB"/>
          </a:solidFill>
          <a:ln w="9525">
            <a:solidFill>
              <a:srgbClr val="D9E0EA"/>
            </a:solidFill>
            <a:prstDash val="solid"/>
          </a:ln>
        </p:spPr>
      </p:sp>
      <p:sp>
        <p:nvSpPr>
          <p:cNvPr id="13" name="Shape 9"/>
          <p:cNvSpPr/>
          <p:nvPr/>
        </p:nvSpPr>
        <p:spPr>
          <a:xfrm>
            <a:off x="6263640" y="1783080"/>
            <a:ext cx="54864" cy="2606040"/>
          </a:xfrm>
          <a:prstGeom prst="rect">
            <a:avLst/>
          </a:prstGeom>
          <a:solidFill>
            <a:srgbClr val="EF8B39"/>
          </a:solidFill>
          <a:ln w="12700">
            <a:solidFill>
              <a:srgbClr val="EF8B39"/>
            </a:solidFill>
            <a:prstDash val="solid"/>
          </a:ln>
        </p:spPr>
      </p:sp>
      <p:sp>
        <p:nvSpPr>
          <p:cNvPr id="14" name="Text 10"/>
          <p:cNvSpPr txBox="1"/>
          <p:nvPr/>
        </p:nvSpPr>
        <p:spPr>
          <a:xfrm>
            <a:off x="6492240" y="1920240"/>
            <a:ext cx="4846320" cy="237744"/>
          </a:xfrm>
          <a:prstGeom prst="rect">
            <a:avLst/>
          </a:prstGeom>
          <a:noFill/>
          <a:ln/>
        </p:spPr>
        <p:txBody>
          <a:bodyPr wrap="square" lIns="0" tIns="0" rIns="0" bIns="0" rtlCol="0" anchor="ctr"/>
          <a:lstStyle/>
          <a:p>
            <a:pPr indent="0" marL="0">
              <a:buNone/>
            </a:pPr>
            <a:r>
              <a:rPr lang="en-US" sz="850" b="1" spc="150" kern="0" dirty="0">
                <a:solidFill>
                  <a:srgbClr val="EF8B39"/>
                </a:solidFill>
                <a:latin typeface="Courier New" pitchFamily="34" charset="0"/>
                <a:ea typeface="Courier New" pitchFamily="34" charset="-122"/>
                <a:cs typeface="Courier New" pitchFamily="34" charset="-120"/>
              </a:rPr>
              <a:t>EIGHT MINUTES OF SHOW AND TELL</a:t>
            </a:r>
            <a:endParaRPr lang="en-US" sz="850" dirty="0"/>
          </a:p>
        </p:txBody>
      </p:sp>
      <p:sp>
        <p:nvSpPr>
          <p:cNvPr id="15" name="Text 11"/>
          <p:cNvSpPr txBox="1"/>
          <p:nvPr/>
        </p:nvSpPr>
        <p:spPr>
          <a:xfrm>
            <a:off x="6492240" y="2240280"/>
            <a:ext cx="4846320" cy="2103120"/>
          </a:xfrm>
          <a:prstGeom prst="rect">
            <a:avLst/>
          </a:prstGeom>
          <a:noFill/>
          <a:ln/>
        </p:spPr>
        <p:txBody>
          <a:bodyPr wrap="square" lIns="0" tIns="0" rIns="0" bIns="0" rtlCol="0" anchor="t"/>
          <a:lstStyle/>
          <a:p>
            <a:pPr marL="177800" indent="-177800">
              <a:lnSpc>
                <a:spcPct val="115000"/>
              </a:lnSpc>
              <a:spcAft>
                <a:spcPts val="700"/>
              </a:spcAft>
              <a:buSzPct val="100000"/>
              <a:buChar char="•"/>
            </a:pPr>
            <a:r>
              <a:rPr lang="en-US" sz="1250" dirty="0">
                <a:solidFill>
                  <a:srgbClr val="0D1219"/>
                </a:solidFill>
                <a:latin typeface="Arial" pitchFamily="34" charset="0"/>
                <a:ea typeface="Arial" pitchFamily="34" charset="-122"/>
                <a:cs typeface="Arial" pitchFamily="34" charset="-120"/>
              </a:rPr>
              <a:t>Three volunteers, two minutes each, production URL on the projector</a:t>
            </a:r>
            <a:endParaRPr lang="en-US" sz="1250" dirty="0"/>
          </a:p>
          <a:p>
            <a:pPr marL="177800" indent="-177800">
              <a:lnSpc>
                <a:spcPct val="115000"/>
              </a:lnSpc>
              <a:spcAft>
                <a:spcPts val="700"/>
              </a:spcAft>
              <a:buSzPct val="100000"/>
              <a:buChar char="•"/>
            </a:pPr>
            <a:r>
              <a:rPr lang="en-US" sz="1250" dirty="0">
                <a:solidFill>
                  <a:srgbClr val="0D1219"/>
                </a:solidFill>
                <a:latin typeface="Arial" pitchFamily="34" charset="0"/>
                <a:ea typeface="Arial" pitchFamily="34" charset="-122"/>
                <a:cs typeface="Arial" pitchFamily="34" charset="-120"/>
              </a:rPr>
              <a:t>What it replaces, and what that cost a month</a:t>
            </a:r>
            <a:endParaRPr lang="en-US" sz="1250" dirty="0"/>
          </a:p>
          <a:p>
            <a:pPr marL="177800" indent="-177800">
              <a:lnSpc>
                <a:spcPct val="115000"/>
              </a:lnSpc>
              <a:spcAft>
                <a:spcPts val="700"/>
              </a:spcAft>
              <a:buSzPct val="100000"/>
              <a:buChar char="•"/>
            </a:pPr>
            <a:r>
              <a:rPr lang="en-US" sz="1250" dirty="0">
                <a:solidFill>
                  <a:srgbClr val="0D1219"/>
                </a:solidFill>
                <a:latin typeface="Arial" pitchFamily="34" charset="0"/>
                <a:ea typeface="Arial" pitchFamily="34" charset="-122"/>
                <a:cs typeface="Arial" pitchFamily="34" charset="-120"/>
              </a:rPr>
              <a:t>The one thing the AI got wrong, and how you caught it</a:t>
            </a:r>
            <a:endParaRPr lang="en-US" sz="1250" dirty="0"/>
          </a:p>
          <a:p>
            <a:pPr marL="177800" indent="-177800">
              <a:lnSpc>
                <a:spcPct val="115000"/>
              </a:lnSpc>
              <a:spcAft>
                <a:spcPts val="700"/>
              </a:spcAft>
              <a:buSzPct val="100000"/>
              <a:buChar char="•"/>
            </a:pPr>
            <a:r>
              <a:rPr lang="en-US" sz="1250" dirty="0">
                <a:solidFill>
                  <a:srgbClr val="0D1219"/>
                </a:solidFill>
                <a:latin typeface="Arial" pitchFamily="34" charset="0"/>
                <a:ea typeface="Arial" pitchFamily="34" charset="-122"/>
                <a:cs typeface="Arial" pitchFamily="34" charset="-120"/>
              </a:rPr>
              <a:t>Everyone else: one bug on a sticky for the presenter</a:t>
            </a:r>
            <a:endParaRPr lang="en-US" sz="1250" dirty="0"/>
          </a:p>
        </p:txBody>
      </p:sp>
      <p:sp>
        <p:nvSpPr>
          <p:cNvPr id="16" name="Shape 12"/>
          <p:cNvSpPr/>
          <p:nvPr/>
        </p:nvSpPr>
        <p:spPr>
          <a:xfrm>
            <a:off x="640080" y="4572000"/>
            <a:ext cx="10908792" cy="777240"/>
          </a:xfrm>
          <a:prstGeom prst="rect">
            <a:avLst/>
          </a:prstGeom>
          <a:solidFill>
            <a:srgbClr val="E8EEF7"/>
          </a:solidFill>
          <a:ln w="9525">
            <a:solidFill>
              <a:srgbClr val="D9E0EA"/>
            </a:solidFill>
            <a:prstDash val="solid"/>
          </a:ln>
        </p:spPr>
      </p:sp>
      <p:sp>
        <p:nvSpPr>
          <p:cNvPr id="17" name="Text 13"/>
          <p:cNvSpPr txBox="1"/>
          <p:nvPr/>
        </p:nvSpPr>
        <p:spPr>
          <a:xfrm>
            <a:off x="868680" y="4617720"/>
            <a:ext cx="10451592" cy="685800"/>
          </a:xfrm>
          <a:prstGeom prst="rect">
            <a:avLst/>
          </a:prstGeom>
          <a:noFill/>
          <a:ln/>
        </p:spPr>
        <p:txBody>
          <a:bodyPr wrap="square" lIns="0" tIns="0" rIns="0" bIns="0" rtlCol="0" anchor="ctr"/>
          <a:lstStyle/>
          <a:p>
            <a:pPr algn="l" indent="0" marL="0">
              <a:lnSpc>
                <a:spcPct val="115000"/>
              </a:lnSpc>
              <a:buNone/>
            </a:pPr>
            <a:r>
              <a:rPr lang="en-US" sz="1300" dirty="0">
                <a:solidFill>
                  <a:srgbClr val="0D1219"/>
                </a:solidFill>
                <a:latin typeface="Arial" pitchFamily="34" charset="0"/>
                <a:ea typeface="Arial" pitchFamily="34" charset="-122"/>
                <a:cs typeface="Arial" pitchFamily="34" charset="-120"/>
              </a:rPr>
              <a:t>Demo the production URL, not the preview. Production is the one that went through your gate.</a:t>
            </a:r>
            <a:endParaRPr lang="en-US" sz="1300" dirty="0"/>
          </a:p>
        </p:txBody>
      </p:sp>
      <p:sp>
        <p:nvSpPr>
          <p:cNvPr id="18" name="Shape 14"/>
          <p:cNvSpPr/>
          <p:nvPr/>
        </p:nvSpPr>
        <p:spPr>
          <a:xfrm>
            <a:off x="640080" y="5806440"/>
            <a:ext cx="256032" cy="256032"/>
          </a:xfrm>
          <a:prstGeom prst="rect">
            <a:avLst/>
          </a:prstGeom>
          <a:solidFill>
            <a:srgbClr val="22C55E"/>
          </a:solidFill>
          <a:ln w="12700">
            <a:solidFill>
              <a:srgbClr val="22C55E"/>
            </a:solidFill>
            <a:prstDash val="solid"/>
          </a:ln>
        </p:spPr>
      </p:sp>
      <p:sp>
        <p:nvSpPr>
          <p:cNvPr id="19" name="Text 15"/>
          <p:cNvSpPr/>
          <p:nvPr/>
        </p:nvSpPr>
        <p:spPr>
          <a:xfrm>
            <a:off x="987552" y="5806440"/>
            <a:ext cx="237744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Green sticky = done</a:t>
            </a:r>
            <a:endParaRPr lang="en-US" sz="1100" dirty="0"/>
          </a:p>
        </p:txBody>
      </p:sp>
      <p:sp>
        <p:nvSpPr>
          <p:cNvPr id="20" name="Shape 16"/>
          <p:cNvSpPr/>
          <p:nvPr/>
        </p:nvSpPr>
        <p:spPr>
          <a:xfrm>
            <a:off x="3474720" y="5806440"/>
            <a:ext cx="256032" cy="256032"/>
          </a:xfrm>
          <a:prstGeom prst="rect">
            <a:avLst/>
          </a:prstGeom>
          <a:solidFill>
            <a:srgbClr val="EF4444"/>
          </a:solidFill>
          <a:ln w="12700">
            <a:solidFill>
              <a:srgbClr val="EF4444"/>
            </a:solidFill>
            <a:prstDash val="solid"/>
          </a:ln>
        </p:spPr>
      </p:sp>
      <p:sp>
        <p:nvSpPr>
          <p:cNvPr id="21" name="Text 17"/>
          <p:cNvSpPr/>
          <p:nvPr/>
        </p:nvSpPr>
        <p:spPr>
          <a:xfrm>
            <a:off x="3822192" y="5806440"/>
            <a:ext cx="4114800" cy="256032"/>
          </a:xfrm>
          <a:prstGeom prst="rect">
            <a:avLst/>
          </a:prstGeom>
          <a:noFill/>
          <a:ln/>
        </p:spPr>
        <p:txBody>
          <a:bodyPr wrap="square" lIns="0" tIns="0" rIns="0" bIns="0" rtlCol="0" anchor="ctr"/>
          <a:lstStyle/>
          <a:p>
            <a:pPr indent="0" marL="0">
              <a:buNone/>
            </a:pPr>
            <a:r>
              <a:rPr lang="en-US" sz="1100" dirty="0">
                <a:solidFill>
                  <a:srgbClr val="5B6675"/>
                </a:solidFill>
                <a:latin typeface="Arial" pitchFamily="34" charset="0"/>
                <a:ea typeface="Arial" pitchFamily="34" charset="-122"/>
                <a:cs typeface="Arial" pitchFamily="34" charset="-120"/>
              </a:rPr>
              <a:t>Red sticky = a helper comes to you</a:t>
            </a:r>
            <a:endParaRPr lang="en-US" sz="1100" dirty="0"/>
          </a:p>
        </p:txBody>
      </p:sp>
      <p:sp>
        <p:nvSpPr>
          <p:cNvPr id="22" name="Shape 18"/>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23" name="Text 19"/>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4" name="Shape 20"/>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25" name="Text 21"/>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26" name="Shape 22"/>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27" name="Text 23"/>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28" name="Shape 24"/>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29" name="Text 25"/>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30" name="Shape 26"/>
          <p:cNvSpPr/>
          <p:nvPr/>
        </p:nvSpPr>
        <p:spPr>
          <a:xfrm>
            <a:off x="7100316" y="6291072"/>
            <a:ext cx="896112" cy="274320"/>
          </a:xfrm>
          <a:prstGeom prst="roundRect">
            <a:avLst>
              <a:gd name="adj" fmla="val 20000"/>
            </a:avLst>
          </a:prstGeom>
          <a:solidFill>
            <a:srgbClr val="EF8B39"/>
          </a:solidFill>
          <a:ln w="6350">
            <a:solidFill>
              <a:srgbClr val="EF8B39"/>
            </a:solidFill>
            <a:prstDash val="solid"/>
          </a:ln>
        </p:spPr>
      </p:sp>
      <p:sp>
        <p:nvSpPr>
          <p:cNvPr id="31" name="Text 27"/>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SHIP</a:t>
            </a:r>
            <a:endParaRPr lang="en-US" sz="800" dirty="0"/>
          </a:p>
        </p:txBody>
      </p:sp>
      <p:sp>
        <p:nvSpPr>
          <p:cNvPr id="32" name="Shape 28"/>
          <p:cNvSpPr/>
          <p:nvPr/>
        </p:nvSpPr>
        <p:spPr>
          <a:xfrm>
            <a:off x="8069580" y="6291072"/>
            <a:ext cx="896112" cy="274320"/>
          </a:xfrm>
          <a:prstGeom prst="roundRect">
            <a:avLst>
              <a:gd name="adj" fmla="val 20000"/>
            </a:avLst>
          </a:prstGeom>
          <a:solidFill>
            <a:srgbClr val="F3F6FB"/>
          </a:solidFill>
          <a:ln w="6350">
            <a:solidFill>
              <a:srgbClr val="D9E0EA"/>
            </a:solidFill>
            <a:prstDash val="solid"/>
          </a:ln>
        </p:spPr>
      </p:sp>
      <p:sp>
        <p:nvSpPr>
          <p:cNvPr id="33" name="Text 29"/>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49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12  ·  WHAT YOU OWN NOW  ·  10 MIN  ·  REVIEW</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5:50 – 6:00</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3000" b="1" dirty="0">
                <a:solidFill>
                  <a:srgbClr val="0D1219"/>
                </a:solidFill>
                <a:latin typeface="Arial" pitchFamily="34" charset="0"/>
                <a:ea typeface="Arial" pitchFamily="34" charset="-122"/>
                <a:cs typeface="Arial" pitchFamily="34" charset="-120"/>
              </a:rPr>
              <a:t>Read it back against your own screen.</a:t>
            </a:r>
            <a:endParaRPr lang="en-US" sz="3000" dirty="0"/>
          </a:p>
        </p:txBody>
      </p:sp>
      <p:sp>
        <p:nvSpPr>
          <p:cNvPr id="8" name="Shape 4"/>
          <p:cNvSpPr/>
          <p:nvPr/>
        </p:nvSpPr>
        <p:spPr>
          <a:xfrm>
            <a:off x="640080" y="1801368"/>
            <a:ext cx="219456" cy="219456"/>
          </a:xfrm>
          <a:prstGeom prst="rect">
            <a:avLst/>
          </a:prstGeom>
          <a:solidFill>
            <a:srgbClr val="22C55E"/>
          </a:solidFill>
          <a:ln w="12700">
            <a:solidFill>
              <a:srgbClr val="22C55E"/>
            </a:solidFill>
            <a:prstDash val="solid"/>
          </a:ln>
        </p:spPr>
      </p:sp>
      <p:sp>
        <p:nvSpPr>
          <p:cNvPr id="9" name="Text 5"/>
          <p:cNvSpPr txBox="1"/>
          <p:nvPr/>
        </p:nvSpPr>
        <p:spPr>
          <a:xfrm>
            <a:off x="1051560" y="1737360"/>
            <a:ext cx="10451592" cy="347472"/>
          </a:xfrm>
          <a:prstGeom prst="rect">
            <a:avLst/>
          </a:prstGeom>
          <a:noFill/>
          <a:ln/>
        </p:spPr>
        <p:txBody>
          <a:bodyPr wrap="square" lIns="0" tIns="0" rIns="0" bIns="0" rtlCol="0" anchor="ctr"/>
          <a:lstStyle/>
          <a:p>
            <a:pPr algn="l" indent="0" marL="0">
              <a:lnSpc>
                <a:spcPct val="115000"/>
              </a:lnSpc>
              <a:buNone/>
            </a:pPr>
            <a:r>
              <a:rPr lang="en-US" sz="1250" dirty="0">
                <a:solidFill>
                  <a:srgbClr val="0D1219"/>
                </a:solidFill>
                <a:latin typeface="Arial" pitchFamily="34" charset="0"/>
                <a:ea typeface="Arial" pitchFamily="34" charset="-122"/>
                <a:cs typeface="Arial" pitchFamily="34" charset="-120"/>
              </a:rPr>
              <a:t>Files on my laptop, and a copy of every version in my GitHub</a:t>
            </a:r>
            <a:endParaRPr lang="en-US" sz="1250" dirty="0"/>
          </a:p>
        </p:txBody>
      </p:sp>
      <p:sp>
        <p:nvSpPr>
          <p:cNvPr id="10" name="Shape 6"/>
          <p:cNvSpPr/>
          <p:nvPr/>
        </p:nvSpPr>
        <p:spPr>
          <a:xfrm>
            <a:off x="640080" y="2176272"/>
            <a:ext cx="219456" cy="219456"/>
          </a:xfrm>
          <a:prstGeom prst="rect">
            <a:avLst/>
          </a:prstGeom>
          <a:solidFill>
            <a:srgbClr val="22C55E"/>
          </a:solidFill>
          <a:ln w="12700">
            <a:solidFill>
              <a:srgbClr val="22C55E"/>
            </a:solidFill>
            <a:prstDash val="solid"/>
          </a:ln>
        </p:spPr>
      </p:sp>
      <p:sp>
        <p:nvSpPr>
          <p:cNvPr id="11" name="Text 7"/>
          <p:cNvSpPr txBox="1"/>
          <p:nvPr/>
        </p:nvSpPr>
        <p:spPr>
          <a:xfrm>
            <a:off x="1051560" y="2112264"/>
            <a:ext cx="10451592" cy="347472"/>
          </a:xfrm>
          <a:prstGeom prst="rect">
            <a:avLst/>
          </a:prstGeom>
          <a:noFill/>
          <a:ln/>
        </p:spPr>
        <p:txBody>
          <a:bodyPr wrap="square" lIns="0" tIns="0" rIns="0" bIns="0" rtlCol="0" anchor="ctr"/>
          <a:lstStyle/>
          <a:p>
            <a:pPr algn="l" indent="0" marL="0">
              <a:lnSpc>
                <a:spcPct val="115000"/>
              </a:lnSpc>
              <a:buNone/>
            </a:pPr>
            <a:r>
              <a:rPr lang="en-US" sz="1250" dirty="0">
                <a:solidFill>
                  <a:srgbClr val="0D1219"/>
                </a:solidFill>
                <a:latin typeface="Arial" pitchFamily="34" charset="0"/>
                <a:ea typeface="Arial" pitchFamily="34" charset="-122"/>
                <a:cs typeface="Arial" pitchFamily="34" charset="-120"/>
              </a:rPr>
              <a:t>A live site on my Vercel, with a preview URL for every change</a:t>
            </a:r>
            <a:endParaRPr lang="en-US" sz="1250" dirty="0"/>
          </a:p>
        </p:txBody>
      </p:sp>
      <p:sp>
        <p:nvSpPr>
          <p:cNvPr id="12" name="Shape 8"/>
          <p:cNvSpPr/>
          <p:nvPr/>
        </p:nvSpPr>
        <p:spPr>
          <a:xfrm>
            <a:off x="640080" y="2551176"/>
            <a:ext cx="219456" cy="219456"/>
          </a:xfrm>
          <a:prstGeom prst="rect">
            <a:avLst/>
          </a:prstGeom>
          <a:solidFill>
            <a:srgbClr val="22C55E"/>
          </a:solidFill>
          <a:ln w="12700">
            <a:solidFill>
              <a:srgbClr val="22C55E"/>
            </a:solidFill>
            <a:prstDash val="solid"/>
          </a:ln>
        </p:spPr>
      </p:sp>
      <p:sp>
        <p:nvSpPr>
          <p:cNvPr id="13" name="Text 9"/>
          <p:cNvSpPr txBox="1"/>
          <p:nvPr/>
        </p:nvSpPr>
        <p:spPr>
          <a:xfrm>
            <a:off x="1051560" y="2487168"/>
            <a:ext cx="10451592" cy="347472"/>
          </a:xfrm>
          <a:prstGeom prst="rect">
            <a:avLst/>
          </a:prstGeom>
          <a:noFill/>
          <a:ln/>
        </p:spPr>
        <p:txBody>
          <a:bodyPr wrap="square" lIns="0" tIns="0" rIns="0" bIns="0" rtlCol="0" anchor="ctr"/>
          <a:lstStyle/>
          <a:p>
            <a:pPr algn="l" indent="0" marL="0">
              <a:lnSpc>
                <a:spcPct val="115000"/>
              </a:lnSpc>
              <a:buNone/>
            </a:pPr>
            <a:r>
              <a:rPr lang="en-US" sz="1250" dirty="0">
                <a:solidFill>
                  <a:srgbClr val="0D1219"/>
                </a:solidFill>
                <a:latin typeface="Arial" pitchFamily="34" charset="0"/>
                <a:ea typeface="Arial" pitchFamily="34" charset="-122"/>
                <a:cs typeface="Arial" pitchFamily="34" charset="-120"/>
              </a:rPr>
              <a:t>A rollback I have used</a:t>
            </a:r>
            <a:endParaRPr lang="en-US" sz="1250" dirty="0"/>
          </a:p>
        </p:txBody>
      </p:sp>
      <p:sp>
        <p:nvSpPr>
          <p:cNvPr id="14" name="Shape 10"/>
          <p:cNvSpPr/>
          <p:nvPr/>
        </p:nvSpPr>
        <p:spPr>
          <a:xfrm>
            <a:off x="640080" y="2926080"/>
            <a:ext cx="219456" cy="219456"/>
          </a:xfrm>
          <a:prstGeom prst="rect">
            <a:avLst/>
          </a:prstGeom>
          <a:solidFill>
            <a:srgbClr val="22C55E"/>
          </a:solidFill>
          <a:ln w="12700">
            <a:solidFill>
              <a:srgbClr val="22C55E"/>
            </a:solidFill>
            <a:prstDash val="solid"/>
          </a:ln>
        </p:spPr>
      </p:sp>
      <p:sp>
        <p:nvSpPr>
          <p:cNvPr id="15" name="Text 11"/>
          <p:cNvSpPr txBox="1"/>
          <p:nvPr/>
        </p:nvSpPr>
        <p:spPr>
          <a:xfrm>
            <a:off x="1051560" y="2862072"/>
            <a:ext cx="10451592" cy="347472"/>
          </a:xfrm>
          <a:prstGeom prst="rect">
            <a:avLst/>
          </a:prstGeom>
          <a:noFill/>
          <a:ln/>
        </p:spPr>
        <p:txBody>
          <a:bodyPr wrap="square" lIns="0" tIns="0" rIns="0" bIns="0" rtlCol="0" anchor="ctr"/>
          <a:lstStyle/>
          <a:p>
            <a:pPr algn="l" indent="0" marL="0">
              <a:lnSpc>
                <a:spcPct val="115000"/>
              </a:lnSpc>
              <a:buNone/>
            </a:pPr>
            <a:r>
              <a:rPr lang="en-US" sz="1250" dirty="0">
                <a:solidFill>
                  <a:srgbClr val="0D1219"/>
                </a:solidFill>
                <a:latin typeface="Arial" pitchFamily="34" charset="0"/>
                <a:ea typeface="Arial" pitchFamily="34" charset="-122"/>
                <a:cs typeface="Arial" pitchFamily="34" charset="-120"/>
              </a:rPr>
              <a:t>Secrets in environment variables, not in the code</a:t>
            </a:r>
            <a:endParaRPr lang="en-US" sz="1250" dirty="0"/>
          </a:p>
        </p:txBody>
      </p:sp>
      <p:sp>
        <p:nvSpPr>
          <p:cNvPr id="16" name="Shape 12"/>
          <p:cNvSpPr/>
          <p:nvPr/>
        </p:nvSpPr>
        <p:spPr>
          <a:xfrm>
            <a:off x="640080" y="3300984"/>
            <a:ext cx="219456" cy="219456"/>
          </a:xfrm>
          <a:prstGeom prst="rect">
            <a:avLst/>
          </a:prstGeom>
          <a:solidFill>
            <a:srgbClr val="22C55E"/>
          </a:solidFill>
          <a:ln w="12700">
            <a:solidFill>
              <a:srgbClr val="22C55E"/>
            </a:solidFill>
            <a:prstDash val="solid"/>
          </a:ln>
        </p:spPr>
      </p:sp>
      <p:sp>
        <p:nvSpPr>
          <p:cNvPr id="17" name="Text 13"/>
          <p:cNvSpPr txBox="1"/>
          <p:nvPr/>
        </p:nvSpPr>
        <p:spPr>
          <a:xfrm>
            <a:off x="1051560" y="3236976"/>
            <a:ext cx="10451592" cy="347472"/>
          </a:xfrm>
          <a:prstGeom prst="rect">
            <a:avLst/>
          </a:prstGeom>
          <a:noFill/>
          <a:ln/>
        </p:spPr>
        <p:txBody>
          <a:bodyPr wrap="square" lIns="0" tIns="0" rIns="0" bIns="0" rtlCol="0" anchor="ctr"/>
          <a:lstStyle/>
          <a:p>
            <a:pPr algn="l" indent="0" marL="0">
              <a:lnSpc>
                <a:spcPct val="115000"/>
              </a:lnSpc>
              <a:buNone/>
            </a:pPr>
            <a:r>
              <a:rPr lang="en-US" sz="1250" dirty="0">
                <a:solidFill>
                  <a:srgbClr val="0D1219"/>
                </a:solidFill>
                <a:latin typeface="Arial" pitchFamily="34" charset="0"/>
                <a:ea typeface="Arial" pitchFamily="34" charset="-122"/>
                <a:cs typeface="Arial" pitchFamily="34" charset="-120"/>
              </a:rPr>
              <a:t>A database in my account, with the connection string in an environment variable</a:t>
            </a:r>
            <a:endParaRPr lang="en-US" sz="1250" dirty="0"/>
          </a:p>
        </p:txBody>
      </p:sp>
      <p:sp>
        <p:nvSpPr>
          <p:cNvPr id="18" name="Shape 14"/>
          <p:cNvSpPr/>
          <p:nvPr/>
        </p:nvSpPr>
        <p:spPr>
          <a:xfrm>
            <a:off x="640080" y="3675888"/>
            <a:ext cx="219456" cy="219456"/>
          </a:xfrm>
          <a:prstGeom prst="rect">
            <a:avLst/>
          </a:prstGeom>
          <a:solidFill>
            <a:srgbClr val="22C55E"/>
          </a:solidFill>
          <a:ln w="12700">
            <a:solidFill>
              <a:srgbClr val="22C55E"/>
            </a:solidFill>
            <a:prstDash val="solid"/>
          </a:ln>
        </p:spPr>
      </p:sp>
      <p:sp>
        <p:nvSpPr>
          <p:cNvPr id="19" name="Text 15"/>
          <p:cNvSpPr txBox="1"/>
          <p:nvPr/>
        </p:nvSpPr>
        <p:spPr>
          <a:xfrm>
            <a:off x="1051560" y="3611880"/>
            <a:ext cx="10451592" cy="347472"/>
          </a:xfrm>
          <a:prstGeom prst="rect">
            <a:avLst/>
          </a:prstGeom>
          <a:noFill/>
          <a:ln/>
        </p:spPr>
        <p:txBody>
          <a:bodyPr wrap="square" lIns="0" tIns="0" rIns="0" bIns="0" rtlCol="0" anchor="ctr"/>
          <a:lstStyle/>
          <a:p>
            <a:pPr algn="l" indent="0" marL="0">
              <a:lnSpc>
                <a:spcPct val="115000"/>
              </a:lnSpc>
              <a:buNone/>
            </a:pPr>
            <a:r>
              <a:rPr lang="en-US" sz="1250" dirty="0">
                <a:solidFill>
                  <a:srgbClr val="0D1219"/>
                </a:solidFill>
                <a:latin typeface="Arial" pitchFamily="34" charset="0"/>
                <a:ea typeface="Arial" pitchFamily="34" charset="-122"/>
                <a:cs typeface="Arial" pitchFamily="34" charset="-120"/>
              </a:rPr>
              <a:t>An email when a customer submits, and a log page for errors</a:t>
            </a:r>
            <a:endParaRPr lang="en-US" sz="1250" dirty="0"/>
          </a:p>
        </p:txBody>
      </p:sp>
      <p:sp>
        <p:nvSpPr>
          <p:cNvPr id="20" name="Shape 16"/>
          <p:cNvSpPr/>
          <p:nvPr/>
        </p:nvSpPr>
        <p:spPr>
          <a:xfrm>
            <a:off x="640080" y="4050792"/>
            <a:ext cx="219456" cy="219456"/>
          </a:xfrm>
          <a:prstGeom prst="rect">
            <a:avLst/>
          </a:prstGeom>
          <a:solidFill>
            <a:srgbClr val="22C55E"/>
          </a:solidFill>
          <a:ln w="12700">
            <a:solidFill>
              <a:srgbClr val="22C55E"/>
            </a:solidFill>
            <a:prstDash val="solid"/>
          </a:ln>
        </p:spPr>
      </p:sp>
      <p:sp>
        <p:nvSpPr>
          <p:cNvPr id="21" name="Text 17"/>
          <p:cNvSpPr txBox="1"/>
          <p:nvPr/>
        </p:nvSpPr>
        <p:spPr>
          <a:xfrm>
            <a:off x="1051560" y="3986784"/>
            <a:ext cx="10451592" cy="347472"/>
          </a:xfrm>
          <a:prstGeom prst="rect">
            <a:avLst/>
          </a:prstGeom>
          <a:noFill/>
          <a:ln/>
        </p:spPr>
        <p:txBody>
          <a:bodyPr wrap="square" lIns="0" tIns="0" rIns="0" bIns="0" rtlCol="0" anchor="ctr"/>
          <a:lstStyle/>
          <a:p>
            <a:pPr algn="l" indent="0" marL="0">
              <a:lnSpc>
                <a:spcPct val="115000"/>
              </a:lnSpc>
              <a:buNone/>
            </a:pPr>
            <a:r>
              <a:rPr lang="en-US" sz="1250" dirty="0">
                <a:solidFill>
                  <a:srgbClr val="0D1219"/>
                </a:solidFill>
                <a:latin typeface="Arial" pitchFamily="34" charset="0"/>
                <a:ea typeface="Arial" pitchFamily="34" charset="-122"/>
                <a:cs typeface="Arial" pitchFamily="34" charset="-120"/>
              </a:rPr>
              <a:t>A test that runs on every pull request, with a red X I made on purpose</a:t>
            </a:r>
            <a:endParaRPr lang="en-US" sz="1250" dirty="0"/>
          </a:p>
        </p:txBody>
      </p:sp>
      <p:sp>
        <p:nvSpPr>
          <p:cNvPr id="22" name="Shape 18"/>
          <p:cNvSpPr/>
          <p:nvPr/>
        </p:nvSpPr>
        <p:spPr>
          <a:xfrm>
            <a:off x="640080" y="4425696"/>
            <a:ext cx="219456" cy="219456"/>
          </a:xfrm>
          <a:prstGeom prst="rect">
            <a:avLst/>
          </a:prstGeom>
          <a:solidFill>
            <a:srgbClr val="22C55E"/>
          </a:solidFill>
          <a:ln w="12700">
            <a:solidFill>
              <a:srgbClr val="22C55E"/>
            </a:solidFill>
            <a:prstDash val="solid"/>
          </a:ln>
        </p:spPr>
      </p:sp>
      <p:sp>
        <p:nvSpPr>
          <p:cNvPr id="23" name="Text 19"/>
          <p:cNvSpPr txBox="1"/>
          <p:nvPr/>
        </p:nvSpPr>
        <p:spPr>
          <a:xfrm>
            <a:off x="1051560" y="4361688"/>
            <a:ext cx="10451592" cy="347472"/>
          </a:xfrm>
          <a:prstGeom prst="rect">
            <a:avLst/>
          </a:prstGeom>
          <a:noFill/>
          <a:ln/>
        </p:spPr>
        <p:txBody>
          <a:bodyPr wrap="square" lIns="0" tIns="0" rIns="0" bIns="0" rtlCol="0" anchor="ctr"/>
          <a:lstStyle/>
          <a:p>
            <a:pPr algn="l" indent="0" marL="0">
              <a:lnSpc>
                <a:spcPct val="115000"/>
              </a:lnSpc>
              <a:buNone/>
            </a:pPr>
            <a:r>
              <a:rPr lang="en-US" sz="1250" dirty="0">
                <a:solidFill>
                  <a:srgbClr val="0D1219"/>
                </a:solidFill>
                <a:latin typeface="Arial" pitchFamily="34" charset="0"/>
                <a:ea typeface="Arial" pitchFamily="34" charset="-122"/>
                <a:cs typeface="Arial" pitchFamily="34" charset="-120"/>
              </a:rPr>
              <a:t>A fresh-reader review before merge</a:t>
            </a:r>
            <a:endParaRPr lang="en-US" sz="1250" dirty="0"/>
          </a:p>
        </p:txBody>
      </p:sp>
      <p:sp>
        <p:nvSpPr>
          <p:cNvPr id="24" name="Shape 20"/>
          <p:cNvSpPr/>
          <p:nvPr/>
        </p:nvSpPr>
        <p:spPr>
          <a:xfrm>
            <a:off x="640080" y="4800600"/>
            <a:ext cx="219456" cy="219456"/>
          </a:xfrm>
          <a:prstGeom prst="rect">
            <a:avLst/>
          </a:prstGeom>
          <a:solidFill>
            <a:srgbClr val="22C55E"/>
          </a:solidFill>
          <a:ln w="12700">
            <a:solidFill>
              <a:srgbClr val="22C55E"/>
            </a:solidFill>
            <a:prstDash val="solid"/>
          </a:ln>
        </p:spPr>
      </p:sp>
      <p:sp>
        <p:nvSpPr>
          <p:cNvPr id="25" name="Text 21"/>
          <p:cNvSpPr txBox="1"/>
          <p:nvPr/>
        </p:nvSpPr>
        <p:spPr>
          <a:xfrm>
            <a:off x="1051560" y="4736592"/>
            <a:ext cx="10451592" cy="347472"/>
          </a:xfrm>
          <a:prstGeom prst="rect">
            <a:avLst/>
          </a:prstGeom>
          <a:noFill/>
          <a:ln/>
        </p:spPr>
        <p:txBody>
          <a:bodyPr wrap="square" lIns="0" tIns="0" rIns="0" bIns="0" rtlCol="0" anchor="ctr"/>
          <a:lstStyle/>
          <a:p>
            <a:pPr algn="l" indent="0" marL="0">
              <a:lnSpc>
                <a:spcPct val="115000"/>
              </a:lnSpc>
              <a:buNone/>
            </a:pPr>
            <a:r>
              <a:rPr lang="en-US" sz="1250" dirty="0">
                <a:solidFill>
                  <a:srgbClr val="0D1219"/>
                </a:solidFill>
                <a:latin typeface="Arial" pitchFamily="34" charset="0"/>
                <a:ea typeface="Arial" pitchFamily="34" charset="-122"/>
                <a:cs typeface="Arial" pitchFamily="34" charset="-120"/>
              </a:rPr>
              <a:t>A skill in the repo that runs the checklist, in any AI tool</a:t>
            </a:r>
            <a:endParaRPr lang="en-US" sz="1250" dirty="0"/>
          </a:p>
        </p:txBody>
      </p:sp>
      <p:sp>
        <p:nvSpPr>
          <p:cNvPr id="26" name="Text 22"/>
          <p:cNvSpPr txBox="1"/>
          <p:nvPr/>
        </p:nvSpPr>
        <p:spPr>
          <a:xfrm>
            <a:off x="640080" y="5257800"/>
            <a:ext cx="10908792" cy="457200"/>
          </a:xfrm>
          <a:prstGeom prst="rect">
            <a:avLst/>
          </a:prstGeom>
          <a:noFill/>
          <a:ln/>
        </p:spPr>
        <p:txBody>
          <a:bodyPr wrap="square" lIns="0" tIns="0" rIns="0" bIns="0" rtlCol="0" anchor="t"/>
          <a:lstStyle/>
          <a:p>
            <a:pPr algn="l" indent="0" marL="0">
              <a:lnSpc>
                <a:spcPct val="115000"/>
              </a:lnSpc>
              <a:buNone/>
            </a:pPr>
            <a:r>
              <a:rPr lang="en-US" sz="1400" b="1" dirty="0">
                <a:solidFill>
                  <a:srgbClr val="EF8B39"/>
                </a:solidFill>
                <a:latin typeface="Arial" pitchFamily="34" charset="0"/>
                <a:ea typeface="Arial" pitchFamily="34" charset="-122"/>
                <a:cs typeface="Arial" pitchFamily="34" charset="-120"/>
              </a:rPr>
              <a:t>None of that is a subscription to me or to a builder.</a:t>
            </a:r>
            <a:endParaRPr lang="en-US" sz="1400" dirty="0"/>
          </a:p>
        </p:txBody>
      </p:sp>
      <p:sp>
        <p:nvSpPr>
          <p:cNvPr id="27" name="Shape 23"/>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28" name="Text 24"/>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29" name="Shape 25"/>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30" name="Text 26"/>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31" name="Shape 27"/>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32" name="Text 28"/>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33" name="Shape 29"/>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34" name="Text 30"/>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35" name="Shape 31"/>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36" name="Text 32"/>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37" name="Shape 33"/>
          <p:cNvSpPr/>
          <p:nvPr/>
        </p:nvSpPr>
        <p:spPr>
          <a:xfrm>
            <a:off x="8069580" y="6291072"/>
            <a:ext cx="896112" cy="274320"/>
          </a:xfrm>
          <a:prstGeom prst="roundRect">
            <a:avLst>
              <a:gd name="adj" fmla="val 20000"/>
            </a:avLst>
          </a:prstGeom>
          <a:solidFill>
            <a:srgbClr val="EF8B39"/>
          </a:solidFill>
          <a:ln w="6350">
            <a:solidFill>
              <a:srgbClr val="EF8B39"/>
            </a:solidFill>
            <a:prstDash val="solid"/>
          </a:ln>
        </p:spPr>
      </p:sp>
      <p:sp>
        <p:nvSpPr>
          <p:cNvPr id="38" name="Text 34"/>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50 / 51</a:t>
            </a:r>
            <a:endParaRPr lang="en-US" sz="900" dirty="0"/>
          </a:p>
        </p:txBody>
      </p:sp>
      <p:sp>
        <p:nvSpPr>
          <p:cNvPr id="5" name="Text 1"/>
          <p:cNvSpPr/>
          <p:nvPr/>
        </p:nvSpPr>
        <p:spPr>
          <a:xfrm>
            <a:off x="640080" y="502920"/>
            <a:ext cx="8714232" cy="274320"/>
          </a:xfrm>
          <a:prstGeom prst="rect">
            <a:avLst/>
          </a:prstGeom>
          <a:noFill/>
          <a:ln/>
        </p:spPr>
        <p:txBody>
          <a:bodyPr wrap="square" lIns="0" tIns="0" rIns="0" bIns="0" rtlCol="0" anchor="ctr"/>
          <a:lstStyle/>
          <a:p>
            <a:pPr indent="0" marL="0">
              <a:buNone/>
            </a:pPr>
            <a:r>
              <a:rPr lang="en-US" sz="1050" b="1" spc="200" kern="0" dirty="0">
                <a:solidFill>
                  <a:srgbClr val="307FE2"/>
                </a:solidFill>
                <a:latin typeface="Courier New" pitchFamily="34" charset="0"/>
                <a:ea typeface="Courier New" pitchFamily="34" charset="-122"/>
                <a:cs typeface="Courier New" pitchFamily="34" charset="-120"/>
              </a:rPr>
              <a:t>BLOCK 12  ·  WHAT YOU OWN NOW  ·  10 MIN  ·  REVIEW</a:t>
            </a:r>
            <a:endParaRPr lang="en-US" sz="1050" dirty="0"/>
          </a:p>
        </p:txBody>
      </p:sp>
      <p:sp>
        <p:nvSpPr>
          <p:cNvPr id="6" name="Text 2"/>
          <p:cNvSpPr txBox="1"/>
          <p:nvPr/>
        </p:nvSpPr>
        <p:spPr>
          <a:xfrm>
            <a:off x="9537192" y="502920"/>
            <a:ext cx="2011680" cy="274320"/>
          </a:xfrm>
          <a:prstGeom prst="rect">
            <a:avLst/>
          </a:prstGeom>
          <a:noFill/>
          <a:ln/>
        </p:spPr>
        <p:txBody>
          <a:bodyPr wrap="square" lIns="0" tIns="0" rIns="0" bIns="0" rtlCol="0" anchor="ctr"/>
          <a:lstStyle/>
          <a:p>
            <a:pPr algn="r" indent="0" marL="0">
              <a:buNone/>
            </a:pPr>
            <a:r>
              <a:rPr lang="en-US" sz="950" dirty="0">
                <a:solidFill>
                  <a:srgbClr val="7B8594"/>
                </a:solidFill>
                <a:latin typeface="Courier New" pitchFamily="34" charset="0"/>
                <a:ea typeface="Courier New" pitchFamily="34" charset="-122"/>
                <a:cs typeface="Courier New" pitchFamily="34" charset="-120"/>
              </a:rPr>
              <a:t>5:50 – 6:00</a:t>
            </a:r>
            <a:endParaRPr lang="en-US" sz="950" dirty="0"/>
          </a:p>
        </p:txBody>
      </p:sp>
      <p:sp>
        <p:nvSpPr>
          <p:cNvPr id="7" name="Text 3"/>
          <p:cNvSpPr txBox="1"/>
          <p:nvPr/>
        </p:nvSpPr>
        <p:spPr>
          <a:xfrm>
            <a:off x="640080" y="822960"/>
            <a:ext cx="10908792" cy="822960"/>
          </a:xfrm>
          <a:prstGeom prst="rect">
            <a:avLst/>
          </a:prstGeom>
          <a:noFill/>
          <a:ln/>
        </p:spPr>
        <p:txBody>
          <a:bodyPr wrap="square" lIns="0" tIns="0" rIns="0" bIns="0" rtlCol="0" anchor="t"/>
          <a:lstStyle/>
          <a:p>
            <a:pPr indent="0" marL="0">
              <a:buNone/>
            </a:pPr>
            <a:r>
              <a:rPr lang="en-US" sz="2700" b="1" dirty="0">
                <a:solidFill>
                  <a:srgbClr val="0D1219"/>
                </a:solidFill>
                <a:latin typeface="Arial" pitchFamily="34" charset="0"/>
                <a:ea typeface="Arial" pitchFamily="34" charset="-122"/>
                <a:cs typeface="Arial" pitchFamily="34" charset="-120"/>
              </a:rPr>
              <a:t>Monday, in this order. Every line has a free tier.</a:t>
            </a:r>
            <a:endParaRPr lang="en-US" sz="2700" dirty="0"/>
          </a:p>
        </p:txBody>
      </p:sp>
      <p:sp>
        <p:nvSpPr>
          <p:cNvPr id="8" name="Shape 4"/>
          <p:cNvSpPr/>
          <p:nvPr/>
        </p:nvSpPr>
        <p:spPr>
          <a:xfrm>
            <a:off x="640080" y="1783080"/>
            <a:ext cx="3520440" cy="1508760"/>
          </a:xfrm>
          <a:prstGeom prst="rect">
            <a:avLst/>
          </a:prstGeom>
          <a:solidFill>
            <a:srgbClr val="F3F6FB"/>
          </a:solidFill>
          <a:ln w="9525">
            <a:solidFill>
              <a:srgbClr val="D9E0EA"/>
            </a:solidFill>
            <a:prstDash val="solid"/>
          </a:ln>
        </p:spPr>
      </p:sp>
      <p:sp>
        <p:nvSpPr>
          <p:cNvPr id="9" name="Shape 5"/>
          <p:cNvSpPr/>
          <p:nvPr/>
        </p:nvSpPr>
        <p:spPr>
          <a:xfrm>
            <a:off x="640080" y="1783080"/>
            <a:ext cx="54864" cy="1508760"/>
          </a:xfrm>
          <a:prstGeom prst="rect">
            <a:avLst/>
          </a:prstGeom>
          <a:solidFill>
            <a:srgbClr val="EF8B39"/>
          </a:solidFill>
          <a:ln w="12700">
            <a:solidFill>
              <a:srgbClr val="EF8B39"/>
            </a:solidFill>
            <a:prstDash val="solid"/>
          </a:ln>
        </p:spPr>
      </p:sp>
      <p:sp>
        <p:nvSpPr>
          <p:cNvPr id="10" name="Text 6"/>
          <p:cNvSpPr txBox="1"/>
          <p:nvPr/>
        </p:nvSpPr>
        <p:spPr>
          <a:xfrm>
            <a:off x="841248" y="1920240"/>
            <a:ext cx="457200" cy="274320"/>
          </a:xfrm>
          <a:prstGeom prst="rect">
            <a:avLst/>
          </a:prstGeom>
          <a:noFill/>
          <a:ln/>
        </p:spPr>
        <p:txBody>
          <a:bodyPr wrap="square" lIns="0" tIns="0" rIns="0" bIns="0" rtlCol="0" anchor="t"/>
          <a:lstStyle/>
          <a:p>
            <a:pPr algn="l" indent="0" marL="0">
              <a:lnSpc>
                <a:spcPct val="115000"/>
              </a:lnSpc>
              <a:buNone/>
            </a:pPr>
            <a:r>
              <a:rPr lang="en-US" sz="1000" dirty="0">
                <a:solidFill>
                  <a:srgbClr val="EF8B39"/>
                </a:solidFill>
                <a:latin typeface="Courier New" pitchFamily="34" charset="0"/>
                <a:ea typeface="Courier New" pitchFamily="34" charset="-122"/>
                <a:cs typeface="Courier New" pitchFamily="34" charset="-120"/>
              </a:rPr>
              <a:t>1</a:t>
            </a:r>
            <a:endParaRPr lang="en-US" sz="1000" dirty="0"/>
          </a:p>
        </p:txBody>
      </p:sp>
      <p:sp>
        <p:nvSpPr>
          <p:cNvPr id="11" name="Text 7"/>
          <p:cNvSpPr txBox="1"/>
          <p:nvPr/>
        </p:nvSpPr>
        <p:spPr>
          <a:xfrm>
            <a:off x="1188720" y="1892808"/>
            <a:ext cx="2834640" cy="365760"/>
          </a:xfrm>
          <a:prstGeom prst="rect">
            <a:avLst/>
          </a:prstGeom>
          <a:noFill/>
          <a:ln/>
        </p:spPr>
        <p:txBody>
          <a:bodyPr wrap="square" lIns="0" tIns="0" rIns="0" bIns="0" rtlCol="0" anchor="t"/>
          <a:lstStyle/>
          <a:p>
            <a:pPr indent="0" marL="0">
              <a:buNone/>
            </a:pPr>
            <a:r>
              <a:rPr lang="en-US" sz="1350" b="1" dirty="0">
                <a:solidFill>
                  <a:srgbClr val="0D1219"/>
                </a:solidFill>
                <a:latin typeface="Arial" pitchFamily="34" charset="0"/>
                <a:ea typeface="Arial" pitchFamily="34" charset="-122"/>
                <a:cs typeface="Arial" pitchFamily="34" charset="-120"/>
              </a:rPr>
              <a:t>Buy the domain</a:t>
            </a:r>
            <a:endParaRPr lang="en-US" sz="1350" dirty="0"/>
          </a:p>
        </p:txBody>
      </p:sp>
      <p:sp>
        <p:nvSpPr>
          <p:cNvPr id="12" name="Text 8"/>
          <p:cNvSpPr txBox="1"/>
          <p:nvPr/>
        </p:nvSpPr>
        <p:spPr>
          <a:xfrm>
            <a:off x="841248" y="2286000"/>
            <a:ext cx="3154680" cy="960120"/>
          </a:xfrm>
          <a:prstGeom prst="rect">
            <a:avLst/>
          </a:prstGeom>
          <a:noFill/>
          <a:ln/>
        </p:spPr>
        <p:txBody>
          <a:bodyPr wrap="square" lIns="0" tIns="0" rIns="0" bIns="0" rtlCol="0" anchor="t"/>
          <a:lstStyle/>
          <a:p>
            <a:pPr algn="l" indent="0" marL="0">
              <a:lnSpc>
                <a:spcPct val="115000"/>
              </a:lnSpc>
              <a:buNone/>
            </a:pPr>
            <a:r>
              <a:rPr lang="en-US" sz="1000" dirty="0">
                <a:solidFill>
                  <a:srgbClr val="5B6675"/>
                </a:solidFill>
                <a:latin typeface="Arial" pitchFamily="34" charset="0"/>
                <a:ea typeface="Arial" pitchFamily="34" charset="-122"/>
                <a:cs typeface="Arial" pitchFamily="34" charset="-120"/>
              </a:rPr>
              <a:t>~$11 / yr. In Vercel it skips the DNS step. Watch the $6.98-then-$15.88 bait elsewhere.</a:t>
            </a:r>
            <a:endParaRPr lang="en-US" sz="1000" dirty="0"/>
          </a:p>
        </p:txBody>
      </p:sp>
      <p:sp>
        <p:nvSpPr>
          <p:cNvPr id="13" name="Shape 9"/>
          <p:cNvSpPr/>
          <p:nvPr/>
        </p:nvSpPr>
        <p:spPr>
          <a:xfrm>
            <a:off x="4315968" y="1783080"/>
            <a:ext cx="3520440" cy="1508760"/>
          </a:xfrm>
          <a:prstGeom prst="rect">
            <a:avLst/>
          </a:prstGeom>
          <a:solidFill>
            <a:srgbClr val="F3F6FB"/>
          </a:solidFill>
          <a:ln w="9525">
            <a:solidFill>
              <a:srgbClr val="D9E0EA"/>
            </a:solidFill>
            <a:prstDash val="solid"/>
          </a:ln>
        </p:spPr>
      </p:sp>
      <p:sp>
        <p:nvSpPr>
          <p:cNvPr id="14" name="Shape 10"/>
          <p:cNvSpPr/>
          <p:nvPr/>
        </p:nvSpPr>
        <p:spPr>
          <a:xfrm>
            <a:off x="4315968" y="1783080"/>
            <a:ext cx="54864" cy="1508760"/>
          </a:xfrm>
          <a:prstGeom prst="rect">
            <a:avLst/>
          </a:prstGeom>
          <a:solidFill>
            <a:srgbClr val="EF8B39"/>
          </a:solidFill>
          <a:ln w="12700">
            <a:solidFill>
              <a:srgbClr val="EF8B39"/>
            </a:solidFill>
            <a:prstDash val="solid"/>
          </a:ln>
        </p:spPr>
      </p:sp>
      <p:sp>
        <p:nvSpPr>
          <p:cNvPr id="15" name="Text 11"/>
          <p:cNvSpPr txBox="1"/>
          <p:nvPr/>
        </p:nvSpPr>
        <p:spPr>
          <a:xfrm>
            <a:off x="4517136" y="1920240"/>
            <a:ext cx="457200" cy="274320"/>
          </a:xfrm>
          <a:prstGeom prst="rect">
            <a:avLst/>
          </a:prstGeom>
          <a:noFill/>
          <a:ln/>
        </p:spPr>
        <p:txBody>
          <a:bodyPr wrap="square" lIns="0" tIns="0" rIns="0" bIns="0" rtlCol="0" anchor="t"/>
          <a:lstStyle/>
          <a:p>
            <a:pPr algn="l" indent="0" marL="0">
              <a:lnSpc>
                <a:spcPct val="115000"/>
              </a:lnSpc>
              <a:buNone/>
            </a:pPr>
            <a:r>
              <a:rPr lang="en-US" sz="1000" dirty="0">
                <a:solidFill>
                  <a:srgbClr val="EF8B39"/>
                </a:solidFill>
                <a:latin typeface="Courier New" pitchFamily="34" charset="0"/>
                <a:ea typeface="Courier New" pitchFamily="34" charset="-122"/>
                <a:cs typeface="Courier New" pitchFamily="34" charset="-120"/>
              </a:rPr>
              <a:t>2</a:t>
            </a:r>
            <a:endParaRPr lang="en-US" sz="1000" dirty="0"/>
          </a:p>
        </p:txBody>
      </p:sp>
      <p:sp>
        <p:nvSpPr>
          <p:cNvPr id="16" name="Text 12"/>
          <p:cNvSpPr txBox="1"/>
          <p:nvPr/>
        </p:nvSpPr>
        <p:spPr>
          <a:xfrm>
            <a:off x="4864608" y="1892808"/>
            <a:ext cx="2834640" cy="365760"/>
          </a:xfrm>
          <a:prstGeom prst="rect">
            <a:avLst/>
          </a:prstGeom>
          <a:noFill/>
          <a:ln/>
        </p:spPr>
        <p:txBody>
          <a:bodyPr wrap="square" lIns="0" tIns="0" rIns="0" bIns="0" rtlCol="0" anchor="t"/>
          <a:lstStyle/>
          <a:p>
            <a:pPr indent="0" marL="0">
              <a:buNone/>
            </a:pPr>
            <a:r>
              <a:rPr lang="en-US" sz="1350" b="1" dirty="0">
                <a:solidFill>
                  <a:srgbClr val="0D1219"/>
                </a:solidFill>
                <a:latin typeface="Arial" pitchFamily="34" charset="0"/>
                <a:ea typeface="Arial" pitchFamily="34" charset="-122"/>
                <a:cs typeface="Arial" pitchFamily="34" charset="-120"/>
              </a:rPr>
              <a:t>Verify your email domain</a:t>
            </a:r>
            <a:endParaRPr lang="en-US" sz="1350" dirty="0"/>
          </a:p>
        </p:txBody>
      </p:sp>
      <p:sp>
        <p:nvSpPr>
          <p:cNvPr id="17" name="Text 13"/>
          <p:cNvSpPr txBox="1"/>
          <p:nvPr/>
        </p:nvSpPr>
        <p:spPr>
          <a:xfrm>
            <a:off x="4517136" y="2286000"/>
            <a:ext cx="3154680" cy="960120"/>
          </a:xfrm>
          <a:prstGeom prst="rect">
            <a:avLst/>
          </a:prstGeom>
          <a:noFill/>
          <a:ln/>
        </p:spPr>
        <p:txBody>
          <a:bodyPr wrap="square" lIns="0" tIns="0" rIns="0" bIns="0" rtlCol="0" anchor="t"/>
          <a:lstStyle/>
          <a:p>
            <a:pPr algn="l" indent="0" marL="0">
              <a:lnSpc>
                <a:spcPct val="115000"/>
              </a:lnSpc>
              <a:buNone/>
            </a:pPr>
            <a:r>
              <a:rPr lang="en-US" sz="1000" dirty="0">
                <a:solidFill>
                  <a:srgbClr val="5B6675"/>
                </a:solidFill>
                <a:latin typeface="Arial" pitchFamily="34" charset="0"/>
                <a:ea typeface="Arial" pitchFamily="34" charset="-122"/>
                <a:cs typeface="Arial" pitchFamily="34" charset="-120"/>
              </a:rPr>
              <a:t>Add the Resend DNS records so mail comes from your domain, reaches anyone, and stops landing in spam.</a:t>
            </a:r>
            <a:endParaRPr lang="en-US" sz="1000" dirty="0"/>
          </a:p>
        </p:txBody>
      </p:sp>
      <p:sp>
        <p:nvSpPr>
          <p:cNvPr id="18" name="Shape 14"/>
          <p:cNvSpPr/>
          <p:nvPr/>
        </p:nvSpPr>
        <p:spPr>
          <a:xfrm>
            <a:off x="7991856" y="1783080"/>
            <a:ext cx="3520440" cy="1508760"/>
          </a:xfrm>
          <a:prstGeom prst="rect">
            <a:avLst/>
          </a:prstGeom>
          <a:solidFill>
            <a:srgbClr val="F3F6FB"/>
          </a:solidFill>
          <a:ln w="9525">
            <a:solidFill>
              <a:srgbClr val="D9E0EA"/>
            </a:solidFill>
            <a:prstDash val="solid"/>
          </a:ln>
        </p:spPr>
      </p:sp>
      <p:sp>
        <p:nvSpPr>
          <p:cNvPr id="19" name="Shape 15"/>
          <p:cNvSpPr/>
          <p:nvPr/>
        </p:nvSpPr>
        <p:spPr>
          <a:xfrm>
            <a:off x="7991856" y="1783080"/>
            <a:ext cx="54864" cy="1508760"/>
          </a:xfrm>
          <a:prstGeom prst="rect">
            <a:avLst/>
          </a:prstGeom>
          <a:solidFill>
            <a:srgbClr val="EF8B39"/>
          </a:solidFill>
          <a:ln w="12700">
            <a:solidFill>
              <a:srgbClr val="EF8B39"/>
            </a:solidFill>
            <a:prstDash val="solid"/>
          </a:ln>
        </p:spPr>
      </p:sp>
      <p:sp>
        <p:nvSpPr>
          <p:cNvPr id="20" name="Text 16"/>
          <p:cNvSpPr txBox="1"/>
          <p:nvPr/>
        </p:nvSpPr>
        <p:spPr>
          <a:xfrm>
            <a:off x="8193024" y="1920240"/>
            <a:ext cx="457200" cy="274320"/>
          </a:xfrm>
          <a:prstGeom prst="rect">
            <a:avLst/>
          </a:prstGeom>
          <a:noFill/>
          <a:ln/>
        </p:spPr>
        <p:txBody>
          <a:bodyPr wrap="square" lIns="0" tIns="0" rIns="0" bIns="0" rtlCol="0" anchor="t"/>
          <a:lstStyle/>
          <a:p>
            <a:pPr algn="l" indent="0" marL="0">
              <a:lnSpc>
                <a:spcPct val="115000"/>
              </a:lnSpc>
              <a:buNone/>
            </a:pPr>
            <a:r>
              <a:rPr lang="en-US" sz="1000" dirty="0">
                <a:solidFill>
                  <a:srgbClr val="EF8B39"/>
                </a:solidFill>
                <a:latin typeface="Courier New" pitchFamily="34" charset="0"/>
                <a:ea typeface="Courier New" pitchFamily="34" charset="-122"/>
                <a:cs typeface="Courier New" pitchFamily="34" charset="-120"/>
              </a:rPr>
              <a:t>3</a:t>
            </a:r>
            <a:endParaRPr lang="en-US" sz="1000" dirty="0"/>
          </a:p>
        </p:txBody>
      </p:sp>
      <p:sp>
        <p:nvSpPr>
          <p:cNvPr id="21" name="Text 17"/>
          <p:cNvSpPr txBox="1"/>
          <p:nvPr/>
        </p:nvSpPr>
        <p:spPr>
          <a:xfrm>
            <a:off x="8540496" y="1892808"/>
            <a:ext cx="2834640" cy="365760"/>
          </a:xfrm>
          <a:prstGeom prst="rect">
            <a:avLst/>
          </a:prstGeom>
          <a:noFill/>
          <a:ln/>
        </p:spPr>
        <p:txBody>
          <a:bodyPr wrap="square" lIns="0" tIns="0" rIns="0" bIns="0" rtlCol="0" anchor="t"/>
          <a:lstStyle/>
          <a:p>
            <a:pPr indent="0" marL="0">
              <a:buNone/>
            </a:pPr>
            <a:r>
              <a:rPr lang="en-US" sz="1350" b="1" dirty="0">
                <a:solidFill>
                  <a:srgbClr val="0D1219"/>
                </a:solidFill>
                <a:latin typeface="Arial" pitchFamily="34" charset="0"/>
                <a:ea typeface="Arial" pitchFamily="34" charset="-122"/>
                <a:cs typeface="Arial" pitchFamily="34" charset="-120"/>
              </a:rPr>
              <a:t>Add error alerts</a:t>
            </a:r>
            <a:endParaRPr lang="en-US" sz="1350" dirty="0"/>
          </a:p>
        </p:txBody>
      </p:sp>
      <p:sp>
        <p:nvSpPr>
          <p:cNvPr id="22" name="Text 18"/>
          <p:cNvSpPr txBox="1"/>
          <p:nvPr/>
        </p:nvSpPr>
        <p:spPr>
          <a:xfrm>
            <a:off x="8193024" y="2286000"/>
            <a:ext cx="3154680" cy="960120"/>
          </a:xfrm>
          <a:prstGeom prst="rect">
            <a:avLst/>
          </a:prstGeom>
          <a:noFill/>
          <a:ln/>
        </p:spPr>
        <p:txBody>
          <a:bodyPr wrap="square" lIns="0" tIns="0" rIns="0" bIns="0" rtlCol="0" anchor="t"/>
          <a:lstStyle/>
          <a:p>
            <a:pPr algn="l" indent="0" marL="0">
              <a:lnSpc>
                <a:spcPct val="115000"/>
              </a:lnSpc>
              <a:buNone/>
            </a:pPr>
            <a:r>
              <a:rPr lang="en-US" sz="1000" dirty="0">
                <a:solidFill>
                  <a:srgbClr val="5B6675"/>
                </a:solidFill>
                <a:latin typeface="Arial" pitchFamily="34" charset="0"/>
                <a:ea typeface="Arial" pitchFamily="34" charset="-122"/>
                <a:cs typeface="Arial" pitchFamily="34" charset="-120"/>
              </a:rPr>
              <a:t>Sentry Developer, $0, 5k errors a month. Same prompt I used on the projector. Vercel Hobby keeps one hour of logs.</a:t>
            </a:r>
            <a:endParaRPr lang="en-US" sz="1000" dirty="0"/>
          </a:p>
        </p:txBody>
      </p:sp>
      <p:sp>
        <p:nvSpPr>
          <p:cNvPr id="23" name="Shape 19"/>
          <p:cNvSpPr/>
          <p:nvPr/>
        </p:nvSpPr>
        <p:spPr>
          <a:xfrm>
            <a:off x="640080" y="3474720"/>
            <a:ext cx="3520440" cy="1508760"/>
          </a:xfrm>
          <a:prstGeom prst="rect">
            <a:avLst/>
          </a:prstGeom>
          <a:solidFill>
            <a:srgbClr val="F3F6FB"/>
          </a:solidFill>
          <a:ln w="9525">
            <a:solidFill>
              <a:srgbClr val="D9E0EA"/>
            </a:solidFill>
            <a:prstDash val="solid"/>
          </a:ln>
        </p:spPr>
      </p:sp>
      <p:sp>
        <p:nvSpPr>
          <p:cNvPr id="24" name="Shape 20"/>
          <p:cNvSpPr/>
          <p:nvPr/>
        </p:nvSpPr>
        <p:spPr>
          <a:xfrm>
            <a:off x="640080" y="3474720"/>
            <a:ext cx="54864" cy="1508760"/>
          </a:xfrm>
          <a:prstGeom prst="rect">
            <a:avLst/>
          </a:prstGeom>
          <a:solidFill>
            <a:srgbClr val="EF8B39"/>
          </a:solidFill>
          <a:ln w="12700">
            <a:solidFill>
              <a:srgbClr val="EF8B39"/>
            </a:solidFill>
            <a:prstDash val="solid"/>
          </a:ln>
        </p:spPr>
      </p:sp>
      <p:sp>
        <p:nvSpPr>
          <p:cNvPr id="25" name="Text 21"/>
          <p:cNvSpPr txBox="1"/>
          <p:nvPr/>
        </p:nvSpPr>
        <p:spPr>
          <a:xfrm>
            <a:off x="841248" y="3611880"/>
            <a:ext cx="457200" cy="274320"/>
          </a:xfrm>
          <a:prstGeom prst="rect">
            <a:avLst/>
          </a:prstGeom>
          <a:noFill/>
          <a:ln/>
        </p:spPr>
        <p:txBody>
          <a:bodyPr wrap="square" lIns="0" tIns="0" rIns="0" bIns="0" rtlCol="0" anchor="t"/>
          <a:lstStyle/>
          <a:p>
            <a:pPr algn="l" indent="0" marL="0">
              <a:lnSpc>
                <a:spcPct val="115000"/>
              </a:lnSpc>
              <a:buNone/>
            </a:pPr>
            <a:r>
              <a:rPr lang="en-US" sz="1000" dirty="0">
                <a:solidFill>
                  <a:srgbClr val="EF8B39"/>
                </a:solidFill>
                <a:latin typeface="Courier New" pitchFamily="34" charset="0"/>
                <a:ea typeface="Courier New" pitchFamily="34" charset="-122"/>
                <a:cs typeface="Courier New" pitchFamily="34" charset="-120"/>
              </a:rPr>
              <a:t>4</a:t>
            </a:r>
            <a:endParaRPr lang="en-US" sz="1000" dirty="0"/>
          </a:p>
        </p:txBody>
      </p:sp>
      <p:sp>
        <p:nvSpPr>
          <p:cNvPr id="26" name="Text 22"/>
          <p:cNvSpPr txBox="1"/>
          <p:nvPr/>
        </p:nvSpPr>
        <p:spPr>
          <a:xfrm>
            <a:off x="1188720" y="3584448"/>
            <a:ext cx="2834640" cy="365760"/>
          </a:xfrm>
          <a:prstGeom prst="rect">
            <a:avLst/>
          </a:prstGeom>
          <a:noFill/>
          <a:ln/>
        </p:spPr>
        <p:txBody>
          <a:bodyPr wrap="square" lIns="0" tIns="0" rIns="0" bIns="0" rtlCol="0" anchor="t"/>
          <a:lstStyle/>
          <a:p>
            <a:pPr indent="0" marL="0">
              <a:buNone/>
            </a:pPr>
            <a:r>
              <a:rPr lang="en-US" sz="1350" b="1" dirty="0">
                <a:solidFill>
                  <a:srgbClr val="0D1219"/>
                </a:solidFill>
                <a:latin typeface="Arial" pitchFamily="34" charset="0"/>
                <a:ea typeface="Arial" pitchFamily="34" charset="-122"/>
                <a:cs typeface="Arial" pitchFamily="34" charset="-120"/>
              </a:rPr>
              <a:t>Go Pro the day it earns</a:t>
            </a:r>
            <a:endParaRPr lang="en-US" sz="1350" dirty="0"/>
          </a:p>
        </p:txBody>
      </p:sp>
      <p:sp>
        <p:nvSpPr>
          <p:cNvPr id="27" name="Text 23"/>
          <p:cNvSpPr txBox="1"/>
          <p:nvPr/>
        </p:nvSpPr>
        <p:spPr>
          <a:xfrm>
            <a:off x="841248" y="3977640"/>
            <a:ext cx="3154680" cy="960120"/>
          </a:xfrm>
          <a:prstGeom prst="rect">
            <a:avLst/>
          </a:prstGeom>
          <a:noFill/>
          <a:ln/>
        </p:spPr>
        <p:txBody>
          <a:bodyPr wrap="square" lIns="0" tIns="0" rIns="0" bIns="0" rtlCol="0" anchor="t"/>
          <a:lstStyle/>
          <a:p>
            <a:pPr algn="l" indent="0" marL="0">
              <a:lnSpc>
                <a:spcPct val="115000"/>
              </a:lnSpc>
              <a:buNone/>
            </a:pPr>
            <a:r>
              <a:rPr lang="en-US" sz="1000" dirty="0">
                <a:solidFill>
                  <a:srgbClr val="5B6675"/>
                </a:solidFill>
                <a:latin typeface="Arial" pitchFamily="34" charset="0"/>
                <a:ea typeface="Arial" pitchFamily="34" charset="-122"/>
                <a:cs typeface="Arial" pitchFamily="34" charset="-120"/>
              </a:rPr>
              <a:t>Vercel Pro, $20 a month, the day the site makes money. Turn on spend management first.</a:t>
            </a:r>
            <a:endParaRPr lang="en-US" sz="1000" dirty="0"/>
          </a:p>
        </p:txBody>
      </p:sp>
      <p:sp>
        <p:nvSpPr>
          <p:cNvPr id="28" name="Shape 24"/>
          <p:cNvSpPr/>
          <p:nvPr/>
        </p:nvSpPr>
        <p:spPr>
          <a:xfrm>
            <a:off x="4315968" y="3474720"/>
            <a:ext cx="3520440" cy="1508760"/>
          </a:xfrm>
          <a:prstGeom prst="rect">
            <a:avLst/>
          </a:prstGeom>
          <a:solidFill>
            <a:srgbClr val="F3F6FB"/>
          </a:solidFill>
          <a:ln w="9525">
            <a:solidFill>
              <a:srgbClr val="D9E0EA"/>
            </a:solidFill>
            <a:prstDash val="solid"/>
          </a:ln>
        </p:spPr>
      </p:sp>
      <p:sp>
        <p:nvSpPr>
          <p:cNvPr id="29" name="Shape 25"/>
          <p:cNvSpPr/>
          <p:nvPr/>
        </p:nvSpPr>
        <p:spPr>
          <a:xfrm>
            <a:off x="4315968" y="3474720"/>
            <a:ext cx="54864" cy="1508760"/>
          </a:xfrm>
          <a:prstGeom prst="rect">
            <a:avLst/>
          </a:prstGeom>
          <a:solidFill>
            <a:srgbClr val="EF8B39"/>
          </a:solidFill>
          <a:ln w="12700">
            <a:solidFill>
              <a:srgbClr val="EF8B39"/>
            </a:solidFill>
            <a:prstDash val="solid"/>
          </a:ln>
        </p:spPr>
      </p:sp>
      <p:sp>
        <p:nvSpPr>
          <p:cNvPr id="30" name="Text 26"/>
          <p:cNvSpPr txBox="1"/>
          <p:nvPr/>
        </p:nvSpPr>
        <p:spPr>
          <a:xfrm>
            <a:off x="4517136" y="3611880"/>
            <a:ext cx="457200" cy="274320"/>
          </a:xfrm>
          <a:prstGeom prst="rect">
            <a:avLst/>
          </a:prstGeom>
          <a:noFill/>
          <a:ln/>
        </p:spPr>
        <p:txBody>
          <a:bodyPr wrap="square" lIns="0" tIns="0" rIns="0" bIns="0" rtlCol="0" anchor="t"/>
          <a:lstStyle/>
          <a:p>
            <a:pPr algn="l" indent="0" marL="0">
              <a:lnSpc>
                <a:spcPct val="115000"/>
              </a:lnSpc>
              <a:buNone/>
            </a:pPr>
            <a:r>
              <a:rPr lang="en-US" sz="1000" dirty="0">
                <a:solidFill>
                  <a:srgbClr val="EF8B39"/>
                </a:solidFill>
                <a:latin typeface="Courier New" pitchFamily="34" charset="0"/>
                <a:ea typeface="Courier New" pitchFamily="34" charset="-122"/>
                <a:cs typeface="Courier New" pitchFamily="34" charset="-120"/>
              </a:rPr>
              <a:t>5</a:t>
            </a:r>
            <a:endParaRPr lang="en-US" sz="1000" dirty="0"/>
          </a:p>
        </p:txBody>
      </p:sp>
      <p:sp>
        <p:nvSpPr>
          <p:cNvPr id="31" name="Text 27"/>
          <p:cNvSpPr txBox="1"/>
          <p:nvPr/>
        </p:nvSpPr>
        <p:spPr>
          <a:xfrm>
            <a:off x="4864608" y="3584448"/>
            <a:ext cx="2834640" cy="365760"/>
          </a:xfrm>
          <a:prstGeom prst="rect">
            <a:avLst/>
          </a:prstGeom>
          <a:noFill/>
          <a:ln/>
        </p:spPr>
        <p:txBody>
          <a:bodyPr wrap="square" lIns="0" tIns="0" rIns="0" bIns="0" rtlCol="0" anchor="t"/>
          <a:lstStyle/>
          <a:p>
            <a:pPr indent="0" marL="0">
              <a:buNone/>
            </a:pPr>
            <a:r>
              <a:rPr lang="en-US" sz="1350" b="1" dirty="0">
                <a:solidFill>
                  <a:srgbClr val="0D1219"/>
                </a:solidFill>
                <a:latin typeface="Arial" pitchFamily="34" charset="0"/>
                <a:ea typeface="Arial" pitchFamily="34" charset="-122"/>
                <a:cs typeface="Arial" pitchFamily="34" charset="-120"/>
              </a:rPr>
              <a:t>Make the gate hard</a:t>
            </a:r>
            <a:endParaRPr lang="en-US" sz="1350" dirty="0"/>
          </a:p>
        </p:txBody>
      </p:sp>
      <p:sp>
        <p:nvSpPr>
          <p:cNvPr id="32" name="Text 28"/>
          <p:cNvSpPr txBox="1"/>
          <p:nvPr/>
        </p:nvSpPr>
        <p:spPr>
          <a:xfrm>
            <a:off x="4517136" y="3977640"/>
            <a:ext cx="3154680" cy="960120"/>
          </a:xfrm>
          <a:prstGeom prst="rect">
            <a:avLst/>
          </a:prstGeom>
          <a:noFill/>
          <a:ln/>
        </p:spPr>
        <p:txBody>
          <a:bodyPr wrap="square" lIns="0" tIns="0" rIns="0" bIns="0" rtlCol="0" anchor="t"/>
          <a:lstStyle/>
          <a:p>
            <a:pPr algn="l" indent="0" marL="0">
              <a:lnSpc>
                <a:spcPct val="115000"/>
              </a:lnSpc>
              <a:buNone/>
            </a:pPr>
            <a:r>
              <a:rPr lang="en-US" sz="1000" dirty="0">
                <a:solidFill>
                  <a:srgbClr val="5B6675"/>
                </a:solidFill>
                <a:latin typeface="Arial" pitchFamily="34" charset="0"/>
                <a:ea typeface="Arial" pitchFamily="34" charset="-122"/>
                <a:cs typeface="Arial" pitchFamily="34" charset="-120"/>
              </a:rPr>
              <a:t>Vercel Deployment Checks: require the Playwright check before a build reaches your domain. Confirm it is on your plan.</a:t>
            </a:r>
            <a:endParaRPr lang="en-US" sz="1000" dirty="0"/>
          </a:p>
        </p:txBody>
      </p:sp>
      <p:sp>
        <p:nvSpPr>
          <p:cNvPr id="33" name="Shape 29"/>
          <p:cNvSpPr/>
          <p:nvPr/>
        </p:nvSpPr>
        <p:spPr>
          <a:xfrm>
            <a:off x="7991856" y="3474720"/>
            <a:ext cx="3520440" cy="1508760"/>
          </a:xfrm>
          <a:prstGeom prst="rect">
            <a:avLst/>
          </a:prstGeom>
          <a:solidFill>
            <a:srgbClr val="F3F6FB"/>
          </a:solidFill>
          <a:ln w="9525">
            <a:solidFill>
              <a:srgbClr val="D9E0EA"/>
            </a:solidFill>
            <a:prstDash val="solid"/>
          </a:ln>
        </p:spPr>
      </p:sp>
      <p:sp>
        <p:nvSpPr>
          <p:cNvPr id="34" name="Shape 30"/>
          <p:cNvSpPr/>
          <p:nvPr/>
        </p:nvSpPr>
        <p:spPr>
          <a:xfrm>
            <a:off x="7991856" y="3474720"/>
            <a:ext cx="54864" cy="1508760"/>
          </a:xfrm>
          <a:prstGeom prst="rect">
            <a:avLst/>
          </a:prstGeom>
          <a:solidFill>
            <a:srgbClr val="EF8B39"/>
          </a:solidFill>
          <a:ln w="12700">
            <a:solidFill>
              <a:srgbClr val="EF8B39"/>
            </a:solidFill>
            <a:prstDash val="solid"/>
          </a:ln>
        </p:spPr>
      </p:sp>
      <p:sp>
        <p:nvSpPr>
          <p:cNvPr id="35" name="Text 31"/>
          <p:cNvSpPr txBox="1"/>
          <p:nvPr/>
        </p:nvSpPr>
        <p:spPr>
          <a:xfrm>
            <a:off x="8193024" y="3611880"/>
            <a:ext cx="457200" cy="274320"/>
          </a:xfrm>
          <a:prstGeom prst="rect">
            <a:avLst/>
          </a:prstGeom>
          <a:noFill/>
          <a:ln/>
        </p:spPr>
        <p:txBody>
          <a:bodyPr wrap="square" lIns="0" tIns="0" rIns="0" bIns="0" rtlCol="0" anchor="t"/>
          <a:lstStyle/>
          <a:p>
            <a:pPr algn="l" indent="0" marL="0">
              <a:lnSpc>
                <a:spcPct val="115000"/>
              </a:lnSpc>
              <a:buNone/>
            </a:pPr>
            <a:r>
              <a:rPr lang="en-US" sz="1000" dirty="0">
                <a:solidFill>
                  <a:srgbClr val="EF8B39"/>
                </a:solidFill>
                <a:latin typeface="Courier New" pitchFamily="34" charset="0"/>
                <a:ea typeface="Courier New" pitchFamily="34" charset="-122"/>
                <a:cs typeface="Courier New" pitchFamily="34" charset="-120"/>
              </a:rPr>
              <a:t>6</a:t>
            </a:r>
            <a:endParaRPr lang="en-US" sz="1000" dirty="0"/>
          </a:p>
        </p:txBody>
      </p:sp>
      <p:sp>
        <p:nvSpPr>
          <p:cNvPr id="36" name="Text 32"/>
          <p:cNvSpPr txBox="1"/>
          <p:nvPr/>
        </p:nvSpPr>
        <p:spPr>
          <a:xfrm>
            <a:off x="8540496" y="3584448"/>
            <a:ext cx="2834640" cy="365760"/>
          </a:xfrm>
          <a:prstGeom prst="rect">
            <a:avLst/>
          </a:prstGeom>
          <a:noFill/>
          <a:ln/>
        </p:spPr>
        <p:txBody>
          <a:bodyPr wrap="square" lIns="0" tIns="0" rIns="0" bIns="0" rtlCol="0" anchor="t"/>
          <a:lstStyle/>
          <a:p>
            <a:pPr indent="0" marL="0">
              <a:buNone/>
            </a:pPr>
            <a:r>
              <a:rPr lang="en-US" sz="1350" b="1" dirty="0">
                <a:solidFill>
                  <a:srgbClr val="0D1219"/>
                </a:solidFill>
                <a:latin typeface="Arial" pitchFamily="34" charset="0"/>
                <a:ea typeface="Arial" pitchFamily="34" charset="-122"/>
                <a:cs typeface="Arial" pitchFamily="34" charset="-120"/>
              </a:rPr>
              <a:t>First of the month</a:t>
            </a:r>
            <a:endParaRPr lang="en-US" sz="1350" dirty="0"/>
          </a:p>
        </p:txBody>
      </p:sp>
      <p:sp>
        <p:nvSpPr>
          <p:cNvPr id="37" name="Text 33"/>
          <p:cNvSpPr txBox="1"/>
          <p:nvPr/>
        </p:nvSpPr>
        <p:spPr>
          <a:xfrm>
            <a:off x="8193024" y="3977640"/>
            <a:ext cx="3154680" cy="960120"/>
          </a:xfrm>
          <a:prstGeom prst="rect">
            <a:avLst/>
          </a:prstGeom>
          <a:noFill/>
          <a:ln/>
        </p:spPr>
        <p:txBody>
          <a:bodyPr wrap="square" lIns="0" tIns="0" rIns="0" bIns="0" rtlCol="0" anchor="t"/>
          <a:lstStyle/>
          <a:p>
            <a:pPr algn="l" indent="0" marL="0">
              <a:lnSpc>
                <a:spcPct val="115000"/>
              </a:lnSpc>
              <a:buNone/>
            </a:pPr>
            <a:r>
              <a:rPr lang="en-US" sz="1000" dirty="0">
                <a:solidFill>
                  <a:srgbClr val="5B6675"/>
                </a:solidFill>
                <a:latin typeface="Arial" pitchFamily="34" charset="0"/>
                <a:ea typeface="Arial" pitchFamily="34" charset="-122"/>
                <a:cs typeface="Arial" pitchFamily="34" charset="-120"/>
              </a:rPr>
              <a:t>“Run npm audit and update.” Green check, merge, two minutes.</a:t>
            </a:r>
            <a:endParaRPr lang="en-US" sz="1000" dirty="0"/>
          </a:p>
        </p:txBody>
      </p:sp>
      <p:sp>
        <p:nvSpPr>
          <p:cNvPr id="38" name="Shape 34"/>
          <p:cNvSpPr/>
          <p:nvPr/>
        </p:nvSpPr>
        <p:spPr>
          <a:xfrm>
            <a:off x="3223260" y="6291072"/>
            <a:ext cx="896112" cy="274320"/>
          </a:xfrm>
          <a:prstGeom prst="roundRect">
            <a:avLst>
              <a:gd name="adj" fmla="val 20000"/>
            </a:avLst>
          </a:prstGeom>
          <a:solidFill>
            <a:srgbClr val="F3F6FB"/>
          </a:solidFill>
          <a:ln w="6350">
            <a:solidFill>
              <a:srgbClr val="D9E0EA"/>
            </a:solidFill>
            <a:prstDash val="solid"/>
          </a:ln>
        </p:spPr>
      </p:sp>
      <p:sp>
        <p:nvSpPr>
          <p:cNvPr id="39" name="Text 35"/>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40" name="Shape 36"/>
          <p:cNvSpPr/>
          <p:nvPr/>
        </p:nvSpPr>
        <p:spPr>
          <a:xfrm>
            <a:off x="4192524" y="6291072"/>
            <a:ext cx="896112" cy="274320"/>
          </a:xfrm>
          <a:prstGeom prst="roundRect">
            <a:avLst>
              <a:gd name="adj" fmla="val 20000"/>
            </a:avLst>
          </a:prstGeom>
          <a:solidFill>
            <a:srgbClr val="F3F6FB"/>
          </a:solidFill>
          <a:ln w="6350">
            <a:solidFill>
              <a:srgbClr val="D9E0EA"/>
            </a:solidFill>
            <a:prstDash val="solid"/>
          </a:ln>
        </p:spPr>
      </p:sp>
      <p:sp>
        <p:nvSpPr>
          <p:cNvPr id="41" name="Text 37"/>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42" name="Shape 38"/>
          <p:cNvSpPr/>
          <p:nvPr/>
        </p:nvSpPr>
        <p:spPr>
          <a:xfrm>
            <a:off x="5161788" y="6291072"/>
            <a:ext cx="896112" cy="274320"/>
          </a:xfrm>
          <a:prstGeom prst="roundRect">
            <a:avLst>
              <a:gd name="adj" fmla="val 20000"/>
            </a:avLst>
          </a:prstGeom>
          <a:solidFill>
            <a:srgbClr val="F3F6FB"/>
          </a:solidFill>
          <a:ln w="6350">
            <a:solidFill>
              <a:srgbClr val="D9E0EA"/>
            </a:solidFill>
            <a:prstDash val="solid"/>
          </a:ln>
        </p:spPr>
      </p:sp>
      <p:sp>
        <p:nvSpPr>
          <p:cNvPr id="43" name="Text 39"/>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44" name="Shape 40"/>
          <p:cNvSpPr/>
          <p:nvPr/>
        </p:nvSpPr>
        <p:spPr>
          <a:xfrm>
            <a:off x="6131052" y="6291072"/>
            <a:ext cx="896112" cy="274320"/>
          </a:xfrm>
          <a:prstGeom prst="roundRect">
            <a:avLst>
              <a:gd name="adj" fmla="val 20000"/>
            </a:avLst>
          </a:prstGeom>
          <a:solidFill>
            <a:srgbClr val="F3F6FB"/>
          </a:solidFill>
          <a:ln w="6350">
            <a:solidFill>
              <a:srgbClr val="D9E0EA"/>
            </a:solidFill>
            <a:prstDash val="solid"/>
          </a:ln>
        </p:spPr>
      </p:sp>
      <p:sp>
        <p:nvSpPr>
          <p:cNvPr id="45" name="Text 41"/>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46" name="Shape 42"/>
          <p:cNvSpPr/>
          <p:nvPr/>
        </p:nvSpPr>
        <p:spPr>
          <a:xfrm>
            <a:off x="7100316" y="6291072"/>
            <a:ext cx="896112" cy="274320"/>
          </a:xfrm>
          <a:prstGeom prst="roundRect">
            <a:avLst>
              <a:gd name="adj" fmla="val 20000"/>
            </a:avLst>
          </a:prstGeom>
          <a:solidFill>
            <a:srgbClr val="F3F6FB"/>
          </a:solidFill>
          <a:ln w="6350">
            <a:solidFill>
              <a:srgbClr val="D9E0EA"/>
            </a:solidFill>
            <a:prstDash val="solid"/>
          </a:ln>
        </p:spPr>
      </p:sp>
      <p:sp>
        <p:nvSpPr>
          <p:cNvPr id="47" name="Text 43"/>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48" name="Shape 44"/>
          <p:cNvSpPr/>
          <p:nvPr/>
        </p:nvSpPr>
        <p:spPr>
          <a:xfrm>
            <a:off x="8069580" y="6291072"/>
            <a:ext cx="896112" cy="274320"/>
          </a:xfrm>
          <a:prstGeom prst="roundRect">
            <a:avLst>
              <a:gd name="adj" fmla="val 20000"/>
            </a:avLst>
          </a:prstGeom>
          <a:solidFill>
            <a:srgbClr val="EF8B39"/>
          </a:solidFill>
          <a:ln w="6350">
            <a:solidFill>
              <a:srgbClr val="EF8B39"/>
            </a:solidFill>
            <a:prstDash val="solid"/>
          </a:ln>
        </p:spPr>
      </p:sp>
      <p:sp>
        <p:nvSpPr>
          <p:cNvPr id="49" name="Text 45"/>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logo-h-white.png">    </p:cNvPr>
          <p:cNvPicPr>
            <a:picLocks noChangeAspect="1"/>
          </p:cNvPicPr>
          <p:nvPr/>
        </p:nvPicPr>
        <p:blipFill>
          <a:blip r:embed="rId2"/>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51 / 51</a:t>
            </a:r>
            <a:endParaRPr lang="en-US" sz="900" dirty="0"/>
          </a:p>
        </p:txBody>
      </p:sp>
      <p:pic>
        <p:nvPicPr>
          <p:cNvPr id="5" name="Image 1" descr="assets/room.jpg">    </p:cNvPr>
          <p:cNvPicPr>
            <a:picLocks noChangeAspect="1"/>
          </p:cNvPicPr>
          <p:nvPr/>
        </p:nvPicPr>
        <p:blipFill>
          <a:blip r:embed="rId3"/>
          <a:srcRect l="0" r="0" t="0" b="0"/>
          <a:stretch/>
        </p:blipFill>
        <p:spPr>
          <a:xfrm>
            <a:off x="6309360" y="0"/>
            <a:ext cx="5879592" cy="6858000"/>
          </a:xfrm>
          <a:prstGeom prst="rect">
            <a:avLst/>
          </a:prstGeom>
        </p:spPr>
      </p:pic>
      <p:sp>
        <p:nvSpPr>
          <p:cNvPr id="6" name="Shape 1"/>
          <p:cNvSpPr/>
          <p:nvPr/>
        </p:nvSpPr>
        <p:spPr>
          <a:xfrm>
            <a:off x="6309360" y="0"/>
            <a:ext cx="5879592" cy="6858000"/>
          </a:xfrm>
          <a:prstGeom prst="rect">
            <a:avLst/>
          </a:prstGeom>
          <a:solidFill>
            <a:srgbClr val="0D1219">
              <a:alpha val="65000"/>
            </a:srgbClr>
          </a:solidFill>
          <a:ln w="12700">
            <a:solidFill>
              <a:srgbClr val="0D1219"/>
            </a:solidFill>
            <a:prstDash val="solid"/>
          </a:ln>
        </p:spPr>
      </p:sp>
      <p:sp>
        <p:nvSpPr>
          <p:cNvPr id="7" name="Text 2"/>
          <p:cNvSpPr txBox="1"/>
          <p:nvPr/>
        </p:nvSpPr>
        <p:spPr>
          <a:xfrm>
            <a:off x="640080" y="502920"/>
            <a:ext cx="10908792" cy="274320"/>
          </a:xfrm>
          <a:prstGeom prst="rect">
            <a:avLst/>
          </a:prstGeom>
          <a:noFill/>
          <a:ln/>
        </p:spPr>
        <p:txBody>
          <a:bodyPr wrap="square" lIns="0" tIns="0" rIns="0" bIns="0" rtlCol="0" anchor="ctr"/>
          <a:lstStyle/>
          <a:p>
            <a:pPr indent="0" marL="0">
              <a:buNone/>
            </a:pPr>
            <a:r>
              <a:rPr lang="en-US" sz="1200" b="1" spc="200" kern="0" dirty="0">
                <a:solidFill>
                  <a:srgbClr val="EF8B39"/>
                </a:solidFill>
                <a:latin typeface="Courier New" pitchFamily="34" charset="0"/>
                <a:ea typeface="Courier New" pitchFamily="34" charset="-122"/>
                <a:cs typeface="Courier New" pitchFamily="34" charset="-120"/>
              </a:rPr>
              <a:t>// THAT’S THE DAY</a:t>
            </a:r>
            <a:endParaRPr lang="en-US" sz="1200" dirty="0"/>
          </a:p>
        </p:txBody>
      </p:sp>
      <p:sp>
        <p:nvSpPr>
          <p:cNvPr id="8" name="Text 3"/>
          <p:cNvSpPr txBox="1"/>
          <p:nvPr/>
        </p:nvSpPr>
        <p:spPr>
          <a:xfrm>
            <a:off x="640080" y="822960"/>
            <a:ext cx="5394960" cy="822960"/>
          </a:xfrm>
          <a:prstGeom prst="rect">
            <a:avLst/>
          </a:prstGeom>
          <a:noFill/>
          <a:ln/>
        </p:spPr>
        <p:txBody>
          <a:bodyPr wrap="square" lIns="0" tIns="0" rIns="0" bIns="0" rtlCol="0" anchor="t"/>
          <a:lstStyle/>
          <a:p>
            <a:pPr indent="0" marL="0">
              <a:buNone/>
            </a:pPr>
            <a:r>
              <a:rPr lang="en-US" sz="2700" b="1" dirty="0">
                <a:solidFill>
                  <a:srgbClr val="FFFFFF"/>
                </a:solidFill>
                <a:latin typeface="Arial" pitchFamily="34" charset="0"/>
                <a:ea typeface="Arial" pitchFamily="34" charset="-122"/>
                <a:cs typeface="Arial" pitchFamily="34" charset="-120"/>
              </a:rPr>
              <a:t>Six hours ago it lived in somebody’s browser tab.</a:t>
            </a:r>
            <a:endParaRPr lang="en-US" sz="2700" dirty="0"/>
          </a:p>
        </p:txBody>
      </p:sp>
      <p:sp>
        <p:nvSpPr>
          <p:cNvPr id="9" name="Text 4"/>
          <p:cNvSpPr txBox="1"/>
          <p:nvPr/>
        </p:nvSpPr>
        <p:spPr>
          <a:xfrm>
            <a:off x="640080" y="2011680"/>
            <a:ext cx="5394960" cy="2468880"/>
          </a:xfrm>
          <a:prstGeom prst="rect">
            <a:avLst/>
          </a:prstGeom>
          <a:noFill/>
          <a:ln/>
        </p:spPr>
        <p:txBody>
          <a:bodyPr wrap="square" lIns="0" tIns="0" rIns="0" bIns="0" rtlCol="0" anchor="t"/>
          <a:lstStyle/>
          <a:p>
            <a:pPr indent="0" marL="0">
              <a:lnSpc>
                <a:spcPct val="115000"/>
              </a:lnSpc>
              <a:spcAft>
                <a:spcPts val="1000"/>
              </a:spcAft>
              <a:buNone/>
            </a:pPr>
            <a:r>
              <a:rPr lang="en-US" sz="1350" dirty="0">
                <a:solidFill>
                  <a:srgbClr val="D6DEEA"/>
                </a:solidFill>
                <a:latin typeface="Arial" pitchFamily="34" charset="0"/>
                <a:ea typeface="Arial" pitchFamily="34" charset="-122"/>
                <a:cs typeface="Arial" pitchFamily="34" charset="-120"/>
              </a:rPr>
              <a:t>Now the code is in your GitHub. The site is on your Vercel. A mistake rolls back in one click. A test runs on every change. The rows live in your database, and an email tells you when a customer shows up. And the AI has a checklist with your name on it.</a:t>
            </a:r>
            <a:endParaRPr lang="en-US" sz="1350" dirty="0"/>
          </a:p>
          <a:p>
            <a:pPr indent="0" marL="0">
              <a:lnSpc>
                <a:spcPct val="115000"/>
              </a:lnSpc>
              <a:spcAft>
                <a:spcPts val="1000"/>
              </a:spcAft>
              <a:buNone/>
            </a:pPr>
            <a:r>
              <a:rPr lang="en-US" sz="1350" dirty="0">
                <a:solidFill>
                  <a:srgbClr val="D6DEEA"/>
                </a:solidFill>
                <a:latin typeface="Arial" pitchFamily="34" charset="0"/>
                <a:ea typeface="Arial" pitchFamily="34" charset="-122"/>
                <a:cs typeface="Arial" pitchFamily="34" charset="-120"/>
              </a:rPr>
              <a:t>Two stickies on the table on your way out. They decide what Part Three is.</a:t>
            </a:r>
            <a:endParaRPr lang="en-US" sz="1350" dirty="0"/>
          </a:p>
        </p:txBody>
      </p:sp>
      <p:sp>
        <p:nvSpPr>
          <p:cNvPr id="10" name="Shape 5"/>
          <p:cNvSpPr/>
          <p:nvPr/>
        </p:nvSpPr>
        <p:spPr>
          <a:xfrm>
            <a:off x="640080" y="4663440"/>
            <a:ext cx="5394960" cy="868680"/>
          </a:xfrm>
          <a:prstGeom prst="rect">
            <a:avLst/>
          </a:prstGeom>
          <a:solidFill>
            <a:srgbClr val="121B2B"/>
          </a:solidFill>
          <a:ln w="12700">
            <a:solidFill>
              <a:srgbClr val="EF8B39"/>
            </a:solidFill>
            <a:prstDash val="solid"/>
          </a:ln>
        </p:spPr>
      </p:sp>
      <p:sp>
        <p:nvSpPr>
          <p:cNvPr id="11" name="Text 6"/>
          <p:cNvSpPr txBox="1"/>
          <p:nvPr/>
        </p:nvSpPr>
        <p:spPr>
          <a:xfrm>
            <a:off x="868680" y="4663440"/>
            <a:ext cx="5029200" cy="868680"/>
          </a:xfrm>
          <a:prstGeom prst="rect">
            <a:avLst/>
          </a:prstGeom>
          <a:noFill/>
          <a:ln/>
        </p:spPr>
        <p:txBody>
          <a:bodyPr wrap="square" lIns="0" tIns="0" rIns="0" bIns="0" rtlCol="0" anchor="ctr"/>
          <a:lstStyle/>
          <a:p>
            <a:pPr algn="l" indent="0" marL="0">
              <a:lnSpc>
                <a:spcPct val="115000"/>
              </a:lnSpc>
              <a:buNone/>
            </a:pPr>
            <a:r>
              <a:rPr lang="en-US" sz="1000" dirty="0">
                <a:solidFill>
                  <a:srgbClr val="EF8B39"/>
                </a:solidFill>
                <a:latin typeface="Courier New" pitchFamily="34" charset="0"/>
                <a:ea typeface="Courier New" pitchFamily="34" charset="-122"/>
                <a:cs typeface="Courier New" pitchFamily="34" charset="-120"/>
              </a:rPr>
              <a:t>Mark Hinkle · theaienterprise.io · Vibe Coding, Take Two · the six-hour class · All Things AI</a:t>
            </a:r>
            <a:endParaRPr lang="en-US" sz="1000" dirty="0"/>
          </a:p>
        </p:txBody>
      </p:sp>
      <p:sp>
        <p:nvSpPr>
          <p:cNvPr id="12" name="Text 7"/>
          <p:cNvSpPr txBox="1"/>
          <p:nvPr/>
        </p:nvSpPr>
        <p:spPr>
          <a:xfrm>
            <a:off x="6583680" y="5989320"/>
            <a:ext cx="5303520" cy="365760"/>
          </a:xfrm>
          <a:prstGeom prst="rect">
            <a:avLst/>
          </a:prstGeom>
          <a:noFill/>
          <a:ln/>
        </p:spPr>
        <p:txBody>
          <a:bodyPr wrap="square" lIns="0" tIns="0" rIns="0" bIns="0" rtlCol="0" anchor="ctr"/>
          <a:lstStyle/>
          <a:p>
            <a:pPr algn="r" indent="0" marL="0">
              <a:buNone/>
            </a:pPr>
            <a:r>
              <a:rPr lang="en-US" sz="1200" dirty="0">
                <a:solidFill>
                  <a:srgbClr val="FFFFFF"/>
                </a:solidFill>
                <a:latin typeface="Arial" pitchFamily="34" charset="0"/>
                <a:ea typeface="Arial" pitchFamily="34" charset="-122"/>
                <a:cs typeface="Arial" pitchFamily="34" charset="-120"/>
              </a:rPr>
              <a:t>The Triangle’s AI business community. April 18–20, 2027, Raleigh.</a:t>
            </a:r>
            <a:endParaRPr lang="en-US" sz="1200" dirty="0"/>
          </a:p>
        </p:txBody>
      </p:sp>
      <p:sp>
        <p:nvSpPr>
          <p:cNvPr id="13" name="Shape 8"/>
          <p:cNvSpPr/>
          <p:nvPr/>
        </p:nvSpPr>
        <p:spPr>
          <a:xfrm>
            <a:off x="3223260" y="6291072"/>
            <a:ext cx="896112" cy="274320"/>
          </a:xfrm>
          <a:prstGeom prst="roundRect">
            <a:avLst>
              <a:gd name="adj" fmla="val 20000"/>
            </a:avLst>
          </a:prstGeom>
          <a:solidFill>
            <a:srgbClr val="121B2B"/>
          </a:solidFill>
          <a:ln w="6350">
            <a:solidFill>
              <a:srgbClr val="D9E0EA"/>
            </a:solidFill>
            <a:prstDash val="solid"/>
          </a:ln>
        </p:spPr>
      </p:sp>
      <p:sp>
        <p:nvSpPr>
          <p:cNvPr id="14" name="Text 9"/>
          <p:cNvSpPr/>
          <p:nvPr/>
        </p:nvSpPr>
        <p:spPr>
          <a:xfrm>
            <a:off x="322326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SPEC</a:t>
            </a:r>
            <a:endParaRPr lang="en-US" sz="800" dirty="0"/>
          </a:p>
        </p:txBody>
      </p:sp>
      <p:sp>
        <p:nvSpPr>
          <p:cNvPr id="15" name="Shape 10"/>
          <p:cNvSpPr/>
          <p:nvPr/>
        </p:nvSpPr>
        <p:spPr>
          <a:xfrm>
            <a:off x="4192524" y="6291072"/>
            <a:ext cx="896112" cy="274320"/>
          </a:xfrm>
          <a:prstGeom prst="roundRect">
            <a:avLst>
              <a:gd name="adj" fmla="val 20000"/>
            </a:avLst>
          </a:prstGeom>
          <a:solidFill>
            <a:srgbClr val="121B2B"/>
          </a:solidFill>
          <a:ln w="6350">
            <a:solidFill>
              <a:srgbClr val="D9E0EA"/>
            </a:solidFill>
            <a:prstDash val="solid"/>
          </a:ln>
        </p:spPr>
      </p:sp>
      <p:sp>
        <p:nvSpPr>
          <p:cNvPr id="16" name="Text 11"/>
          <p:cNvSpPr/>
          <p:nvPr/>
        </p:nvSpPr>
        <p:spPr>
          <a:xfrm>
            <a:off x="4192524"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BUILD</a:t>
            </a:r>
            <a:endParaRPr lang="en-US" sz="800" dirty="0"/>
          </a:p>
        </p:txBody>
      </p:sp>
      <p:sp>
        <p:nvSpPr>
          <p:cNvPr id="17" name="Shape 12"/>
          <p:cNvSpPr/>
          <p:nvPr/>
        </p:nvSpPr>
        <p:spPr>
          <a:xfrm>
            <a:off x="5161788" y="6291072"/>
            <a:ext cx="896112" cy="274320"/>
          </a:xfrm>
          <a:prstGeom prst="roundRect">
            <a:avLst>
              <a:gd name="adj" fmla="val 20000"/>
            </a:avLst>
          </a:prstGeom>
          <a:solidFill>
            <a:srgbClr val="121B2B"/>
          </a:solidFill>
          <a:ln w="6350">
            <a:solidFill>
              <a:srgbClr val="D9E0EA"/>
            </a:solidFill>
            <a:prstDash val="solid"/>
          </a:ln>
        </p:spPr>
      </p:sp>
      <p:sp>
        <p:nvSpPr>
          <p:cNvPr id="18" name="Text 13"/>
          <p:cNvSpPr/>
          <p:nvPr/>
        </p:nvSpPr>
        <p:spPr>
          <a:xfrm>
            <a:off x="5161788"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TEST</a:t>
            </a:r>
            <a:endParaRPr lang="en-US" sz="800" dirty="0"/>
          </a:p>
        </p:txBody>
      </p:sp>
      <p:sp>
        <p:nvSpPr>
          <p:cNvPr id="19" name="Shape 14"/>
          <p:cNvSpPr/>
          <p:nvPr/>
        </p:nvSpPr>
        <p:spPr>
          <a:xfrm>
            <a:off x="6131052" y="6291072"/>
            <a:ext cx="896112" cy="274320"/>
          </a:xfrm>
          <a:prstGeom prst="roundRect">
            <a:avLst>
              <a:gd name="adj" fmla="val 20000"/>
            </a:avLst>
          </a:prstGeom>
          <a:solidFill>
            <a:srgbClr val="121B2B"/>
          </a:solidFill>
          <a:ln w="6350">
            <a:solidFill>
              <a:srgbClr val="D9E0EA"/>
            </a:solidFill>
            <a:prstDash val="solid"/>
          </a:ln>
        </p:spPr>
      </p:sp>
      <p:sp>
        <p:nvSpPr>
          <p:cNvPr id="20" name="Text 15"/>
          <p:cNvSpPr/>
          <p:nvPr/>
        </p:nvSpPr>
        <p:spPr>
          <a:xfrm>
            <a:off x="6131052"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REVIEW</a:t>
            </a:r>
            <a:endParaRPr lang="en-US" sz="800" dirty="0"/>
          </a:p>
        </p:txBody>
      </p:sp>
      <p:sp>
        <p:nvSpPr>
          <p:cNvPr id="21" name="Shape 16"/>
          <p:cNvSpPr/>
          <p:nvPr/>
        </p:nvSpPr>
        <p:spPr>
          <a:xfrm>
            <a:off x="7100316" y="6291072"/>
            <a:ext cx="896112" cy="274320"/>
          </a:xfrm>
          <a:prstGeom prst="roundRect">
            <a:avLst>
              <a:gd name="adj" fmla="val 20000"/>
            </a:avLst>
          </a:prstGeom>
          <a:solidFill>
            <a:srgbClr val="121B2B"/>
          </a:solidFill>
          <a:ln w="6350">
            <a:solidFill>
              <a:srgbClr val="D9E0EA"/>
            </a:solidFill>
            <a:prstDash val="solid"/>
          </a:ln>
        </p:spPr>
      </p:sp>
      <p:sp>
        <p:nvSpPr>
          <p:cNvPr id="22" name="Text 17"/>
          <p:cNvSpPr/>
          <p:nvPr/>
        </p:nvSpPr>
        <p:spPr>
          <a:xfrm>
            <a:off x="7100316"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SHIP</a:t>
            </a:r>
            <a:endParaRPr lang="en-US" sz="800" dirty="0"/>
          </a:p>
        </p:txBody>
      </p:sp>
      <p:sp>
        <p:nvSpPr>
          <p:cNvPr id="23" name="Shape 18"/>
          <p:cNvSpPr/>
          <p:nvPr/>
        </p:nvSpPr>
        <p:spPr>
          <a:xfrm>
            <a:off x="8069580" y="6291072"/>
            <a:ext cx="896112" cy="274320"/>
          </a:xfrm>
          <a:prstGeom prst="roundRect">
            <a:avLst>
              <a:gd name="adj" fmla="val 20000"/>
            </a:avLst>
          </a:prstGeom>
          <a:solidFill>
            <a:srgbClr val="121B2B"/>
          </a:solidFill>
          <a:ln w="6350">
            <a:solidFill>
              <a:srgbClr val="D9E0EA"/>
            </a:solidFill>
            <a:prstDash val="solid"/>
          </a:ln>
        </p:spPr>
      </p:sp>
      <p:sp>
        <p:nvSpPr>
          <p:cNvPr id="24" name="Text 19"/>
          <p:cNvSpPr/>
          <p:nvPr/>
        </p:nvSpPr>
        <p:spPr>
          <a:xfrm>
            <a:off x="8069580" y="6291072"/>
            <a:ext cx="896112" cy="274320"/>
          </a:xfrm>
          <a:prstGeom prst="rect">
            <a:avLst/>
          </a:prstGeom>
          <a:noFill/>
          <a:ln/>
        </p:spPr>
        <p:txBody>
          <a:bodyPr wrap="square" lIns="0" tIns="0" rIns="0" bIns="0" rtlCol="0" anchor="ctr"/>
          <a:lstStyle/>
          <a:p>
            <a:pPr algn="ctr" indent="0" marL="0">
              <a:buNone/>
            </a:pPr>
            <a:r>
              <a:rPr lang="en-US" sz="800" dirty="0">
                <a:solidFill>
                  <a:srgbClr val="7B8594"/>
                </a:solidFill>
                <a:latin typeface="Courier New" pitchFamily="34" charset="0"/>
                <a:ea typeface="Courier New" pitchFamily="34" charset="-122"/>
                <a:cs typeface="Courier New" pitchFamily="34" charset="-120"/>
              </a:rPr>
              <a:t>MONITOR</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Vibe Coding, Take Two: The Six-Hour Class</dc:title>
  <dc:subject>PptxGenJS Presentation</dc:subject>
  <dc:creator>Mark Hinkle</dc:creator>
  <cp:lastModifiedBy>Mark Hinkle</cp:lastModifiedBy>
  <cp:revision>1</cp:revision>
  <dcterms:created xsi:type="dcterms:W3CDTF">2026-09-21T16:04:30Z</dcterms:created>
  <dcterms:modified xsi:type="dcterms:W3CDTF">2026-09-21T16:04:30Z</dcterms:modified>
</cp:coreProperties>
</file>