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7:30–9:00. This slide stays up until 9:00 and I don’t start talking before then. I walk the tables with the helpers. Every laptop gets the laptop check on the big screen, prep/laptop-check.html, and a helper confirms two things per person: signed in to GitHub, signed in to Vercel with GitHub. Wi-Fi goes on this slide and on the whiteboard before anyone walks in. My laptop has ChatGPT, Claude, and v0 tabs signed in, so the demo matches whichever chatbot most people brought. Watch for: people who skipped the prework. Don’t debug one laptop for more than five minutes; sit them next to a partner and put them on the list for the setup block. Gate: by 9:00 every seat shows a green check on the laptop check, or is on the helper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9:00–9:04. The promise first, then one minute on me. By 5:30 you have two live URLs: a website about you and a game you can hand to a friend. And one loop you can run again on Monday. The listing promised a working, deployed application. That’s the website, and it ships before lunch. If you’re thinking this is a lot, it is. Every stage has a tested file you can download and continue from. Everyone here gets stuck today, me included. That’s the plan, not the exception. Nobody is judging your code. Watch for: anyone who thinks they need to code. Nobody types code by hand today. You describe, the chatbot builds, you check. Gate: everyone can say the two deliverables and the time each is 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9:00–9:04. The gray hair is the credential. I started my first company in 1995 and I’ve been in enterprise software through open source, cloud, and now AI. I’ve shipped every mistake I’m about to show you, some of them more than once. I’m not a daily coder. I direct the people, and now the agents, who build. That’s the seat you’re in today, so if that’s you, you’re in the right room. Watch for: me talking about myself past sixty seconds. Gate: none;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9:04–9:05. The listing made four promises and this is them. How software actually gets built. GitHub as your system of record: every change tracked, reviewed, reversible. Vercel and v0 build and deploy, with nothing installed on your laptop. And the big one, directing agents instead of coding. You write the specification, not the syntax, and the pull request is where a human says yes or no. Three kinds of people are here today. If you don’t code, you leave with two live things you made and a loop you can repeat. Developers get a disciplined agent process with a review gate. Leaders, you get what to put in GitHub first and where agents still need supervision. Watch for: developers checking out during the basics. The review and rollback material at 11:30 is for them. Gate: none; talk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9:05–9:07. The schedule is a plan, not a contract. We go as fast as the slowest table still working; every 30 minutes I check in and move the schedule out loud. Checkpoints are tested files you continue from; grabbing one is smart. Help? One sentence: “I clicked X, expected Y, saw Z.” Nobody here is judging your code. Feedback at the close earns you my book’s preview edition. If we run late, the cuts, in order: 1) drop sprint 1 at 11:45; a live URL by 11:45 is the gate; 2) everyone continues from game checkpoint 2 at 2:15; 3) everyone continues from checkpoint 3 at 3:00, straight to theme and publish; 4) drop sprints 2 and 3 to publish the game; 5) never cut the handoff. Watch for: people hiding they’re behind. Gate: everyone can say the help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9:07–9:08. Reference slide, point at it, don’t read it. Thirty seconds. Morning is the website: setup, build, publish by 11:30, then fifteen minutes on reading what the agent wrote: diffs, pull requests, rollback. The blue row is deliverable one. The orange row is live hacking: you pick one skill from the menu and build it, and I build one on the projector. Break at 10:45, lunch at noon for forty-five minutes. Watch for: the people doing the math on 8.5 hours. It’s 360 teaching minutes plus 55 of sprints; the rest is breaks and lunch. Gate: nothing to check;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9:07–9:08. Reference slide, point at it, don’t read it. Afternoon is the game, or your own one-screen project on Track B: choose, sketch, brief, build in three increments, polish, playtest, publish by 4:35. That’s deliverable two, the blue row. Orange rows are sprints two and three, then show and tell at 5:05. Break at 2:45. The handoff at 5:15 never gets cut. Watch for: questions about Track B now. Hold them; the track slide comes after lunch. Gate: nothing to check;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9:08–9:10. Four rules. Pairs: the more nervous person types, the other reads the prompt out loud; swap after each break. Stickies: green on your lid when the step’s done, red when you’re stuck and a helper comes to you, so I can see from the front who needs a helper. Nothing secret goes into a chat: no passwords, no API keys, no form endpoints with secrets. You create accounts yourself in the provider’s own window. And everything lands in your account, not mine: your GitHub, your Vercel, your chatbot. You own the repo. I never touch it. My course repo is a source of materials, not a destination. Watch for: somebody pasting a password into the chatbot “to save time.” Stop it on the spot. Gate: every table has stickies and a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9:10–9:12. This is the whole course on one slide. The strip is what you do: describe the outcome, plan before anything gets built, build the smallest version, check it with your own eyes, save the version that passed, publish only that. The small words under each box are the same loop in the words the listing uses: prompt, generate, commit, review, deploy, repeat. Review happens in a pull request, where you say yes or no. Both projects run this a dozen times, and the line at the bottom of every working slide shows which step we’re on. Next six slides: one step each, thirty seconds apiece. Watch for: people who want to describe everything at once. One increment, one check. Gate: everyone can say either row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9:12–9:14. Show the two finished examples: Jordan Rivera’s site and the space-theme game. Ask who’d use each. Then the three kinds of file. Back in ’95 I was doing tech support at an ISP, and a web page was a text file you typed by hand. It still is. HTML is structure: headings, sections, buttons. CSS is appearance: colors, spacing, fonts. JavaScript is behavior: what happens when you click. Your browser reads them off your laptop; hosting puts the same files where everyone else’s browser can. Backends and databases exist; neither project needs them today. The AI helps write the files; the finished site and game never call one. Watch for: the word “backend” causing panic. One sentence and move on. Gate: everyone can point at the heading in the file and the same heading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9:14–9:17. Describe. One sentence, the way you’d brief a contractor: what it is, who it’s for, what done looks like. Not how to build it. If you can’t say what you’d show a friend to prove it works, you’re not ready to type. Watch for: paragraphs. One sentence. Gate: none;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9:14–9:17. Plan, the new step. Before it writes a file, make it list the files, the order, and three checks you can do by hand. Read it like a contractor’s quote: anything you didn’t ask for? Biggest thinking model for the plan, middle model to build. A bad plan costs an hour; reading one costs three minutes. Watch for: the chatbot already typing code. Stop it; ask for the plan. Gate: none;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9:14–9:17. Build. Ask for the smallest version that could work, one file, and nothing you can’t check in five minutes. The website is the whole page with your words. The game starts as a board with two stand-in buttons. Small builds make small diffs, and small diffs are the ones you can read. Watch for: asking for the whole game at once. Board first. Gate: none;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9:14–9:17. Check. Open it, click it, open it on your phone, and write down what you saw. The chatbot saying “done” is not a check. For the website: every link, fits a phone, prints, no Jordan left. For the game: win, lose, draw, restart, each one seen with your own eyes. Watch for: trusting the chatbot’s summary. Your eyes, every time. Gate: none;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9:14–9:17. Save. Keep the version that passed, in GitHub, with a message that says what it is. “First version of my site.” Now when the next change breaks it, and one will, you have a place to go back to. Nothing in GitHub is lost. Watch for: saving only at the end of the day. Save every time a check passes. Gate: none;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9:14–9:17. Publish. Put it where someone else can open it: a vercel.app URL, on a classmate’s phone, not yours. Only the version that passed its checks. The website by 11:30, the game by 4:35. Then back to describe for the next increment. Watch for: publishing before the checks. Only what passed. Gate: none;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9:17–9:18. Walk the first three with both projects. Discover: who’s this for? For the site, a recruiter on a phone. For the game, a friend with ninety seconds. Define: what must the first version do? Three sections and a working email link; one playable round with a restart that works. Design: what will they see? A page outline; three sketched screens. These three happen before anyone types a prompt, and they prevent most of the afternoon’s trouble. Watch for: people treating this as theory. Every one of these becomes a slide this afternoon. Gate: none; this is a talk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9:17–9:18. Build: the smallest useful version. One index.html for the site; board, then battle, then connected for the game. Test: does the behavior match the promise? Six checks before the site goes public; win, lose, draw, and restart observed for the game. Release: which version did we actually publish? A vercel.app URL open on a phone. Maintain: what should change after people use it? One skill from the menu, one game extension, each with its own check. It’s a loop. A game that feels unfair needs a rule change. A confusing site needs a clearer purpose. And you’re saving the whole way through. Watch for: people treating this as theory. Every row becomes a slide this afternoon. Gate: none; this is a talk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9:18–9:19. Four tools, four jobs. The chatbot drafts and changes the files. Git tracks changes underneath; you won’t type a Git command today. GitHub stores the project and its history in your account. Vercel hosts the published version. People mix up Git and GitHub all day: GitHub is the website that stores it, Git is the tracking underneath. Today you only touch GitHub. Watch for: confusing GitHub with Git. GitHub is the website that stores it; Git is the tracking underneath. Today you only touch GitHub. Gate: everyone can say what GitHub is for and what Vercel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9:18–9:19. Four words. Repository: the project folder and its whole history. Commit: a named checkpoint, like “Added my About section.” Branch: a separate line of changes you can try without touching the live one. Pull request: a proposed change for review, with a preview, before it goes live. Now I show one small heading change on the projector and the difference from the earlier version. That’s the whole mechanism. Everything else today is this, repeated. Watch for: eyes glazing at vocabulary. The projector demo is the fix; don’t skip it. Gate: everyone can say what GitHub is for and what Vercel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9:19–9:20. One minute of participation. Put four actions on the loop: choose the website’s audience, describe what its button does, test the game’s restart, publish a checked version. Call on four tables. Don’t wait for hands; pick a table and ask. Watch for: nobody answering. Pick a table by name; don’t wait for volunteers. Gate: everyone can place “test the restart” and “publish a checked version” on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9:19–9:20. Then the question: a beautiful game with incorrect scoring, is it finished? No. Working beats pretty, every time today. I’ve shipped pretty things that didn’t work, and I’d rather not do it again in front of you. Close the block with the sentence on the slide, out loud, and we go look at the map of tools. Watch for: someone arguing for pretty. Pretty is this afternoon at 3:00; working comes first. Gate: everyone can place “test the restart” and “publish a checked version” on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9:20–9:25. Every tool on this line turns a sentence into a working app. The demo is never the difference; where your code lives afterward is. Left end: the builder keeps code and data on its servers. Right end: a repository you own, deployed to your Vercel. Emergent and Base44 sit left: code comes out, data and backend stay. Lovable, Bolt, and Replit sync two ways with a repository you own. v0, today’s tool, commits to a branch, opens a pull request, and deploys to your Vercel. Claude Code, Codex, and Cursor: it’s your folder. None is a bad tool. Read the line before you pay. Watch for: people asking which one is best. Ask them where they want the code to live next month. Gate: everyone can point at the spot on the line where their code would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9:25–9:30. One question to ask any tool, any sales rep, any demo: where does my code live afterward, and can I take it with me? Three facts, all verified, with dates. July 2025: Replit’s agent deleted a production database during a code freeze; rollback worked, the CEO called it unacceptable, and Replit now separates development and production. May 2025: one in ten scanned Lovable apps had a database anyone could read; Lovable added a pre-publish scan. June 2025: Wix bought Base44 six months after launch. None of these is a reason to avoid the tools. They’re the reasons for GitHub, your own secrets, and reading the diff, which is the rest of today. docs/platform-landscape.md has the prices and the sources. Watch for: this turning into a vendor fight. Receipts, then move on. Gate: everyone can say the question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9:30–9:32. Three accounts, and they chain together. GitHub is the system of record: every version of every file, in your name. v0 writes the code: you describe, it generates a working app, and it comes with a free Vercel account, so sign in with GitHub and you’ve got it. Vercel ships: every push to GitHub becomes a live URL. The arrow runs left to right and loops back: v0 pushes to GitHub, GitHub triggers Vercel, you look at the URL and describe the next change. Most of you made these accounts in the prework; the next slides confirm each one works. Watch for: people with a Vercel account under a different email than GitHub. Sign in to Vercel with GitHub so the two are linked. Gate: everyone can point at the three tabs in their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9:32–9:36. Everyone makes one empty repository now. Plus, New repository. You’re the owner. Name it my-first-site. Initialize it with a README so there’s a first saved file. Pick public or private on purpose; private doesn’t make the website private, Vercel decides that. Copy the URL into your notes. The game gets its own repository this afternoon, my-first-game. Don’t put the game in this one. Watch for: two-factor prompts and organization accounts. Use a personal account. If GitHub wants a code, that’s normal; the student types it, not the helper. Gate: you can open your repository, read the README, and the owner is your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9:36–9:38. Six screens, in the order you’ll meet them, on the projector in my own repository. Home is the Code tab: the file list, the README, Add file. Commits is the history, one row per saved change. Click a row and you get the diff: green added, red removed. The branch dropdown says main; type a new name and GitHub offers to make a branch. Pull requests is where a branch gets reviewed and merged. Settings holds visibility and collaborators; nothing in there asks for your password except delete, and you’ll never need delete today. That’s the whole interface you need. Watch for: people clicking Clone or the Actions tab. Not today. Gate: everyone can name the six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9:38–9:41. Now you. Five steps. You already made my-first-site with a README; that’s step one done. Upload one of the website starters from website-starters/ with the message “Add starter page.” Open Commits, open that commit, find your file in the diff. Edit the README in the browser: one line that says what the site will be. Commit it. Open Commits again. Two rows. You just ran the loop with no chatbot: change, save, history. If every message in Commits says “Update index.html,” that’s a lesson for your prompts later: ask for a message that says what changed. Watch for: the upload landing in a folder, or the commit message left blank. Gate: two commits in your own repository, and you have opened the diff of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9:41–9:42. Say it with me: nothing that unlocks an account goes into a chat window. Ever. Not your password, not a key, not a token. Chats get logged, summarized, shared, and trained on. An agent that read your key may write it into a file, that file may land in GitHub, and bots read GitHub for exactly that within minutes. Today needs almost no secrets; GitHub, Vercel, and v0 sign you in through Authorize screens, which is the safe pattern. You approve, they swap tokens between themselves, and you never touch one. Watch for: someone who already pasted a key into a chatbot this year. Rotate it tonight. Gate: everyone can say the rule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9:42–9:43. Where secrets live: your password manager, your Vercel project’s environment variables, a .env.local file that’s in .gitignore. Where they never go: a chat window, the code, a README, a commit message, a screenshot. The first time you need one today is the skills-menu contact form. The clipboard move: copy the key from your password manager, and one command moves it from the clipboard into Vercel. Your eyes see it; the agent never does. Don’t type that command from memory; ask for it with the prompt on the screen. If the agent says “paste your key here,” say no. Composio, authorize-don’t-paste for Slack and Gmail, is the sprint 3 bonus if most tables have published by 4:50. Watch for: “but it’s just a test key.” Same rule. Gate: everyone can name one Yes place and one Never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9:43–9:48. Vercel’s the host and v0 comes with it. Sign in to Vercel with GitHub; that links the two and lets Vercel see your repository. Authorize the GitHub integration for my-first-site when it asks. Then open v0.app and sign in with the same account; it’s included with the free Vercel plan. Then stop. Don’t import, don’t deploy, don’t generate anything yet. Vercel Hobby is for noncommercial personal use. A site about you is fine today. A business site needs a paid plan later. Watch for: Vercel asking for a team name or a plan. Personal account, Hobby, no card. v0 showing a different account than Vercel: sign out and back in with GitHub. Gate: signed in to Vercel and v0 with the same GitHub account; my-first-site visible in the import list; nothing deployed.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9:48–9:51. Two ways to build, same prompts, same checks. v0 is featured: describe in the v0 chat, it generates a React app with a live preview, click Deploy, connect it to GitHub so every version gets pushed there. The portable route is any chatbot that returns files: ChatGPT, Claude, Gemini, Copilot. Save index.html, upload to GitHub in the browser, import in Vercel. The examples and checkpoints are single HTML files; they work as is on the portable route. v0 produces a React app, so you hand it the example as the style reference and your resume template as the content. Claude Code or Codex? Connected portable route; you review the pull request. Watch for: people switching routes mid-morning. Pick one by 10:00, stay on it until lunch. Gate: every pair has written their route at the top of their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9:51–9:55. Prove the route works before you need it. Connected route: paste the prompt on the slide. The answer has to separate what it verified from what it hasn’t tried. Then ask it for a one-sentence README improvement, look at the difference, and save it through the pull request. Portable route: ask your chatbot for a one-line index.html that says hello with your name, save it as index.html, double-click it. If your name shows in the browser, your route works. If something fails, write down the exact failure. We don’t fix accounts for twenty minutes. Watch for: the file saved as index.html.txt on Windows. Save with “All files” type. That’s stuck.md row two. Gate: green sticky when your route produced a file you opened, or a saved README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9:55–10:00. Five minutes, two habits. First, make it tell you the plan before it touches a file. Claude Code: Shift+Tab until the prompt says plan; it can’t change files until you approve. ChatGPT and Claude.ai: pick the thinking model in the selector, then type the plan prompt from the Plan step. Second, spend your best model on the plan and cheaper ones after. Biggest, thinking model: the brief, the plan, reading a diff, getting unstuck. Middle: generate the files, make one change. Smallest: rename things, alt text, commit messages. Only one model on a free plan? Use its thinking option for the plan, off for chores. Names drift; the sizes don’t. Watch for: people hunting for the toggle for five minutes. The prompt alone does the job. Gate: everyone knows where the thinking toggle is in their own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10:00–10:03. This is Jordan Rivera. Jordan doesn’t exist. This is the tested example in examples/personal-website, and by 11:45 every word on it is yours and it’s live. Six color themes and two layouts are built in; the picker’s in the footer. It prints as a resume, and the ADD-ON SLOT comments mark where the afternoon features go. Click through the themes on the big screen so people see the range. Time inside this block: export 10, content 20, build 30, colors 10, publish 20. Then we go get your content out of LinkedIn. Watch for: people wanting a different design. Today you change the words, the colors, and the layout. The structure is tested; keep it. Gate: everyone has opened the example index.html from the course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10:03–10:13. Ten minutes. Route A is the quick one: your own profile, the More button, sometimes labeled Resources, then Save to PDF. A file called Profile.pdf downloads. That’s your resume for today. Route B is the full export from Settings and Privacy; it emails you a link in about ten minutes, so start it now if you want your skills as text, and keep working on Route A meanwhile. No LinkedIn, or it won’t export? Open resume-template.md and type. Fifteen minutes of typing beats fifteen minutes of fighting a menu. Watch for: the menu label moving. Look for the words, not the position. Helpers have done this on a current account. Gate: you can open the PDF or the template and see your name, headline, and at least two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10:13–10:18. Five minutes, and it matters. The site is public and so is the chat you’re about to paste into. Before the chatbot sees your content, take out: phone number, street address, birth date, ID numbers, salary, anything about health or family, email addresses you don’t want strangers using, anything a former employer would call confidential. Keep: name, city, headline, work history with outcomes, skills, education, public links. Can’t edit the PDF? The next prompt leaves those out; check anyway. This is the step where people feel exposed. That’s fair. You decide what the world sees, and you can take anything down later. Watch for: the phone number sitting in the PDF header. LinkedIn puts it there. Check. Gate: everyone has read their export once with the red list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10:18–10:38. Twenty minutes. Open the vc-project-brief skill, attach your resume PDF or the typed template, attach resume-template.md for the shape, and type the prompt exactly. It fills the template; it doesn’t build the site yet. Then you read every line. Think of the chatbot as a new hire on day one: smart, fast, and it has never met you. You’d read everything they wrote about you before it went out. Fix dates. Fix titles. Cut anything that sounds like a press release. This is the one step today where you’re the expert and the chatbot is not. Watch for: invented jobs and dates. Stuck.md row five: “Use only facts from my resume. Leave blanks blank. Do not invent.” Gate: a completed resume-template.md with no placeholders and nothing you would not say to a stranger.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10:38–10:45, continues at 11:00. Now the build. Use vc-build-small. Attach the example index.html and your completed template. Type the prompt exactly. The point of “keep every id, every CUSTOMIZE comment, every ADD-ON SLOT comment” is that the file stays compatible with the themes, the print stylesheet, and the afternoon features. Open the result by double-clicking it. Send it to your phone if you can. We break at 10:45; if your file isn’t open yet, that’s the first thing after the break. Watch for: a fragment instead of a whole file. Stuck.md row one: “Return the complete index.html file, every line, nothing omitted.” Gate: your name in the browser tab, three roles visible, every link goes where it should, and nothing says “Jordan.”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10:38–10:45, continues at 11:00. v0 route. v0 needs content, not a PDF, so steps 1 to 3 were the same. Attach your completed resume-template.md and, as a style reference, the example index.html. Type the prompt exactly. v0 writes a React app and shows a preview. Look at the preview: your name, your three roles, every link. Fix facts before you fix looks. The CSS variables line lets you change colors in one request at 11:00. Don’t press Deploy yet; that’s the 11:20 slide. Watch for: v0 inventing a quote or a testimonial. “Remove everything not in resume-template.md. Use only my facts.” And v0 adding a form or sign-in: “Version 1 has no form, no database, no sign-in.” Gate: a preview with your name, three roles, and every link right. Same gate as the portable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10:45–11:00. Fifteen minutes. Helpers go to every red sticky and every laptop that failed setup. Anyone without a file open yet gets the fallback: download the finished example, replace only the hero and About sections with your own words, and we publish that. A live page with three sections beats a perfect page still on your laptop. Watch for: people skipping the break to fight the chatbot. Send them out; the helper takes the laptop. Gate: at 11:00 every pair has an index.html that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11:00–11:08. Eight minutes, and it’s the fun part. Six themes are built in; the chips are the real colors, point at them. Use the picker in the footer, or add ?theme=forest to the end of the address. Try three. Pick one. Want a palette that’s actually yours? Pick one color, ask for a background, text, and accent that pass contrast checks, and write the three hex codes in project-state.md so the next chat doesn’t drift. Watch for: people spending the whole eight minutes picking. Two minutes to choose; the prompt two slides on locks it in. Gate: everyone can say their theme id and layout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11:08–11:12. Two layouts, drawn as boxes and labels in docs/wireframes. Centered reads top to bottom and looks the same on a phone and a laptop. Sidebar keeps your name, links, and skills visible on a laptop and collapses to centered on a phone. If you want to change more than the palette, sketch on one of these first and paste the sketch into your prompt. Most of you won’t; you’ll pick one and lock it in on the next slide. Watch for: people redesigning. Two layouts, both tested. Pick one. Gate: the page looks the same after a reload with no ?theme= in the address, and the footer picker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11:08–11:12. One prompt locks your theme and layout in. Portable route: replace the three bracketed parts and type it. “Change nothing else” is the important sentence; it’s the difference between one edit and a rewrite. Watch for: the chatbot rewriting the whole file. Stuck.md row three: go back to the saved copy, ask for one change, add “Change nothing else.” Gate: the page looks the same after a reload with no ?theme= in the address, and the footer picker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11:08–11:12. v0 route, same idea: your three hex codes in one request. “Change nothing else” does the same job here; without it v0 restyles the layout along with the colors. Check the preview, then move on. Watch for: v0 changing the layout along with the colors. Go back one version and ask again with the sentence. Gate: the colors are yours in the preview and nothing else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11:12–11:20. Run vc-quality-check, but do these six with your own eyes first. The chatbot’s word is not a check. Every link opens the right place, including the mailto. The page fits a phone with no sideways scrolling. Print preview shows a tidy resume with no buttons. Three more on the next slide. Watch for: sideways scrolling on a phone. Stuck.md row eight: “Make it fit a 375 pixel wide screen with no sideways scrolling. Change nothing else.” Gate: six green checks on your sheet, or the failed one written down with what you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11:12–11:20. Search the file for Jordan, Bright Harbor, and example, and find nothing. Nothing private is in the file, including in the comments. And the sixth, the one that counts: it opens on someone else’s phone. Pairs swap phones. If one fails, say exactly what you saw, ask for the smallest fix, and re-check that one thing. Publish only what passed. Watch for: people skipping the phone swap. That one is the real check. Gate: six green checks on your sheet, or the failed one written down with what you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11:20–11:30. Ten minutes and deliverable one. v0 route: click Deploy, then connect the project to GitHub, and you’re done with this slide. Portable route: follow the setup guide, don’t improvise. Open my-first-site. Add file, Upload files. Choose index.html itself, not a ZIP, not a folder. Commit message like “First version of my site,” commit to main. Refresh and make sure index.html sits at the top level, lowercase. That’s the save. Watch for: a ZIP or a folder uploaded instead of the file. index.html itself, at the top level. Gate: a live *.vercel.app address open on someone else’s phone, recorded in project-state.md.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11:20–11:30. Vercel: Add New, Project, import my-first-site. Framework preset Other. Turn on the Build Command override and leave it empty. Output is the repository root. Deploy. Wait for the green check and click Visit. Open the URL and hand your phone to the person next to you. Write the URL in project-state.md. That’s the gate for lunch. If we’re behind, I drop sprint 1; a live URL by 11:45 is what matters. Watch for: Vercel 404. Stuck.md: index.html must be at the top level, lowercase. Old version showing: refresh GitHub, wait a minute, hard refresh. Gate: a live *.vercel.app address open on someone else’s phone, recorded in project-state.md.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11:30–11:35. Your site’s live and GitHub holds at least one commit. Open it on the projector. A commit is a named checkpoint; a diff is what changed between two checkpoints. Green added, red removed. Read it in this order: the message first, does it say what you asked for; the file names second, did it touch only the files you expected; the lines last, and only the red ones closely, because deletions are where the surprises hide. You don’t need to understand every line. You need to notice when the shape of the change doesn’t match the size of your request. Watch for: developers skimming. Ask one of them to read a diff aloud to everyone. Gate: everyone has opened one commit in their own repository and found the green and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11:35–11:40. The pull request is the human checkpoint in the agent loop. The agent works on a branch, a separate line of changes. It opens a pull request: here’s what I propose. You review the diff, Vercel shows you a preview URL, and you merge or you say no. This afternoon you practice it: increment 2 of the game, the battle, is done on a branch and merged through a pull request. Everyone, including the v0 route. Watch for: people merging without opening the Files changed tab. The green button is not the review. Gate: everyone can name the four red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11:35–11:40. Four red flags that mean no. Files changed that you didn’t ask about. Tests or checks deleted. Secrets or keys in the code; that one stops everything, it must never be in a repository. A scope bigger than the prompt. Any one of them and you say no. Saying no feels rude the first time. It isn’t. It’s the job, and the agent has no feelings about it. Ask for a smaller change, or restore the previous version. Watch for: people merging without opening the Files changed tab. The green button is not the review. Gate: everyone can name the four red flags.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11:40–11:45. Nothing is lost if it’s in GitHub. A merge that broke the site is one commit. Revert it: GitHub opens a new pull request that undoes it; merge it and Vercel ships the previous version. On v0, every generation is a version; open the history and restore the one that worked. Third way: promote an earlier good deploy in Vercel. The rule for the day: never fix a broken file by hand. Go back to the last good version and ask for a smaller change. I demonstrate one revert on the projector, on my own site, now. Watch for: people who “fixed it” by editing the live file in the chat until it half works. Back to the last good commit. Gate: everyone can find the Revert button on a merged pull request and the version history in v0.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11:45–11:47. You’ve been using skills all morning without the word. A skill is instructions you’d otherwise retype, saved once in a file, so the next session, the next model, and your colleague get the same behavior. No code, no account. It’s a folder with one file in it, SKILL.md. Front matter at the top: a name and a description with the trigger phrases, because a skill nobody triggers is a skill nobody uses. Then the body, in this order: who you’re helping and the job, when it applies, steps that each end in something you can see, the never-do-this rules, one worked example, and the checks. Open skills/vc-plan-first/SKILL.md and you’ll see exactly that shape. Watch for: people hearing “plugin” and expecting an install wizard. It’s a text file. Gate: everyone can say what a skill is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11:47–11:48. What makes one good. One job: “write the brief,” not “handle the project.” Triggers in the description. Steps that end in something you can see, not “ensure quality.” A rules list with the three ways it goes wrong. One worked example. Under about 300 lines; a novel gets skimmed. The test: hand the skill and the same request to two different chatbots. Same shape of answer from both? The skill’s doing the work. Different answers? The skill’s relying on the model to guess. In sprint 2 or 3 you can write one in ten minutes with the prompt in docs/skills-guide.md. Watch for: twenty rules and no example. Gate: everyone can name two of the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11:48–11:51. Three minutes, live, both chatbots. Claude first: I attach skills/vc-project-brief/SKILL.md, type the brief prompt from the walkthrough, and you see the shape: brief, scope, checks, no code. Fresh chat, no skill, same prompt, and you see the difference; that gap is what a skill buys. ChatGPT: same prompt three ways. Plain chat, no skill. Plain chat with the skill pasted after the one-line instruction. A Project with the skill uploaded and one line in its instructions. The Project version didn’t need the paste. Pick the row that matches the chatbot you actually use; the paste route works everywhere, including free plans, and lasts one conversation. Watch for: menu names that moved since this morning. Describe the shape, not the pixel. Gate: one skill installed in your own chatbot.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11:51–12:00. Nine minutes, your keyboard. You just saw what a skill is; now load one. Ten of them, from my public repositories, open source. The table is a reference, point at it. Pick one row. Load it with the prompt on the right: open the raw link, select all, copy, paste it in with that line first. Then attach your index.html and give the task prompt from the menu. Do the check in the table. Save a copy before the change. One skill, one task, one complete file back. Start the change now; it finishes in sprint 2. If I called cut one, we skip this and keep publishing. Watch for: loading three skills at once. The chatbot tries to do all three. One row. Gate: one skill loaded and its change started, or the blocker written in project-state.md.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12:00–12:45. Forty-five minutes. Before I let them go: play the space-theme game on the big screen once, so they come back knowing what they’re building. Helpers use lunch to fix the accounts that failed this morning. Put the ?theme=space URL on the screen while they eat. Watch for: anyone who did not publish. They publish during lunch with a helper, not during the game. Gate: at 12:45 everyone has played one round of the example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12:45–12:50. Two tracks this afternoon, same gates. Track A is the guided game: checkpoints at every stage, every prompt on the screen. Pick it if you want to be sure you ship. Track B is the thing you brought: a tool for your team, a dashboard, a prototype. One screen, one input, one result. Built with v0, one pull request per increment. Track B sits together at the back; helpers rotate. Same gates: a brief with checks by 1:40, a PR per increment, live by 4:35. Track B stalls at 3:00? Game checkpoint 3. Nobody leaves without a second URL. Watch for: Track B scopes that need a database or a login. One screen, one input, one result. The rest goes under “later.” Gate: every pair has chosen a track; Track B has written their one-screen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12:50–1:40 for Track B. Track B, while Track A tours the Arcade and picks a theme. The scope rule is the whole lesson: one screen where someone types or picks something and sees a useful result. A meeting-cost calculator. A which-form-do-I-need chooser. A checklist. A paste-in dashboard. A pitch page with a mailto button. Sign-in, a database, payments, email, anything that calls another company’s system, anything that stores other people’s data: all of it goes under “later.” Half of it you won’t need. When the thing you brought stalls, scope is almost always why, and cutting scope isn’t giving up. It’s how it ships. Watch for: scope creep in the plan. If the plan lists more files than you understand, cut. Gate: a brief with three observable checks and a plan with a file list you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12:50–1:40 for Track B. Plan mode again, from scratch, on your biggest model. Fill the scope template, draw one wireframe, type the plan prompt. Read the plan; cut anything not on the wireframe. If the plan lists more files than you understand, cut. Watch for: scope creep in the plan. If the plan lists more files than you understand, cut. Gate: a brief with three observable checks and a plan with a file list you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1:40–4:35 for Track B. 1:40, the build prompt: increment 1, and get it live. 3:00, one improvement through a pull request, then a two-minute stranger test and one fix through another PR. 4:10, publish with a five-line README. 3:30 and nothing live? Game checkpoint 3, and come back to your idea with the materials after class. Watch for: a plan that grew since 12:50. Build only the files it listed. Gate: a live URL with three checks passing on it, or checkpoint 3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12:50–12:58. Eight minutes. Show the All Things AI Arcade: short instructions, clear results, replay. Every game in it runs the same loop you ran this morning. Three choices for your game; pick one. The featured one is Alien Tic-Tac-Toe: choose a square, win or lose a short battle, claim it. It’s mine, it’s new, and the rest of this deck follows it. The quiz is the simplest complete game and a good scope cut if you’re behind. The dodger has the most motion to debug. Same seven skills for all three. No accounts, databases, or leaderboards in class. Watch for: pairs splitting across two games. One game per pair. Gate: every pair has written their choice in game-brief.md.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12:58–13:05. Reference slide, point at it, don’t read it. The game is the same under every theme: choose a square, win or lose a battle, claim it. What you choose is the look: who you are, who you fight, what the three attacks and counters are called, the colors. Eight themes are built into the checkpoint, all emoji, so nobody downloads art or worries about licensing. Pick one, or make your own on the next slide. The mechanics never change: three attacks, each with exactly one correct counter, one health point per exchange. Renaming is the only thing a theme does. The attack and counter names are in docs/tic-tac-toe-variants.md. Watch for: a theme that makes a rule unclear. Pick a different name, not a different rule. Gate: every pair can say their two emoji and three attack-counter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13:05–13:10. Want your own? Pick two emoji that are easy to tell apart at a glance. Name three attacks the opponent does and three counters that obviously beat them. Choose two or three colors. Write it in this table before you prompt. A theme that exists only in your head produces a game that changes every time you ask for a change. Avoid pairs that look alike, pairs where one emoji is mostly the background color, and anything that only reads as mine versus theirs by color. Each board mark also carries a hidden X or O label for screen readers. Watch for: counters that do not obviously beat the attack. Read the three pairs to your partner; if they hesitate, rename. Gate: the table filled in on paper or in a text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13:10–13:20. A wireframe is boxes and labels. Five minutes now saves an hour of “that’s not what I meant.” Three screens: instructions with the theme table and a Start button; the board with a status line in words, a Restart button, and Play again when it’s over; the battle with health as text, the attack the opponent uses, three counter buttons, a result line, Next exchange, Return to board. Draw them on paper or copy the text versions from the variants doc. You’ll paste them under your prompts. Low fidelity is the point; the chatbot matches your layout, not your handwriting. Watch for: people drawing art. Low fidelity is the point; the chatbot matches your layout, not your handwriting. Gate: three sketches per pair, photographed or 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13:20–13:30. Open the vc-game-brief skill. Type the prompt with your theme in the brackets. The rules come from alien-tic-tac-toe.md and the prompt says exactly: rename only. The chatbot gives you game-brief.md with observable completion checks, things you can see, like “three of my marks in a row shows You won.” Read the checks. If one isn’t observable, ask for one that is. Don’t build yet. Watch for: the chatbot adding mechanics: timers, random enemies, upgrades. Say no. Write them under “later.” Gate: game-brief.md with your theme and at least five observable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13:30–13:40. Paste your three wireframes under the prompt. The chatbot lists every state and what the player sees and can do in each. Two things it has to confirm: no automatic opponent move after a battle, and Restart game available in every active state. Misses either? Say so. The rules in one breath: pick an empty cell, a battle starts. Two health each; a correct counter costs them one, a wrong one costs you one. The winner marks the cell, exactly once. Three in a line wins; a full board is a draw. This list is what you test against all afternoon. Watch for: a state list that skips the “board finished” state or forgets Restart during a battle. Ask again for those two. Gate: a state list you can read in two minutes with both confirmations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13:40–14:00. First increment. Board only. Two buttons, Award to me and Award to opponent, stand in for the battle so you can test the board on its own. One index.html, inline CSS and JavaScript, no external files. Open it. Click three of your marks in a row: it says you won. Three of theirs: you lost. Fill the board with no line: Draw. Play again and Restart both work. Compare with checkpoint 1. If yours doesn’t detect wins by 2:00, download checkpoint 1 and keep going. Watch for: the diagonal lines not detected. “Detect the eight lines” is in the prompt; test 1-5-9 and 3-5-7 specifically. Gate: win, lose, and draw each observed once, with Restart in between.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14:00–14:15. Second increment, its own file, and the pull request exercise. Do it on a branch. v0: a new generation, push it, accept GitHub’s offer to open a pull request. Portable: branch dropdown, type battle, create it, upload the file to that branch, “Compare &amp; pull request.” Health is text, two each. Attacks cycle in your order. One answer per exchange. Ends at zero. Test: two correct answers end it in two exchanges. Read the diff: message, files, lines. Merge. At 2:15, if I call cut two, everyone continues from checkpoint 2. Watch for: health not changing on a correct answer. The exact help sentence from stuck.md: “I click Shield when it shows Laser and the alien’s health does not change.” Gate: two correct answers end the battle in two exchanges with no Next exchange button after the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 (and any time). Reference slide, point at it, don’t read it. Say it at 2:15 either way. Being stuck is normal. If you’re thinking “I’m the only one who doesn’t get this,” you’re not; look around. The goal is to be moving again in under five minutes. Say what you see in one sentence. Try the matching fix in stuck.md. Still stuck, jump to the checkpoint for your stage: a tested file you continue from. Write “continued from checkpoint N” in project-state.md. That’s honest and it’s fine. Professionals start from working code every day. Your job today is the loop, not the typing. Watch for: pride. The person who refuses the checkpoint at 2:15 is the person without a game at 4:35. Gate: nobody is more than five minutes stuck without a sticky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14:15–14:45. Third increment. Attach both files. Selecting an empty cell locks the board and starts a battle for that cell. A win places your mark, a loss places theirs, exactly once, then the board is evaluated. Add the instructions screen from your wireframe with the theme table. Restart available everywhere. Test: win three battles on squares 1, 2, and 3 and it says you won. Restart in the middle of a battle gives an empty board and no battle. Compare with checkpoint 3. At 3:00, if I call cut three, everyone continues from checkpoint 3. Watch for: a cell resolved twice, or the board not evaluated after a loss. Both are in the prompt; quote it back. Gate: a playable round from instructions to “You won,” or checkpoint 3 open and continued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14:45–15:00. Fifteen minutes. Helpers go to every red sticky. Anyone without a connected game downloads checkpoint 3 now, sets their theme with ?theme=, and that’s their game. Nobody debugs through the break. Watch for: the pair that is “almost there.” Almost there at 2:45 means checkpoint 3 at 3:00; say so kindly. Gate: at 3:00 every pair has a game that plays a full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15:00–15:30. Thirty minutes. vc-game-look-feel, then vc-game-feedback. Apply your colors. Make the board fit a 375 pixel wide phone. Buttons at least 44 pixels tall. Every status message stays in words. Don’t change any rule. Then feedback: every click should answer you. A correct counter says so. A claimed square shows the mark. A finished board says who won. Open it on a phone, held upright, and play one round with your thumb. Watch for: the chatbot “improving” a rule while restyling. The prompt says do not change any rule; if health or lines change, go back to the saved copy. Gate: theme applied, plays on a phone held upright with no sideways scrolling.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15:30–16:10. Forty minutes. Swap laptops with the pair next to you. Say nothing. Watch them play one full round. Write down the moment they hesitate or click the wrong thing. Watching someone fumble your game is uncomfortable. Don’t talk and don’t point. The moment they hesitate is the one thing you fix, and it’s the input to the prompt on the slide. The single smallest change. Change one thing, then re-test exactly as the chatbot tells you. Then swap back and do it for the other game. One observed issue repaired beats three guesses. Watch for: coaching the playtester. If you have to explain it, that is the finding. Gate: one observed issue, one change, one re-test that passed, written in project-state.md.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16:10–16:35. Deliverable two. Same moves as this morning, new repository. GitHub: New repository, my-first-game, add a README. Upload index.html at the root, lowercase. Commit: “First playable version.” Don’t upload the game into the website repository; that replaces your website. Two projects, two repositories, two URLs. Watch for: the game uploaded into my-first-site, which replaces the website. Separate repository, always. Gate: a second live *.vercel.app address that plays a round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16:10–16:35. Vercel: Add New, Project, import my-first-game. Framework Other, Build Command override on and empty, output root. Deploy. Open the URL on a phone and play one round. Try ?theme= on the live address; deep links work. Record the URL in the game’s project-state.md. If we’re behind, sprints 2 and 3 become this. Watch for: Vercel 404 again. index.html at the top level, lowercase, in the game repository. Gate: a second live *.vercel.app address that plays a round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16:35–17:05. Thirty minutes, your keyboard. Two choices. Add one skill to your site from the menu, same rules as this morning. Or one game extension from the list, after the basic loop works, never before. Each one is a separate increment with its own check. Pick at most one. Don’t add accounts, leaderboards, a database, timers, or downloaded art; write them under “later.” I hack on mine on the projector. Show and tell starts at 5:05 whatever state you’re in. Watch for: the extension that breaks the game. Save a copy first; if the check fails, go back to the saved copy and demo that. Gate: something new that passed its check, or the saved copy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17:05–17:15. Ten minutes. Sixty seconds each, as many as fit. Your live URL on the big screen, not the file on your laptop; live is the thing that went through your gate. Play one move or scroll one section. Then the one thing that broke and what fixed it. That’s the most useful sentence of the day; everyone else got stuck on it too. I pick volunteers during the sprint so nobody’s surprised. Everyone else: write one thing you noticed about their project on a sticky and hand it over. Watch for: demos running long. Call time at sixty seconds, kindly, every time. Gate: at least five live URLs shown on the big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17:15–17:18. Tuesday morning, three decisions. Amara’s Law: we overestimate this short term and underestimate it long term, so start small on purpose. First, what goes in GitHub first: the thing your team edits most and backs up least. A checklist, a page everyone copies. Second, what to automate next: one repeatable task, small enough to check by eye. The report you rebuild every Monday. Third, where agents still need adult supervision: secrets and keys, customer data, anything customer-facing, anything you can’t test yourself. Those get a human review every time; that’s the pull request. “Which tool do I use after today?” docs/platform-landscape.md; read the Your GitHub column first. Watch for: leaders who want to automate the hardest thing first. Smallest task first; earn the trust. Gate: everyone has written one answer to each of the three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17:18–17:23. Never cut this. Two URLs and two state files are the deliverable. Fill project-state.md for each project: name and type, repository, version, Vercel URL, what you actually tested and what you saw, the current blocker if any, and one next action with its check. Unfinished is fine; say what works and what doesn’t. Don’t relabel it as done. Attach the actual files when you open a new chat; the new chat knows nothing about the old one. Optional: proud of the game? The Arcade submission guide is in docs; All Things AI and I review before anything is listed. Watch for: state files that say “in the previous chat” as a file location. Name the actual files. Gate: two project-state.md files with URLs and a next action, open on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17:23–17:26. Optional, and it doesn’t affect anything about today. Add Vibe Coding to your LinkedIn skills if the label exists; if not, ask me which accurate label to use. Connect with me; I’ll give you the exact profile, don’t guess it. Publish a post in your own words about something you built, learned, or worked through; honest beats flattering. Send me the profile URL, the post URL, and the exact skill name through the class contact channel and I endorse it personally. It’s recognition of a skill you practiced today, not a certification. The chatbot prompt on the slide drafts it; you decide whether to post. Watch for: posts that claim more than was built. Describe what you actually completed. Gate: none;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17:26–17:28. Two offers, open to everyone. First, everyone gets the slides and all the course materials. They’re in the repo on the screen, github.com/mrhinkle/Vibe-Coding-for-Non-Technical-Professionals; the PDF and the PPTX sit in presentations/ato-2026-workshop. The link is also on the hold slide and the thank-you slide. Second, reviewers get the book. Tell me what worked and what didn’t and I send you the preview release edition of Software Development for Non-Programmers: Beyond Vibecoding. Good or bad, specific or short, it all counts, and the critical stuff helps me most; tell me what to cut. Email mrhinkle@allthingsai.org, subject “ATO workshop feedback,” or hand me the printed sheet before you leave. I read every one myself. Watch for: people writing only nice things. Ask for the one thing to cut. Gate: everyone knows the email address and the subject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17:28–17:30. One sentence, not a pitch. I co-founded All Things AI. It’s the hands-on conference for people like you, and workshops like today’s are what you’ll find there. April 18 to 20, 2027, in this same building. The 18th is the Agent Hackathon. The 21st is a separate, screened Executive Summit. allthingsai.org. If you want in, you know where to find me. Watch for: turning this into a sell. One sentence and on to thank you. Gate: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17:28–17:30. That’s the day. This morning your résumé lived in a LinkedIn menu. Now a site about you is live, in your Vercel. A game you drew on paper at one o’clock plays on a phone, at a URL you own. And you ran the same six steps both times. If you walked in this morning nervous, look at what you’re walking out with. Run those six steps on Monday on something small at work. The slides and everything else are in the repo on the screen. Feedback sheets on the table on the way out, or mrhinkle@allthingsai.org. Thank you. Watch for: nothing. Say thank you and stop on time. Gate: done at 5:30.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jp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jpe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jpe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image" Target="../media/image-66-4.png"/><Relationship Id="rId5" Type="http://schemas.openxmlformats.org/officeDocument/2006/relationships/slideLayout" Target="../slideLayouts/slideLayout1.xml"/><Relationship Id="rId6"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jpe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slideLayout" Target="../slideLayouts/slideLayout1.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slideLayout" Target="../slideLayouts/slideLayout1.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jp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slideLayout" Target="../slideLayouts/slideLayout1.xml"/><Relationship Id="rId4"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Slide-85-image-1.jpeg"/><Relationship Id="rId2" Type="http://schemas.openxmlformats.org/officeDocument/2006/relationships/image" Target="../media/image-85-2.png"/><Relationship Id="rId3" Type="http://schemas.openxmlformats.org/officeDocument/2006/relationships/image" Target="../media/image-85-3.png"/><Relationship Id="rId4" Type="http://schemas.openxmlformats.org/officeDocument/2006/relationships/image" Target="../media/image-85-4.png"/><Relationship Id="rId5" Type="http://schemas.openxmlformats.org/officeDocument/2006/relationships/slideLayout" Target="../slideLayouts/slideLayout1.xml"/><Relationship Id="rId6"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3" name="Image 0" descr="assets/logo-h-white.png">    </p:cNvPr>
          <p:cNvPicPr>
            <a:picLocks noChangeAspect="1"/>
          </p:cNvPicPr>
          <p:nvPr/>
        </p:nvPicPr>
        <p:blipFill>
          <a:blip r:embed="rId2"/>
          <a:stretch>
            <a:fillRect/>
          </a:stretch>
        </p:blipFill>
        <p:spPr>
          <a:xfrm>
            <a:off x="640080" y="457200"/>
            <a:ext cx="2926080" cy="374904"/>
          </a:xfrm>
          <a:prstGeom prst="rect">
            <a:avLst/>
          </a:prstGeom>
        </p:spPr>
      </p:pic>
      <p:sp>
        <p:nvSpPr>
          <p:cNvPr id="4" name="Text 0"/>
          <p:cNvSpPr txBox="1"/>
          <p:nvPr/>
        </p:nvSpPr>
        <p:spPr>
          <a:xfrm>
            <a:off x="640080" y="100584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ALL THINGS OPEN 2026 · EXTENDED WORKSHOP · RALEIGH CONVENTION CENTER</a:t>
            </a:r>
            <a:endParaRPr lang="en-US" sz="1100" dirty="0"/>
          </a:p>
        </p:txBody>
      </p:sp>
      <p:sp>
        <p:nvSpPr>
          <p:cNvPr id="5" name="Text 1"/>
          <p:cNvSpPr txBox="1"/>
          <p:nvPr/>
        </p:nvSpPr>
        <p:spPr>
          <a:xfrm>
            <a:off x="640080" y="1371600"/>
            <a:ext cx="9144000"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AI Agents &amp; Vibe Coding</a:t>
            </a:r>
            <a:endParaRPr lang="en-US" sz="5400" dirty="0"/>
          </a:p>
        </p:txBody>
      </p:sp>
      <p:sp>
        <p:nvSpPr>
          <p:cNvPr id="6" name="Text 2"/>
          <p:cNvSpPr txBox="1"/>
          <p:nvPr/>
        </p:nvSpPr>
        <p:spPr>
          <a:xfrm>
            <a:off x="640080" y="2468880"/>
            <a:ext cx="7315200" cy="548640"/>
          </a:xfrm>
          <a:prstGeom prst="rect">
            <a:avLst/>
          </a:prstGeom>
          <a:noFill/>
          <a:ln/>
        </p:spPr>
        <p:txBody>
          <a:bodyPr wrap="square" lIns="0" tIns="0" rIns="0" bIns="0" rtlCol="0" anchor="ctr"/>
          <a:lstStyle/>
          <a:p>
            <a:pPr indent="0" marL="0">
              <a:buNone/>
            </a:pPr>
            <a:r>
              <a:rPr lang="en-US" sz="2000" dirty="0">
                <a:solidFill>
                  <a:srgbClr val="EF8B39"/>
                </a:solidFill>
                <a:latin typeface="Courier New" pitchFamily="34" charset="0"/>
                <a:ea typeface="Courier New" pitchFamily="34" charset="-122"/>
                <a:cs typeface="Courier New" pitchFamily="34" charset="-120"/>
              </a:rPr>
              <a:t>Doors 7:30  ·  We start at 9:00</a:t>
            </a:r>
            <a:endParaRPr lang="en-US" sz="2000" dirty="0"/>
          </a:p>
        </p:txBody>
      </p:sp>
      <p:sp>
        <p:nvSpPr>
          <p:cNvPr id="7" name="Text 3"/>
          <p:cNvSpPr txBox="1"/>
          <p:nvPr/>
        </p:nvSpPr>
        <p:spPr>
          <a:xfrm>
            <a:off x="640080" y="3383280"/>
            <a:ext cx="548640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THREE THINGS TO DO RIGHT NOW</a:t>
            </a:r>
            <a:endParaRPr lang="en-US" sz="1100" dirty="0"/>
          </a:p>
        </p:txBody>
      </p:sp>
      <p:sp>
        <p:nvSpPr>
          <p:cNvPr id="8" name="Text 4"/>
          <p:cNvSpPr txBox="1"/>
          <p:nvPr/>
        </p:nvSpPr>
        <p:spPr>
          <a:xfrm>
            <a:off x="640080" y="3749040"/>
            <a:ext cx="6675120" cy="1737360"/>
          </a:xfrm>
          <a:prstGeom prst="rect">
            <a:avLst/>
          </a:prstGeom>
          <a:noFill/>
          <a:ln/>
        </p:spPr>
        <p:txBody>
          <a:bodyPr wrap="square" lIns="0" tIns="0" rIns="0" bIns="0" rtlCol="0" anchor="t"/>
          <a:lstStyle/>
          <a:p>
            <a:pPr indent="0" marL="0">
              <a:lnSpc>
                <a:spcPct val="120000"/>
              </a:lnSpc>
              <a:spcAft>
                <a:spcPts val="800"/>
              </a:spcAft>
              <a:buNone/>
            </a:pPr>
            <a:r>
              <a:rPr lang="en-US" sz="1700" dirty="0">
                <a:solidFill>
                  <a:srgbClr val="FFFFFF"/>
                </a:solidFill>
                <a:latin typeface="Arial" pitchFamily="34" charset="0"/>
                <a:ea typeface="Arial" pitchFamily="34" charset="-122"/>
                <a:cs typeface="Arial" pitchFamily="34" charset="-120"/>
              </a:rPr>
              <a:t>1   Open github.com and make sure you’re signed in.</a:t>
            </a:r>
            <a:endParaRPr lang="en-US" sz="1700" dirty="0"/>
          </a:p>
          <a:p>
            <a:pPr indent="0" marL="0">
              <a:lnSpc>
                <a:spcPct val="120000"/>
              </a:lnSpc>
              <a:spcAft>
                <a:spcPts val="800"/>
              </a:spcAft>
              <a:buNone/>
            </a:pPr>
            <a:r>
              <a:rPr lang="en-US" sz="1700" dirty="0">
                <a:solidFill>
                  <a:srgbClr val="FFFFFF"/>
                </a:solidFill>
                <a:latin typeface="Arial" pitchFamily="34" charset="0"/>
                <a:ea typeface="Arial" pitchFamily="34" charset="-122"/>
                <a:cs typeface="Arial" pitchFamily="34" charset="-120"/>
              </a:rPr>
              <a:t>2   Open vercel.com and sign in with GitHub.</a:t>
            </a:r>
            <a:endParaRPr lang="en-US" sz="1700" dirty="0"/>
          </a:p>
          <a:p>
            <a:pPr indent="0" marL="0">
              <a:lnSpc>
                <a:spcPct val="120000"/>
              </a:lnSpc>
              <a:spcAft>
                <a:spcPts val="800"/>
              </a:spcAft>
              <a:buNone/>
            </a:pPr>
            <a:r>
              <a:rPr lang="en-US" sz="1700" dirty="0">
                <a:solidFill>
                  <a:srgbClr val="FFFFFF"/>
                </a:solidFill>
                <a:latin typeface="Arial" pitchFamily="34" charset="0"/>
                <a:ea typeface="Arial" pitchFamily="34" charset="-122"/>
                <a:cs typeface="Arial" pitchFamily="34" charset="-120"/>
              </a:rPr>
              <a:t>3   Open prep/laptop-check.html from the course folder. Green check means you’re ready.</a:t>
            </a:r>
            <a:endParaRPr lang="en-US" sz="1700" dirty="0"/>
          </a:p>
        </p:txBody>
      </p:sp>
      <p:sp>
        <p:nvSpPr>
          <p:cNvPr id="9" name="Text 5"/>
          <p:cNvSpPr txBox="1"/>
          <p:nvPr/>
        </p:nvSpPr>
        <p:spPr>
          <a:xfrm>
            <a:off x="8138160" y="3383280"/>
            <a:ext cx="320040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307FE2"/>
                </a:solidFill>
                <a:latin typeface="Courier New" pitchFamily="34" charset="0"/>
                <a:ea typeface="Courier New" pitchFamily="34" charset="-122"/>
                <a:cs typeface="Courier New" pitchFamily="34" charset="-120"/>
              </a:rPr>
              <a:t>WI-FI</a:t>
            </a:r>
            <a:endParaRPr lang="en-US" sz="1100" dirty="0"/>
          </a:p>
        </p:txBody>
      </p:sp>
      <p:sp>
        <p:nvSpPr>
          <p:cNvPr id="10" name="Text 6"/>
          <p:cNvSpPr txBox="1"/>
          <p:nvPr/>
        </p:nvSpPr>
        <p:spPr>
          <a:xfrm>
            <a:off x="8138160" y="3794760"/>
            <a:ext cx="3566160" cy="365760"/>
          </a:xfrm>
          <a:prstGeom prst="rect">
            <a:avLst/>
          </a:prstGeom>
          <a:noFill/>
          <a:ln/>
        </p:spPr>
        <p:txBody>
          <a:bodyPr wrap="square" lIns="0" tIns="0" rIns="0" bIns="0" rtlCol="0" anchor="t"/>
          <a:lstStyle/>
          <a:p>
            <a:pPr algn="l" indent="0" marL="0">
              <a:lnSpc>
                <a:spcPct val="115000"/>
              </a:lnSpc>
              <a:buNone/>
            </a:pPr>
            <a:r>
              <a:rPr lang="en-US" sz="1400" dirty="0">
                <a:solidFill>
                  <a:srgbClr val="FFFFFF"/>
                </a:solidFill>
                <a:latin typeface="Courier New" pitchFamily="34" charset="0"/>
                <a:ea typeface="Courier New" pitchFamily="34" charset="-122"/>
                <a:cs typeface="Courier New" pitchFamily="34" charset="-120"/>
              </a:rPr>
              <a:t>Network:   ________________</a:t>
            </a:r>
            <a:endParaRPr lang="en-US" sz="1400" dirty="0"/>
          </a:p>
        </p:txBody>
      </p:sp>
      <p:sp>
        <p:nvSpPr>
          <p:cNvPr id="11" name="Text 7"/>
          <p:cNvSpPr txBox="1"/>
          <p:nvPr/>
        </p:nvSpPr>
        <p:spPr>
          <a:xfrm>
            <a:off x="8138160" y="4297680"/>
            <a:ext cx="3566160" cy="365760"/>
          </a:xfrm>
          <a:prstGeom prst="rect">
            <a:avLst/>
          </a:prstGeom>
          <a:noFill/>
          <a:ln/>
        </p:spPr>
        <p:txBody>
          <a:bodyPr wrap="square" lIns="0" tIns="0" rIns="0" bIns="0" rtlCol="0" anchor="t"/>
          <a:lstStyle/>
          <a:p>
            <a:pPr algn="l" indent="0" marL="0">
              <a:lnSpc>
                <a:spcPct val="115000"/>
              </a:lnSpc>
              <a:buNone/>
            </a:pPr>
            <a:r>
              <a:rPr lang="en-US" sz="1400" dirty="0">
                <a:solidFill>
                  <a:srgbClr val="FFFFFF"/>
                </a:solidFill>
                <a:latin typeface="Courier New" pitchFamily="34" charset="0"/>
                <a:ea typeface="Courier New" pitchFamily="34" charset="-122"/>
                <a:cs typeface="Courier New" pitchFamily="34" charset="-120"/>
              </a:rPr>
              <a:t>Password:  ________________</a:t>
            </a:r>
            <a:endParaRPr lang="en-US" sz="1400" dirty="0"/>
          </a:p>
        </p:txBody>
      </p:sp>
      <p:sp>
        <p:nvSpPr>
          <p:cNvPr id="12" name="Text 8"/>
          <p:cNvSpPr txBox="1"/>
          <p:nvPr/>
        </p:nvSpPr>
        <p:spPr>
          <a:xfrm>
            <a:off x="640080" y="5669280"/>
            <a:ext cx="10908792" cy="274320"/>
          </a:xfrm>
          <a:prstGeom prst="rect">
            <a:avLst/>
          </a:prstGeom>
          <a:noFill/>
          <a:ln/>
        </p:spPr>
        <p:txBody>
          <a:bodyPr wrap="square" lIns="0" tIns="0" rIns="0" bIns="0" rtlCol="0" anchor="t"/>
          <a:lstStyle/>
          <a:p>
            <a:pPr algn="l" indent="0" marL="0">
              <a:lnSpc>
                <a:spcPct val="115000"/>
              </a:lnSpc>
              <a:buNone/>
            </a:pPr>
            <a:r>
              <a:rPr lang="en-US" sz="1100" dirty="0">
                <a:solidFill>
                  <a:srgbClr val="D6DEEA"/>
                </a:solidFill>
                <a:latin typeface="Courier New" pitchFamily="34" charset="0"/>
                <a:ea typeface="Courier New" pitchFamily="34" charset="-122"/>
                <a:cs typeface="Courier New" pitchFamily="34" charset="-120"/>
              </a:rPr>
              <a:t>Slides and all course materials: github.com/mrhinkle/Vibe-Coding-for-Non-Technical-Professionals</a:t>
            </a:r>
            <a:endParaRPr lang="en-US" sz="1100" dirty="0"/>
          </a:p>
        </p:txBody>
      </p:sp>
      <p:sp>
        <p:nvSpPr>
          <p:cNvPr id="13" name="Text 9"/>
          <p:cNvSpPr txBox="1"/>
          <p:nvPr/>
        </p:nvSpPr>
        <p:spPr>
          <a:xfrm>
            <a:off x="640080" y="6080760"/>
            <a:ext cx="10908792" cy="274320"/>
          </a:xfrm>
          <a:prstGeom prst="rect">
            <a:avLst/>
          </a:prstGeom>
          <a:noFill/>
          <a:ln/>
        </p:spPr>
        <p:txBody>
          <a:bodyPr wrap="square" lIns="0" tIns="0" rIns="0" bIns="0" rtlCol="0" anchor="t"/>
          <a:lstStyle/>
          <a:p>
            <a:pPr algn="l" indent="0" marL="0">
              <a:lnSpc>
                <a:spcPct val="115000"/>
              </a:lnSpc>
              <a:buNone/>
            </a:pPr>
            <a:r>
              <a:rPr lang="en-US" sz="1100" spc="150" kern="0" dirty="0">
                <a:solidFill>
                  <a:srgbClr val="B9C3D1"/>
                </a:solidFill>
                <a:latin typeface="Courier New" pitchFamily="34" charset="0"/>
                <a:ea typeface="Courier New" pitchFamily="34" charset="-122"/>
                <a:cs typeface="Courier New" pitchFamily="34" charset="-120"/>
              </a:rPr>
              <a:t>MARK HINKLE · CEO, PERIPETY LABS · PUBLISHER, THE AIE NETWORK · CO-ORGANIZER, ALL THINGS AI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WELCOME</a:t>
            </a:r>
            <a:endParaRPr lang="en-US" sz="1100" dirty="0"/>
          </a:p>
        </p:txBody>
      </p:sp>
      <p:sp>
        <p:nvSpPr>
          <p:cNvPr id="6" name="Text 2"/>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By 5:30 you’ll have two live URLs.</a:t>
            </a:r>
            <a:endParaRPr lang="en-US" sz="3200" dirty="0"/>
          </a:p>
        </p:txBody>
      </p:sp>
      <p:sp>
        <p:nvSpPr>
          <p:cNvPr id="7" name="Text 3"/>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One loop all day: describe, plan, build, check, save, publish. Both projects.</a:t>
            </a:r>
            <a:endParaRPr lang="en-US" sz="1600" dirty="0"/>
          </a:p>
        </p:txBody>
      </p:sp>
      <p:sp>
        <p:nvSpPr>
          <p:cNvPr id="8" name="Shape 4"/>
          <p:cNvSpPr/>
          <p:nvPr/>
        </p:nvSpPr>
        <p:spPr>
          <a:xfrm>
            <a:off x="914400" y="3657600"/>
            <a:ext cx="10360152" cy="0"/>
          </a:xfrm>
          <a:prstGeom prst="line">
            <a:avLst/>
          </a:prstGeom>
          <a:noFill/>
          <a:ln w="25400">
            <a:solidFill>
              <a:srgbClr val="0D1219"/>
            </a:solidFill>
            <a:prstDash val="solid"/>
          </a:ln>
        </p:spPr>
      </p:sp>
      <p:sp>
        <p:nvSpPr>
          <p:cNvPr id="9" name="Shape 5"/>
          <p:cNvSpPr/>
          <p:nvPr/>
        </p:nvSpPr>
        <p:spPr>
          <a:xfrm>
            <a:off x="914400" y="3547872"/>
            <a:ext cx="0" cy="219456"/>
          </a:xfrm>
          <a:prstGeom prst="line">
            <a:avLst/>
          </a:prstGeom>
          <a:noFill/>
          <a:ln w="25400">
            <a:solidFill>
              <a:srgbClr val="0D1219"/>
            </a:solidFill>
            <a:prstDash val="solid"/>
          </a:ln>
        </p:spPr>
      </p:sp>
      <p:sp>
        <p:nvSpPr>
          <p:cNvPr id="10" name="Text 6"/>
          <p:cNvSpPr txBox="1"/>
          <p:nvPr/>
        </p:nvSpPr>
        <p:spPr>
          <a:xfrm>
            <a:off x="365760" y="3840480"/>
            <a:ext cx="1097280" cy="274320"/>
          </a:xfrm>
          <a:prstGeom prst="rect">
            <a:avLst/>
          </a:prstGeom>
          <a:noFill/>
          <a:ln/>
        </p:spPr>
        <p:txBody>
          <a:bodyPr wrap="square" lIns="0" tIns="0" rIns="0" bIns="0" rtlCol="0" anchor="t"/>
          <a:lstStyle/>
          <a:p>
            <a:pPr algn="ctr" indent="0" marL="0">
              <a:lnSpc>
                <a:spcPct val="115000"/>
              </a:lnSpc>
              <a:buNone/>
            </a:pPr>
            <a:r>
              <a:rPr lang="en-US" sz="1200" dirty="0">
                <a:solidFill>
                  <a:srgbClr val="7B8594"/>
                </a:solidFill>
                <a:latin typeface="Courier New" pitchFamily="34" charset="0"/>
                <a:ea typeface="Courier New" pitchFamily="34" charset="-122"/>
                <a:cs typeface="Courier New" pitchFamily="34" charset="-120"/>
              </a:rPr>
              <a:t>9:00</a:t>
            </a:r>
            <a:endParaRPr lang="en-US" sz="1200" dirty="0"/>
          </a:p>
        </p:txBody>
      </p:sp>
      <p:sp>
        <p:nvSpPr>
          <p:cNvPr id="11" name="Shape 7"/>
          <p:cNvSpPr/>
          <p:nvPr/>
        </p:nvSpPr>
        <p:spPr>
          <a:xfrm>
            <a:off x="4570924" y="3547872"/>
            <a:ext cx="0" cy="219456"/>
          </a:xfrm>
          <a:prstGeom prst="line">
            <a:avLst/>
          </a:prstGeom>
          <a:noFill/>
          <a:ln w="25400">
            <a:solidFill>
              <a:srgbClr val="0D1219"/>
            </a:solidFill>
            <a:prstDash val="solid"/>
          </a:ln>
        </p:spPr>
      </p:sp>
      <p:sp>
        <p:nvSpPr>
          <p:cNvPr id="12" name="Text 8"/>
          <p:cNvSpPr txBox="1"/>
          <p:nvPr/>
        </p:nvSpPr>
        <p:spPr>
          <a:xfrm>
            <a:off x="4022284" y="3840480"/>
            <a:ext cx="1097280" cy="274320"/>
          </a:xfrm>
          <a:prstGeom prst="rect">
            <a:avLst/>
          </a:prstGeom>
          <a:noFill/>
          <a:ln/>
        </p:spPr>
        <p:txBody>
          <a:bodyPr wrap="square" lIns="0" tIns="0" rIns="0" bIns="0" rtlCol="0" anchor="t"/>
          <a:lstStyle/>
          <a:p>
            <a:pPr algn="ctr" indent="0" marL="0">
              <a:lnSpc>
                <a:spcPct val="115000"/>
              </a:lnSpc>
              <a:buNone/>
            </a:pPr>
            <a:r>
              <a:rPr lang="en-US" sz="1200" dirty="0">
                <a:solidFill>
                  <a:srgbClr val="7B8594"/>
                </a:solidFill>
                <a:latin typeface="Courier New" pitchFamily="34" charset="0"/>
                <a:ea typeface="Courier New" pitchFamily="34" charset="-122"/>
                <a:cs typeface="Courier New" pitchFamily="34" charset="-120"/>
              </a:rPr>
              <a:t>12:00</a:t>
            </a:r>
            <a:endParaRPr lang="en-US" sz="1200" dirty="0"/>
          </a:p>
        </p:txBody>
      </p:sp>
      <p:sp>
        <p:nvSpPr>
          <p:cNvPr id="13" name="Shape 9"/>
          <p:cNvSpPr/>
          <p:nvPr/>
        </p:nvSpPr>
        <p:spPr>
          <a:xfrm>
            <a:off x="11274552" y="3547872"/>
            <a:ext cx="0" cy="219456"/>
          </a:xfrm>
          <a:prstGeom prst="line">
            <a:avLst/>
          </a:prstGeom>
          <a:noFill/>
          <a:ln w="25400">
            <a:solidFill>
              <a:srgbClr val="0D1219"/>
            </a:solidFill>
            <a:prstDash val="solid"/>
          </a:ln>
        </p:spPr>
      </p:sp>
      <p:sp>
        <p:nvSpPr>
          <p:cNvPr id="14" name="Text 10"/>
          <p:cNvSpPr txBox="1"/>
          <p:nvPr/>
        </p:nvSpPr>
        <p:spPr>
          <a:xfrm>
            <a:off x="10725912" y="3840480"/>
            <a:ext cx="1097280" cy="274320"/>
          </a:xfrm>
          <a:prstGeom prst="rect">
            <a:avLst/>
          </a:prstGeom>
          <a:noFill/>
          <a:ln/>
        </p:spPr>
        <p:txBody>
          <a:bodyPr wrap="square" lIns="0" tIns="0" rIns="0" bIns="0" rtlCol="0" anchor="t"/>
          <a:lstStyle/>
          <a:p>
            <a:pPr algn="ctr" indent="0" marL="0">
              <a:lnSpc>
                <a:spcPct val="115000"/>
              </a:lnSpc>
              <a:buNone/>
            </a:pPr>
            <a:r>
              <a:rPr lang="en-US" sz="1200" dirty="0">
                <a:solidFill>
                  <a:srgbClr val="7B8594"/>
                </a:solidFill>
                <a:latin typeface="Courier New" pitchFamily="34" charset="0"/>
                <a:ea typeface="Courier New" pitchFamily="34" charset="-122"/>
                <a:cs typeface="Courier New" pitchFamily="34" charset="-120"/>
              </a:rPr>
              <a:t>5:30</a:t>
            </a:r>
            <a:endParaRPr lang="en-US" sz="1200" dirty="0"/>
          </a:p>
        </p:txBody>
      </p:sp>
      <p:sp>
        <p:nvSpPr>
          <p:cNvPr id="15" name="Shape 11"/>
          <p:cNvSpPr/>
          <p:nvPr/>
        </p:nvSpPr>
        <p:spPr>
          <a:xfrm>
            <a:off x="3806056" y="3502152"/>
            <a:ext cx="310896" cy="310896"/>
          </a:xfrm>
          <a:prstGeom prst="ellipse">
            <a:avLst/>
          </a:prstGeom>
          <a:solidFill>
            <a:srgbClr val="307FE2"/>
          </a:solidFill>
          <a:ln w="12700">
            <a:solidFill>
              <a:srgbClr val="307FE2"/>
            </a:solidFill>
            <a:prstDash val="solid"/>
          </a:ln>
        </p:spPr>
      </p:sp>
      <p:sp>
        <p:nvSpPr>
          <p:cNvPr id="16" name="Shape 12"/>
          <p:cNvSpPr/>
          <p:nvPr/>
        </p:nvSpPr>
        <p:spPr>
          <a:xfrm flipV="1">
            <a:off x="3961504" y="2514600"/>
            <a:ext cx="0" cy="960120"/>
          </a:xfrm>
          <a:prstGeom prst="line">
            <a:avLst/>
          </a:prstGeom>
          <a:noFill/>
          <a:ln w="19050">
            <a:solidFill>
              <a:srgbClr val="307FE2"/>
            </a:solidFill>
            <a:prstDash val="solid"/>
          </a:ln>
        </p:spPr>
      </p:sp>
      <p:sp>
        <p:nvSpPr>
          <p:cNvPr id="17" name="Text 13"/>
          <p:cNvSpPr txBox="1"/>
          <p:nvPr/>
        </p:nvSpPr>
        <p:spPr>
          <a:xfrm>
            <a:off x="2498464" y="2103120"/>
            <a:ext cx="2926080" cy="365760"/>
          </a:xfrm>
          <a:prstGeom prst="rect">
            <a:avLst/>
          </a:prstGeom>
          <a:noFill/>
          <a:ln/>
        </p:spPr>
        <p:txBody>
          <a:bodyPr wrap="square" lIns="0" tIns="0" rIns="0" bIns="0" rtlCol="0" anchor="t"/>
          <a:lstStyle/>
          <a:p>
            <a:pPr algn="ctr" indent="0" marL="0">
              <a:lnSpc>
                <a:spcPct val="115000"/>
              </a:lnSpc>
              <a:buNone/>
            </a:pPr>
            <a:r>
              <a:rPr lang="en-US" sz="2600" b="1" dirty="0">
                <a:solidFill>
                  <a:srgbClr val="307FE2"/>
                </a:solidFill>
                <a:latin typeface="Arial" pitchFamily="34" charset="0"/>
                <a:ea typeface="Arial" pitchFamily="34" charset="-122"/>
                <a:cs typeface="Arial" pitchFamily="34" charset="-120"/>
              </a:rPr>
              <a:t>11:30</a:t>
            </a:r>
            <a:endParaRPr lang="en-US" sz="2600" dirty="0"/>
          </a:p>
        </p:txBody>
      </p:sp>
      <p:sp>
        <p:nvSpPr>
          <p:cNvPr id="18" name="Text 14"/>
          <p:cNvSpPr txBox="1"/>
          <p:nvPr/>
        </p:nvSpPr>
        <p:spPr>
          <a:xfrm>
            <a:off x="2224144" y="4251960"/>
            <a:ext cx="3474720" cy="822960"/>
          </a:xfrm>
          <a:prstGeom prst="rect">
            <a:avLst/>
          </a:prstGeom>
          <a:noFill/>
          <a:ln/>
        </p:spPr>
        <p:txBody>
          <a:bodyPr wrap="square" lIns="0" tIns="0" rIns="0" bIns="0" rtlCol="0" anchor="t"/>
          <a:lstStyle/>
          <a:p>
            <a:pPr algn="ctr" indent="0" marL="0">
              <a:lnSpc>
                <a:spcPct val="115000"/>
              </a:lnSpc>
              <a:buNone/>
            </a:pPr>
            <a:r>
              <a:rPr lang="en-US" sz="1500" dirty="0">
                <a:solidFill>
                  <a:srgbClr val="0D1219"/>
                </a:solidFill>
                <a:latin typeface="Arial" pitchFamily="34" charset="0"/>
                <a:ea typeface="Arial" pitchFamily="34" charset="-122"/>
                <a:cs typeface="Arial" pitchFamily="34" charset="-120"/>
              </a:rPr>
              <a:t>A website about you, built from your LinkedIn, live on Vercel.</a:t>
            </a:r>
            <a:endParaRPr lang="en-US" sz="1500" dirty="0"/>
          </a:p>
        </p:txBody>
      </p:sp>
      <p:sp>
        <p:nvSpPr>
          <p:cNvPr id="19" name="Shape 15"/>
          <p:cNvSpPr/>
          <p:nvPr/>
        </p:nvSpPr>
        <p:spPr>
          <a:xfrm>
            <a:off x="9997770" y="3502152"/>
            <a:ext cx="310896" cy="310896"/>
          </a:xfrm>
          <a:prstGeom prst="ellipse">
            <a:avLst/>
          </a:prstGeom>
          <a:solidFill>
            <a:srgbClr val="EF8B39"/>
          </a:solidFill>
          <a:ln w="12700">
            <a:solidFill>
              <a:srgbClr val="EF8B39"/>
            </a:solidFill>
            <a:prstDash val="solid"/>
          </a:ln>
        </p:spPr>
      </p:sp>
      <p:sp>
        <p:nvSpPr>
          <p:cNvPr id="20" name="Shape 16"/>
          <p:cNvSpPr/>
          <p:nvPr/>
        </p:nvSpPr>
        <p:spPr>
          <a:xfrm flipV="1">
            <a:off x="10153218" y="2514600"/>
            <a:ext cx="0" cy="960120"/>
          </a:xfrm>
          <a:prstGeom prst="line">
            <a:avLst/>
          </a:prstGeom>
          <a:noFill/>
          <a:ln w="19050">
            <a:solidFill>
              <a:srgbClr val="EF8B39"/>
            </a:solidFill>
            <a:prstDash val="solid"/>
          </a:ln>
        </p:spPr>
      </p:sp>
      <p:sp>
        <p:nvSpPr>
          <p:cNvPr id="21" name="Text 17"/>
          <p:cNvSpPr txBox="1"/>
          <p:nvPr/>
        </p:nvSpPr>
        <p:spPr>
          <a:xfrm>
            <a:off x="8690178" y="2103120"/>
            <a:ext cx="2926080" cy="365760"/>
          </a:xfrm>
          <a:prstGeom prst="rect">
            <a:avLst/>
          </a:prstGeom>
          <a:noFill/>
          <a:ln/>
        </p:spPr>
        <p:txBody>
          <a:bodyPr wrap="square" lIns="0" tIns="0" rIns="0" bIns="0" rtlCol="0" anchor="t"/>
          <a:lstStyle/>
          <a:p>
            <a:pPr algn="ctr" indent="0" marL="0">
              <a:lnSpc>
                <a:spcPct val="115000"/>
              </a:lnSpc>
              <a:buNone/>
            </a:pPr>
            <a:r>
              <a:rPr lang="en-US" sz="2600" b="1" dirty="0">
                <a:solidFill>
                  <a:srgbClr val="EF8B39"/>
                </a:solidFill>
                <a:latin typeface="Arial" pitchFamily="34" charset="0"/>
                <a:ea typeface="Arial" pitchFamily="34" charset="-122"/>
                <a:cs typeface="Arial" pitchFamily="34" charset="-120"/>
              </a:rPr>
              <a:t>4:35</a:t>
            </a:r>
            <a:endParaRPr lang="en-US" sz="2600" dirty="0"/>
          </a:p>
        </p:txBody>
      </p:sp>
      <p:sp>
        <p:nvSpPr>
          <p:cNvPr id="22" name="Text 18"/>
          <p:cNvSpPr txBox="1"/>
          <p:nvPr/>
        </p:nvSpPr>
        <p:spPr>
          <a:xfrm>
            <a:off x="8415858" y="4251960"/>
            <a:ext cx="3474720" cy="822960"/>
          </a:xfrm>
          <a:prstGeom prst="rect">
            <a:avLst/>
          </a:prstGeom>
          <a:noFill/>
          <a:ln/>
        </p:spPr>
        <p:txBody>
          <a:bodyPr wrap="square" lIns="0" tIns="0" rIns="0" bIns="0" rtlCol="0" anchor="t"/>
          <a:lstStyle/>
          <a:p>
            <a:pPr algn="ctr" indent="0" marL="0">
              <a:lnSpc>
                <a:spcPct val="115000"/>
              </a:lnSpc>
              <a:buNone/>
            </a:pPr>
            <a:r>
              <a:rPr lang="en-US" sz="1500" dirty="0">
                <a:solidFill>
                  <a:srgbClr val="0D1219"/>
                </a:solidFill>
                <a:latin typeface="Arial" pitchFamily="34" charset="0"/>
                <a:ea typeface="Arial" pitchFamily="34" charset="-122"/>
                <a:cs typeface="Arial" pitchFamily="34" charset="-120"/>
              </a:rPr>
              <a:t>A themed tic-tac-toe battle game, live at its own URL.</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WHO IS TALKING</a:t>
            </a:r>
            <a:endParaRPr lang="en-US" sz="1100" dirty="0"/>
          </a:p>
        </p:txBody>
      </p:sp>
      <p:sp>
        <p:nvSpPr>
          <p:cNvPr id="6" name="Text 2"/>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Who’s talking, and why trust me with your Monday.</a:t>
            </a:r>
            <a:endParaRPr lang="en-US" sz="3200" dirty="0"/>
          </a:p>
        </p:txBody>
      </p:sp>
      <p:pic>
        <p:nvPicPr>
          <p:cNvPr id="7" name="Image 1" descr="assets/headshot.jpg">    </p:cNvPr>
          <p:cNvPicPr>
            <a:picLocks noChangeAspect="1"/>
          </p:cNvPicPr>
          <p:nvPr/>
        </p:nvPicPr>
        <p:blipFill>
          <a:blip r:embed="rId2"/>
          <a:stretch>
            <a:fillRect/>
          </a:stretch>
        </p:blipFill>
        <p:spPr>
          <a:xfrm>
            <a:off x="640080" y="1828800"/>
            <a:ext cx="2926080" cy="2926080"/>
          </a:xfrm>
          <a:prstGeom prst="rect">
            <a:avLst/>
          </a:prstGeom>
        </p:spPr>
      </p:pic>
      <p:sp>
        <p:nvSpPr>
          <p:cNvPr id="8" name="Text 3"/>
          <p:cNvSpPr txBox="1"/>
          <p:nvPr/>
        </p:nvSpPr>
        <p:spPr>
          <a:xfrm>
            <a:off x="640080" y="4846320"/>
            <a:ext cx="2926080" cy="274320"/>
          </a:xfrm>
          <a:prstGeom prst="rect">
            <a:avLst/>
          </a:prstGeom>
          <a:noFill/>
          <a:ln/>
        </p:spPr>
        <p:txBody>
          <a:bodyPr wrap="square" lIns="0" tIns="0" rIns="0" bIns="0" rtlCol="0" anchor="t"/>
          <a:lstStyle/>
          <a:p>
            <a:pPr algn="l" indent="0" marL="0">
              <a:lnSpc>
                <a:spcPct val="115000"/>
              </a:lnSpc>
              <a:buNone/>
            </a:pPr>
            <a:r>
              <a:rPr lang="en-US" sz="1100" spc="150" kern="0" dirty="0">
                <a:solidFill>
                  <a:srgbClr val="EF8B39"/>
                </a:solidFill>
                <a:latin typeface="Courier New" pitchFamily="34" charset="0"/>
                <a:ea typeface="Courier New" pitchFamily="34" charset="-122"/>
                <a:cs typeface="Courier New" pitchFamily="34" charset="-120"/>
              </a:rPr>
              <a:t>MARK HINKLE</a:t>
            </a:r>
            <a:endParaRPr lang="en-US" sz="1100" dirty="0"/>
          </a:p>
        </p:txBody>
      </p:sp>
      <p:sp>
        <p:nvSpPr>
          <p:cNvPr id="9" name="Text 4"/>
          <p:cNvSpPr txBox="1"/>
          <p:nvPr/>
        </p:nvSpPr>
        <p:spPr>
          <a:xfrm>
            <a:off x="4023360" y="1828800"/>
            <a:ext cx="7498080" cy="3108960"/>
          </a:xfrm>
          <a:prstGeom prst="rect">
            <a:avLst/>
          </a:prstGeom>
          <a:noFill/>
          <a:ln/>
        </p:spPr>
        <p:txBody>
          <a:bodyPr wrap="square" lIns="0" tIns="0" rIns="0" bIns="0" rtlCol="0" anchor="t"/>
          <a:lstStyle/>
          <a:p>
            <a:pPr indent="0" marL="0">
              <a:lnSpc>
                <a:spcPct val="120000"/>
              </a:lnSpc>
              <a:spcAft>
                <a:spcPts val="1400"/>
              </a:spcAft>
              <a:buNone/>
            </a:pPr>
            <a:r>
              <a:rPr lang="en-US" sz="1700" dirty="0">
                <a:solidFill>
                  <a:srgbClr val="0D1219"/>
                </a:solidFill>
                <a:latin typeface="Arial" pitchFamily="34" charset="0"/>
                <a:ea typeface="Arial" pitchFamily="34" charset="-122"/>
                <a:cs typeface="Arial" pitchFamily="34" charset="-120"/>
              </a:rPr>
              <a:t>CEO and founder of Peripety Labs. Co-founder of All Things AI.</a:t>
            </a:r>
            <a:endParaRPr lang="en-US" sz="1700" dirty="0"/>
          </a:p>
          <a:p>
            <a:pPr indent="0" marL="0">
              <a:lnSpc>
                <a:spcPct val="120000"/>
              </a:lnSpc>
              <a:spcAft>
                <a:spcPts val="1400"/>
              </a:spcAft>
              <a:buNone/>
            </a:pPr>
            <a:r>
              <a:rPr lang="en-US" sz="1700" dirty="0">
                <a:solidFill>
                  <a:srgbClr val="0D1219"/>
                </a:solidFill>
                <a:latin typeface="Arial" pitchFamily="34" charset="0"/>
                <a:ea typeface="Arial" pitchFamily="34" charset="-122"/>
                <a:cs typeface="Arial" pitchFamily="34" charset="-120"/>
              </a:rPr>
              <a:t>Founding publisher of The AIE Network, read by about 90,000 business leaders.</a:t>
            </a:r>
            <a:endParaRPr lang="en-US" sz="1700" dirty="0"/>
          </a:p>
          <a:p>
            <a:pPr indent="0" marL="0">
              <a:lnSpc>
                <a:spcPct val="120000"/>
              </a:lnSpc>
              <a:spcAft>
                <a:spcPts val="1400"/>
              </a:spcAft>
              <a:buNone/>
            </a:pPr>
            <a:r>
              <a:rPr lang="en-US" sz="1700" dirty="0">
                <a:solidFill>
                  <a:srgbClr val="0D1219"/>
                </a:solidFill>
                <a:latin typeface="Arial" pitchFamily="34" charset="0"/>
                <a:ea typeface="Arial" pitchFamily="34" charset="-122"/>
                <a:cs typeface="Arial" pitchFamily="34" charset="-120"/>
              </a:rPr>
              <a:t>25-plus years in enterprise software, from open source to cloud to AI.</a:t>
            </a:r>
            <a:endParaRPr lang="en-US" sz="1700" dirty="0"/>
          </a:p>
          <a:p>
            <a:pPr indent="0" marL="0">
              <a:lnSpc>
                <a:spcPct val="120000"/>
              </a:lnSpc>
              <a:spcAft>
                <a:spcPts val="1400"/>
              </a:spcAft>
              <a:buNone/>
            </a:pPr>
            <a:r>
              <a:rPr lang="en-US" sz="1700" dirty="0">
                <a:solidFill>
                  <a:srgbClr val="0D1219"/>
                </a:solidFill>
                <a:latin typeface="Arial" pitchFamily="34" charset="0"/>
                <a:ea typeface="Arial" pitchFamily="34" charset="-122"/>
                <a:cs typeface="Arial" pitchFamily="34" charset="-120"/>
              </a:rPr>
              <a:t>VP at Cloud.com. Executive Director of the Node.js Foundation. First company, 1995.</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WHAT YOU WILL LEARN</a:t>
            </a:r>
            <a:endParaRPr lang="en-US" sz="1100" dirty="0"/>
          </a:p>
        </p:txBody>
      </p:sp>
      <p:sp>
        <p:nvSpPr>
          <p:cNvPr id="6" name="Text 2"/>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The listing promised four things. Here they are.</a:t>
            </a:r>
            <a:endParaRPr lang="en-US" sz="3200" dirty="0"/>
          </a:p>
        </p:txBody>
      </p:sp>
      <p:sp>
        <p:nvSpPr>
          <p:cNvPr id="7" name="Text 3"/>
          <p:cNvSpPr txBox="1"/>
          <p:nvPr/>
        </p:nvSpPr>
        <p:spPr>
          <a:xfrm>
            <a:off x="640080" y="2103120"/>
            <a:ext cx="4023360" cy="77724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How software gets built</a:t>
            </a:r>
            <a:endParaRPr lang="en-US" sz="1800" dirty="0"/>
          </a:p>
        </p:txBody>
      </p:sp>
      <p:sp>
        <p:nvSpPr>
          <p:cNvPr id="8" name="Text 4"/>
          <p:cNvSpPr txBox="1"/>
          <p:nvPr/>
        </p:nvSpPr>
        <p:spPr>
          <a:xfrm>
            <a:off x="4846320" y="2130552"/>
            <a:ext cx="6702552" cy="77724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The lifecycle in plain words, and a six-step loop you run a dozen times.</a:t>
            </a:r>
            <a:endParaRPr lang="en-US" sz="1600" dirty="0"/>
          </a:p>
        </p:txBody>
      </p:sp>
      <p:sp>
        <p:nvSpPr>
          <p:cNvPr id="9" name="Text 5"/>
          <p:cNvSpPr txBox="1"/>
          <p:nvPr/>
        </p:nvSpPr>
        <p:spPr>
          <a:xfrm>
            <a:off x="640080" y="2971800"/>
            <a:ext cx="4023360" cy="77724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GitHub as your system of record</a:t>
            </a:r>
            <a:endParaRPr lang="en-US" sz="1800" dirty="0"/>
          </a:p>
        </p:txBody>
      </p:sp>
      <p:sp>
        <p:nvSpPr>
          <p:cNvPr id="10" name="Text 6"/>
          <p:cNvSpPr txBox="1"/>
          <p:nvPr/>
        </p:nvSpPr>
        <p:spPr>
          <a:xfrm>
            <a:off x="4846320" y="2999232"/>
            <a:ext cx="6702552" cy="77724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Every change tracked, reviewed, and reversible. Nothing is lost.</a:t>
            </a:r>
            <a:endParaRPr lang="en-US" sz="1600" dirty="0"/>
          </a:p>
        </p:txBody>
      </p:sp>
      <p:sp>
        <p:nvSpPr>
          <p:cNvPr id="11" name="Text 7"/>
          <p:cNvSpPr txBox="1"/>
          <p:nvPr/>
        </p:nvSpPr>
        <p:spPr>
          <a:xfrm>
            <a:off x="640080" y="3840480"/>
            <a:ext cx="4023360" cy="77724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Vercel and v0 build and deploy</a:t>
            </a:r>
            <a:endParaRPr lang="en-US" sz="1800" dirty="0"/>
          </a:p>
        </p:txBody>
      </p:sp>
      <p:sp>
        <p:nvSpPr>
          <p:cNvPr id="12" name="Text 8"/>
          <p:cNvSpPr txBox="1"/>
          <p:nvPr/>
        </p:nvSpPr>
        <p:spPr>
          <a:xfrm>
            <a:off x="4846320" y="3867912"/>
            <a:ext cx="6702552" cy="77724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v0 writes the code. Vercel ships it live on every push.</a:t>
            </a:r>
            <a:endParaRPr lang="en-US" sz="1600" dirty="0"/>
          </a:p>
        </p:txBody>
      </p:sp>
      <p:sp>
        <p:nvSpPr>
          <p:cNvPr id="13" name="Text 9"/>
          <p:cNvSpPr txBox="1"/>
          <p:nvPr/>
        </p:nvSpPr>
        <p:spPr>
          <a:xfrm>
            <a:off x="640080" y="4709160"/>
            <a:ext cx="4023360" cy="77724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Directing agents instead of coding</a:t>
            </a:r>
            <a:endParaRPr lang="en-US" sz="1800" dirty="0"/>
          </a:p>
        </p:txBody>
      </p:sp>
      <p:sp>
        <p:nvSpPr>
          <p:cNvPr id="14" name="Text 10"/>
          <p:cNvSpPr txBox="1"/>
          <p:nvPr/>
        </p:nvSpPr>
        <p:spPr>
          <a:xfrm>
            <a:off x="4846320" y="4736592"/>
            <a:ext cx="6702552" cy="77724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You write the spec, not the syntax. The pull request is your checkpoint.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HOW TODAY WORKS</a:t>
            </a:r>
            <a:endParaRPr lang="en-US" sz="1100" dirty="0"/>
          </a:p>
        </p:txBody>
      </p:sp>
      <p:sp>
        <p:nvSpPr>
          <p:cNvPr id="6" name="Text 2"/>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Behind? Grab a checkpoint. Stuck? Say one sentence.</a:t>
            </a:r>
            <a:endParaRPr lang="en-US" sz="3200" dirty="0"/>
          </a:p>
        </p:txBody>
      </p:sp>
      <p:sp>
        <p:nvSpPr>
          <p:cNvPr id="7" name="Text 3"/>
          <p:cNvSpPr txBox="1"/>
          <p:nvPr/>
        </p:nvSpPr>
        <p:spPr>
          <a:xfrm>
            <a:off x="640080" y="1920240"/>
            <a:ext cx="10908792" cy="2011680"/>
          </a:xfrm>
          <a:prstGeom prst="rect">
            <a:avLst/>
          </a:prstGeom>
          <a:noFill/>
          <a:ln/>
        </p:spPr>
        <p:txBody>
          <a:bodyPr wrap="square" lIns="0" tIns="0" rIns="0" bIns="0" rtlCol="0" anchor="t"/>
          <a:lstStyle/>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We go as fast as the slowest table still working. I check in every 30 minutes and move the schedule out loud.</a:t>
            </a:r>
            <a:endParaRPr lang="en-US" sz="1600" dirty="0"/>
          </a:p>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Behind: every stage has a tested file you can continue from. Using one is smart, not cheating.</a:t>
            </a:r>
            <a:endParaRPr lang="en-US" sz="1600" dirty="0"/>
          </a:p>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Ahead: ten skills for your site and four game extensions. One at a time.</a:t>
            </a:r>
            <a:endParaRPr lang="en-US" sz="1600" dirty="0"/>
          </a:p>
        </p:txBody>
      </p:sp>
      <p:sp>
        <p:nvSpPr>
          <p:cNvPr id="8" name="Text 4"/>
          <p:cNvSpPr txBox="1"/>
          <p:nvPr/>
        </p:nvSpPr>
        <p:spPr>
          <a:xfrm>
            <a:off x="640080" y="416052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WHEN YOU NEED HELP, RAISE A HAND AND SAY ONE SENTENCE</a:t>
            </a:r>
            <a:endParaRPr lang="en-US" sz="1100" dirty="0"/>
          </a:p>
        </p:txBody>
      </p:sp>
      <p:sp>
        <p:nvSpPr>
          <p:cNvPr id="9" name="Text 5"/>
          <p:cNvSpPr txBox="1"/>
          <p:nvPr/>
        </p:nvSpPr>
        <p:spPr>
          <a:xfrm>
            <a:off x="640080" y="4480560"/>
            <a:ext cx="10908792" cy="822960"/>
          </a:xfrm>
          <a:prstGeom prst="rect">
            <a:avLst/>
          </a:prstGeom>
          <a:noFill/>
          <a:ln/>
        </p:spPr>
        <p:txBody>
          <a:bodyPr wrap="square" lIns="0" tIns="0" rIns="0" bIns="0" rtlCol="0" anchor="t"/>
          <a:lstStyle/>
          <a:p>
            <a:pPr algn="l" indent="0" marL="0">
              <a:lnSpc>
                <a:spcPct val="115000"/>
              </a:lnSpc>
              <a:buNone/>
            </a:pPr>
            <a:r>
              <a:rPr lang="en-US" sz="3400" b="1" dirty="0">
                <a:solidFill>
                  <a:srgbClr val="EF8B39"/>
                </a:solidFill>
                <a:latin typeface="Arial" pitchFamily="34" charset="0"/>
                <a:ea typeface="Arial" pitchFamily="34" charset="-122"/>
                <a:cs typeface="Arial" pitchFamily="34" charset="-120"/>
              </a:rPr>
              <a:t>“I clicked X, expected Y, saw Z.”</a:t>
            </a:r>
            <a:endParaRPr lang="en-US" sz="3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THE DAY AT A GLANCE · MORNING</a:t>
            </a:r>
            <a:endParaRPr lang="en-US" sz="1100" dirty="0"/>
          </a:p>
        </p:txBody>
      </p:sp>
      <p:sp>
        <p:nvSpPr>
          <p:cNvPr id="6" name="Text 2"/>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The morning: website before lunch.</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619756" y="1691640"/>
          <a:ext cx="6949440" cy="914400"/>
        </p:xfrm>
        <a:graphic>
          <a:graphicData uri="http://schemas.openxmlformats.org/drawingml/2006/table">
            <a:tbl>
              <a:tblPr/>
              <a:tblGrid>
                <a:gridCol w="868680"/>
                <a:gridCol w="2788920"/>
                <a:gridCol w="3291840"/>
              </a:tblGrid>
              <a:tr h="384048">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CLOCK</a:t>
                      </a:r>
                      <a:endParaRPr lang="en-US" sz="110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BLOCK</a:t>
                      </a:r>
                      <a:endParaRPr lang="en-US" sz="110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YOU LEAVE WITH</a:t>
                      </a:r>
                      <a:endParaRPr lang="en-US" sz="110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384048">
                <a:tc>
                  <a:txBody>
                    <a:bodyPr/>
                    <a:lstStyle/>
                    <a:p>
                      <a:pPr indent="0" marL="0">
                        <a:buNone/>
                      </a:pPr>
                      <a:r>
                        <a:rPr lang="en-US" sz="1250" dirty="0">
                          <a:solidFill>
                            <a:srgbClr val="7B8594"/>
                          </a:solidFill>
                          <a:latin typeface="Courier New" pitchFamily="34" charset="0"/>
                          <a:ea typeface="Courier New" pitchFamily="34" charset="-122"/>
                          <a:cs typeface="Courier New" pitchFamily="34" charset="-120"/>
                        </a:rPr>
                        <a:t>7:30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7B8594"/>
                          </a:solidFill>
                          <a:latin typeface="Arial" pitchFamily="34" charset="0"/>
                          <a:ea typeface="Arial" pitchFamily="34" charset="-122"/>
                          <a:cs typeface="Arial" pitchFamily="34" charset="-120"/>
                        </a:rPr>
                        <a:t>Doors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dirty="0">
                          <a:solidFill>
                            <a:srgbClr val="7B8594"/>
                          </a:solidFill>
                          <a:latin typeface="Arial" pitchFamily="34" charset="0"/>
                          <a:ea typeface="Arial" pitchFamily="34" charset="-122"/>
                          <a:cs typeface="Arial" pitchFamily="34" charset="-120"/>
                        </a:rPr>
                        <a:t>Laptop check, sign-ins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9:00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How software gets built; the map of tools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You can name the loop</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9:30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Setup: GitHub tour, v0, Vercel, the secrets rule</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A repo with two commits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10:00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Website: export → build</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index.html with your content</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7B8594"/>
                          </a:solidFill>
                          <a:latin typeface="Courier New" pitchFamily="34" charset="0"/>
                          <a:ea typeface="Courier New" pitchFamily="34" charset="-122"/>
                          <a:cs typeface="Courier New" pitchFamily="34" charset="-120"/>
                        </a:rPr>
                        <a:t>10:45</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7B8594"/>
                          </a:solidFill>
                          <a:latin typeface="Arial" pitchFamily="34" charset="0"/>
                          <a:ea typeface="Arial" pitchFamily="34" charset="-122"/>
                          <a:cs typeface="Arial" pitchFamily="34" charset="-120"/>
                        </a:rPr>
                        <a:t>Break</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FFFFFF"/>
                          </a:solidFill>
                          <a:latin typeface="Courier New" pitchFamily="34" charset="0"/>
                          <a:ea typeface="Courier New" pitchFamily="34" charset="-122"/>
                          <a:cs typeface="Courier New" pitchFamily="34" charset="-120"/>
                        </a:rPr>
                        <a:t>11:00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 Colors, check, publish</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LIVE WEBSITE URL by 11:30</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11:30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Reading what the agent wrote</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Diff, PR, rollback</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FFFFFF"/>
                          </a:solidFill>
                          <a:latin typeface="Courier New" pitchFamily="34" charset="0"/>
                          <a:ea typeface="Courier New" pitchFamily="34" charset="-122"/>
                          <a:cs typeface="Courier New" pitchFamily="34" charset="-120"/>
                        </a:rPr>
                        <a:t>11:45</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LIVE HACKING 1</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Skills, then one skill loaded</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r>
              <a:tr h="384048">
                <a:tc>
                  <a:txBody>
                    <a:bodyPr/>
                    <a:lstStyle/>
                    <a:p>
                      <a:pPr indent="0" marL="0">
                        <a:buNone/>
                      </a:pPr>
                      <a:r>
                        <a:rPr lang="en-US" sz="1250" dirty="0">
                          <a:solidFill>
                            <a:srgbClr val="7B8594"/>
                          </a:solidFill>
                          <a:latin typeface="Courier New" pitchFamily="34" charset="0"/>
                          <a:ea typeface="Courier New" pitchFamily="34" charset="-122"/>
                          <a:cs typeface="Courier New" pitchFamily="34" charset="-120"/>
                        </a:rPr>
                        <a:t>12:00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7B8594"/>
                          </a:solidFill>
                          <a:latin typeface="Arial" pitchFamily="34" charset="0"/>
                          <a:ea typeface="Arial" pitchFamily="34" charset="-122"/>
                          <a:cs typeface="Arial" pitchFamily="34" charset="-120"/>
                        </a:rPr>
                        <a:t>Lunch</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bl>
          </a:graphicData>
        </a:graphic>
      </p:graphicFrame>
      <p:sp>
        <p:nvSpPr>
          <p:cNvPr id="8" name="Text 3"/>
          <p:cNvSpPr txBox="1"/>
          <p:nvPr/>
        </p:nvSpPr>
        <p:spPr>
          <a:xfrm>
            <a:off x="640080" y="5715000"/>
            <a:ext cx="10908792" cy="365760"/>
          </a:xfrm>
          <a:prstGeom prst="rect">
            <a:avLst/>
          </a:prstGeom>
          <a:noFill/>
          <a:ln/>
        </p:spPr>
        <p:txBody>
          <a:bodyPr wrap="square" lIns="0" tIns="0" rIns="0" bIns="0" rtlCol="0" anchor="t"/>
          <a:lstStyle/>
          <a:p>
            <a:pPr algn="ctr" indent="0" marL="0">
              <a:lnSpc>
                <a:spcPct val="115000"/>
              </a:lnSpc>
              <a:buNone/>
            </a:pPr>
            <a:r>
              <a:rPr lang="en-US" sz="1400" dirty="0">
                <a:solidFill>
                  <a:srgbClr val="5B6675"/>
                </a:solidFill>
                <a:latin typeface="Arial" pitchFamily="34" charset="0"/>
                <a:ea typeface="Arial" pitchFamily="34" charset="-122"/>
                <a:cs typeface="Arial" pitchFamily="34" charset="-120"/>
              </a:rPr>
              <a:t>Blue row: deliverable one. Orange row: you pick one skill from the menu and build it yourself.</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THE DAY AT A GLANCE · AFTERNOON</a:t>
            </a:r>
            <a:endParaRPr lang="en-US" sz="1100" dirty="0"/>
          </a:p>
        </p:txBody>
      </p:sp>
      <p:sp>
        <p:nvSpPr>
          <p:cNvPr id="6" name="Text 2"/>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The afternoon: the game, or your own project.</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2619756" y="1691640"/>
          <a:ext cx="6949440" cy="914400"/>
        </p:xfrm>
        <a:graphic>
          <a:graphicData uri="http://schemas.openxmlformats.org/drawingml/2006/table">
            <a:tbl>
              <a:tblPr/>
              <a:tblGrid>
                <a:gridCol w="868680"/>
                <a:gridCol w="2788920"/>
                <a:gridCol w="3291840"/>
              </a:tblGrid>
              <a:tr h="384048">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CLOCK</a:t>
                      </a:r>
                      <a:endParaRPr lang="en-US" sz="110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BLOCK</a:t>
                      </a:r>
                      <a:endParaRPr lang="en-US" sz="110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YOU LEAVE WITH</a:t>
                      </a:r>
                      <a:endParaRPr lang="en-US" sz="110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12:45</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Choose a track, theme, sketches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Theme table, three sketches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1:20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Brief and rules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game-brief.md with checks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1:40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Build: board, battle, connect</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A playable round</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7B8594"/>
                          </a:solidFill>
                          <a:latin typeface="Courier New" pitchFamily="34" charset="0"/>
                          <a:ea typeface="Courier New" pitchFamily="34" charset="-122"/>
                          <a:cs typeface="Courier New" pitchFamily="34" charset="-120"/>
                        </a:rPr>
                        <a:t>2:45</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7B8594"/>
                          </a:solidFill>
                          <a:latin typeface="Arial" pitchFamily="34" charset="0"/>
                          <a:ea typeface="Arial" pitchFamily="34" charset="-122"/>
                          <a:cs typeface="Arial" pitchFamily="34" charset="-120"/>
                        </a:rPr>
                        <a:t>Break</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3:00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Look and feel</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Theme applied, fits a phone</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3:30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Playtest, one fix</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One observed issue repaired</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FFFFFF"/>
                          </a:solidFill>
                          <a:latin typeface="Courier New" pitchFamily="34" charset="0"/>
                          <a:ea typeface="Courier New" pitchFamily="34" charset="-122"/>
                          <a:cs typeface="Courier New" pitchFamily="34" charset="-120"/>
                        </a:rPr>
                        <a:t>4:10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 Publish the game</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LIVE GAME URL by 4:35</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384048">
                <a:tc>
                  <a:txBody>
                    <a:bodyPr/>
                    <a:lstStyle/>
                    <a:p>
                      <a:pPr indent="0" marL="0">
                        <a:buNone/>
                      </a:pPr>
                      <a:r>
                        <a:rPr lang="en-US" sz="1250" dirty="0">
                          <a:solidFill>
                            <a:srgbClr val="FFFFFF"/>
                          </a:solidFill>
                          <a:latin typeface="Courier New" pitchFamily="34" charset="0"/>
                          <a:ea typeface="Courier New" pitchFamily="34" charset="-122"/>
                          <a:cs typeface="Courier New" pitchFamily="34" charset="-120"/>
                        </a:rPr>
                        <a:t>4:35</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LIVE HACKING 2 + 3</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c>
                  <a:txBody>
                    <a:bodyPr/>
                    <a:lstStyle/>
                    <a:p>
                      <a:pPr indent="0" marL="0">
                        <a:buNone/>
                      </a:pPr>
                      <a:r>
                        <a:rPr lang="en-US" sz="1250" dirty="0">
                          <a:solidFill>
                            <a:srgbClr val="FFFFFF"/>
                          </a:solidFill>
                          <a:latin typeface="Arial" pitchFamily="34" charset="0"/>
                          <a:ea typeface="Arial" pitchFamily="34" charset="-122"/>
                          <a:cs typeface="Arial" pitchFamily="34" charset="-120"/>
                        </a:rPr>
                        <a:t>Show and tell at 5:05</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EF8B39"/>
                    </a:solidFill>
                  </a:tcPr>
                </a:tc>
              </a:tr>
              <a:tr h="384048">
                <a:tc>
                  <a:txBody>
                    <a:bodyPr/>
                    <a:lstStyle/>
                    <a:p>
                      <a:pPr indent="0" marL="0">
                        <a:buNone/>
                      </a:pPr>
                      <a:r>
                        <a:rPr lang="en-US" sz="1250" dirty="0">
                          <a:solidFill>
                            <a:srgbClr val="0D1219"/>
                          </a:solidFill>
                          <a:latin typeface="Courier New" pitchFamily="34" charset="0"/>
                          <a:ea typeface="Courier New" pitchFamily="34" charset="-122"/>
                          <a:cs typeface="Courier New" pitchFamily="34" charset="-120"/>
                        </a:rPr>
                        <a:t>5:15</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b="1" dirty="0">
                          <a:solidFill>
                            <a:srgbClr val="0D1219"/>
                          </a:solidFill>
                          <a:latin typeface="Arial" pitchFamily="34" charset="0"/>
                          <a:ea typeface="Arial" pitchFamily="34" charset="-122"/>
                          <a:cs typeface="Arial" pitchFamily="34" charset="-120"/>
                        </a:rPr>
                        <a:t>Tuesday, handoff, LinkedIn</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250" dirty="0">
                          <a:solidFill>
                            <a:srgbClr val="5B6675"/>
                          </a:solidFill>
                          <a:latin typeface="Arial" pitchFamily="34" charset="0"/>
                          <a:ea typeface="Arial" pitchFamily="34" charset="-122"/>
                          <a:cs typeface="Arial" pitchFamily="34" charset="-120"/>
                        </a:rPr>
                        <a:t>Two URLs, two state files</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84048">
                <a:tc>
                  <a:txBody>
                    <a:bodyPr/>
                    <a:lstStyle/>
                    <a:p>
                      <a:pPr indent="0" marL="0">
                        <a:buNone/>
                      </a:pPr>
                      <a:r>
                        <a:rPr lang="en-US" sz="1250" dirty="0">
                          <a:solidFill>
                            <a:srgbClr val="7B8594"/>
                          </a:solidFill>
                          <a:latin typeface="Courier New" pitchFamily="34" charset="0"/>
                          <a:ea typeface="Courier New" pitchFamily="34" charset="-122"/>
                          <a:cs typeface="Courier New" pitchFamily="34" charset="-120"/>
                        </a:rPr>
                        <a:t>5:30</a:t>
                      </a:r>
                      <a:endParaRPr lang="en-US" sz="1250" dirty="0">
                        <a:latin typeface="Courier New" charset="0"/>
                        <a:ea typeface="Courier New" charset="0"/>
                        <a:cs typeface="Courier New"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250" b="1" dirty="0">
                          <a:solidFill>
                            <a:srgbClr val="7B8594"/>
                          </a:solidFill>
                          <a:latin typeface="Arial" pitchFamily="34" charset="0"/>
                          <a:ea typeface="Arial" pitchFamily="34" charset="-122"/>
                          <a:cs typeface="Arial" pitchFamily="34" charset="-120"/>
                        </a:rPr>
                        <a:t>End</a:t>
                      </a: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endParaRPr lang="en-US" sz="1250" dirty="0">
                        <a:latin typeface="Arial" charset="0"/>
                        <a:ea typeface="Arial" charset="0"/>
                        <a:cs typeface="Arial" charset="0"/>
                      </a:endParaRPr>
                    </a:p>
                  </a:txBody>
                  <a:tcPr marL="101600" marR="101600" marT="38100" marB="381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bl>
          </a:graphicData>
        </a:graphic>
      </p:graphicFrame>
      <p:sp>
        <p:nvSpPr>
          <p:cNvPr id="8" name="Text 3"/>
          <p:cNvSpPr txBox="1"/>
          <p:nvPr/>
        </p:nvSpPr>
        <p:spPr>
          <a:xfrm>
            <a:off x="640080" y="5943600"/>
            <a:ext cx="10908792" cy="365760"/>
          </a:xfrm>
          <a:prstGeom prst="rect">
            <a:avLst/>
          </a:prstGeom>
          <a:noFill/>
          <a:ln/>
        </p:spPr>
        <p:txBody>
          <a:bodyPr wrap="square" lIns="0" tIns="0" rIns="0" bIns="0" rtlCol="0" anchor="t"/>
          <a:lstStyle/>
          <a:p>
            <a:pPr algn="ctr" indent="0" marL="0">
              <a:lnSpc>
                <a:spcPct val="115000"/>
              </a:lnSpc>
              <a:buNone/>
            </a:pPr>
            <a:r>
              <a:rPr lang="en-US" sz="1400" dirty="0">
                <a:solidFill>
                  <a:srgbClr val="5B6675"/>
                </a:solidFill>
                <a:latin typeface="Arial" pitchFamily="34" charset="0"/>
                <a:ea typeface="Arial" pitchFamily="34" charset="-122"/>
                <a:cs typeface="Arial" pitchFamily="34" charset="-120"/>
              </a:rPr>
              <a:t>Blue row: deliverable two. Orange rows: sprints two and three.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FOUR RULES</a:t>
            </a:r>
            <a:endParaRPr lang="en-US" sz="1100" dirty="0"/>
          </a:p>
        </p:txBody>
      </p:sp>
      <p:sp>
        <p:nvSpPr>
          <p:cNvPr id="6" name="Text 2"/>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Four rules for the day.</a:t>
            </a:r>
            <a:endParaRPr lang="en-US" sz="3200" dirty="0"/>
          </a:p>
        </p:txBody>
      </p:sp>
      <p:sp>
        <p:nvSpPr>
          <p:cNvPr id="7" name="Text 3"/>
          <p:cNvSpPr txBox="1"/>
          <p:nvPr/>
        </p:nvSpPr>
        <p:spPr>
          <a:xfrm>
            <a:off x="640080" y="2103120"/>
            <a:ext cx="347472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Pairs</a:t>
            </a:r>
            <a:endParaRPr lang="en-US" sz="1800" dirty="0"/>
          </a:p>
        </p:txBody>
      </p:sp>
      <p:sp>
        <p:nvSpPr>
          <p:cNvPr id="8" name="Text 4"/>
          <p:cNvSpPr txBox="1"/>
          <p:nvPr/>
        </p:nvSpPr>
        <p:spPr>
          <a:xfrm>
            <a:off x="4297680" y="2130552"/>
            <a:ext cx="725119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The nervous one types. The other reads the prompt out loud. Swap after each break.</a:t>
            </a:r>
            <a:endParaRPr lang="en-US" sz="1600" dirty="0"/>
          </a:p>
        </p:txBody>
      </p:sp>
      <p:sp>
        <p:nvSpPr>
          <p:cNvPr id="9" name="Text 5"/>
          <p:cNvSpPr txBox="1"/>
          <p:nvPr/>
        </p:nvSpPr>
        <p:spPr>
          <a:xfrm>
            <a:off x="640080" y="2926080"/>
            <a:ext cx="347472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Stickies, not hands</a:t>
            </a:r>
            <a:endParaRPr lang="en-US" sz="1800" dirty="0"/>
          </a:p>
        </p:txBody>
      </p:sp>
      <p:sp>
        <p:nvSpPr>
          <p:cNvPr id="10" name="Text 6"/>
          <p:cNvSpPr txBox="1"/>
          <p:nvPr/>
        </p:nvSpPr>
        <p:spPr>
          <a:xfrm>
            <a:off x="4297680" y="2953512"/>
            <a:ext cx="725119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Green on your lid when the step is done. Red when you are stuck; a helper comes to you.</a:t>
            </a:r>
            <a:endParaRPr lang="en-US" sz="1600" dirty="0"/>
          </a:p>
        </p:txBody>
      </p:sp>
      <p:sp>
        <p:nvSpPr>
          <p:cNvPr id="11" name="Text 7"/>
          <p:cNvSpPr txBox="1"/>
          <p:nvPr/>
        </p:nvSpPr>
        <p:spPr>
          <a:xfrm>
            <a:off x="640080" y="3749040"/>
            <a:ext cx="347472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No passwords in chats</a:t>
            </a:r>
            <a:endParaRPr lang="en-US" sz="1800" dirty="0"/>
          </a:p>
        </p:txBody>
      </p:sp>
      <p:sp>
        <p:nvSpPr>
          <p:cNvPr id="12" name="Text 8"/>
          <p:cNvSpPr txBox="1"/>
          <p:nvPr/>
        </p:nvSpPr>
        <p:spPr>
          <a:xfrm>
            <a:off x="4297680" y="3776472"/>
            <a:ext cx="725119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No passwords, keys, or tokens in any chatbot. Make accounts in the provider’s own window.</a:t>
            </a:r>
            <a:endParaRPr lang="en-US" sz="1600" dirty="0"/>
          </a:p>
        </p:txBody>
      </p:sp>
      <p:sp>
        <p:nvSpPr>
          <p:cNvPr id="13" name="Text 9"/>
          <p:cNvSpPr txBox="1"/>
          <p:nvPr/>
        </p:nvSpPr>
        <p:spPr>
          <a:xfrm>
            <a:off x="640080" y="4572000"/>
            <a:ext cx="347472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Your account, not mine</a:t>
            </a:r>
            <a:endParaRPr lang="en-US" sz="1800" dirty="0"/>
          </a:p>
        </p:txBody>
      </p:sp>
      <p:sp>
        <p:nvSpPr>
          <p:cNvPr id="14" name="Text 10"/>
          <p:cNvSpPr txBox="1"/>
          <p:nvPr/>
        </p:nvSpPr>
        <p:spPr>
          <a:xfrm>
            <a:off x="4297680" y="4599432"/>
            <a:ext cx="725119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Your GitHub, your Vercel, your chatbot. My repo is materials, not the destination.</a:t>
            </a:r>
            <a:endParaRPr lang="en-US" sz="1600" dirty="0"/>
          </a:p>
        </p:txBody>
      </p:sp>
      <p:sp>
        <p:nvSpPr>
          <p:cNvPr id="15" name="Shape 11"/>
          <p:cNvSpPr/>
          <p:nvPr/>
        </p:nvSpPr>
        <p:spPr>
          <a:xfrm>
            <a:off x="640080" y="5971032"/>
            <a:ext cx="201168" cy="201168"/>
          </a:xfrm>
          <a:prstGeom prst="rect">
            <a:avLst/>
          </a:prstGeom>
          <a:solidFill>
            <a:srgbClr val="22C55E"/>
          </a:solidFill>
          <a:ln w="12700">
            <a:solidFill>
              <a:srgbClr val="22C55E"/>
            </a:solidFill>
            <a:prstDash val="solid"/>
          </a:ln>
        </p:spPr>
      </p:sp>
      <p:sp>
        <p:nvSpPr>
          <p:cNvPr id="16" name="Text 12"/>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7" name="Shape 13"/>
          <p:cNvSpPr/>
          <p:nvPr/>
        </p:nvSpPr>
        <p:spPr>
          <a:xfrm>
            <a:off x="4206240" y="5971032"/>
            <a:ext cx="201168" cy="201168"/>
          </a:xfrm>
          <a:prstGeom prst="rect">
            <a:avLst/>
          </a:prstGeom>
          <a:solidFill>
            <a:srgbClr val="EF4444"/>
          </a:solidFill>
          <a:ln w="12700">
            <a:solidFill>
              <a:srgbClr val="EF4444"/>
            </a:solidFill>
            <a:prstDash val="solid"/>
          </a:ln>
        </p:spPr>
      </p:sp>
      <p:sp>
        <p:nvSpPr>
          <p:cNvPr id="18" name="Text 14"/>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09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THE LOOP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Same loop, two sets of words.</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Big words: what you do today. Small words: what the listing calls it.</a:t>
            </a:r>
            <a:endParaRPr lang="en-US" sz="1600" dirty="0"/>
          </a:p>
        </p:txBody>
      </p:sp>
      <p:sp>
        <p:nvSpPr>
          <p:cNvPr id="9" name="Shape 5"/>
          <p:cNvSpPr/>
          <p:nvPr/>
        </p:nvSpPr>
        <p:spPr>
          <a:xfrm>
            <a:off x="640080" y="2377440"/>
            <a:ext cx="1543812" cy="1188720"/>
          </a:xfrm>
          <a:prstGeom prst="roundRect">
            <a:avLst>
              <a:gd name="adj" fmla="val 6154"/>
            </a:avLst>
          </a:prstGeom>
          <a:solidFill>
            <a:srgbClr val="FFFFFF"/>
          </a:solidFill>
          <a:ln w="15875">
            <a:solidFill>
              <a:srgbClr val="0D1219"/>
            </a:solidFill>
            <a:prstDash val="solid"/>
          </a:ln>
        </p:spPr>
      </p:sp>
      <p:sp>
        <p:nvSpPr>
          <p:cNvPr id="10" name="Text 6"/>
          <p:cNvSpPr/>
          <p:nvPr/>
        </p:nvSpPr>
        <p:spPr>
          <a:xfrm>
            <a:off x="640080" y="2377440"/>
            <a:ext cx="1543812" cy="91440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DESCRIBE</a:t>
            </a:r>
            <a:endParaRPr lang="en-US" sz="1800" dirty="0"/>
          </a:p>
        </p:txBody>
      </p:sp>
      <p:sp>
        <p:nvSpPr>
          <p:cNvPr id="11" name="Text 7"/>
          <p:cNvSpPr/>
          <p:nvPr/>
        </p:nvSpPr>
        <p:spPr>
          <a:xfrm>
            <a:off x="640080" y="3218688"/>
            <a:ext cx="154381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PROMPT</a:t>
            </a:r>
            <a:endParaRPr lang="en-US" sz="1100" dirty="0"/>
          </a:p>
        </p:txBody>
      </p:sp>
      <p:sp>
        <p:nvSpPr>
          <p:cNvPr id="12" name="Shape 8"/>
          <p:cNvSpPr/>
          <p:nvPr/>
        </p:nvSpPr>
        <p:spPr>
          <a:xfrm>
            <a:off x="2220468" y="2971800"/>
            <a:ext cx="256032" cy="0"/>
          </a:xfrm>
          <a:prstGeom prst="line">
            <a:avLst/>
          </a:prstGeom>
          <a:noFill/>
          <a:ln w="19050">
            <a:solidFill>
              <a:srgbClr val="0D1219"/>
            </a:solidFill>
            <a:prstDash val="solid"/>
            <a:tailEnd type="triangle"/>
          </a:ln>
        </p:spPr>
      </p:sp>
      <p:sp>
        <p:nvSpPr>
          <p:cNvPr id="13" name="Shape 9"/>
          <p:cNvSpPr/>
          <p:nvPr/>
        </p:nvSpPr>
        <p:spPr>
          <a:xfrm>
            <a:off x="2513076" y="2377440"/>
            <a:ext cx="1543812" cy="1188720"/>
          </a:xfrm>
          <a:prstGeom prst="roundRect">
            <a:avLst>
              <a:gd name="adj" fmla="val 6154"/>
            </a:avLst>
          </a:prstGeom>
          <a:solidFill>
            <a:srgbClr val="FFFFFF"/>
          </a:solidFill>
          <a:ln w="15875">
            <a:solidFill>
              <a:srgbClr val="0D1219"/>
            </a:solidFill>
            <a:prstDash val="solid"/>
          </a:ln>
        </p:spPr>
      </p:sp>
      <p:sp>
        <p:nvSpPr>
          <p:cNvPr id="14" name="Text 10"/>
          <p:cNvSpPr/>
          <p:nvPr/>
        </p:nvSpPr>
        <p:spPr>
          <a:xfrm>
            <a:off x="2513076" y="2377440"/>
            <a:ext cx="1543812" cy="91440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PLAN</a:t>
            </a:r>
            <a:endParaRPr lang="en-US" sz="1800" dirty="0"/>
          </a:p>
        </p:txBody>
      </p:sp>
      <p:sp>
        <p:nvSpPr>
          <p:cNvPr id="15" name="Text 11"/>
          <p:cNvSpPr/>
          <p:nvPr/>
        </p:nvSpPr>
        <p:spPr>
          <a:xfrm>
            <a:off x="2513076" y="3218688"/>
            <a:ext cx="154381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GENERATE</a:t>
            </a:r>
            <a:endParaRPr lang="en-US" sz="1100" dirty="0"/>
          </a:p>
        </p:txBody>
      </p:sp>
      <p:sp>
        <p:nvSpPr>
          <p:cNvPr id="16" name="Shape 12"/>
          <p:cNvSpPr/>
          <p:nvPr/>
        </p:nvSpPr>
        <p:spPr>
          <a:xfrm>
            <a:off x="4093464" y="2971800"/>
            <a:ext cx="256032" cy="0"/>
          </a:xfrm>
          <a:prstGeom prst="line">
            <a:avLst/>
          </a:prstGeom>
          <a:noFill/>
          <a:ln w="19050">
            <a:solidFill>
              <a:srgbClr val="0D1219"/>
            </a:solidFill>
            <a:prstDash val="solid"/>
            <a:tailEnd type="triangle"/>
          </a:ln>
        </p:spPr>
      </p:sp>
      <p:sp>
        <p:nvSpPr>
          <p:cNvPr id="17" name="Shape 13"/>
          <p:cNvSpPr/>
          <p:nvPr/>
        </p:nvSpPr>
        <p:spPr>
          <a:xfrm>
            <a:off x="4386072" y="2377440"/>
            <a:ext cx="1543812" cy="1188720"/>
          </a:xfrm>
          <a:prstGeom prst="roundRect">
            <a:avLst>
              <a:gd name="adj" fmla="val 6154"/>
            </a:avLst>
          </a:prstGeom>
          <a:solidFill>
            <a:srgbClr val="FFFFFF"/>
          </a:solidFill>
          <a:ln w="15875">
            <a:solidFill>
              <a:srgbClr val="0D1219"/>
            </a:solidFill>
            <a:prstDash val="solid"/>
          </a:ln>
        </p:spPr>
      </p:sp>
      <p:sp>
        <p:nvSpPr>
          <p:cNvPr id="18" name="Text 14"/>
          <p:cNvSpPr/>
          <p:nvPr/>
        </p:nvSpPr>
        <p:spPr>
          <a:xfrm>
            <a:off x="4386072" y="2377440"/>
            <a:ext cx="1543812" cy="91440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19" name="Text 15"/>
          <p:cNvSpPr/>
          <p:nvPr/>
        </p:nvSpPr>
        <p:spPr>
          <a:xfrm>
            <a:off x="4386072" y="3218688"/>
            <a:ext cx="154381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COMMIT</a:t>
            </a:r>
            <a:endParaRPr lang="en-US" sz="1100" dirty="0"/>
          </a:p>
        </p:txBody>
      </p:sp>
      <p:sp>
        <p:nvSpPr>
          <p:cNvPr id="20" name="Shape 16"/>
          <p:cNvSpPr/>
          <p:nvPr/>
        </p:nvSpPr>
        <p:spPr>
          <a:xfrm>
            <a:off x="5966460" y="2971800"/>
            <a:ext cx="256032" cy="0"/>
          </a:xfrm>
          <a:prstGeom prst="line">
            <a:avLst/>
          </a:prstGeom>
          <a:noFill/>
          <a:ln w="19050">
            <a:solidFill>
              <a:srgbClr val="0D1219"/>
            </a:solidFill>
            <a:prstDash val="solid"/>
            <a:tailEnd type="triangle"/>
          </a:ln>
        </p:spPr>
      </p:sp>
      <p:sp>
        <p:nvSpPr>
          <p:cNvPr id="21" name="Shape 17"/>
          <p:cNvSpPr/>
          <p:nvPr/>
        </p:nvSpPr>
        <p:spPr>
          <a:xfrm>
            <a:off x="6259068" y="2377440"/>
            <a:ext cx="1543812" cy="1188720"/>
          </a:xfrm>
          <a:prstGeom prst="roundRect">
            <a:avLst>
              <a:gd name="adj" fmla="val 6154"/>
            </a:avLst>
          </a:prstGeom>
          <a:solidFill>
            <a:srgbClr val="FFFFFF"/>
          </a:solidFill>
          <a:ln w="15875">
            <a:solidFill>
              <a:srgbClr val="0D1219"/>
            </a:solidFill>
            <a:prstDash val="solid"/>
          </a:ln>
        </p:spPr>
      </p:sp>
      <p:sp>
        <p:nvSpPr>
          <p:cNvPr id="22" name="Text 18"/>
          <p:cNvSpPr/>
          <p:nvPr/>
        </p:nvSpPr>
        <p:spPr>
          <a:xfrm>
            <a:off x="6259068" y="2377440"/>
            <a:ext cx="1543812" cy="91440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CHECK</a:t>
            </a:r>
            <a:endParaRPr lang="en-US" sz="1800" dirty="0"/>
          </a:p>
        </p:txBody>
      </p:sp>
      <p:sp>
        <p:nvSpPr>
          <p:cNvPr id="23" name="Text 19"/>
          <p:cNvSpPr/>
          <p:nvPr/>
        </p:nvSpPr>
        <p:spPr>
          <a:xfrm>
            <a:off x="6259068" y="3218688"/>
            <a:ext cx="154381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REVIEW</a:t>
            </a:r>
            <a:endParaRPr lang="en-US" sz="1100" dirty="0"/>
          </a:p>
        </p:txBody>
      </p:sp>
      <p:sp>
        <p:nvSpPr>
          <p:cNvPr id="24" name="Shape 20"/>
          <p:cNvSpPr/>
          <p:nvPr/>
        </p:nvSpPr>
        <p:spPr>
          <a:xfrm>
            <a:off x="7839456" y="2971800"/>
            <a:ext cx="256032" cy="0"/>
          </a:xfrm>
          <a:prstGeom prst="line">
            <a:avLst/>
          </a:prstGeom>
          <a:noFill/>
          <a:ln w="19050">
            <a:solidFill>
              <a:srgbClr val="0D1219"/>
            </a:solidFill>
            <a:prstDash val="solid"/>
            <a:tailEnd type="triangle"/>
          </a:ln>
        </p:spPr>
      </p:sp>
      <p:sp>
        <p:nvSpPr>
          <p:cNvPr id="25" name="Shape 21"/>
          <p:cNvSpPr/>
          <p:nvPr/>
        </p:nvSpPr>
        <p:spPr>
          <a:xfrm>
            <a:off x="8132064" y="2377440"/>
            <a:ext cx="1543812" cy="1188720"/>
          </a:xfrm>
          <a:prstGeom prst="roundRect">
            <a:avLst>
              <a:gd name="adj" fmla="val 6154"/>
            </a:avLst>
          </a:prstGeom>
          <a:solidFill>
            <a:srgbClr val="FFFFFF"/>
          </a:solidFill>
          <a:ln w="15875">
            <a:solidFill>
              <a:srgbClr val="0D1219"/>
            </a:solidFill>
            <a:prstDash val="solid"/>
          </a:ln>
        </p:spPr>
      </p:sp>
      <p:sp>
        <p:nvSpPr>
          <p:cNvPr id="26" name="Text 22"/>
          <p:cNvSpPr/>
          <p:nvPr/>
        </p:nvSpPr>
        <p:spPr>
          <a:xfrm>
            <a:off x="8132064" y="2377440"/>
            <a:ext cx="1543812" cy="91440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SAVE</a:t>
            </a:r>
            <a:endParaRPr lang="en-US" sz="1800" dirty="0"/>
          </a:p>
        </p:txBody>
      </p:sp>
      <p:sp>
        <p:nvSpPr>
          <p:cNvPr id="27" name="Text 23"/>
          <p:cNvSpPr/>
          <p:nvPr/>
        </p:nvSpPr>
        <p:spPr>
          <a:xfrm>
            <a:off x="8132064" y="3218688"/>
            <a:ext cx="154381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DEPLOY</a:t>
            </a:r>
            <a:endParaRPr lang="en-US" sz="1100" dirty="0"/>
          </a:p>
        </p:txBody>
      </p:sp>
      <p:sp>
        <p:nvSpPr>
          <p:cNvPr id="28" name="Shape 24"/>
          <p:cNvSpPr/>
          <p:nvPr/>
        </p:nvSpPr>
        <p:spPr>
          <a:xfrm>
            <a:off x="9712452" y="2971800"/>
            <a:ext cx="256032" cy="0"/>
          </a:xfrm>
          <a:prstGeom prst="line">
            <a:avLst/>
          </a:prstGeom>
          <a:noFill/>
          <a:ln w="19050">
            <a:solidFill>
              <a:srgbClr val="0D1219"/>
            </a:solidFill>
            <a:prstDash val="solid"/>
            <a:tailEnd type="triangle"/>
          </a:ln>
        </p:spPr>
      </p:sp>
      <p:sp>
        <p:nvSpPr>
          <p:cNvPr id="29" name="Shape 25"/>
          <p:cNvSpPr/>
          <p:nvPr/>
        </p:nvSpPr>
        <p:spPr>
          <a:xfrm>
            <a:off x="10005060" y="2377440"/>
            <a:ext cx="1543812" cy="1188720"/>
          </a:xfrm>
          <a:prstGeom prst="roundRect">
            <a:avLst>
              <a:gd name="adj" fmla="val 6154"/>
            </a:avLst>
          </a:prstGeom>
          <a:solidFill>
            <a:srgbClr val="FFFFFF"/>
          </a:solidFill>
          <a:ln w="15875">
            <a:solidFill>
              <a:srgbClr val="0D1219"/>
            </a:solidFill>
            <a:prstDash val="solid"/>
          </a:ln>
        </p:spPr>
      </p:sp>
      <p:sp>
        <p:nvSpPr>
          <p:cNvPr id="30" name="Text 26"/>
          <p:cNvSpPr/>
          <p:nvPr/>
        </p:nvSpPr>
        <p:spPr>
          <a:xfrm>
            <a:off x="10005060" y="2377440"/>
            <a:ext cx="1543812" cy="91440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PUBLISH</a:t>
            </a:r>
            <a:endParaRPr lang="en-US" sz="1800" dirty="0"/>
          </a:p>
        </p:txBody>
      </p:sp>
      <p:sp>
        <p:nvSpPr>
          <p:cNvPr id="31" name="Text 27"/>
          <p:cNvSpPr/>
          <p:nvPr/>
        </p:nvSpPr>
        <p:spPr>
          <a:xfrm>
            <a:off x="10005060" y="3218688"/>
            <a:ext cx="154381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REPEAT</a:t>
            </a:r>
            <a:endParaRPr lang="en-US" sz="1100" dirty="0"/>
          </a:p>
        </p:txBody>
      </p:sp>
      <p:sp>
        <p:nvSpPr>
          <p:cNvPr id="32" name="Shape 28"/>
          <p:cNvSpPr/>
          <p:nvPr/>
        </p:nvSpPr>
        <p:spPr>
          <a:xfrm>
            <a:off x="10776966" y="3584448"/>
            <a:ext cx="0" cy="256032"/>
          </a:xfrm>
          <a:prstGeom prst="line">
            <a:avLst/>
          </a:prstGeom>
          <a:noFill/>
          <a:ln w="19050">
            <a:solidFill>
              <a:srgbClr val="0D1219"/>
            </a:solidFill>
            <a:prstDash val="solid"/>
          </a:ln>
        </p:spPr>
      </p:sp>
      <p:sp>
        <p:nvSpPr>
          <p:cNvPr id="33" name="Shape 29"/>
          <p:cNvSpPr/>
          <p:nvPr/>
        </p:nvSpPr>
        <p:spPr>
          <a:xfrm flipH="1">
            <a:off x="1411986" y="3840480"/>
            <a:ext cx="9364980" cy="0"/>
          </a:xfrm>
          <a:prstGeom prst="line">
            <a:avLst/>
          </a:prstGeom>
          <a:noFill/>
          <a:ln w="19050">
            <a:solidFill>
              <a:srgbClr val="0D1219"/>
            </a:solidFill>
            <a:prstDash val="solid"/>
          </a:ln>
        </p:spPr>
      </p:sp>
      <p:sp>
        <p:nvSpPr>
          <p:cNvPr id="34" name="Shape 30"/>
          <p:cNvSpPr/>
          <p:nvPr/>
        </p:nvSpPr>
        <p:spPr>
          <a:xfrm flipV="1">
            <a:off x="1411986" y="3639312"/>
            <a:ext cx="0" cy="201168"/>
          </a:xfrm>
          <a:prstGeom prst="line">
            <a:avLst/>
          </a:prstGeom>
          <a:noFill/>
          <a:ln w="19050">
            <a:solidFill>
              <a:srgbClr val="0D1219"/>
            </a:solidFill>
            <a:prstDash val="solid"/>
            <a:tailEnd type="triangle"/>
          </a:ln>
        </p:spPr>
      </p:sp>
      <p:sp>
        <p:nvSpPr>
          <p:cNvPr id="35" name="Text 31"/>
          <p:cNvSpPr/>
          <p:nvPr/>
        </p:nvSpPr>
        <p:spPr>
          <a:xfrm>
            <a:off x="2183892" y="387705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
        <p:nvSpPr>
          <p:cNvPr id="36" name="Text 32"/>
          <p:cNvSpPr txBox="1"/>
          <p:nvPr/>
        </p:nvSpPr>
        <p:spPr>
          <a:xfrm>
            <a:off x="640080" y="4343400"/>
            <a:ext cx="2011680" cy="292608"/>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Describe</a:t>
            </a:r>
            <a:endParaRPr lang="en-US" sz="1400" dirty="0"/>
          </a:p>
        </p:txBody>
      </p:sp>
      <p:sp>
        <p:nvSpPr>
          <p:cNvPr id="37" name="Text 33"/>
          <p:cNvSpPr txBox="1"/>
          <p:nvPr/>
        </p:nvSpPr>
        <p:spPr>
          <a:xfrm>
            <a:off x="2834640" y="4370832"/>
            <a:ext cx="8714232" cy="292608"/>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The outcome, in one sentence. You write the spec, not the syntax.</a:t>
            </a:r>
            <a:endParaRPr lang="en-US" sz="1400" dirty="0"/>
          </a:p>
        </p:txBody>
      </p:sp>
      <p:sp>
        <p:nvSpPr>
          <p:cNvPr id="38" name="Text 34"/>
          <p:cNvSpPr txBox="1"/>
          <p:nvPr/>
        </p:nvSpPr>
        <p:spPr>
          <a:xfrm>
            <a:off x="640080" y="4727448"/>
            <a:ext cx="2011680" cy="292608"/>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Plan</a:t>
            </a:r>
            <a:endParaRPr lang="en-US" sz="1400" dirty="0"/>
          </a:p>
        </p:txBody>
      </p:sp>
      <p:sp>
        <p:nvSpPr>
          <p:cNvPr id="39" name="Text 35"/>
          <p:cNvSpPr txBox="1"/>
          <p:nvPr/>
        </p:nvSpPr>
        <p:spPr>
          <a:xfrm>
            <a:off x="2834640" y="4754880"/>
            <a:ext cx="8714232" cy="292608"/>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Files, order, three hand checks, before it touches a file.</a:t>
            </a:r>
            <a:endParaRPr lang="en-US" sz="1400" dirty="0"/>
          </a:p>
        </p:txBody>
      </p:sp>
      <p:sp>
        <p:nvSpPr>
          <p:cNvPr id="40" name="Text 36"/>
          <p:cNvSpPr txBox="1"/>
          <p:nvPr/>
        </p:nvSpPr>
        <p:spPr>
          <a:xfrm>
            <a:off x="640080" y="5111496"/>
            <a:ext cx="2011680" cy="292608"/>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Build, check</a:t>
            </a:r>
            <a:endParaRPr lang="en-US" sz="1400" dirty="0"/>
          </a:p>
        </p:txBody>
      </p:sp>
      <p:sp>
        <p:nvSpPr>
          <p:cNvPr id="41" name="Text 37"/>
          <p:cNvSpPr txBox="1"/>
          <p:nvPr/>
        </p:nvSpPr>
        <p:spPr>
          <a:xfrm>
            <a:off x="2834640" y="5138928"/>
            <a:ext cx="8714232" cy="292608"/>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The smallest version that works. Open it, click it, phone it.</a:t>
            </a:r>
            <a:endParaRPr lang="en-US" sz="1400" dirty="0"/>
          </a:p>
        </p:txBody>
      </p:sp>
      <p:sp>
        <p:nvSpPr>
          <p:cNvPr id="42" name="Text 38"/>
          <p:cNvSpPr txBox="1"/>
          <p:nvPr/>
        </p:nvSpPr>
        <p:spPr>
          <a:xfrm>
            <a:off x="640080" y="5495544"/>
            <a:ext cx="2011680" cy="292608"/>
          </a:xfrm>
          <a:prstGeom prst="rect">
            <a:avLst/>
          </a:prstGeom>
          <a:noFill/>
          <a:ln/>
        </p:spPr>
        <p:txBody>
          <a:bodyPr wrap="square" lIns="0" tIns="0" rIns="0" bIns="0" rtlCol="0" anchor="t"/>
          <a:lstStyle/>
          <a:p>
            <a:pPr indent="0" marL="0">
              <a:buNone/>
            </a:pPr>
            <a:r>
              <a:rPr lang="en-US" sz="1400" b="1" dirty="0">
                <a:solidFill>
                  <a:srgbClr val="0D1219"/>
                </a:solidFill>
                <a:latin typeface="Arial" pitchFamily="34" charset="0"/>
                <a:ea typeface="Arial" pitchFamily="34" charset="-122"/>
                <a:cs typeface="Arial" pitchFamily="34" charset="-120"/>
              </a:rPr>
              <a:t>Save, publish</a:t>
            </a:r>
            <a:endParaRPr lang="en-US" sz="1400" dirty="0"/>
          </a:p>
        </p:txBody>
      </p:sp>
      <p:sp>
        <p:nvSpPr>
          <p:cNvPr id="43" name="Text 39"/>
          <p:cNvSpPr txBox="1"/>
          <p:nvPr/>
        </p:nvSpPr>
        <p:spPr>
          <a:xfrm>
            <a:off x="2834640" y="5522976"/>
            <a:ext cx="8714232" cy="292608"/>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A named checkpoint in GitHub, then a URL someone else can open.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Both are a few plain files in a folder.</a:t>
            </a:r>
            <a:endParaRPr lang="en-US" sz="3200" dirty="0"/>
          </a:p>
        </p:txBody>
      </p:sp>
      <p:pic>
        <p:nvPicPr>
          <p:cNvPr id="8" name="Image 1" descr="assets/slate-375-crop.png">    </p:cNvPr>
          <p:cNvPicPr>
            <a:picLocks noChangeAspect="1"/>
          </p:cNvPicPr>
          <p:nvPr/>
        </p:nvPicPr>
        <p:blipFill>
          <a:blip r:embed="rId2"/>
          <a:stretch>
            <a:fillRect/>
          </a:stretch>
        </p:blipFill>
        <p:spPr>
          <a:xfrm>
            <a:off x="640080" y="1783080"/>
            <a:ext cx="1097280" cy="3657600"/>
          </a:xfrm>
          <a:prstGeom prst="rect">
            <a:avLst/>
          </a:prstGeom>
        </p:spPr>
      </p:pic>
      <p:pic>
        <p:nvPicPr>
          <p:cNvPr id="9" name="Image 2" descr="assets/game-space-crop.png">    </p:cNvPr>
          <p:cNvPicPr>
            <a:picLocks noChangeAspect="1"/>
          </p:cNvPicPr>
          <p:nvPr/>
        </p:nvPicPr>
        <p:blipFill>
          <a:blip r:embed="rId3"/>
          <a:stretch>
            <a:fillRect/>
          </a:stretch>
        </p:blipFill>
        <p:spPr>
          <a:xfrm>
            <a:off x="1920240" y="1783080"/>
            <a:ext cx="1600200" cy="2487168"/>
          </a:xfrm>
          <a:prstGeom prst="rect">
            <a:avLst/>
          </a:prstGeom>
        </p:spPr>
      </p:pic>
      <p:sp>
        <p:nvSpPr>
          <p:cNvPr id="10" name="Text 4"/>
          <p:cNvSpPr txBox="1"/>
          <p:nvPr/>
        </p:nvSpPr>
        <p:spPr>
          <a:xfrm>
            <a:off x="640080" y="5486400"/>
            <a:ext cx="1737360" cy="274320"/>
          </a:xfrm>
          <a:prstGeom prst="rect">
            <a:avLst/>
          </a:prstGeom>
          <a:noFill/>
          <a:ln/>
        </p:spPr>
        <p:txBody>
          <a:bodyPr wrap="square" lIns="0" tIns="0" rIns="0" bIns="0" rtlCol="0" anchor="t"/>
          <a:lstStyle/>
          <a:p>
            <a:pPr algn="l" indent="0" marL="0">
              <a:lnSpc>
                <a:spcPct val="115000"/>
              </a:lnSpc>
              <a:buNone/>
            </a:pPr>
            <a:r>
              <a:rPr lang="en-US" sz="1100" dirty="0">
                <a:solidFill>
                  <a:srgbClr val="EF8B39"/>
                </a:solidFill>
                <a:latin typeface="Courier New" pitchFamily="34" charset="0"/>
                <a:ea typeface="Courier New" pitchFamily="34" charset="-122"/>
                <a:cs typeface="Courier New" pitchFamily="34" charset="-120"/>
              </a:rPr>
              <a:t>A website about you</a:t>
            </a:r>
            <a:endParaRPr lang="en-US" sz="1100" dirty="0"/>
          </a:p>
        </p:txBody>
      </p:sp>
      <p:sp>
        <p:nvSpPr>
          <p:cNvPr id="11" name="Text 5"/>
          <p:cNvSpPr txBox="1"/>
          <p:nvPr/>
        </p:nvSpPr>
        <p:spPr>
          <a:xfrm>
            <a:off x="1920240" y="4343400"/>
            <a:ext cx="2377440" cy="274320"/>
          </a:xfrm>
          <a:prstGeom prst="rect">
            <a:avLst/>
          </a:prstGeom>
          <a:noFill/>
          <a:ln/>
        </p:spPr>
        <p:txBody>
          <a:bodyPr wrap="square" lIns="0" tIns="0" rIns="0" bIns="0" rtlCol="0" anchor="t"/>
          <a:lstStyle/>
          <a:p>
            <a:pPr algn="l" indent="0" marL="0">
              <a:lnSpc>
                <a:spcPct val="115000"/>
              </a:lnSpc>
              <a:buNone/>
            </a:pPr>
            <a:r>
              <a:rPr lang="en-US" sz="1100" dirty="0">
                <a:solidFill>
                  <a:srgbClr val="EF8B39"/>
                </a:solidFill>
                <a:latin typeface="Courier New" pitchFamily="34" charset="0"/>
                <a:ea typeface="Courier New" pitchFamily="34" charset="-122"/>
                <a:cs typeface="Courier New" pitchFamily="34" charset="-120"/>
              </a:rPr>
              <a:t>A game you can hand to a friend</a:t>
            </a:r>
            <a:endParaRPr lang="en-US" sz="1100" dirty="0"/>
          </a:p>
        </p:txBody>
      </p:sp>
      <p:sp>
        <p:nvSpPr>
          <p:cNvPr id="12" name="Text 6"/>
          <p:cNvSpPr txBox="1"/>
          <p:nvPr/>
        </p:nvSpPr>
        <p:spPr>
          <a:xfrm>
            <a:off x="4297680" y="1920240"/>
            <a:ext cx="1828800" cy="868680"/>
          </a:xfrm>
          <a:prstGeom prst="rect">
            <a:avLst/>
          </a:prstGeom>
          <a:noFill/>
          <a:ln/>
        </p:spPr>
        <p:txBody>
          <a:bodyPr wrap="square" lIns="0" tIns="0" rIns="0" bIns="0" rtlCol="0" anchor="t"/>
          <a:lstStyle/>
          <a:p>
            <a:pPr indent="0" marL="0">
              <a:buNone/>
            </a:pPr>
            <a:r>
              <a:rPr lang="en-US" sz="1700" b="1" dirty="0">
                <a:solidFill>
                  <a:srgbClr val="EF8B39"/>
                </a:solidFill>
                <a:latin typeface="Courier New" pitchFamily="34" charset="0"/>
                <a:ea typeface="Courier New" pitchFamily="34" charset="-122"/>
                <a:cs typeface="Courier New" pitchFamily="34" charset="-120"/>
              </a:rPr>
              <a:t>HTML</a:t>
            </a:r>
            <a:endParaRPr lang="en-US" sz="1700" dirty="0"/>
          </a:p>
        </p:txBody>
      </p:sp>
      <p:sp>
        <p:nvSpPr>
          <p:cNvPr id="13" name="Text 7"/>
          <p:cNvSpPr txBox="1"/>
          <p:nvPr/>
        </p:nvSpPr>
        <p:spPr>
          <a:xfrm>
            <a:off x="6309360" y="1947672"/>
            <a:ext cx="5239512" cy="86868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Structure. Headings, sections, links, buttons: what is on the page.</a:t>
            </a:r>
            <a:endParaRPr lang="en-US" sz="1600" dirty="0"/>
          </a:p>
        </p:txBody>
      </p:sp>
      <p:sp>
        <p:nvSpPr>
          <p:cNvPr id="14" name="Text 8"/>
          <p:cNvSpPr txBox="1"/>
          <p:nvPr/>
        </p:nvSpPr>
        <p:spPr>
          <a:xfrm>
            <a:off x="4297680" y="2880360"/>
            <a:ext cx="1828800" cy="868680"/>
          </a:xfrm>
          <a:prstGeom prst="rect">
            <a:avLst/>
          </a:prstGeom>
          <a:noFill/>
          <a:ln/>
        </p:spPr>
        <p:txBody>
          <a:bodyPr wrap="square" lIns="0" tIns="0" rIns="0" bIns="0" rtlCol="0" anchor="t"/>
          <a:lstStyle/>
          <a:p>
            <a:pPr indent="0" marL="0">
              <a:buNone/>
            </a:pPr>
            <a:r>
              <a:rPr lang="en-US" sz="1700" b="1" dirty="0">
                <a:solidFill>
                  <a:srgbClr val="EF8B39"/>
                </a:solidFill>
                <a:latin typeface="Courier New" pitchFamily="34" charset="0"/>
                <a:ea typeface="Courier New" pitchFamily="34" charset="-122"/>
                <a:cs typeface="Courier New" pitchFamily="34" charset="-120"/>
              </a:rPr>
              <a:t>CSS</a:t>
            </a:r>
            <a:endParaRPr lang="en-US" sz="1700" dirty="0"/>
          </a:p>
        </p:txBody>
      </p:sp>
      <p:sp>
        <p:nvSpPr>
          <p:cNvPr id="15" name="Text 9"/>
          <p:cNvSpPr txBox="1"/>
          <p:nvPr/>
        </p:nvSpPr>
        <p:spPr>
          <a:xfrm>
            <a:off x="6309360" y="2907792"/>
            <a:ext cx="5239512" cy="86868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Appearance. Colors, spacing, fonts, how it fits a phone.</a:t>
            </a:r>
            <a:endParaRPr lang="en-US" sz="1600" dirty="0"/>
          </a:p>
        </p:txBody>
      </p:sp>
      <p:sp>
        <p:nvSpPr>
          <p:cNvPr id="16" name="Text 10"/>
          <p:cNvSpPr txBox="1"/>
          <p:nvPr/>
        </p:nvSpPr>
        <p:spPr>
          <a:xfrm>
            <a:off x="4297680" y="3840480"/>
            <a:ext cx="1828800" cy="868680"/>
          </a:xfrm>
          <a:prstGeom prst="rect">
            <a:avLst/>
          </a:prstGeom>
          <a:noFill/>
          <a:ln/>
        </p:spPr>
        <p:txBody>
          <a:bodyPr wrap="square" lIns="0" tIns="0" rIns="0" bIns="0" rtlCol="0" anchor="t"/>
          <a:lstStyle/>
          <a:p>
            <a:pPr indent="0" marL="0">
              <a:buNone/>
            </a:pPr>
            <a:r>
              <a:rPr lang="en-US" sz="1700" b="1" dirty="0">
                <a:solidFill>
                  <a:srgbClr val="EF8B39"/>
                </a:solidFill>
                <a:latin typeface="Courier New" pitchFamily="34" charset="0"/>
                <a:ea typeface="Courier New" pitchFamily="34" charset="-122"/>
                <a:cs typeface="Courier New" pitchFamily="34" charset="-120"/>
              </a:rPr>
              <a:t>JavaScript</a:t>
            </a:r>
            <a:endParaRPr lang="en-US" sz="1700" dirty="0"/>
          </a:p>
        </p:txBody>
      </p:sp>
      <p:sp>
        <p:nvSpPr>
          <p:cNvPr id="17" name="Text 11"/>
          <p:cNvSpPr txBox="1"/>
          <p:nvPr/>
        </p:nvSpPr>
        <p:spPr>
          <a:xfrm>
            <a:off x="6309360" y="3867912"/>
            <a:ext cx="5239512" cy="86868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Behavior. What happens when you click: health goes down, a square is claimed.</a:t>
            </a:r>
            <a:endParaRPr lang="en-US" sz="1600" dirty="0"/>
          </a:p>
        </p:txBody>
      </p:sp>
      <p:sp>
        <p:nvSpPr>
          <p:cNvPr id="18" name="Text 12"/>
          <p:cNvSpPr txBox="1"/>
          <p:nvPr/>
        </p:nvSpPr>
        <p:spPr>
          <a:xfrm>
            <a:off x="4297680" y="4937760"/>
            <a:ext cx="7251192" cy="457200"/>
          </a:xfrm>
          <a:prstGeom prst="rect">
            <a:avLst/>
          </a:prstGeom>
          <a:noFill/>
          <a:ln/>
        </p:spPr>
        <p:txBody>
          <a:bodyPr wrap="square" lIns="0" tIns="0" rIns="0" bIns="0" rtlCol="0" anchor="t"/>
          <a:lstStyle/>
          <a:p>
            <a:pPr algn="l" indent="0" marL="0">
              <a:lnSpc>
                <a:spcPct val="115000"/>
              </a:lnSpc>
              <a:buNone/>
            </a:pPr>
            <a:r>
              <a:rPr lang="en-US" sz="1600" dirty="0">
                <a:solidFill>
                  <a:srgbClr val="5B6675"/>
                </a:solidFill>
                <a:latin typeface="Arial" pitchFamily="34" charset="0"/>
                <a:ea typeface="Arial" pitchFamily="34" charset="-122"/>
                <a:cs typeface="Arial" pitchFamily="34" charset="-120"/>
              </a:rPr>
              <a:t>The AI helps write the files. The finished site and game never call an AI.</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9:14 – 9:17</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800" b="1" dirty="0">
                <a:solidFill>
                  <a:srgbClr val="0D1219"/>
                </a:solidFill>
                <a:latin typeface="Arial" pitchFamily="34" charset="0"/>
                <a:ea typeface="Arial" pitchFamily="34" charset="-122"/>
                <a:cs typeface="Arial" pitchFamily="34" charset="-120"/>
              </a:rPr>
              <a:t>Describe: say what you want, like briefing a contractor.</a:t>
            </a:r>
            <a:endParaRPr lang="en-US" sz="2800" dirty="0"/>
          </a:p>
        </p:txBody>
      </p:sp>
      <p:sp>
        <p:nvSpPr>
          <p:cNvPr id="8" name="Shape 4"/>
          <p:cNvSpPr/>
          <p:nvPr/>
        </p:nvSpPr>
        <p:spPr>
          <a:xfrm>
            <a:off x="640080" y="1783080"/>
            <a:ext cx="1543812" cy="868680"/>
          </a:xfrm>
          <a:prstGeom prst="roundRect">
            <a:avLst>
              <a:gd name="adj" fmla="val 8421"/>
            </a:avLst>
          </a:prstGeom>
          <a:solidFill>
            <a:srgbClr val="EF8B39"/>
          </a:solidFill>
          <a:ln w="12700">
            <a:solidFill>
              <a:srgbClr val="EF8B39"/>
            </a:solidFill>
            <a:prstDash val="solid"/>
          </a:ln>
        </p:spPr>
      </p:sp>
      <p:sp>
        <p:nvSpPr>
          <p:cNvPr id="9" name="Text 5"/>
          <p:cNvSpPr/>
          <p:nvPr/>
        </p:nvSpPr>
        <p:spPr>
          <a:xfrm>
            <a:off x="640080" y="1783080"/>
            <a:ext cx="1543812"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DESCRIBE</a:t>
            </a:r>
            <a:endParaRPr lang="en-US" sz="1800" dirty="0"/>
          </a:p>
        </p:txBody>
      </p:sp>
      <p:sp>
        <p:nvSpPr>
          <p:cNvPr id="10" name="Shape 6"/>
          <p:cNvSpPr/>
          <p:nvPr/>
        </p:nvSpPr>
        <p:spPr>
          <a:xfrm>
            <a:off x="2220468" y="2217420"/>
            <a:ext cx="256032" cy="0"/>
          </a:xfrm>
          <a:prstGeom prst="line">
            <a:avLst/>
          </a:prstGeom>
          <a:noFill/>
          <a:ln w="19050">
            <a:solidFill>
              <a:srgbClr val="0D1219"/>
            </a:solidFill>
            <a:prstDash val="solid"/>
            <a:tailEnd type="triangle"/>
          </a:ln>
        </p:spPr>
      </p:sp>
      <p:sp>
        <p:nvSpPr>
          <p:cNvPr id="11" name="Shape 7"/>
          <p:cNvSpPr/>
          <p:nvPr/>
        </p:nvSpPr>
        <p:spPr>
          <a:xfrm>
            <a:off x="2513076" y="1783080"/>
            <a:ext cx="1543812" cy="868680"/>
          </a:xfrm>
          <a:prstGeom prst="roundRect">
            <a:avLst>
              <a:gd name="adj" fmla="val 8421"/>
            </a:avLst>
          </a:prstGeom>
          <a:solidFill>
            <a:srgbClr val="FFFFFF"/>
          </a:solidFill>
          <a:ln w="15875">
            <a:solidFill>
              <a:srgbClr val="0D1219"/>
            </a:solidFill>
            <a:prstDash val="solid"/>
          </a:ln>
        </p:spPr>
      </p:sp>
      <p:sp>
        <p:nvSpPr>
          <p:cNvPr id="12" name="Text 8"/>
          <p:cNvSpPr/>
          <p:nvPr/>
        </p:nvSpPr>
        <p:spPr>
          <a:xfrm>
            <a:off x="2513076"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PLAN</a:t>
            </a:r>
            <a:endParaRPr lang="en-US" sz="1800" dirty="0"/>
          </a:p>
        </p:txBody>
      </p:sp>
      <p:sp>
        <p:nvSpPr>
          <p:cNvPr id="13" name="Shape 9"/>
          <p:cNvSpPr/>
          <p:nvPr/>
        </p:nvSpPr>
        <p:spPr>
          <a:xfrm>
            <a:off x="4093464" y="2217420"/>
            <a:ext cx="256032" cy="0"/>
          </a:xfrm>
          <a:prstGeom prst="line">
            <a:avLst/>
          </a:prstGeom>
          <a:noFill/>
          <a:ln w="19050">
            <a:solidFill>
              <a:srgbClr val="0D1219"/>
            </a:solidFill>
            <a:prstDash val="solid"/>
            <a:tailEnd type="triangle"/>
          </a:ln>
        </p:spPr>
      </p:sp>
      <p:sp>
        <p:nvSpPr>
          <p:cNvPr id="14" name="Shape 10"/>
          <p:cNvSpPr/>
          <p:nvPr/>
        </p:nvSpPr>
        <p:spPr>
          <a:xfrm>
            <a:off x="4386072" y="1783080"/>
            <a:ext cx="1543812" cy="868680"/>
          </a:xfrm>
          <a:prstGeom prst="roundRect">
            <a:avLst>
              <a:gd name="adj" fmla="val 8421"/>
            </a:avLst>
          </a:prstGeom>
          <a:solidFill>
            <a:srgbClr val="FFFFFF"/>
          </a:solidFill>
          <a:ln w="15875">
            <a:solidFill>
              <a:srgbClr val="0D1219"/>
            </a:solidFill>
            <a:prstDash val="solid"/>
          </a:ln>
        </p:spPr>
      </p:sp>
      <p:sp>
        <p:nvSpPr>
          <p:cNvPr id="15" name="Text 11"/>
          <p:cNvSpPr/>
          <p:nvPr/>
        </p:nvSpPr>
        <p:spPr>
          <a:xfrm>
            <a:off x="4386072"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16" name="Shape 12"/>
          <p:cNvSpPr/>
          <p:nvPr/>
        </p:nvSpPr>
        <p:spPr>
          <a:xfrm>
            <a:off x="5966460" y="2217420"/>
            <a:ext cx="256032" cy="0"/>
          </a:xfrm>
          <a:prstGeom prst="line">
            <a:avLst/>
          </a:prstGeom>
          <a:noFill/>
          <a:ln w="19050">
            <a:solidFill>
              <a:srgbClr val="0D1219"/>
            </a:solidFill>
            <a:prstDash val="solid"/>
            <a:tailEnd type="triangle"/>
          </a:ln>
        </p:spPr>
      </p:sp>
      <p:sp>
        <p:nvSpPr>
          <p:cNvPr id="17" name="Shape 13"/>
          <p:cNvSpPr/>
          <p:nvPr/>
        </p:nvSpPr>
        <p:spPr>
          <a:xfrm>
            <a:off x="6259068" y="1783080"/>
            <a:ext cx="1543812" cy="868680"/>
          </a:xfrm>
          <a:prstGeom prst="roundRect">
            <a:avLst>
              <a:gd name="adj" fmla="val 8421"/>
            </a:avLst>
          </a:prstGeom>
          <a:solidFill>
            <a:srgbClr val="FFFFFF"/>
          </a:solidFill>
          <a:ln w="15875">
            <a:solidFill>
              <a:srgbClr val="0D1219"/>
            </a:solidFill>
            <a:prstDash val="solid"/>
          </a:ln>
        </p:spPr>
      </p:sp>
      <p:sp>
        <p:nvSpPr>
          <p:cNvPr id="18" name="Text 14"/>
          <p:cNvSpPr/>
          <p:nvPr/>
        </p:nvSpPr>
        <p:spPr>
          <a:xfrm>
            <a:off x="6259068"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CHECK</a:t>
            </a:r>
            <a:endParaRPr lang="en-US" sz="1800" dirty="0"/>
          </a:p>
        </p:txBody>
      </p:sp>
      <p:sp>
        <p:nvSpPr>
          <p:cNvPr id="19" name="Shape 15"/>
          <p:cNvSpPr/>
          <p:nvPr/>
        </p:nvSpPr>
        <p:spPr>
          <a:xfrm>
            <a:off x="7839456" y="2217420"/>
            <a:ext cx="256032" cy="0"/>
          </a:xfrm>
          <a:prstGeom prst="line">
            <a:avLst/>
          </a:prstGeom>
          <a:noFill/>
          <a:ln w="19050">
            <a:solidFill>
              <a:srgbClr val="0D1219"/>
            </a:solidFill>
            <a:prstDash val="solid"/>
            <a:tailEnd type="triangle"/>
          </a:ln>
        </p:spPr>
      </p:sp>
      <p:sp>
        <p:nvSpPr>
          <p:cNvPr id="20" name="Shape 16"/>
          <p:cNvSpPr/>
          <p:nvPr/>
        </p:nvSpPr>
        <p:spPr>
          <a:xfrm>
            <a:off x="8132064" y="1783080"/>
            <a:ext cx="1543812" cy="868680"/>
          </a:xfrm>
          <a:prstGeom prst="roundRect">
            <a:avLst>
              <a:gd name="adj" fmla="val 8421"/>
            </a:avLst>
          </a:prstGeom>
          <a:solidFill>
            <a:srgbClr val="FFFFFF"/>
          </a:solidFill>
          <a:ln w="15875">
            <a:solidFill>
              <a:srgbClr val="0D1219"/>
            </a:solidFill>
            <a:prstDash val="solid"/>
          </a:ln>
        </p:spPr>
      </p:sp>
      <p:sp>
        <p:nvSpPr>
          <p:cNvPr id="21" name="Text 17"/>
          <p:cNvSpPr/>
          <p:nvPr/>
        </p:nvSpPr>
        <p:spPr>
          <a:xfrm>
            <a:off x="8132064"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SAVE</a:t>
            </a:r>
            <a:endParaRPr lang="en-US" sz="1800" dirty="0"/>
          </a:p>
        </p:txBody>
      </p:sp>
      <p:sp>
        <p:nvSpPr>
          <p:cNvPr id="22" name="Shape 18"/>
          <p:cNvSpPr/>
          <p:nvPr/>
        </p:nvSpPr>
        <p:spPr>
          <a:xfrm>
            <a:off x="9712452" y="2217420"/>
            <a:ext cx="256032" cy="0"/>
          </a:xfrm>
          <a:prstGeom prst="line">
            <a:avLst/>
          </a:prstGeom>
          <a:noFill/>
          <a:ln w="19050">
            <a:solidFill>
              <a:srgbClr val="0D1219"/>
            </a:solidFill>
            <a:prstDash val="solid"/>
            <a:tailEnd type="triangle"/>
          </a:ln>
        </p:spPr>
      </p:sp>
      <p:sp>
        <p:nvSpPr>
          <p:cNvPr id="23" name="Shape 19"/>
          <p:cNvSpPr/>
          <p:nvPr/>
        </p:nvSpPr>
        <p:spPr>
          <a:xfrm>
            <a:off x="10005060" y="1783080"/>
            <a:ext cx="1543812" cy="868680"/>
          </a:xfrm>
          <a:prstGeom prst="roundRect">
            <a:avLst>
              <a:gd name="adj" fmla="val 8421"/>
            </a:avLst>
          </a:prstGeom>
          <a:solidFill>
            <a:srgbClr val="FFFFFF"/>
          </a:solidFill>
          <a:ln w="15875">
            <a:solidFill>
              <a:srgbClr val="0D1219"/>
            </a:solidFill>
            <a:prstDash val="solid"/>
          </a:ln>
        </p:spPr>
      </p:sp>
      <p:sp>
        <p:nvSpPr>
          <p:cNvPr id="24" name="Text 20"/>
          <p:cNvSpPr/>
          <p:nvPr/>
        </p:nvSpPr>
        <p:spPr>
          <a:xfrm>
            <a:off x="1000506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PUBLISH</a:t>
            </a:r>
            <a:endParaRPr lang="en-US" sz="1800" dirty="0"/>
          </a:p>
        </p:txBody>
      </p:sp>
      <p:sp>
        <p:nvSpPr>
          <p:cNvPr id="25" name="Shape 21"/>
          <p:cNvSpPr/>
          <p:nvPr/>
        </p:nvSpPr>
        <p:spPr>
          <a:xfrm>
            <a:off x="10776966" y="2670048"/>
            <a:ext cx="0" cy="256032"/>
          </a:xfrm>
          <a:prstGeom prst="line">
            <a:avLst/>
          </a:prstGeom>
          <a:noFill/>
          <a:ln w="19050">
            <a:solidFill>
              <a:srgbClr val="0D1219"/>
            </a:solidFill>
            <a:prstDash val="solid"/>
          </a:ln>
        </p:spPr>
      </p:sp>
      <p:sp>
        <p:nvSpPr>
          <p:cNvPr id="26" name="Shape 22"/>
          <p:cNvSpPr/>
          <p:nvPr/>
        </p:nvSpPr>
        <p:spPr>
          <a:xfrm flipH="1">
            <a:off x="1411986" y="2926080"/>
            <a:ext cx="9364980" cy="0"/>
          </a:xfrm>
          <a:prstGeom prst="line">
            <a:avLst/>
          </a:prstGeom>
          <a:noFill/>
          <a:ln w="19050">
            <a:solidFill>
              <a:srgbClr val="0D1219"/>
            </a:solidFill>
            <a:prstDash val="solid"/>
          </a:ln>
        </p:spPr>
      </p:sp>
      <p:sp>
        <p:nvSpPr>
          <p:cNvPr id="27" name="Shape 23"/>
          <p:cNvSpPr/>
          <p:nvPr/>
        </p:nvSpPr>
        <p:spPr>
          <a:xfrm flipV="1">
            <a:off x="1411986" y="2724912"/>
            <a:ext cx="0" cy="201168"/>
          </a:xfrm>
          <a:prstGeom prst="line">
            <a:avLst/>
          </a:prstGeom>
          <a:noFill/>
          <a:ln w="19050">
            <a:solidFill>
              <a:srgbClr val="0D1219"/>
            </a:solidFill>
            <a:prstDash val="solid"/>
            <a:tailEnd type="triangle"/>
          </a:ln>
        </p:spPr>
      </p:sp>
      <p:sp>
        <p:nvSpPr>
          <p:cNvPr id="28" name="Text 24"/>
          <p:cNvSpPr/>
          <p:nvPr/>
        </p:nvSpPr>
        <p:spPr>
          <a:xfrm>
            <a:off x="2183892" y="296265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
        <p:nvSpPr>
          <p:cNvPr id="29" name="Text 25"/>
          <p:cNvSpPr txBox="1"/>
          <p:nvPr/>
        </p:nvSpPr>
        <p:spPr>
          <a:xfrm>
            <a:off x="640080" y="3429000"/>
            <a:ext cx="6035040" cy="14630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“A one-page site about me, from my resume, with a working email link.”</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“Tic-tac-toe where each square is won in a short battle.”</a:t>
            </a:r>
            <a:endParaRPr lang="en-US" sz="1500" dirty="0"/>
          </a:p>
        </p:txBody>
      </p:sp>
      <p:sp>
        <p:nvSpPr>
          <p:cNvPr id="30" name="Text 26"/>
          <p:cNvSpPr txBox="1"/>
          <p:nvPr/>
        </p:nvSpPr>
        <p:spPr>
          <a:xfrm>
            <a:off x="7040880" y="3429000"/>
            <a:ext cx="448056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QUESTION YOU ASK YOURSELF</a:t>
            </a:r>
            <a:endParaRPr lang="en-US" sz="1100" dirty="0"/>
          </a:p>
        </p:txBody>
      </p:sp>
      <p:sp>
        <p:nvSpPr>
          <p:cNvPr id="31" name="Text 27"/>
          <p:cNvSpPr txBox="1"/>
          <p:nvPr/>
        </p:nvSpPr>
        <p:spPr>
          <a:xfrm>
            <a:off x="7040880" y="3749040"/>
            <a:ext cx="4507992" cy="1188720"/>
          </a:xfrm>
          <a:prstGeom prst="rect">
            <a:avLst/>
          </a:prstGeom>
          <a:noFill/>
          <a:ln/>
        </p:spPr>
        <p:txBody>
          <a:bodyPr wrap="square" lIns="0" tIns="0" rIns="0" bIns="0" rtlCol="0" anchor="t"/>
          <a:lstStyle/>
          <a:p>
            <a:pPr algn="l" indent="0" marL="0">
              <a:lnSpc>
                <a:spcPct val="115000"/>
              </a:lnSpc>
              <a:buNone/>
            </a:pPr>
            <a:r>
              <a:rPr lang="en-US" sz="2000" b="1" dirty="0">
                <a:solidFill>
                  <a:srgbClr val="0D1219"/>
                </a:solidFill>
                <a:latin typeface="Arial" pitchFamily="34" charset="0"/>
                <a:ea typeface="Arial" pitchFamily="34" charset="-122"/>
                <a:cs typeface="Arial" pitchFamily="34" charset="-120"/>
              </a:rPr>
              <a:t>What would I show a friend to prove it works?</a:t>
            </a:r>
            <a:endParaRPr lang="en-US" sz="2000" dirty="0"/>
          </a:p>
        </p:txBody>
      </p:sp>
      <p:sp>
        <p:nvSpPr>
          <p:cNvPr id="32" name="Text 2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9:14 – 9:17</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Plan: make it tell you before touching a file.</a:t>
            </a:r>
            <a:endParaRPr lang="en-US" sz="3200" dirty="0"/>
          </a:p>
        </p:txBody>
      </p:sp>
      <p:sp>
        <p:nvSpPr>
          <p:cNvPr id="8" name="Shape 4"/>
          <p:cNvSpPr/>
          <p:nvPr/>
        </p:nvSpPr>
        <p:spPr>
          <a:xfrm>
            <a:off x="640080" y="1783080"/>
            <a:ext cx="1543812" cy="868680"/>
          </a:xfrm>
          <a:prstGeom prst="roundRect">
            <a:avLst>
              <a:gd name="adj" fmla="val 8421"/>
            </a:avLst>
          </a:prstGeom>
          <a:solidFill>
            <a:srgbClr val="FFFFFF"/>
          </a:solidFill>
          <a:ln w="15875">
            <a:solidFill>
              <a:srgbClr val="0D1219"/>
            </a:solidFill>
            <a:prstDash val="solid"/>
          </a:ln>
        </p:spPr>
      </p:sp>
      <p:sp>
        <p:nvSpPr>
          <p:cNvPr id="9" name="Text 5"/>
          <p:cNvSpPr/>
          <p:nvPr/>
        </p:nvSpPr>
        <p:spPr>
          <a:xfrm>
            <a:off x="64008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DESCRIBE</a:t>
            </a:r>
            <a:endParaRPr lang="en-US" sz="1800" dirty="0"/>
          </a:p>
        </p:txBody>
      </p:sp>
      <p:sp>
        <p:nvSpPr>
          <p:cNvPr id="10" name="Shape 6"/>
          <p:cNvSpPr/>
          <p:nvPr/>
        </p:nvSpPr>
        <p:spPr>
          <a:xfrm>
            <a:off x="2220468" y="2217420"/>
            <a:ext cx="256032" cy="0"/>
          </a:xfrm>
          <a:prstGeom prst="line">
            <a:avLst/>
          </a:prstGeom>
          <a:noFill/>
          <a:ln w="19050">
            <a:solidFill>
              <a:srgbClr val="0D1219"/>
            </a:solidFill>
            <a:prstDash val="solid"/>
            <a:tailEnd type="triangle"/>
          </a:ln>
        </p:spPr>
      </p:sp>
      <p:sp>
        <p:nvSpPr>
          <p:cNvPr id="11" name="Shape 7"/>
          <p:cNvSpPr/>
          <p:nvPr/>
        </p:nvSpPr>
        <p:spPr>
          <a:xfrm>
            <a:off x="2513076" y="1783080"/>
            <a:ext cx="1543812" cy="868680"/>
          </a:xfrm>
          <a:prstGeom prst="roundRect">
            <a:avLst>
              <a:gd name="adj" fmla="val 8421"/>
            </a:avLst>
          </a:prstGeom>
          <a:solidFill>
            <a:srgbClr val="EF8B39"/>
          </a:solidFill>
          <a:ln w="12700">
            <a:solidFill>
              <a:srgbClr val="EF8B39"/>
            </a:solidFill>
            <a:prstDash val="solid"/>
          </a:ln>
        </p:spPr>
      </p:sp>
      <p:sp>
        <p:nvSpPr>
          <p:cNvPr id="12" name="Text 8"/>
          <p:cNvSpPr/>
          <p:nvPr/>
        </p:nvSpPr>
        <p:spPr>
          <a:xfrm>
            <a:off x="2513076" y="1783080"/>
            <a:ext cx="1543812"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PLAN</a:t>
            </a:r>
            <a:endParaRPr lang="en-US" sz="1800" dirty="0"/>
          </a:p>
        </p:txBody>
      </p:sp>
      <p:sp>
        <p:nvSpPr>
          <p:cNvPr id="13" name="Shape 9"/>
          <p:cNvSpPr/>
          <p:nvPr/>
        </p:nvSpPr>
        <p:spPr>
          <a:xfrm>
            <a:off x="4093464" y="2217420"/>
            <a:ext cx="256032" cy="0"/>
          </a:xfrm>
          <a:prstGeom prst="line">
            <a:avLst/>
          </a:prstGeom>
          <a:noFill/>
          <a:ln w="19050">
            <a:solidFill>
              <a:srgbClr val="0D1219"/>
            </a:solidFill>
            <a:prstDash val="solid"/>
            <a:tailEnd type="triangle"/>
          </a:ln>
        </p:spPr>
      </p:sp>
      <p:sp>
        <p:nvSpPr>
          <p:cNvPr id="14" name="Shape 10"/>
          <p:cNvSpPr/>
          <p:nvPr/>
        </p:nvSpPr>
        <p:spPr>
          <a:xfrm>
            <a:off x="4386072" y="1783080"/>
            <a:ext cx="1543812" cy="868680"/>
          </a:xfrm>
          <a:prstGeom prst="roundRect">
            <a:avLst>
              <a:gd name="adj" fmla="val 8421"/>
            </a:avLst>
          </a:prstGeom>
          <a:solidFill>
            <a:srgbClr val="FFFFFF"/>
          </a:solidFill>
          <a:ln w="15875">
            <a:solidFill>
              <a:srgbClr val="0D1219"/>
            </a:solidFill>
            <a:prstDash val="solid"/>
          </a:ln>
        </p:spPr>
      </p:sp>
      <p:sp>
        <p:nvSpPr>
          <p:cNvPr id="15" name="Text 11"/>
          <p:cNvSpPr/>
          <p:nvPr/>
        </p:nvSpPr>
        <p:spPr>
          <a:xfrm>
            <a:off x="4386072"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16" name="Shape 12"/>
          <p:cNvSpPr/>
          <p:nvPr/>
        </p:nvSpPr>
        <p:spPr>
          <a:xfrm>
            <a:off x="5966460" y="2217420"/>
            <a:ext cx="256032" cy="0"/>
          </a:xfrm>
          <a:prstGeom prst="line">
            <a:avLst/>
          </a:prstGeom>
          <a:noFill/>
          <a:ln w="19050">
            <a:solidFill>
              <a:srgbClr val="0D1219"/>
            </a:solidFill>
            <a:prstDash val="solid"/>
            <a:tailEnd type="triangle"/>
          </a:ln>
        </p:spPr>
      </p:sp>
      <p:sp>
        <p:nvSpPr>
          <p:cNvPr id="17" name="Shape 13"/>
          <p:cNvSpPr/>
          <p:nvPr/>
        </p:nvSpPr>
        <p:spPr>
          <a:xfrm>
            <a:off x="6259068" y="1783080"/>
            <a:ext cx="1543812" cy="868680"/>
          </a:xfrm>
          <a:prstGeom prst="roundRect">
            <a:avLst>
              <a:gd name="adj" fmla="val 8421"/>
            </a:avLst>
          </a:prstGeom>
          <a:solidFill>
            <a:srgbClr val="FFFFFF"/>
          </a:solidFill>
          <a:ln w="15875">
            <a:solidFill>
              <a:srgbClr val="0D1219"/>
            </a:solidFill>
            <a:prstDash val="solid"/>
          </a:ln>
        </p:spPr>
      </p:sp>
      <p:sp>
        <p:nvSpPr>
          <p:cNvPr id="18" name="Text 14"/>
          <p:cNvSpPr/>
          <p:nvPr/>
        </p:nvSpPr>
        <p:spPr>
          <a:xfrm>
            <a:off x="6259068"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CHECK</a:t>
            </a:r>
            <a:endParaRPr lang="en-US" sz="1800" dirty="0"/>
          </a:p>
        </p:txBody>
      </p:sp>
      <p:sp>
        <p:nvSpPr>
          <p:cNvPr id="19" name="Shape 15"/>
          <p:cNvSpPr/>
          <p:nvPr/>
        </p:nvSpPr>
        <p:spPr>
          <a:xfrm>
            <a:off x="7839456" y="2217420"/>
            <a:ext cx="256032" cy="0"/>
          </a:xfrm>
          <a:prstGeom prst="line">
            <a:avLst/>
          </a:prstGeom>
          <a:noFill/>
          <a:ln w="19050">
            <a:solidFill>
              <a:srgbClr val="0D1219"/>
            </a:solidFill>
            <a:prstDash val="solid"/>
            <a:tailEnd type="triangle"/>
          </a:ln>
        </p:spPr>
      </p:sp>
      <p:sp>
        <p:nvSpPr>
          <p:cNvPr id="20" name="Shape 16"/>
          <p:cNvSpPr/>
          <p:nvPr/>
        </p:nvSpPr>
        <p:spPr>
          <a:xfrm>
            <a:off x="8132064" y="1783080"/>
            <a:ext cx="1543812" cy="868680"/>
          </a:xfrm>
          <a:prstGeom prst="roundRect">
            <a:avLst>
              <a:gd name="adj" fmla="val 8421"/>
            </a:avLst>
          </a:prstGeom>
          <a:solidFill>
            <a:srgbClr val="FFFFFF"/>
          </a:solidFill>
          <a:ln w="15875">
            <a:solidFill>
              <a:srgbClr val="0D1219"/>
            </a:solidFill>
            <a:prstDash val="solid"/>
          </a:ln>
        </p:spPr>
      </p:sp>
      <p:sp>
        <p:nvSpPr>
          <p:cNvPr id="21" name="Text 17"/>
          <p:cNvSpPr/>
          <p:nvPr/>
        </p:nvSpPr>
        <p:spPr>
          <a:xfrm>
            <a:off x="8132064"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SAVE</a:t>
            </a:r>
            <a:endParaRPr lang="en-US" sz="1800" dirty="0"/>
          </a:p>
        </p:txBody>
      </p:sp>
      <p:sp>
        <p:nvSpPr>
          <p:cNvPr id="22" name="Shape 18"/>
          <p:cNvSpPr/>
          <p:nvPr/>
        </p:nvSpPr>
        <p:spPr>
          <a:xfrm>
            <a:off x="9712452" y="2217420"/>
            <a:ext cx="256032" cy="0"/>
          </a:xfrm>
          <a:prstGeom prst="line">
            <a:avLst/>
          </a:prstGeom>
          <a:noFill/>
          <a:ln w="19050">
            <a:solidFill>
              <a:srgbClr val="0D1219"/>
            </a:solidFill>
            <a:prstDash val="solid"/>
            <a:tailEnd type="triangle"/>
          </a:ln>
        </p:spPr>
      </p:sp>
      <p:sp>
        <p:nvSpPr>
          <p:cNvPr id="23" name="Shape 19"/>
          <p:cNvSpPr/>
          <p:nvPr/>
        </p:nvSpPr>
        <p:spPr>
          <a:xfrm>
            <a:off x="10005060" y="1783080"/>
            <a:ext cx="1543812" cy="868680"/>
          </a:xfrm>
          <a:prstGeom prst="roundRect">
            <a:avLst>
              <a:gd name="adj" fmla="val 8421"/>
            </a:avLst>
          </a:prstGeom>
          <a:solidFill>
            <a:srgbClr val="FFFFFF"/>
          </a:solidFill>
          <a:ln w="15875">
            <a:solidFill>
              <a:srgbClr val="0D1219"/>
            </a:solidFill>
            <a:prstDash val="solid"/>
          </a:ln>
        </p:spPr>
      </p:sp>
      <p:sp>
        <p:nvSpPr>
          <p:cNvPr id="24" name="Text 20"/>
          <p:cNvSpPr/>
          <p:nvPr/>
        </p:nvSpPr>
        <p:spPr>
          <a:xfrm>
            <a:off x="1000506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PUBLISH</a:t>
            </a:r>
            <a:endParaRPr lang="en-US" sz="1800" dirty="0"/>
          </a:p>
        </p:txBody>
      </p:sp>
      <p:sp>
        <p:nvSpPr>
          <p:cNvPr id="25" name="Shape 21"/>
          <p:cNvSpPr/>
          <p:nvPr/>
        </p:nvSpPr>
        <p:spPr>
          <a:xfrm>
            <a:off x="10776966" y="2670048"/>
            <a:ext cx="0" cy="256032"/>
          </a:xfrm>
          <a:prstGeom prst="line">
            <a:avLst/>
          </a:prstGeom>
          <a:noFill/>
          <a:ln w="19050">
            <a:solidFill>
              <a:srgbClr val="0D1219"/>
            </a:solidFill>
            <a:prstDash val="solid"/>
          </a:ln>
        </p:spPr>
      </p:sp>
      <p:sp>
        <p:nvSpPr>
          <p:cNvPr id="26" name="Shape 22"/>
          <p:cNvSpPr/>
          <p:nvPr/>
        </p:nvSpPr>
        <p:spPr>
          <a:xfrm flipH="1">
            <a:off x="1411986" y="2926080"/>
            <a:ext cx="9364980" cy="0"/>
          </a:xfrm>
          <a:prstGeom prst="line">
            <a:avLst/>
          </a:prstGeom>
          <a:noFill/>
          <a:ln w="19050">
            <a:solidFill>
              <a:srgbClr val="0D1219"/>
            </a:solidFill>
            <a:prstDash val="solid"/>
          </a:ln>
        </p:spPr>
      </p:sp>
      <p:sp>
        <p:nvSpPr>
          <p:cNvPr id="27" name="Shape 23"/>
          <p:cNvSpPr/>
          <p:nvPr/>
        </p:nvSpPr>
        <p:spPr>
          <a:xfrm flipV="1">
            <a:off x="1411986" y="2724912"/>
            <a:ext cx="0" cy="201168"/>
          </a:xfrm>
          <a:prstGeom prst="line">
            <a:avLst/>
          </a:prstGeom>
          <a:noFill/>
          <a:ln w="19050">
            <a:solidFill>
              <a:srgbClr val="0D1219"/>
            </a:solidFill>
            <a:prstDash val="solid"/>
            <a:tailEnd type="triangle"/>
          </a:ln>
        </p:spPr>
      </p:sp>
      <p:sp>
        <p:nvSpPr>
          <p:cNvPr id="28" name="Text 24"/>
          <p:cNvSpPr/>
          <p:nvPr/>
        </p:nvSpPr>
        <p:spPr>
          <a:xfrm>
            <a:off x="2183892" y="296265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
        <p:nvSpPr>
          <p:cNvPr id="29" name="Text 25"/>
          <p:cNvSpPr txBox="1"/>
          <p:nvPr/>
        </p:nvSpPr>
        <p:spPr>
          <a:xfrm>
            <a:off x="640080" y="3429000"/>
            <a:ext cx="6035040" cy="14630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one index.html, three hand checks.</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board, then battle, then connected. Three checks each.</a:t>
            </a:r>
            <a:endParaRPr lang="en-US" sz="1500" dirty="0"/>
          </a:p>
        </p:txBody>
      </p:sp>
      <p:sp>
        <p:nvSpPr>
          <p:cNvPr id="30" name="Text 26"/>
          <p:cNvSpPr txBox="1"/>
          <p:nvPr/>
        </p:nvSpPr>
        <p:spPr>
          <a:xfrm>
            <a:off x="7040880" y="3429000"/>
            <a:ext cx="448056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QUESTION YOU ASK YOURSELF</a:t>
            </a:r>
            <a:endParaRPr lang="en-US" sz="1100" dirty="0"/>
          </a:p>
        </p:txBody>
      </p:sp>
      <p:sp>
        <p:nvSpPr>
          <p:cNvPr id="31" name="Text 27"/>
          <p:cNvSpPr txBox="1"/>
          <p:nvPr/>
        </p:nvSpPr>
        <p:spPr>
          <a:xfrm>
            <a:off x="7040880" y="3749040"/>
            <a:ext cx="4507992" cy="1188720"/>
          </a:xfrm>
          <a:prstGeom prst="rect">
            <a:avLst/>
          </a:prstGeom>
          <a:noFill/>
          <a:ln/>
        </p:spPr>
        <p:txBody>
          <a:bodyPr wrap="square" lIns="0" tIns="0" rIns="0" bIns="0" rtlCol="0" anchor="t"/>
          <a:lstStyle/>
          <a:p>
            <a:pPr algn="l" indent="0" marL="0">
              <a:lnSpc>
                <a:spcPct val="115000"/>
              </a:lnSpc>
              <a:buNone/>
            </a:pPr>
            <a:r>
              <a:rPr lang="en-US" sz="2000" b="1" dirty="0">
                <a:solidFill>
                  <a:srgbClr val="0D1219"/>
                </a:solidFill>
                <a:latin typeface="Arial" pitchFamily="34" charset="0"/>
                <a:ea typeface="Arial" pitchFamily="34" charset="-122"/>
                <a:cs typeface="Arial" pitchFamily="34" charset="-120"/>
              </a:rPr>
              <a:t>Does the file list match my sketch? Is anything in it I didn’t ask for?</a:t>
            </a:r>
            <a:endParaRPr lang="en-US" sz="2000" dirty="0"/>
          </a:p>
        </p:txBody>
      </p:sp>
      <p:sp>
        <p:nvSpPr>
          <p:cNvPr id="32" name="Shape 28"/>
          <p:cNvSpPr/>
          <p:nvPr/>
        </p:nvSpPr>
        <p:spPr>
          <a:xfrm>
            <a:off x="640080" y="4480560"/>
            <a:ext cx="10908792" cy="1463040"/>
          </a:xfrm>
          <a:prstGeom prst="rect">
            <a:avLst/>
          </a:prstGeom>
          <a:solidFill>
            <a:srgbClr val="121B2B"/>
          </a:solidFill>
          <a:ln w="12700">
            <a:solidFill>
              <a:srgbClr val="EF8B39"/>
            </a:solidFill>
            <a:prstDash val="solid"/>
          </a:ln>
        </p:spPr>
      </p:sp>
      <p:sp>
        <p:nvSpPr>
          <p:cNvPr id="33" name="Text 29"/>
          <p:cNvSpPr/>
          <p:nvPr/>
        </p:nvSpPr>
        <p:spPr>
          <a:xfrm>
            <a:off x="868680" y="46085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THE PLAN PROMPT · docs/plan-first-and-models.md · VERBATIM</a:t>
            </a:r>
            <a:endParaRPr lang="en-US" sz="1100" dirty="0"/>
          </a:p>
        </p:txBody>
      </p:sp>
      <p:sp>
        <p:nvSpPr>
          <p:cNvPr id="34" name="Text 30"/>
          <p:cNvSpPr txBox="1"/>
          <p:nvPr/>
        </p:nvSpPr>
        <p:spPr>
          <a:xfrm>
            <a:off x="868680" y="4937760"/>
            <a:ext cx="10451592" cy="86868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Before you write any code, give me the plan: the files you will create or change, one line on what each does, the order you'll do them in, and three checks I can perform by hand to know it worked. Flag anything in my brief that is bigger than one screen, one input, one result. Do not build yet.</a:t>
            </a:r>
            <a:endParaRPr lang="en-US" sz="1400" dirty="0"/>
          </a:p>
        </p:txBody>
      </p:sp>
      <p:sp>
        <p:nvSpPr>
          <p:cNvPr id="35" name="Text 31"/>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9:14 – 9:17</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Build: ask for the smallest version that could work.</a:t>
            </a:r>
            <a:endParaRPr lang="en-US" sz="3200" dirty="0"/>
          </a:p>
        </p:txBody>
      </p:sp>
      <p:sp>
        <p:nvSpPr>
          <p:cNvPr id="8" name="Shape 4"/>
          <p:cNvSpPr/>
          <p:nvPr/>
        </p:nvSpPr>
        <p:spPr>
          <a:xfrm>
            <a:off x="640080" y="1783080"/>
            <a:ext cx="1543812" cy="868680"/>
          </a:xfrm>
          <a:prstGeom prst="roundRect">
            <a:avLst>
              <a:gd name="adj" fmla="val 8421"/>
            </a:avLst>
          </a:prstGeom>
          <a:solidFill>
            <a:srgbClr val="FFFFFF"/>
          </a:solidFill>
          <a:ln w="15875">
            <a:solidFill>
              <a:srgbClr val="0D1219"/>
            </a:solidFill>
            <a:prstDash val="solid"/>
          </a:ln>
        </p:spPr>
      </p:sp>
      <p:sp>
        <p:nvSpPr>
          <p:cNvPr id="9" name="Text 5"/>
          <p:cNvSpPr/>
          <p:nvPr/>
        </p:nvSpPr>
        <p:spPr>
          <a:xfrm>
            <a:off x="64008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DESCRIBE</a:t>
            </a:r>
            <a:endParaRPr lang="en-US" sz="1800" dirty="0"/>
          </a:p>
        </p:txBody>
      </p:sp>
      <p:sp>
        <p:nvSpPr>
          <p:cNvPr id="10" name="Shape 6"/>
          <p:cNvSpPr/>
          <p:nvPr/>
        </p:nvSpPr>
        <p:spPr>
          <a:xfrm>
            <a:off x="2220468" y="2217420"/>
            <a:ext cx="256032" cy="0"/>
          </a:xfrm>
          <a:prstGeom prst="line">
            <a:avLst/>
          </a:prstGeom>
          <a:noFill/>
          <a:ln w="19050">
            <a:solidFill>
              <a:srgbClr val="0D1219"/>
            </a:solidFill>
            <a:prstDash val="solid"/>
            <a:tailEnd type="triangle"/>
          </a:ln>
        </p:spPr>
      </p:sp>
      <p:sp>
        <p:nvSpPr>
          <p:cNvPr id="11" name="Shape 7"/>
          <p:cNvSpPr/>
          <p:nvPr/>
        </p:nvSpPr>
        <p:spPr>
          <a:xfrm>
            <a:off x="2513076" y="1783080"/>
            <a:ext cx="1543812" cy="868680"/>
          </a:xfrm>
          <a:prstGeom prst="roundRect">
            <a:avLst>
              <a:gd name="adj" fmla="val 8421"/>
            </a:avLst>
          </a:prstGeom>
          <a:solidFill>
            <a:srgbClr val="FFFFFF"/>
          </a:solidFill>
          <a:ln w="15875">
            <a:solidFill>
              <a:srgbClr val="0D1219"/>
            </a:solidFill>
            <a:prstDash val="solid"/>
          </a:ln>
        </p:spPr>
      </p:sp>
      <p:sp>
        <p:nvSpPr>
          <p:cNvPr id="12" name="Text 8"/>
          <p:cNvSpPr/>
          <p:nvPr/>
        </p:nvSpPr>
        <p:spPr>
          <a:xfrm>
            <a:off x="2513076"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PLAN</a:t>
            </a:r>
            <a:endParaRPr lang="en-US" sz="1800" dirty="0"/>
          </a:p>
        </p:txBody>
      </p:sp>
      <p:sp>
        <p:nvSpPr>
          <p:cNvPr id="13" name="Shape 9"/>
          <p:cNvSpPr/>
          <p:nvPr/>
        </p:nvSpPr>
        <p:spPr>
          <a:xfrm>
            <a:off x="4093464" y="2217420"/>
            <a:ext cx="256032" cy="0"/>
          </a:xfrm>
          <a:prstGeom prst="line">
            <a:avLst/>
          </a:prstGeom>
          <a:noFill/>
          <a:ln w="19050">
            <a:solidFill>
              <a:srgbClr val="0D1219"/>
            </a:solidFill>
            <a:prstDash val="solid"/>
            <a:tailEnd type="triangle"/>
          </a:ln>
        </p:spPr>
      </p:sp>
      <p:sp>
        <p:nvSpPr>
          <p:cNvPr id="14" name="Shape 10"/>
          <p:cNvSpPr/>
          <p:nvPr/>
        </p:nvSpPr>
        <p:spPr>
          <a:xfrm>
            <a:off x="4386072" y="1783080"/>
            <a:ext cx="1543812" cy="868680"/>
          </a:xfrm>
          <a:prstGeom prst="roundRect">
            <a:avLst>
              <a:gd name="adj" fmla="val 8421"/>
            </a:avLst>
          </a:prstGeom>
          <a:solidFill>
            <a:srgbClr val="EF8B39"/>
          </a:solidFill>
          <a:ln w="12700">
            <a:solidFill>
              <a:srgbClr val="EF8B39"/>
            </a:solidFill>
            <a:prstDash val="solid"/>
          </a:ln>
        </p:spPr>
      </p:sp>
      <p:sp>
        <p:nvSpPr>
          <p:cNvPr id="15" name="Text 11"/>
          <p:cNvSpPr/>
          <p:nvPr/>
        </p:nvSpPr>
        <p:spPr>
          <a:xfrm>
            <a:off x="4386072" y="1783080"/>
            <a:ext cx="1543812"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BUILD</a:t>
            </a:r>
            <a:endParaRPr lang="en-US" sz="1800" dirty="0"/>
          </a:p>
        </p:txBody>
      </p:sp>
      <p:sp>
        <p:nvSpPr>
          <p:cNvPr id="16" name="Shape 12"/>
          <p:cNvSpPr/>
          <p:nvPr/>
        </p:nvSpPr>
        <p:spPr>
          <a:xfrm>
            <a:off x="5966460" y="2217420"/>
            <a:ext cx="256032" cy="0"/>
          </a:xfrm>
          <a:prstGeom prst="line">
            <a:avLst/>
          </a:prstGeom>
          <a:noFill/>
          <a:ln w="19050">
            <a:solidFill>
              <a:srgbClr val="0D1219"/>
            </a:solidFill>
            <a:prstDash val="solid"/>
            <a:tailEnd type="triangle"/>
          </a:ln>
        </p:spPr>
      </p:sp>
      <p:sp>
        <p:nvSpPr>
          <p:cNvPr id="17" name="Shape 13"/>
          <p:cNvSpPr/>
          <p:nvPr/>
        </p:nvSpPr>
        <p:spPr>
          <a:xfrm>
            <a:off x="6259068" y="1783080"/>
            <a:ext cx="1543812" cy="868680"/>
          </a:xfrm>
          <a:prstGeom prst="roundRect">
            <a:avLst>
              <a:gd name="adj" fmla="val 8421"/>
            </a:avLst>
          </a:prstGeom>
          <a:solidFill>
            <a:srgbClr val="FFFFFF"/>
          </a:solidFill>
          <a:ln w="15875">
            <a:solidFill>
              <a:srgbClr val="0D1219"/>
            </a:solidFill>
            <a:prstDash val="solid"/>
          </a:ln>
        </p:spPr>
      </p:sp>
      <p:sp>
        <p:nvSpPr>
          <p:cNvPr id="18" name="Text 14"/>
          <p:cNvSpPr/>
          <p:nvPr/>
        </p:nvSpPr>
        <p:spPr>
          <a:xfrm>
            <a:off x="6259068"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CHECK</a:t>
            </a:r>
            <a:endParaRPr lang="en-US" sz="1800" dirty="0"/>
          </a:p>
        </p:txBody>
      </p:sp>
      <p:sp>
        <p:nvSpPr>
          <p:cNvPr id="19" name="Shape 15"/>
          <p:cNvSpPr/>
          <p:nvPr/>
        </p:nvSpPr>
        <p:spPr>
          <a:xfrm>
            <a:off x="7839456" y="2217420"/>
            <a:ext cx="256032" cy="0"/>
          </a:xfrm>
          <a:prstGeom prst="line">
            <a:avLst/>
          </a:prstGeom>
          <a:noFill/>
          <a:ln w="19050">
            <a:solidFill>
              <a:srgbClr val="0D1219"/>
            </a:solidFill>
            <a:prstDash val="solid"/>
            <a:tailEnd type="triangle"/>
          </a:ln>
        </p:spPr>
      </p:sp>
      <p:sp>
        <p:nvSpPr>
          <p:cNvPr id="20" name="Shape 16"/>
          <p:cNvSpPr/>
          <p:nvPr/>
        </p:nvSpPr>
        <p:spPr>
          <a:xfrm>
            <a:off x="8132064" y="1783080"/>
            <a:ext cx="1543812" cy="868680"/>
          </a:xfrm>
          <a:prstGeom prst="roundRect">
            <a:avLst>
              <a:gd name="adj" fmla="val 8421"/>
            </a:avLst>
          </a:prstGeom>
          <a:solidFill>
            <a:srgbClr val="FFFFFF"/>
          </a:solidFill>
          <a:ln w="15875">
            <a:solidFill>
              <a:srgbClr val="0D1219"/>
            </a:solidFill>
            <a:prstDash val="solid"/>
          </a:ln>
        </p:spPr>
      </p:sp>
      <p:sp>
        <p:nvSpPr>
          <p:cNvPr id="21" name="Text 17"/>
          <p:cNvSpPr/>
          <p:nvPr/>
        </p:nvSpPr>
        <p:spPr>
          <a:xfrm>
            <a:off x="8132064"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SAVE</a:t>
            </a:r>
            <a:endParaRPr lang="en-US" sz="1800" dirty="0"/>
          </a:p>
        </p:txBody>
      </p:sp>
      <p:sp>
        <p:nvSpPr>
          <p:cNvPr id="22" name="Shape 18"/>
          <p:cNvSpPr/>
          <p:nvPr/>
        </p:nvSpPr>
        <p:spPr>
          <a:xfrm>
            <a:off x="9712452" y="2217420"/>
            <a:ext cx="256032" cy="0"/>
          </a:xfrm>
          <a:prstGeom prst="line">
            <a:avLst/>
          </a:prstGeom>
          <a:noFill/>
          <a:ln w="19050">
            <a:solidFill>
              <a:srgbClr val="0D1219"/>
            </a:solidFill>
            <a:prstDash val="solid"/>
            <a:tailEnd type="triangle"/>
          </a:ln>
        </p:spPr>
      </p:sp>
      <p:sp>
        <p:nvSpPr>
          <p:cNvPr id="23" name="Shape 19"/>
          <p:cNvSpPr/>
          <p:nvPr/>
        </p:nvSpPr>
        <p:spPr>
          <a:xfrm>
            <a:off x="10005060" y="1783080"/>
            <a:ext cx="1543812" cy="868680"/>
          </a:xfrm>
          <a:prstGeom prst="roundRect">
            <a:avLst>
              <a:gd name="adj" fmla="val 8421"/>
            </a:avLst>
          </a:prstGeom>
          <a:solidFill>
            <a:srgbClr val="FFFFFF"/>
          </a:solidFill>
          <a:ln w="15875">
            <a:solidFill>
              <a:srgbClr val="0D1219"/>
            </a:solidFill>
            <a:prstDash val="solid"/>
          </a:ln>
        </p:spPr>
      </p:sp>
      <p:sp>
        <p:nvSpPr>
          <p:cNvPr id="24" name="Text 20"/>
          <p:cNvSpPr/>
          <p:nvPr/>
        </p:nvSpPr>
        <p:spPr>
          <a:xfrm>
            <a:off x="1000506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PUBLISH</a:t>
            </a:r>
            <a:endParaRPr lang="en-US" sz="1800" dirty="0"/>
          </a:p>
        </p:txBody>
      </p:sp>
      <p:sp>
        <p:nvSpPr>
          <p:cNvPr id="25" name="Shape 21"/>
          <p:cNvSpPr/>
          <p:nvPr/>
        </p:nvSpPr>
        <p:spPr>
          <a:xfrm>
            <a:off x="10776966" y="2670048"/>
            <a:ext cx="0" cy="256032"/>
          </a:xfrm>
          <a:prstGeom prst="line">
            <a:avLst/>
          </a:prstGeom>
          <a:noFill/>
          <a:ln w="19050">
            <a:solidFill>
              <a:srgbClr val="0D1219"/>
            </a:solidFill>
            <a:prstDash val="solid"/>
          </a:ln>
        </p:spPr>
      </p:sp>
      <p:sp>
        <p:nvSpPr>
          <p:cNvPr id="26" name="Shape 22"/>
          <p:cNvSpPr/>
          <p:nvPr/>
        </p:nvSpPr>
        <p:spPr>
          <a:xfrm flipH="1">
            <a:off x="1411986" y="2926080"/>
            <a:ext cx="9364980" cy="0"/>
          </a:xfrm>
          <a:prstGeom prst="line">
            <a:avLst/>
          </a:prstGeom>
          <a:noFill/>
          <a:ln w="19050">
            <a:solidFill>
              <a:srgbClr val="0D1219"/>
            </a:solidFill>
            <a:prstDash val="solid"/>
          </a:ln>
        </p:spPr>
      </p:sp>
      <p:sp>
        <p:nvSpPr>
          <p:cNvPr id="27" name="Shape 23"/>
          <p:cNvSpPr/>
          <p:nvPr/>
        </p:nvSpPr>
        <p:spPr>
          <a:xfrm flipV="1">
            <a:off x="1411986" y="2724912"/>
            <a:ext cx="0" cy="201168"/>
          </a:xfrm>
          <a:prstGeom prst="line">
            <a:avLst/>
          </a:prstGeom>
          <a:noFill/>
          <a:ln w="19050">
            <a:solidFill>
              <a:srgbClr val="0D1219"/>
            </a:solidFill>
            <a:prstDash val="solid"/>
            <a:tailEnd type="triangle"/>
          </a:ln>
        </p:spPr>
      </p:sp>
      <p:sp>
        <p:nvSpPr>
          <p:cNvPr id="28" name="Text 24"/>
          <p:cNvSpPr/>
          <p:nvPr/>
        </p:nvSpPr>
        <p:spPr>
          <a:xfrm>
            <a:off x="2183892" y="296265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
        <p:nvSpPr>
          <p:cNvPr id="29" name="Text 25"/>
          <p:cNvSpPr txBox="1"/>
          <p:nvPr/>
        </p:nvSpPr>
        <p:spPr>
          <a:xfrm>
            <a:off x="640080" y="3429000"/>
            <a:ext cx="6035040" cy="14630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the whole page, with your words in it. Nothing else yet.</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the board alone, with two stand-in buttons for the battle.</a:t>
            </a:r>
            <a:endParaRPr lang="en-US" sz="1500" dirty="0"/>
          </a:p>
        </p:txBody>
      </p:sp>
      <p:sp>
        <p:nvSpPr>
          <p:cNvPr id="30" name="Text 26"/>
          <p:cNvSpPr txBox="1"/>
          <p:nvPr/>
        </p:nvSpPr>
        <p:spPr>
          <a:xfrm>
            <a:off x="7040880" y="3429000"/>
            <a:ext cx="448056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QUESTION YOU ASK YOURSELF</a:t>
            </a:r>
            <a:endParaRPr lang="en-US" sz="1100" dirty="0"/>
          </a:p>
        </p:txBody>
      </p:sp>
      <p:sp>
        <p:nvSpPr>
          <p:cNvPr id="31" name="Text 27"/>
          <p:cNvSpPr txBox="1"/>
          <p:nvPr/>
        </p:nvSpPr>
        <p:spPr>
          <a:xfrm>
            <a:off x="7040880" y="3749040"/>
            <a:ext cx="4507992" cy="1188720"/>
          </a:xfrm>
          <a:prstGeom prst="rect">
            <a:avLst/>
          </a:prstGeom>
          <a:noFill/>
          <a:ln/>
        </p:spPr>
        <p:txBody>
          <a:bodyPr wrap="square" lIns="0" tIns="0" rIns="0" bIns="0" rtlCol="0" anchor="t"/>
          <a:lstStyle/>
          <a:p>
            <a:pPr algn="l" indent="0" marL="0">
              <a:lnSpc>
                <a:spcPct val="115000"/>
              </a:lnSpc>
              <a:buNone/>
            </a:pPr>
            <a:r>
              <a:rPr lang="en-US" sz="2000" b="1" dirty="0">
                <a:solidFill>
                  <a:srgbClr val="0D1219"/>
                </a:solidFill>
                <a:latin typeface="Arial" pitchFamily="34" charset="0"/>
                <a:ea typeface="Arial" pitchFamily="34" charset="-122"/>
                <a:cs typeface="Arial" pitchFamily="34" charset="-120"/>
              </a:rPr>
              <a:t>What is the smallest thing I can check in five minutes?</a:t>
            </a:r>
            <a:endParaRPr lang="en-US" sz="2000" dirty="0"/>
          </a:p>
        </p:txBody>
      </p:sp>
      <p:sp>
        <p:nvSpPr>
          <p:cNvPr id="32" name="Text 2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9:14 – 9:17</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Check: open it, click it, phone it.</a:t>
            </a:r>
            <a:endParaRPr lang="en-US" sz="3200" dirty="0"/>
          </a:p>
        </p:txBody>
      </p:sp>
      <p:sp>
        <p:nvSpPr>
          <p:cNvPr id="8" name="Shape 4"/>
          <p:cNvSpPr/>
          <p:nvPr/>
        </p:nvSpPr>
        <p:spPr>
          <a:xfrm>
            <a:off x="640080" y="1783080"/>
            <a:ext cx="1543812" cy="868680"/>
          </a:xfrm>
          <a:prstGeom prst="roundRect">
            <a:avLst>
              <a:gd name="adj" fmla="val 8421"/>
            </a:avLst>
          </a:prstGeom>
          <a:solidFill>
            <a:srgbClr val="FFFFFF"/>
          </a:solidFill>
          <a:ln w="15875">
            <a:solidFill>
              <a:srgbClr val="0D1219"/>
            </a:solidFill>
            <a:prstDash val="solid"/>
          </a:ln>
        </p:spPr>
      </p:sp>
      <p:sp>
        <p:nvSpPr>
          <p:cNvPr id="9" name="Text 5"/>
          <p:cNvSpPr/>
          <p:nvPr/>
        </p:nvSpPr>
        <p:spPr>
          <a:xfrm>
            <a:off x="64008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DESCRIBE</a:t>
            </a:r>
            <a:endParaRPr lang="en-US" sz="1800" dirty="0"/>
          </a:p>
        </p:txBody>
      </p:sp>
      <p:sp>
        <p:nvSpPr>
          <p:cNvPr id="10" name="Shape 6"/>
          <p:cNvSpPr/>
          <p:nvPr/>
        </p:nvSpPr>
        <p:spPr>
          <a:xfrm>
            <a:off x="2220468" y="2217420"/>
            <a:ext cx="256032" cy="0"/>
          </a:xfrm>
          <a:prstGeom prst="line">
            <a:avLst/>
          </a:prstGeom>
          <a:noFill/>
          <a:ln w="19050">
            <a:solidFill>
              <a:srgbClr val="0D1219"/>
            </a:solidFill>
            <a:prstDash val="solid"/>
            <a:tailEnd type="triangle"/>
          </a:ln>
        </p:spPr>
      </p:sp>
      <p:sp>
        <p:nvSpPr>
          <p:cNvPr id="11" name="Shape 7"/>
          <p:cNvSpPr/>
          <p:nvPr/>
        </p:nvSpPr>
        <p:spPr>
          <a:xfrm>
            <a:off x="2513076" y="1783080"/>
            <a:ext cx="1543812" cy="868680"/>
          </a:xfrm>
          <a:prstGeom prst="roundRect">
            <a:avLst>
              <a:gd name="adj" fmla="val 8421"/>
            </a:avLst>
          </a:prstGeom>
          <a:solidFill>
            <a:srgbClr val="FFFFFF"/>
          </a:solidFill>
          <a:ln w="15875">
            <a:solidFill>
              <a:srgbClr val="0D1219"/>
            </a:solidFill>
            <a:prstDash val="solid"/>
          </a:ln>
        </p:spPr>
      </p:sp>
      <p:sp>
        <p:nvSpPr>
          <p:cNvPr id="12" name="Text 8"/>
          <p:cNvSpPr/>
          <p:nvPr/>
        </p:nvSpPr>
        <p:spPr>
          <a:xfrm>
            <a:off x="2513076"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PLAN</a:t>
            </a:r>
            <a:endParaRPr lang="en-US" sz="1800" dirty="0"/>
          </a:p>
        </p:txBody>
      </p:sp>
      <p:sp>
        <p:nvSpPr>
          <p:cNvPr id="13" name="Shape 9"/>
          <p:cNvSpPr/>
          <p:nvPr/>
        </p:nvSpPr>
        <p:spPr>
          <a:xfrm>
            <a:off x="4093464" y="2217420"/>
            <a:ext cx="256032" cy="0"/>
          </a:xfrm>
          <a:prstGeom prst="line">
            <a:avLst/>
          </a:prstGeom>
          <a:noFill/>
          <a:ln w="19050">
            <a:solidFill>
              <a:srgbClr val="0D1219"/>
            </a:solidFill>
            <a:prstDash val="solid"/>
            <a:tailEnd type="triangle"/>
          </a:ln>
        </p:spPr>
      </p:sp>
      <p:sp>
        <p:nvSpPr>
          <p:cNvPr id="14" name="Shape 10"/>
          <p:cNvSpPr/>
          <p:nvPr/>
        </p:nvSpPr>
        <p:spPr>
          <a:xfrm>
            <a:off x="4386072" y="1783080"/>
            <a:ext cx="1543812" cy="868680"/>
          </a:xfrm>
          <a:prstGeom prst="roundRect">
            <a:avLst>
              <a:gd name="adj" fmla="val 8421"/>
            </a:avLst>
          </a:prstGeom>
          <a:solidFill>
            <a:srgbClr val="FFFFFF"/>
          </a:solidFill>
          <a:ln w="15875">
            <a:solidFill>
              <a:srgbClr val="0D1219"/>
            </a:solidFill>
            <a:prstDash val="solid"/>
          </a:ln>
        </p:spPr>
      </p:sp>
      <p:sp>
        <p:nvSpPr>
          <p:cNvPr id="15" name="Text 11"/>
          <p:cNvSpPr/>
          <p:nvPr/>
        </p:nvSpPr>
        <p:spPr>
          <a:xfrm>
            <a:off x="4386072"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16" name="Shape 12"/>
          <p:cNvSpPr/>
          <p:nvPr/>
        </p:nvSpPr>
        <p:spPr>
          <a:xfrm>
            <a:off x="5966460" y="2217420"/>
            <a:ext cx="256032" cy="0"/>
          </a:xfrm>
          <a:prstGeom prst="line">
            <a:avLst/>
          </a:prstGeom>
          <a:noFill/>
          <a:ln w="19050">
            <a:solidFill>
              <a:srgbClr val="0D1219"/>
            </a:solidFill>
            <a:prstDash val="solid"/>
            <a:tailEnd type="triangle"/>
          </a:ln>
        </p:spPr>
      </p:sp>
      <p:sp>
        <p:nvSpPr>
          <p:cNvPr id="17" name="Shape 13"/>
          <p:cNvSpPr/>
          <p:nvPr/>
        </p:nvSpPr>
        <p:spPr>
          <a:xfrm>
            <a:off x="6259068" y="1783080"/>
            <a:ext cx="1543812" cy="868680"/>
          </a:xfrm>
          <a:prstGeom prst="roundRect">
            <a:avLst>
              <a:gd name="adj" fmla="val 8421"/>
            </a:avLst>
          </a:prstGeom>
          <a:solidFill>
            <a:srgbClr val="EF8B39"/>
          </a:solidFill>
          <a:ln w="12700">
            <a:solidFill>
              <a:srgbClr val="EF8B39"/>
            </a:solidFill>
            <a:prstDash val="solid"/>
          </a:ln>
        </p:spPr>
      </p:sp>
      <p:sp>
        <p:nvSpPr>
          <p:cNvPr id="18" name="Text 14"/>
          <p:cNvSpPr/>
          <p:nvPr/>
        </p:nvSpPr>
        <p:spPr>
          <a:xfrm>
            <a:off x="6259068" y="1783080"/>
            <a:ext cx="1543812"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CHECK</a:t>
            </a:r>
            <a:endParaRPr lang="en-US" sz="1800" dirty="0"/>
          </a:p>
        </p:txBody>
      </p:sp>
      <p:sp>
        <p:nvSpPr>
          <p:cNvPr id="19" name="Shape 15"/>
          <p:cNvSpPr/>
          <p:nvPr/>
        </p:nvSpPr>
        <p:spPr>
          <a:xfrm>
            <a:off x="7839456" y="2217420"/>
            <a:ext cx="256032" cy="0"/>
          </a:xfrm>
          <a:prstGeom prst="line">
            <a:avLst/>
          </a:prstGeom>
          <a:noFill/>
          <a:ln w="19050">
            <a:solidFill>
              <a:srgbClr val="0D1219"/>
            </a:solidFill>
            <a:prstDash val="solid"/>
            <a:tailEnd type="triangle"/>
          </a:ln>
        </p:spPr>
      </p:sp>
      <p:sp>
        <p:nvSpPr>
          <p:cNvPr id="20" name="Shape 16"/>
          <p:cNvSpPr/>
          <p:nvPr/>
        </p:nvSpPr>
        <p:spPr>
          <a:xfrm>
            <a:off x="8132064" y="1783080"/>
            <a:ext cx="1543812" cy="868680"/>
          </a:xfrm>
          <a:prstGeom prst="roundRect">
            <a:avLst>
              <a:gd name="adj" fmla="val 8421"/>
            </a:avLst>
          </a:prstGeom>
          <a:solidFill>
            <a:srgbClr val="FFFFFF"/>
          </a:solidFill>
          <a:ln w="15875">
            <a:solidFill>
              <a:srgbClr val="0D1219"/>
            </a:solidFill>
            <a:prstDash val="solid"/>
          </a:ln>
        </p:spPr>
      </p:sp>
      <p:sp>
        <p:nvSpPr>
          <p:cNvPr id="21" name="Text 17"/>
          <p:cNvSpPr/>
          <p:nvPr/>
        </p:nvSpPr>
        <p:spPr>
          <a:xfrm>
            <a:off x="8132064"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SAVE</a:t>
            </a:r>
            <a:endParaRPr lang="en-US" sz="1800" dirty="0"/>
          </a:p>
        </p:txBody>
      </p:sp>
      <p:sp>
        <p:nvSpPr>
          <p:cNvPr id="22" name="Shape 18"/>
          <p:cNvSpPr/>
          <p:nvPr/>
        </p:nvSpPr>
        <p:spPr>
          <a:xfrm>
            <a:off x="9712452" y="2217420"/>
            <a:ext cx="256032" cy="0"/>
          </a:xfrm>
          <a:prstGeom prst="line">
            <a:avLst/>
          </a:prstGeom>
          <a:noFill/>
          <a:ln w="19050">
            <a:solidFill>
              <a:srgbClr val="0D1219"/>
            </a:solidFill>
            <a:prstDash val="solid"/>
            <a:tailEnd type="triangle"/>
          </a:ln>
        </p:spPr>
      </p:sp>
      <p:sp>
        <p:nvSpPr>
          <p:cNvPr id="23" name="Shape 19"/>
          <p:cNvSpPr/>
          <p:nvPr/>
        </p:nvSpPr>
        <p:spPr>
          <a:xfrm>
            <a:off x="10005060" y="1783080"/>
            <a:ext cx="1543812" cy="868680"/>
          </a:xfrm>
          <a:prstGeom prst="roundRect">
            <a:avLst>
              <a:gd name="adj" fmla="val 8421"/>
            </a:avLst>
          </a:prstGeom>
          <a:solidFill>
            <a:srgbClr val="FFFFFF"/>
          </a:solidFill>
          <a:ln w="15875">
            <a:solidFill>
              <a:srgbClr val="0D1219"/>
            </a:solidFill>
            <a:prstDash val="solid"/>
          </a:ln>
        </p:spPr>
      </p:sp>
      <p:sp>
        <p:nvSpPr>
          <p:cNvPr id="24" name="Text 20"/>
          <p:cNvSpPr/>
          <p:nvPr/>
        </p:nvSpPr>
        <p:spPr>
          <a:xfrm>
            <a:off x="1000506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PUBLISH</a:t>
            </a:r>
            <a:endParaRPr lang="en-US" sz="1800" dirty="0"/>
          </a:p>
        </p:txBody>
      </p:sp>
      <p:sp>
        <p:nvSpPr>
          <p:cNvPr id="25" name="Shape 21"/>
          <p:cNvSpPr/>
          <p:nvPr/>
        </p:nvSpPr>
        <p:spPr>
          <a:xfrm>
            <a:off x="10776966" y="2670048"/>
            <a:ext cx="0" cy="256032"/>
          </a:xfrm>
          <a:prstGeom prst="line">
            <a:avLst/>
          </a:prstGeom>
          <a:noFill/>
          <a:ln w="19050">
            <a:solidFill>
              <a:srgbClr val="0D1219"/>
            </a:solidFill>
            <a:prstDash val="solid"/>
          </a:ln>
        </p:spPr>
      </p:sp>
      <p:sp>
        <p:nvSpPr>
          <p:cNvPr id="26" name="Shape 22"/>
          <p:cNvSpPr/>
          <p:nvPr/>
        </p:nvSpPr>
        <p:spPr>
          <a:xfrm flipH="1">
            <a:off x="1411986" y="2926080"/>
            <a:ext cx="9364980" cy="0"/>
          </a:xfrm>
          <a:prstGeom prst="line">
            <a:avLst/>
          </a:prstGeom>
          <a:noFill/>
          <a:ln w="19050">
            <a:solidFill>
              <a:srgbClr val="0D1219"/>
            </a:solidFill>
            <a:prstDash val="solid"/>
          </a:ln>
        </p:spPr>
      </p:sp>
      <p:sp>
        <p:nvSpPr>
          <p:cNvPr id="27" name="Shape 23"/>
          <p:cNvSpPr/>
          <p:nvPr/>
        </p:nvSpPr>
        <p:spPr>
          <a:xfrm flipV="1">
            <a:off x="1411986" y="2724912"/>
            <a:ext cx="0" cy="201168"/>
          </a:xfrm>
          <a:prstGeom prst="line">
            <a:avLst/>
          </a:prstGeom>
          <a:noFill/>
          <a:ln w="19050">
            <a:solidFill>
              <a:srgbClr val="0D1219"/>
            </a:solidFill>
            <a:prstDash val="solid"/>
            <a:tailEnd type="triangle"/>
          </a:ln>
        </p:spPr>
      </p:sp>
      <p:sp>
        <p:nvSpPr>
          <p:cNvPr id="28" name="Text 24"/>
          <p:cNvSpPr/>
          <p:nvPr/>
        </p:nvSpPr>
        <p:spPr>
          <a:xfrm>
            <a:off x="2183892" y="296265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
        <p:nvSpPr>
          <p:cNvPr id="29" name="Text 25"/>
          <p:cNvSpPr txBox="1"/>
          <p:nvPr/>
        </p:nvSpPr>
        <p:spPr>
          <a:xfrm>
            <a:off x="640080" y="3429000"/>
            <a:ext cx="6035040" cy="14630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every link, fits a phone, print preview, no “Jordan” anywhere.</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win, lose, draw, and Restart, each seen once.</a:t>
            </a:r>
            <a:endParaRPr lang="en-US" sz="1500" dirty="0"/>
          </a:p>
        </p:txBody>
      </p:sp>
      <p:sp>
        <p:nvSpPr>
          <p:cNvPr id="30" name="Text 26"/>
          <p:cNvSpPr txBox="1"/>
          <p:nvPr/>
        </p:nvSpPr>
        <p:spPr>
          <a:xfrm>
            <a:off x="7040880" y="3429000"/>
            <a:ext cx="448056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QUESTION YOU ASK YOURSELF</a:t>
            </a:r>
            <a:endParaRPr lang="en-US" sz="1100" dirty="0"/>
          </a:p>
        </p:txBody>
      </p:sp>
      <p:sp>
        <p:nvSpPr>
          <p:cNvPr id="31" name="Text 27"/>
          <p:cNvSpPr txBox="1"/>
          <p:nvPr/>
        </p:nvSpPr>
        <p:spPr>
          <a:xfrm>
            <a:off x="7040880" y="3749040"/>
            <a:ext cx="4507992" cy="1188720"/>
          </a:xfrm>
          <a:prstGeom prst="rect">
            <a:avLst/>
          </a:prstGeom>
          <a:noFill/>
          <a:ln/>
        </p:spPr>
        <p:txBody>
          <a:bodyPr wrap="square" lIns="0" tIns="0" rIns="0" bIns="0" rtlCol="0" anchor="t"/>
          <a:lstStyle/>
          <a:p>
            <a:pPr algn="l" indent="0" marL="0">
              <a:lnSpc>
                <a:spcPct val="115000"/>
              </a:lnSpc>
              <a:buNone/>
            </a:pPr>
            <a:r>
              <a:rPr lang="en-US" sz="2000" b="1" dirty="0">
                <a:solidFill>
                  <a:srgbClr val="0D1219"/>
                </a:solidFill>
                <a:latin typeface="Arial" pitchFamily="34" charset="0"/>
                <a:ea typeface="Arial" pitchFamily="34" charset="-122"/>
                <a:cs typeface="Arial" pitchFamily="34" charset="-120"/>
              </a:rPr>
              <a:t>What did I actually see, not what did the chatbot say?</a:t>
            </a:r>
            <a:endParaRPr lang="en-US" sz="2000" dirty="0"/>
          </a:p>
        </p:txBody>
      </p:sp>
      <p:sp>
        <p:nvSpPr>
          <p:cNvPr id="32" name="Text 2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9:14 – 9:17</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Save: keep the version that passed, with a name.</a:t>
            </a:r>
            <a:endParaRPr lang="en-US" sz="3200" dirty="0"/>
          </a:p>
        </p:txBody>
      </p:sp>
      <p:sp>
        <p:nvSpPr>
          <p:cNvPr id="8" name="Shape 4"/>
          <p:cNvSpPr/>
          <p:nvPr/>
        </p:nvSpPr>
        <p:spPr>
          <a:xfrm>
            <a:off x="640080" y="1783080"/>
            <a:ext cx="1543812" cy="868680"/>
          </a:xfrm>
          <a:prstGeom prst="roundRect">
            <a:avLst>
              <a:gd name="adj" fmla="val 8421"/>
            </a:avLst>
          </a:prstGeom>
          <a:solidFill>
            <a:srgbClr val="FFFFFF"/>
          </a:solidFill>
          <a:ln w="15875">
            <a:solidFill>
              <a:srgbClr val="0D1219"/>
            </a:solidFill>
            <a:prstDash val="solid"/>
          </a:ln>
        </p:spPr>
      </p:sp>
      <p:sp>
        <p:nvSpPr>
          <p:cNvPr id="9" name="Text 5"/>
          <p:cNvSpPr/>
          <p:nvPr/>
        </p:nvSpPr>
        <p:spPr>
          <a:xfrm>
            <a:off x="64008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DESCRIBE</a:t>
            </a:r>
            <a:endParaRPr lang="en-US" sz="1800" dirty="0"/>
          </a:p>
        </p:txBody>
      </p:sp>
      <p:sp>
        <p:nvSpPr>
          <p:cNvPr id="10" name="Shape 6"/>
          <p:cNvSpPr/>
          <p:nvPr/>
        </p:nvSpPr>
        <p:spPr>
          <a:xfrm>
            <a:off x="2220468" y="2217420"/>
            <a:ext cx="256032" cy="0"/>
          </a:xfrm>
          <a:prstGeom prst="line">
            <a:avLst/>
          </a:prstGeom>
          <a:noFill/>
          <a:ln w="19050">
            <a:solidFill>
              <a:srgbClr val="0D1219"/>
            </a:solidFill>
            <a:prstDash val="solid"/>
            <a:tailEnd type="triangle"/>
          </a:ln>
        </p:spPr>
      </p:sp>
      <p:sp>
        <p:nvSpPr>
          <p:cNvPr id="11" name="Shape 7"/>
          <p:cNvSpPr/>
          <p:nvPr/>
        </p:nvSpPr>
        <p:spPr>
          <a:xfrm>
            <a:off x="2513076" y="1783080"/>
            <a:ext cx="1543812" cy="868680"/>
          </a:xfrm>
          <a:prstGeom prst="roundRect">
            <a:avLst>
              <a:gd name="adj" fmla="val 8421"/>
            </a:avLst>
          </a:prstGeom>
          <a:solidFill>
            <a:srgbClr val="FFFFFF"/>
          </a:solidFill>
          <a:ln w="15875">
            <a:solidFill>
              <a:srgbClr val="0D1219"/>
            </a:solidFill>
            <a:prstDash val="solid"/>
          </a:ln>
        </p:spPr>
      </p:sp>
      <p:sp>
        <p:nvSpPr>
          <p:cNvPr id="12" name="Text 8"/>
          <p:cNvSpPr/>
          <p:nvPr/>
        </p:nvSpPr>
        <p:spPr>
          <a:xfrm>
            <a:off x="2513076"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PLAN</a:t>
            </a:r>
            <a:endParaRPr lang="en-US" sz="1800" dirty="0"/>
          </a:p>
        </p:txBody>
      </p:sp>
      <p:sp>
        <p:nvSpPr>
          <p:cNvPr id="13" name="Shape 9"/>
          <p:cNvSpPr/>
          <p:nvPr/>
        </p:nvSpPr>
        <p:spPr>
          <a:xfrm>
            <a:off x="4093464" y="2217420"/>
            <a:ext cx="256032" cy="0"/>
          </a:xfrm>
          <a:prstGeom prst="line">
            <a:avLst/>
          </a:prstGeom>
          <a:noFill/>
          <a:ln w="19050">
            <a:solidFill>
              <a:srgbClr val="0D1219"/>
            </a:solidFill>
            <a:prstDash val="solid"/>
            <a:tailEnd type="triangle"/>
          </a:ln>
        </p:spPr>
      </p:sp>
      <p:sp>
        <p:nvSpPr>
          <p:cNvPr id="14" name="Shape 10"/>
          <p:cNvSpPr/>
          <p:nvPr/>
        </p:nvSpPr>
        <p:spPr>
          <a:xfrm>
            <a:off x="4386072" y="1783080"/>
            <a:ext cx="1543812" cy="868680"/>
          </a:xfrm>
          <a:prstGeom prst="roundRect">
            <a:avLst>
              <a:gd name="adj" fmla="val 8421"/>
            </a:avLst>
          </a:prstGeom>
          <a:solidFill>
            <a:srgbClr val="FFFFFF"/>
          </a:solidFill>
          <a:ln w="15875">
            <a:solidFill>
              <a:srgbClr val="0D1219"/>
            </a:solidFill>
            <a:prstDash val="solid"/>
          </a:ln>
        </p:spPr>
      </p:sp>
      <p:sp>
        <p:nvSpPr>
          <p:cNvPr id="15" name="Text 11"/>
          <p:cNvSpPr/>
          <p:nvPr/>
        </p:nvSpPr>
        <p:spPr>
          <a:xfrm>
            <a:off x="4386072"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16" name="Shape 12"/>
          <p:cNvSpPr/>
          <p:nvPr/>
        </p:nvSpPr>
        <p:spPr>
          <a:xfrm>
            <a:off x="5966460" y="2217420"/>
            <a:ext cx="256032" cy="0"/>
          </a:xfrm>
          <a:prstGeom prst="line">
            <a:avLst/>
          </a:prstGeom>
          <a:noFill/>
          <a:ln w="19050">
            <a:solidFill>
              <a:srgbClr val="0D1219"/>
            </a:solidFill>
            <a:prstDash val="solid"/>
            <a:tailEnd type="triangle"/>
          </a:ln>
        </p:spPr>
      </p:sp>
      <p:sp>
        <p:nvSpPr>
          <p:cNvPr id="17" name="Shape 13"/>
          <p:cNvSpPr/>
          <p:nvPr/>
        </p:nvSpPr>
        <p:spPr>
          <a:xfrm>
            <a:off x="6259068" y="1783080"/>
            <a:ext cx="1543812" cy="868680"/>
          </a:xfrm>
          <a:prstGeom prst="roundRect">
            <a:avLst>
              <a:gd name="adj" fmla="val 8421"/>
            </a:avLst>
          </a:prstGeom>
          <a:solidFill>
            <a:srgbClr val="FFFFFF"/>
          </a:solidFill>
          <a:ln w="15875">
            <a:solidFill>
              <a:srgbClr val="0D1219"/>
            </a:solidFill>
            <a:prstDash val="solid"/>
          </a:ln>
        </p:spPr>
      </p:sp>
      <p:sp>
        <p:nvSpPr>
          <p:cNvPr id="18" name="Text 14"/>
          <p:cNvSpPr/>
          <p:nvPr/>
        </p:nvSpPr>
        <p:spPr>
          <a:xfrm>
            <a:off x="6259068"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CHECK</a:t>
            </a:r>
            <a:endParaRPr lang="en-US" sz="1800" dirty="0"/>
          </a:p>
        </p:txBody>
      </p:sp>
      <p:sp>
        <p:nvSpPr>
          <p:cNvPr id="19" name="Shape 15"/>
          <p:cNvSpPr/>
          <p:nvPr/>
        </p:nvSpPr>
        <p:spPr>
          <a:xfrm>
            <a:off x="7839456" y="2217420"/>
            <a:ext cx="256032" cy="0"/>
          </a:xfrm>
          <a:prstGeom prst="line">
            <a:avLst/>
          </a:prstGeom>
          <a:noFill/>
          <a:ln w="19050">
            <a:solidFill>
              <a:srgbClr val="0D1219"/>
            </a:solidFill>
            <a:prstDash val="solid"/>
            <a:tailEnd type="triangle"/>
          </a:ln>
        </p:spPr>
      </p:sp>
      <p:sp>
        <p:nvSpPr>
          <p:cNvPr id="20" name="Shape 16"/>
          <p:cNvSpPr/>
          <p:nvPr/>
        </p:nvSpPr>
        <p:spPr>
          <a:xfrm>
            <a:off x="8132064" y="1783080"/>
            <a:ext cx="1543812" cy="868680"/>
          </a:xfrm>
          <a:prstGeom prst="roundRect">
            <a:avLst>
              <a:gd name="adj" fmla="val 8421"/>
            </a:avLst>
          </a:prstGeom>
          <a:solidFill>
            <a:srgbClr val="EF8B39"/>
          </a:solidFill>
          <a:ln w="12700">
            <a:solidFill>
              <a:srgbClr val="EF8B39"/>
            </a:solidFill>
            <a:prstDash val="solid"/>
          </a:ln>
        </p:spPr>
      </p:sp>
      <p:sp>
        <p:nvSpPr>
          <p:cNvPr id="21" name="Text 17"/>
          <p:cNvSpPr/>
          <p:nvPr/>
        </p:nvSpPr>
        <p:spPr>
          <a:xfrm>
            <a:off x="8132064" y="1783080"/>
            <a:ext cx="1543812"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SAVE</a:t>
            </a:r>
            <a:endParaRPr lang="en-US" sz="1800" dirty="0"/>
          </a:p>
        </p:txBody>
      </p:sp>
      <p:sp>
        <p:nvSpPr>
          <p:cNvPr id="22" name="Shape 18"/>
          <p:cNvSpPr/>
          <p:nvPr/>
        </p:nvSpPr>
        <p:spPr>
          <a:xfrm>
            <a:off x="9712452" y="2217420"/>
            <a:ext cx="256032" cy="0"/>
          </a:xfrm>
          <a:prstGeom prst="line">
            <a:avLst/>
          </a:prstGeom>
          <a:noFill/>
          <a:ln w="19050">
            <a:solidFill>
              <a:srgbClr val="0D1219"/>
            </a:solidFill>
            <a:prstDash val="solid"/>
            <a:tailEnd type="triangle"/>
          </a:ln>
        </p:spPr>
      </p:sp>
      <p:sp>
        <p:nvSpPr>
          <p:cNvPr id="23" name="Shape 19"/>
          <p:cNvSpPr/>
          <p:nvPr/>
        </p:nvSpPr>
        <p:spPr>
          <a:xfrm>
            <a:off x="10005060" y="1783080"/>
            <a:ext cx="1543812" cy="868680"/>
          </a:xfrm>
          <a:prstGeom prst="roundRect">
            <a:avLst>
              <a:gd name="adj" fmla="val 8421"/>
            </a:avLst>
          </a:prstGeom>
          <a:solidFill>
            <a:srgbClr val="FFFFFF"/>
          </a:solidFill>
          <a:ln w="15875">
            <a:solidFill>
              <a:srgbClr val="0D1219"/>
            </a:solidFill>
            <a:prstDash val="solid"/>
          </a:ln>
        </p:spPr>
      </p:sp>
      <p:sp>
        <p:nvSpPr>
          <p:cNvPr id="24" name="Text 20"/>
          <p:cNvSpPr/>
          <p:nvPr/>
        </p:nvSpPr>
        <p:spPr>
          <a:xfrm>
            <a:off x="1000506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PUBLISH</a:t>
            </a:r>
            <a:endParaRPr lang="en-US" sz="1800" dirty="0"/>
          </a:p>
        </p:txBody>
      </p:sp>
      <p:sp>
        <p:nvSpPr>
          <p:cNvPr id="25" name="Shape 21"/>
          <p:cNvSpPr/>
          <p:nvPr/>
        </p:nvSpPr>
        <p:spPr>
          <a:xfrm>
            <a:off x="10776966" y="2670048"/>
            <a:ext cx="0" cy="256032"/>
          </a:xfrm>
          <a:prstGeom prst="line">
            <a:avLst/>
          </a:prstGeom>
          <a:noFill/>
          <a:ln w="19050">
            <a:solidFill>
              <a:srgbClr val="0D1219"/>
            </a:solidFill>
            <a:prstDash val="solid"/>
          </a:ln>
        </p:spPr>
      </p:sp>
      <p:sp>
        <p:nvSpPr>
          <p:cNvPr id="26" name="Shape 22"/>
          <p:cNvSpPr/>
          <p:nvPr/>
        </p:nvSpPr>
        <p:spPr>
          <a:xfrm flipH="1">
            <a:off x="1411986" y="2926080"/>
            <a:ext cx="9364980" cy="0"/>
          </a:xfrm>
          <a:prstGeom prst="line">
            <a:avLst/>
          </a:prstGeom>
          <a:noFill/>
          <a:ln w="19050">
            <a:solidFill>
              <a:srgbClr val="0D1219"/>
            </a:solidFill>
            <a:prstDash val="solid"/>
          </a:ln>
        </p:spPr>
      </p:sp>
      <p:sp>
        <p:nvSpPr>
          <p:cNvPr id="27" name="Shape 23"/>
          <p:cNvSpPr/>
          <p:nvPr/>
        </p:nvSpPr>
        <p:spPr>
          <a:xfrm flipV="1">
            <a:off x="1411986" y="2724912"/>
            <a:ext cx="0" cy="201168"/>
          </a:xfrm>
          <a:prstGeom prst="line">
            <a:avLst/>
          </a:prstGeom>
          <a:noFill/>
          <a:ln w="19050">
            <a:solidFill>
              <a:srgbClr val="0D1219"/>
            </a:solidFill>
            <a:prstDash val="solid"/>
            <a:tailEnd type="triangle"/>
          </a:ln>
        </p:spPr>
      </p:sp>
      <p:sp>
        <p:nvSpPr>
          <p:cNvPr id="28" name="Text 24"/>
          <p:cNvSpPr/>
          <p:nvPr/>
        </p:nvSpPr>
        <p:spPr>
          <a:xfrm>
            <a:off x="2183892" y="296265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
        <p:nvSpPr>
          <p:cNvPr id="29" name="Text 25"/>
          <p:cNvSpPr txBox="1"/>
          <p:nvPr/>
        </p:nvSpPr>
        <p:spPr>
          <a:xfrm>
            <a:off x="640080" y="3429000"/>
            <a:ext cx="6035040" cy="14630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commit to GitHub, “First version of my site.”</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“First playable version.” Increment 2 goes through a pull request.</a:t>
            </a:r>
            <a:endParaRPr lang="en-US" sz="1500" dirty="0"/>
          </a:p>
        </p:txBody>
      </p:sp>
      <p:sp>
        <p:nvSpPr>
          <p:cNvPr id="30" name="Text 26"/>
          <p:cNvSpPr txBox="1"/>
          <p:nvPr/>
        </p:nvSpPr>
        <p:spPr>
          <a:xfrm>
            <a:off x="7040880" y="3429000"/>
            <a:ext cx="448056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QUESTION YOU ASK YOURSELF</a:t>
            </a:r>
            <a:endParaRPr lang="en-US" sz="1100" dirty="0"/>
          </a:p>
        </p:txBody>
      </p:sp>
      <p:sp>
        <p:nvSpPr>
          <p:cNvPr id="31" name="Text 27"/>
          <p:cNvSpPr txBox="1"/>
          <p:nvPr/>
        </p:nvSpPr>
        <p:spPr>
          <a:xfrm>
            <a:off x="7040880" y="3749040"/>
            <a:ext cx="4507992" cy="1188720"/>
          </a:xfrm>
          <a:prstGeom prst="rect">
            <a:avLst/>
          </a:prstGeom>
          <a:noFill/>
          <a:ln/>
        </p:spPr>
        <p:txBody>
          <a:bodyPr wrap="square" lIns="0" tIns="0" rIns="0" bIns="0" rtlCol="0" anchor="t"/>
          <a:lstStyle/>
          <a:p>
            <a:pPr algn="l" indent="0" marL="0">
              <a:lnSpc>
                <a:spcPct val="115000"/>
              </a:lnSpc>
              <a:buNone/>
            </a:pPr>
            <a:r>
              <a:rPr lang="en-US" sz="2000" b="1" dirty="0">
                <a:solidFill>
                  <a:srgbClr val="0D1219"/>
                </a:solidFill>
                <a:latin typeface="Arial" pitchFamily="34" charset="0"/>
                <a:ea typeface="Arial" pitchFamily="34" charset="-122"/>
                <a:cs typeface="Arial" pitchFamily="34" charset="-120"/>
              </a:rPr>
              <a:t>If the next change breaks it, where do I go back to?</a:t>
            </a:r>
            <a:endParaRPr lang="en-US" sz="2000" dirty="0"/>
          </a:p>
        </p:txBody>
      </p:sp>
      <p:sp>
        <p:nvSpPr>
          <p:cNvPr id="32" name="Text 2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9:14 – 9:17</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Publish: put it where someone else can open it.</a:t>
            </a:r>
            <a:endParaRPr lang="en-US" sz="3200" dirty="0"/>
          </a:p>
        </p:txBody>
      </p:sp>
      <p:sp>
        <p:nvSpPr>
          <p:cNvPr id="8" name="Shape 4"/>
          <p:cNvSpPr/>
          <p:nvPr/>
        </p:nvSpPr>
        <p:spPr>
          <a:xfrm>
            <a:off x="640080" y="1783080"/>
            <a:ext cx="1543812" cy="868680"/>
          </a:xfrm>
          <a:prstGeom prst="roundRect">
            <a:avLst>
              <a:gd name="adj" fmla="val 8421"/>
            </a:avLst>
          </a:prstGeom>
          <a:solidFill>
            <a:srgbClr val="FFFFFF"/>
          </a:solidFill>
          <a:ln w="15875">
            <a:solidFill>
              <a:srgbClr val="0D1219"/>
            </a:solidFill>
            <a:prstDash val="solid"/>
          </a:ln>
        </p:spPr>
      </p:sp>
      <p:sp>
        <p:nvSpPr>
          <p:cNvPr id="9" name="Text 5"/>
          <p:cNvSpPr/>
          <p:nvPr/>
        </p:nvSpPr>
        <p:spPr>
          <a:xfrm>
            <a:off x="640080"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DESCRIBE</a:t>
            </a:r>
            <a:endParaRPr lang="en-US" sz="1800" dirty="0"/>
          </a:p>
        </p:txBody>
      </p:sp>
      <p:sp>
        <p:nvSpPr>
          <p:cNvPr id="10" name="Shape 6"/>
          <p:cNvSpPr/>
          <p:nvPr/>
        </p:nvSpPr>
        <p:spPr>
          <a:xfrm>
            <a:off x="2220468" y="2217420"/>
            <a:ext cx="256032" cy="0"/>
          </a:xfrm>
          <a:prstGeom prst="line">
            <a:avLst/>
          </a:prstGeom>
          <a:noFill/>
          <a:ln w="19050">
            <a:solidFill>
              <a:srgbClr val="0D1219"/>
            </a:solidFill>
            <a:prstDash val="solid"/>
            <a:tailEnd type="triangle"/>
          </a:ln>
        </p:spPr>
      </p:sp>
      <p:sp>
        <p:nvSpPr>
          <p:cNvPr id="11" name="Shape 7"/>
          <p:cNvSpPr/>
          <p:nvPr/>
        </p:nvSpPr>
        <p:spPr>
          <a:xfrm>
            <a:off x="2513076" y="1783080"/>
            <a:ext cx="1543812" cy="868680"/>
          </a:xfrm>
          <a:prstGeom prst="roundRect">
            <a:avLst>
              <a:gd name="adj" fmla="val 8421"/>
            </a:avLst>
          </a:prstGeom>
          <a:solidFill>
            <a:srgbClr val="FFFFFF"/>
          </a:solidFill>
          <a:ln w="15875">
            <a:solidFill>
              <a:srgbClr val="0D1219"/>
            </a:solidFill>
            <a:prstDash val="solid"/>
          </a:ln>
        </p:spPr>
      </p:sp>
      <p:sp>
        <p:nvSpPr>
          <p:cNvPr id="12" name="Text 8"/>
          <p:cNvSpPr/>
          <p:nvPr/>
        </p:nvSpPr>
        <p:spPr>
          <a:xfrm>
            <a:off x="2513076"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PLAN</a:t>
            </a:r>
            <a:endParaRPr lang="en-US" sz="1800" dirty="0"/>
          </a:p>
        </p:txBody>
      </p:sp>
      <p:sp>
        <p:nvSpPr>
          <p:cNvPr id="13" name="Shape 9"/>
          <p:cNvSpPr/>
          <p:nvPr/>
        </p:nvSpPr>
        <p:spPr>
          <a:xfrm>
            <a:off x="4093464" y="2217420"/>
            <a:ext cx="256032" cy="0"/>
          </a:xfrm>
          <a:prstGeom prst="line">
            <a:avLst/>
          </a:prstGeom>
          <a:noFill/>
          <a:ln w="19050">
            <a:solidFill>
              <a:srgbClr val="0D1219"/>
            </a:solidFill>
            <a:prstDash val="solid"/>
            <a:tailEnd type="triangle"/>
          </a:ln>
        </p:spPr>
      </p:sp>
      <p:sp>
        <p:nvSpPr>
          <p:cNvPr id="14" name="Shape 10"/>
          <p:cNvSpPr/>
          <p:nvPr/>
        </p:nvSpPr>
        <p:spPr>
          <a:xfrm>
            <a:off x="4386072" y="1783080"/>
            <a:ext cx="1543812" cy="868680"/>
          </a:xfrm>
          <a:prstGeom prst="roundRect">
            <a:avLst>
              <a:gd name="adj" fmla="val 8421"/>
            </a:avLst>
          </a:prstGeom>
          <a:solidFill>
            <a:srgbClr val="FFFFFF"/>
          </a:solidFill>
          <a:ln w="15875">
            <a:solidFill>
              <a:srgbClr val="0D1219"/>
            </a:solidFill>
            <a:prstDash val="solid"/>
          </a:ln>
        </p:spPr>
      </p:sp>
      <p:sp>
        <p:nvSpPr>
          <p:cNvPr id="15" name="Text 11"/>
          <p:cNvSpPr/>
          <p:nvPr/>
        </p:nvSpPr>
        <p:spPr>
          <a:xfrm>
            <a:off x="4386072"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16" name="Shape 12"/>
          <p:cNvSpPr/>
          <p:nvPr/>
        </p:nvSpPr>
        <p:spPr>
          <a:xfrm>
            <a:off x="5966460" y="2217420"/>
            <a:ext cx="256032" cy="0"/>
          </a:xfrm>
          <a:prstGeom prst="line">
            <a:avLst/>
          </a:prstGeom>
          <a:noFill/>
          <a:ln w="19050">
            <a:solidFill>
              <a:srgbClr val="0D1219"/>
            </a:solidFill>
            <a:prstDash val="solid"/>
            <a:tailEnd type="triangle"/>
          </a:ln>
        </p:spPr>
      </p:sp>
      <p:sp>
        <p:nvSpPr>
          <p:cNvPr id="17" name="Shape 13"/>
          <p:cNvSpPr/>
          <p:nvPr/>
        </p:nvSpPr>
        <p:spPr>
          <a:xfrm>
            <a:off x="6259068" y="1783080"/>
            <a:ext cx="1543812" cy="868680"/>
          </a:xfrm>
          <a:prstGeom prst="roundRect">
            <a:avLst>
              <a:gd name="adj" fmla="val 8421"/>
            </a:avLst>
          </a:prstGeom>
          <a:solidFill>
            <a:srgbClr val="FFFFFF"/>
          </a:solidFill>
          <a:ln w="15875">
            <a:solidFill>
              <a:srgbClr val="0D1219"/>
            </a:solidFill>
            <a:prstDash val="solid"/>
          </a:ln>
        </p:spPr>
      </p:sp>
      <p:sp>
        <p:nvSpPr>
          <p:cNvPr id="18" name="Text 14"/>
          <p:cNvSpPr/>
          <p:nvPr/>
        </p:nvSpPr>
        <p:spPr>
          <a:xfrm>
            <a:off x="6259068"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CHECK</a:t>
            </a:r>
            <a:endParaRPr lang="en-US" sz="1800" dirty="0"/>
          </a:p>
        </p:txBody>
      </p:sp>
      <p:sp>
        <p:nvSpPr>
          <p:cNvPr id="19" name="Shape 15"/>
          <p:cNvSpPr/>
          <p:nvPr/>
        </p:nvSpPr>
        <p:spPr>
          <a:xfrm>
            <a:off x="7839456" y="2217420"/>
            <a:ext cx="256032" cy="0"/>
          </a:xfrm>
          <a:prstGeom prst="line">
            <a:avLst/>
          </a:prstGeom>
          <a:noFill/>
          <a:ln w="19050">
            <a:solidFill>
              <a:srgbClr val="0D1219"/>
            </a:solidFill>
            <a:prstDash val="solid"/>
            <a:tailEnd type="triangle"/>
          </a:ln>
        </p:spPr>
      </p:sp>
      <p:sp>
        <p:nvSpPr>
          <p:cNvPr id="20" name="Shape 16"/>
          <p:cNvSpPr/>
          <p:nvPr/>
        </p:nvSpPr>
        <p:spPr>
          <a:xfrm>
            <a:off x="8132064" y="1783080"/>
            <a:ext cx="1543812" cy="868680"/>
          </a:xfrm>
          <a:prstGeom prst="roundRect">
            <a:avLst>
              <a:gd name="adj" fmla="val 8421"/>
            </a:avLst>
          </a:prstGeom>
          <a:solidFill>
            <a:srgbClr val="FFFFFF"/>
          </a:solidFill>
          <a:ln w="15875">
            <a:solidFill>
              <a:srgbClr val="0D1219"/>
            </a:solidFill>
            <a:prstDash val="solid"/>
          </a:ln>
        </p:spPr>
      </p:sp>
      <p:sp>
        <p:nvSpPr>
          <p:cNvPr id="21" name="Text 17"/>
          <p:cNvSpPr/>
          <p:nvPr/>
        </p:nvSpPr>
        <p:spPr>
          <a:xfrm>
            <a:off x="8132064" y="1783080"/>
            <a:ext cx="1543812" cy="86868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SAVE</a:t>
            </a:r>
            <a:endParaRPr lang="en-US" sz="1800" dirty="0"/>
          </a:p>
        </p:txBody>
      </p:sp>
      <p:sp>
        <p:nvSpPr>
          <p:cNvPr id="22" name="Shape 18"/>
          <p:cNvSpPr/>
          <p:nvPr/>
        </p:nvSpPr>
        <p:spPr>
          <a:xfrm>
            <a:off x="9712452" y="2217420"/>
            <a:ext cx="256032" cy="0"/>
          </a:xfrm>
          <a:prstGeom prst="line">
            <a:avLst/>
          </a:prstGeom>
          <a:noFill/>
          <a:ln w="19050">
            <a:solidFill>
              <a:srgbClr val="0D1219"/>
            </a:solidFill>
            <a:prstDash val="solid"/>
            <a:tailEnd type="triangle"/>
          </a:ln>
        </p:spPr>
      </p:sp>
      <p:sp>
        <p:nvSpPr>
          <p:cNvPr id="23" name="Shape 19"/>
          <p:cNvSpPr/>
          <p:nvPr/>
        </p:nvSpPr>
        <p:spPr>
          <a:xfrm>
            <a:off x="10005060" y="1783080"/>
            <a:ext cx="1543812" cy="868680"/>
          </a:xfrm>
          <a:prstGeom prst="roundRect">
            <a:avLst>
              <a:gd name="adj" fmla="val 8421"/>
            </a:avLst>
          </a:prstGeom>
          <a:solidFill>
            <a:srgbClr val="EF8B39"/>
          </a:solidFill>
          <a:ln w="12700">
            <a:solidFill>
              <a:srgbClr val="EF8B39"/>
            </a:solidFill>
            <a:prstDash val="solid"/>
          </a:ln>
        </p:spPr>
      </p:sp>
      <p:sp>
        <p:nvSpPr>
          <p:cNvPr id="24" name="Text 20"/>
          <p:cNvSpPr/>
          <p:nvPr/>
        </p:nvSpPr>
        <p:spPr>
          <a:xfrm>
            <a:off x="10005060" y="1783080"/>
            <a:ext cx="1543812" cy="8686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PUBLISH</a:t>
            </a:r>
            <a:endParaRPr lang="en-US" sz="1800" dirty="0"/>
          </a:p>
        </p:txBody>
      </p:sp>
      <p:sp>
        <p:nvSpPr>
          <p:cNvPr id="25" name="Shape 21"/>
          <p:cNvSpPr/>
          <p:nvPr/>
        </p:nvSpPr>
        <p:spPr>
          <a:xfrm>
            <a:off x="10776966" y="2670048"/>
            <a:ext cx="0" cy="256032"/>
          </a:xfrm>
          <a:prstGeom prst="line">
            <a:avLst/>
          </a:prstGeom>
          <a:noFill/>
          <a:ln w="19050">
            <a:solidFill>
              <a:srgbClr val="0D1219"/>
            </a:solidFill>
            <a:prstDash val="solid"/>
          </a:ln>
        </p:spPr>
      </p:sp>
      <p:sp>
        <p:nvSpPr>
          <p:cNvPr id="26" name="Shape 22"/>
          <p:cNvSpPr/>
          <p:nvPr/>
        </p:nvSpPr>
        <p:spPr>
          <a:xfrm flipH="1">
            <a:off x="1411986" y="2926080"/>
            <a:ext cx="9364980" cy="0"/>
          </a:xfrm>
          <a:prstGeom prst="line">
            <a:avLst/>
          </a:prstGeom>
          <a:noFill/>
          <a:ln w="19050">
            <a:solidFill>
              <a:srgbClr val="0D1219"/>
            </a:solidFill>
            <a:prstDash val="solid"/>
          </a:ln>
        </p:spPr>
      </p:sp>
      <p:sp>
        <p:nvSpPr>
          <p:cNvPr id="27" name="Shape 23"/>
          <p:cNvSpPr/>
          <p:nvPr/>
        </p:nvSpPr>
        <p:spPr>
          <a:xfrm flipV="1">
            <a:off x="1411986" y="2724912"/>
            <a:ext cx="0" cy="201168"/>
          </a:xfrm>
          <a:prstGeom prst="line">
            <a:avLst/>
          </a:prstGeom>
          <a:noFill/>
          <a:ln w="19050">
            <a:solidFill>
              <a:srgbClr val="0D1219"/>
            </a:solidFill>
            <a:prstDash val="solid"/>
            <a:tailEnd type="triangle"/>
          </a:ln>
        </p:spPr>
      </p:sp>
      <p:sp>
        <p:nvSpPr>
          <p:cNvPr id="28" name="Text 24"/>
          <p:cNvSpPr/>
          <p:nvPr/>
        </p:nvSpPr>
        <p:spPr>
          <a:xfrm>
            <a:off x="2183892" y="296265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
        <p:nvSpPr>
          <p:cNvPr id="29" name="Text 25"/>
          <p:cNvSpPr txBox="1"/>
          <p:nvPr/>
        </p:nvSpPr>
        <p:spPr>
          <a:xfrm>
            <a:off x="640080" y="3429000"/>
            <a:ext cx="6035040" cy="14630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a vercel.app URL on a classmate’s phone by 11:30.</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a second vercel.app URL by 4:35.</a:t>
            </a:r>
            <a:endParaRPr lang="en-US" sz="1500" dirty="0"/>
          </a:p>
        </p:txBody>
      </p:sp>
      <p:sp>
        <p:nvSpPr>
          <p:cNvPr id="30" name="Text 26"/>
          <p:cNvSpPr txBox="1"/>
          <p:nvPr/>
        </p:nvSpPr>
        <p:spPr>
          <a:xfrm>
            <a:off x="7040880" y="3429000"/>
            <a:ext cx="448056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QUESTION YOU ASK YOURSELF</a:t>
            </a:r>
            <a:endParaRPr lang="en-US" sz="1100" dirty="0"/>
          </a:p>
        </p:txBody>
      </p:sp>
      <p:sp>
        <p:nvSpPr>
          <p:cNvPr id="31" name="Text 27"/>
          <p:cNvSpPr txBox="1"/>
          <p:nvPr/>
        </p:nvSpPr>
        <p:spPr>
          <a:xfrm>
            <a:off x="7040880" y="3749040"/>
            <a:ext cx="4507992" cy="1188720"/>
          </a:xfrm>
          <a:prstGeom prst="rect">
            <a:avLst/>
          </a:prstGeom>
          <a:noFill/>
          <a:ln/>
        </p:spPr>
        <p:txBody>
          <a:bodyPr wrap="square" lIns="0" tIns="0" rIns="0" bIns="0" rtlCol="0" anchor="t"/>
          <a:lstStyle/>
          <a:p>
            <a:pPr algn="l" indent="0" marL="0">
              <a:lnSpc>
                <a:spcPct val="115000"/>
              </a:lnSpc>
              <a:buNone/>
            </a:pPr>
            <a:r>
              <a:rPr lang="en-US" sz="2000" b="1" dirty="0">
                <a:solidFill>
                  <a:srgbClr val="0D1219"/>
                </a:solidFill>
                <a:latin typeface="Arial" pitchFamily="34" charset="0"/>
                <a:ea typeface="Arial" pitchFamily="34" charset="-122"/>
                <a:cs typeface="Arial" pitchFamily="34" charset="-120"/>
              </a:rPr>
              <a:t>Does it open on someone else’s phone, not just mine?</a:t>
            </a:r>
            <a:endParaRPr lang="en-US" sz="2000" dirty="0"/>
          </a:p>
        </p:txBody>
      </p:sp>
      <p:sp>
        <p:nvSpPr>
          <p:cNvPr id="32" name="Text 2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Before you build: three questions.</a:t>
            </a:r>
            <a:endParaRPr lang="en-US" sz="3200" dirty="0"/>
          </a:p>
        </p:txBody>
      </p:sp>
      <p:sp>
        <p:nvSpPr>
          <p:cNvPr id="8" name="Text 4"/>
          <p:cNvSpPr txBox="1"/>
          <p:nvPr/>
        </p:nvSpPr>
        <p:spPr>
          <a:xfrm>
            <a:off x="640080" y="201168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DISCOVER</a:t>
            </a:r>
            <a:endParaRPr lang="en-US" sz="1100" dirty="0"/>
          </a:p>
        </p:txBody>
      </p:sp>
      <p:sp>
        <p:nvSpPr>
          <p:cNvPr id="9" name="Text 5"/>
          <p:cNvSpPr txBox="1"/>
          <p:nvPr/>
        </p:nvSpPr>
        <p:spPr>
          <a:xfrm>
            <a:off x="640080" y="2359152"/>
            <a:ext cx="3331464" cy="82296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Who is this for?</a:t>
            </a:r>
            <a:endParaRPr lang="en-US" sz="2000" dirty="0"/>
          </a:p>
        </p:txBody>
      </p:sp>
      <p:sp>
        <p:nvSpPr>
          <p:cNvPr id="10" name="Text 6"/>
          <p:cNvSpPr txBox="1"/>
          <p:nvPr/>
        </p:nvSpPr>
        <p:spPr>
          <a:xfrm>
            <a:off x="640080" y="329184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a recruiter on a phone.</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a friend with 90 seconds.</a:t>
            </a:r>
            <a:endParaRPr lang="en-US" sz="1500" dirty="0"/>
          </a:p>
        </p:txBody>
      </p:sp>
      <p:sp>
        <p:nvSpPr>
          <p:cNvPr id="11" name="Text 7"/>
          <p:cNvSpPr txBox="1"/>
          <p:nvPr/>
        </p:nvSpPr>
        <p:spPr>
          <a:xfrm>
            <a:off x="4428744" y="201168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DEFINE</a:t>
            </a:r>
            <a:endParaRPr lang="en-US" sz="1100" dirty="0"/>
          </a:p>
        </p:txBody>
      </p:sp>
      <p:sp>
        <p:nvSpPr>
          <p:cNvPr id="12" name="Text 8"/>
          <p:cNvSpPr txBox="1"/>
          <p:nvPr/>
        </p:nvSpPr>
        <p:spPr>
          <a:xfrm>
            <a:off x="4428744" y="2359152"/>
            <a:ext cx="3331464" cy="82296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What must version one do?</a:t>
            </a:r>
            <a:endParaRPr lang="en-US" sz="2000" dirty="0"/>
          </a:p>
        </p:txBody>
      </p:sp>
      <p:sp>
        <p:nvSpPr>
          <p:cNvPr id="13" name="Text 9"/>
          <p:cNvSpPr txBox="1"/>
          <p:nvPr/>
        </p:nvSpPr>
        <p:spPr>
          <a:xfrm>
            <a:off x="4428744" y="329184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three sections, a working email link.</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one playable round, restart works.</a:t>
            </a:r>
            <a:endParaRPr lang="en-US" sz="1500" dirty="0"/>
          </a:p>
        </p:txBody>
      </p:sp>
      <p:sp>
        <p:nvSpPr>
          <p:cNvPr id="14" name="Text 10"/>
          <p:cNvSpPr txBox="1"/>
          <p:nvPr/>
        </p:nvSpPr>
        <p:spPr>
          <a:xfrm>
            <a:off x="8217408" y="201168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DESIGN AND PLAN</a:t>
            </a:r>
            <a:endParaRPr lang="en-US" sz="1100" dirty="0"/>
          </a:p>
        </p:txBody>
      </p:sp>
      <p:sp>
        <p:nvSpPr>
          <p:cNvPr id="15" name="Text 11"/>
          <p:cNvSpPr txBox="1"/>
          <p:nvPr/>
        </p:nvSpPr>
        <p:spPr>
          <a:xfrm>
            <a:off x="8217408" y="2359152"/>
            <a:ext cx="3331464" cy="82296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What will the person see?</a:t>
            </a:r>
            <a:endParaRPr lang="en-US" sz="2000" dirty="0"/>
          </a:p>
        </p:txBody>
      </p:sp>
      <p:sp>
        <p:nvSpPr>
          <p:cNvPr id="16" name="Text 12"/>
          <p:cNvSpPr txBox="1"/>
          <p:nvPr/>
        </p:nvSpPr>
        <p:spPr>
          <a:xfrm>
            <a:off x="8217408" y="329184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Website: a centered or sidebar wireframe.</a:t>
            </a:r>
            <a:endParaRPr lang="en-US" sz="1500" dirty="0"/>
          </a:p>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Game: three screens, sketched.</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Then build, test, release, maintain. And repeat.</a:t>
            </a:r>
            <a:endParaRPr lang="en-US" sz="3200" dirty="0"/>
          </a:p>
        </p:txBody>
      </p:sp>
      <p:sp>
        <p:nvSpPr>
          <p:cNvPr id="8" name="Text 4"/>
          <p:cNvSpPr txBox="1"/>
          <p:nvPr/>
        </p:nvSpPr>
        <p:spPr>
          <a:xfrm>
            <a:off x="640080" y="2103120"/>
            <a:ext cx="219456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9" name="Text 5"/>
          <p:cNvSpPr txBox="1"/>
          <p:nvPr/>
        </p:nvSpPr>
        <p:spPr>
          <a:xfrm>
            <a:off x="3017520" y="2130552"/>
            <a:ext cx="853135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The smallest useful version. One index.html; board, then battle, then connected.</a:t>
            </a:r>
            <a:endParaRPr lang="en-US" sz="1600" dirty="0"/>
          </a:p>
        </p:txBody>
      </p:sp>
      <p:sp>
        <p:nvSpPr>
          <p:cNvPr id="10" name="Text 6"/>
          <p:cNvSpPr txBox="1"/>
          <p:nvPr/>
        </p:nvSpPr>
        <p:spPr>
          <a:xfrm>
            <a:off x="640080" y="2926080"/>
            <a:ext cx="219456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Test</a:t>
            </a:r>
            <a:endParaRPr lang="en-US" sz="1800" dirty="0"/>
          </a:p>
        </p:txBody>
      </p:sp>
      <p:sp>
        <p:nvSpPr>
          <p:cNvPr id="11" name="Text 7"/>
          <p:cNvSpPr txBox="1"/>
          <p:nvPr/>
        </p:nvSpPr>
        <p:spPr>
          <a:xfrm>
            <a:off x="3017520" y="2953512"/>
            <a:ext cx="853135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Does it do what you promised? Six checks; win, lose, draw, restart.</a:t>
            </a:r>
            <a:endParaRPr lang="en-US" sz="1600" dirty="0"/>
          </a:p>
        </p:txBody>
      </p:sp>
      <p:sp>
        <p:nvSpPr>
          <p:cNvPr id="12" name="Text 8"/>
          <p:cNvSpPr txBox="1"/>
          <p:nvPr/>
        </p:nvSpPr>
        <p:spPr>
          <a:xfrm>
            <a:off x="640080" y="3749040"/>
            <a:ext cx="219456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Release</a:t>
            </a:r>
            <a:endParaRPr lang="en-US" sz="1800" dirty="0"/>
          </a:p>
        </p:txBody>
      </p:sp>
      <p:sp>
        <p:nvSpPr>
          <p:cNvPr id="13" name="Text 9"/>
          <p:cNvSpPr txBox="1"/>
          <p:nvPr/>
        </p:nvSpPr>
        <p:spPr>
          <a:xfrm>
            <a:off x="3017520" y="3776472"/>
            <a:ext cx="853135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Which version did we publish? A vercel.app URL on a phone.</a:t>
            </a:r>
            <a:endParaRPr lang="en-US" sz="1600" dirty="0"/>
          </a:p>
        </p:txBody>
      </p:sp>
      <p:sp>
        <p:nvSpPr>
          <p:cNvPr id="14" name="Text 10"/>
          <p:cNvSpPr txBox="1"/>
          <p:nvPr/>
        </p:nvSpPr>
        <p:spPr>
          <a:xfrm>
            <a:off x="640080" y="4572000"/>
            <a:ext cx="2194560" cy="731520"/>
          </a:xfrm>
          <a:prstGeom prst="rect">
            <a:avLst/>
          </a:prstGeom>
          <a:noFill/>
          <a:ln/>
        </p:spPr>
        <p:txBody>
          <a:bodyPr wrap="square" lIns="0" tIns="0" rIns="0" bIns="0" rtlCol="0" anchor="t"/>
          <a:lstStyle/>
          <a:p>
            <a:pPr indent="0" marL="0">
              <a:buNone/>
            </a:pPr>
            <a:r>
              <a:rPr lang="en-US" sz="1800" b="1" dirty="0">
                <a:solidFill>
                  <a:srgbClr val="0D1219"/>
                </a:solidFill>
                <a:latin typeface="Arial" pitchFamily="34" charset="0"/>
                <a:ea typeface="Arial" pitchFamily="34" charset="-122"/>
                <a:cs typeface="Arial" pitchFamily="34" charset="-120"/>
              </a:rPr>
              <a:t>Maintain</a:t>
            </a:r>
            <a:endParaRPr lang="en-US" sz="1800" dirty="0"/>
          </a:p>
        </p:txBody>
      </p:sp>
      <p:sp>
        <p:nvSpPr>
          <p:cNvPr id="15" name="Text 11"/>
          <p:cNvSpPr txBox="1"/>
          <p:nvPr/>
        </p:nvSpPr>
        <p:spPr>
          <a:xfrm>
            <a:off x="3017520" y="4599432"/>
            <a:ext cx="8531352" cy="73152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What changes after people use it? One skill; one extension, one check.</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19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Four tools, four jobs.</a:t>
            </a:r>
            <a:endParaRPr lang="en-US" sz="3200" dirty="0"/>
          </a:p>
        </p:txBody>
      </p:sp>
      <p:sp>
        <p:nvSpPr>
          <p:cNvPr id="8" name="Shape 4"/>
          <p:cNvSpPr/>
          <p:nvPr/>
        </p:nvSpPr>
        <p:spPr>
          <a:xfrm>
            <a:off x="640080" y="2286000"/>
            <a:ext cx="3017520" cy="1005840"/>
          </a:xfrm>
          <a:prstGeom prst="roundRect">
            <a:avLst>
              <a:gd name="adj" fmla="val 9091"/>
            </a:avLst>
          </a:prstGeom>
          <a:solidFill>
            <a:srgbClr val="FFFFFF"/>
          </a:solidFill>
          <a:ln w="12700">
            <a:solidFill>
              <a:srgbClr val="0D1219"/>
            </a:solidFill>
            <a:prstDash val="solid"/>
          </a:ln>
        </p:spPr>
      </p:sp>
      <p:sp>
        <p:nvSpPr>
          <p:cNvPr id="9" name="Text 5"/>
          <p:cNvSpPr/>
          <p:nvPr/>
        </p:nvSpPr>
        <p:spPr>
          <a:xfrm>
            <a:off x="640080" y="2286000"/>
            <a:ext cx="3017520" cy="1005840"/>
          </a:xfrm>
          <a:prstGeom prst="rect">
            <a:avLst/>
          </a:prstGeom>
          <a:noFill/>
          <a:ln/>
        </p:spPr>
        <p:txBody>
          <a:bodyPr wrap="square" lIns="0" tIns="0" rIns="0" bIns="0" rtlCol="0" anchor="ctr"/>
          <a:lstStyle/>
          <a:p>
            <a:pPr algn="ctr" indent="0" marL="0">
              <a:buNone/>
            </a:pPr>
            <a:r>
              <a:rPr lang="en-US" sz="2000" b="1" dirty="0">
                <a:solidFill>
                  <a:srgbClr val="0D1219"/>
                </a:solidFill>
                <a:latin typeface="Arial" pitchFamily="34" charset="0"/>
                <a:ea typeface="Arial" pitchFamily="34" charset="-122"/>
                <a:cs typeface="Arial" pitchFamily="34" charset="-120"/>
              </a:rPr>
              <a:t>Your chatbot</a:t>
            </a:r>
            <a:endParaRPr lang="en-US" sz="2000" dirty="0"/>
          </a:p>
        </p:txBody>
      </p:sp>
      <p:sp>
        <p:nvSpPr>
          <p:cNvPr id="10" name="Shape 6"/>
          <p:cNvSpPr/>
          <p:nvPr/>
        </p:nvSpPr>
        <p:spPr>
          <a:xfrm>
            <a:off x="4585716" y="2286000"/>
            <a:ext cx="3017520" cy="1005840"/>
          </a:xfrm>
          <a:prstGeom prst="roundRect">
            <a:avLst>
              <a:gd name="adj" fmla="val 9091"/>
            </a:avLst>
          </a:prstGeom>
          <a:solidFill>
            <a:srgbClr val="307FE2"/>
          </a:solidFill>
          <a:ln w="12700">
            <a:solidFill>
              <a:srgbClr val="307FE2"/>
            </a:solidFill>
            <a:prstDash val="solid"/>
          </a:ln>
        </p:spPr>
      </p:sp>
      <p:sp>
        <p:nvSpPr>
          <p:cNvPr id="11" name="Text 7"/>
          <p:cNvSpPr/>
          <p:nvPr/>
        </p:nvSpPr>
        <p:spPr>
          <a:xfrm>
            <a:off x="4585716" y="2286000"/>
            <a:ext cx="30175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GitHub</a:t>
            </a:r>
            <a:endParaRPr lang="en-US" sz="2000" dirty="0"/>
          </a:p>
        </p:txBody>
      </p:sp>
      <p:sp>
        <p:nvSpPr>
          <p:cNvPr id="12" name="Shape 8"/>
          <p:cNvSpPr/>
          <p:nvPr/>
        </p:nvSpPr>
        <p:spPr>
          <a:xfrm>
            <a:off x="8531352" y="2286000"/>
            <a:ext cx="3017520" cy="1005840"/>
          </a:xfrm>
          <a:prstGeom prst="roundRect">
            <a:avLst>
              <a:gd name="adj" fmla="val 9091"/>
            </a:avLst>
          </a:prstGeom>
          <a:solidFill>
            <a:srgbClr val="307FE2"/>
          </a:solidFill>
          <a:ln w="12700">
            <a:solidFill>
              <a:srgbClr val="307FE2"/>
            </a:solidFill>
            <a:prstDash val="solid"/>
          </a:ln>
        </p:spPr>
      </p:sp>
      <p:sp>
        <p:nvSpPr>
          <p:cNvPr id="13" name="Text 9"/>
          <p:cNvSpPr/>
          <p:nvPr/>
        </p:nvSpPr>
        <p:spPr>
          <a:xfrm>
            <a:off x="8531352" y="2286000"/>
            <a:ext cx="301752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Vercel</a:t>
            </a:r>
            <a:endParaRPr lang="en-US" sz="2000" dirty="0"/>
          </a:p>
        </p:txBody>
      </p:sp>
      <p:sp>
        <p:nvSpPr>
          <p:cNvPr id="14" name="Shape 10"/>
          <p:cNvSpPr/>
          <p:nvPr/>
        </p:nvSpPr>
        <p:spPr>
          <a:xfrm>
            <a:off x="3703320" y="2788920"/>
            <a:ext cx="836676" cy="0"/>
          </a:xfrm>
          <a:prstGeom prst="line">
            <a:avLst/>
          </a:prstGeom>
          <a:noFill/>
          <a:ln w="19050">
            <a:solidFill>
              <a:srgbClr val="0D1219"/>
            </a:solidFill>
            <a:prstDash val="solid"/>
            <a:tailEnd type="triangle"/>
          </a:ln>
        </p:spPr>
      </p:sp>
      <p:sp>
        <p:nvSpPr>
          <p:cNvPr id="15" name="Shape 11"/>
          <p:cNvSpPr/>
          <p:nvPr/>
        </p:nvSpPr>
        <p:spPr>
          <a:xfrm>
            <a:off x="7648956" y="2788920"/>
            <a:ext cx="836676" cy="0"/>
          </a:xfrm>
          <a:prstGeom prst="line">
            <a:avLst/>
          </a:prstGeom>
          <a:noFill/>
          <a:ln w="19050">
            <a:solidFill>
              <a:srgbClr val="0D1219"/>
            </a:solidFill>
            <a:prstDash val="solid"/>
            <a:tailEnd type="triangle"/>
          </a:ln>
        </p:spPr>
      </p:sp>
      <p:sp>
        <p:nvSpPr>
          <p:cNvPr id="16" name="Text 12"/>
          <p:cNvSpPr txBox="1"/>
          <p:nvPr/>
        </p:nvSpPr>
        <p:spPr>
          <a:xfrm>
            <a:off x="3657600" y="1920240"/>
            <a:ext cx="928116" cy="274320"/>
          </a:xfrm>
          <a:prstGeom prst="rect">
            <a:avLst/>
          </a:prstGeom>
          <a:noFill/>
          <a:ln/>
        </p:spPr>
        <p:txBody>
          <a:bodyPr wrap="square" lIns="0" tIns="0" rIns="0" bIns="0" rtlCol="0" anchor="t"/>
          <a:lstStyle/>
          <a:p>
            <a:pPr algn="ctr" indent="0" marL="0">
              <a:lnSpc>
                <a:spcPct val="115000"/>
              </a:lnSpc>
              <a:buNone/>
            </a:pPr>
            <a:r>
              <a:rPr lang="en-US" sz="1200" dirty="0">
                <a:solidFill>
                  <a:srgbClr val="7B8594"/>
                </a:solidFill>
                <a:latin typeface="Arial" pitchFamily="34" charset="0"/>
                <a:ea typeface="Arial" pitchFamily="34" charset="-122"/>
                <a:cs typeface="Arial" pitchFamily="34" charset="-120"/>
              </a:rPr>
              <a:t>you upload, or v0 pushes</a:t>
            </a:r>
            <a:endParaRPr lang="en-US" sz="1200" dirty="0"/>
          </a:p>
        </p:txBody>
      </p:sp>
      <p:sp>
        <p:nvSpPr>
          <p:cNvPr id="17" name="Text 13"/>
          <p:cNvSpPr txBox="1"/>
          <p:nvPr/>
        </p:nvSpPr>
        <p:spPr>
          <a:xfrm>
            <a:off x="7603236" y="1920240"/>
            <a:ext cx="928116" cy="274320"/>
          </a:xfrm>
          <a:prstGeom prst="rect">
            <a:avLst/>
          </a:prstGeom>
          <a:noFill/>
          <a:ln/>
        </p:spPr>
        <p:txBody>
          <a:bodyPr wrap="square" lIns="0" tIns="0" rIns="0" bIns="0" rtlCol="0" anchor="t"/>
          <a:lstStyle/>
          <a:p>
            <a:pPr algn="ctr" indent="0" marL="0">
              <a:lnSpc>
                <a:spcPct val="115000"/>
              </a:lnSpc>
              <a:buNone/>
            </a:pPr>
            <a:r>
              <a:rPr lang="en-US" sz="1200" dirty="0">
                <a:solidFill>
                  <a:srgbClr val="7B8594"/>
                </a:solidFill>
                <a:latin typeface="Arial" pitchFamily="34" charset="0"/>
                <a:ea typeface="Arial" pitchFamily="34" charset="-122"/>
                <a:cs typeface="Arial" pitchFamily="34" charset="-120"/>
              </a:rPr>
              <a:t>every push</a:t>
            </a:r>
            <a:endParaRPr lang="en-US" sz="1200" dirty="0"/>
          </a:p>
        </p:txBody>
      </p:sp>
      <p:sp>
        <p:nvSpPr>
          <p:cNvPr id="18" name="Text 14"/>
          <p:cNvSpPr txBox="1"/>
          <p:nvPr/>
        </p:nvSpPr>
        <p:spPr>
          <a:xfrm>
            <a:off x="640080" y="3474720"/>
            <a:ext cx="3017520" cy="822960"/>
          </a:xfrm>
          <a:prstGeom prst="rect">
            <a:avLst/>
          </a:prstGeom>
          <a:noFill/>
          <a:ln/>
        </p:spPr>
        <p:txBody>
          <a:bodyPr wrap="square" lIns="0" tIns="0" rIns="0" bIns="0" rtlCol="0" anchor="t"/>
          <a:lstStyle/>
          <a:p>
            <a:pPr algn="l" indent="0" marL="0">
              <a:lnSpc>
                <a:spcPct val="115000"/>
              </a:lnSpc>
              <a:buNone/>
            </a:pPr>
            <a:r>
              <a:rPr lang="en-US" sz="1500" dirty="0">
                <a:solidFill>
                  <a:srgbClr val="0D1219"/>
                </a:solidFill>
                <a:latin typeface="Arial" pitchFamily="34" charset="0"/>
                <a:ea typeface="Arial" pitchFamily="34" charset="-122"/>
                <a:cs typeface="Arial" pitchFamily="34" charset="-120"/>
              </a:rPr>
              <a:t>Drafts and changes the files. ChatGPT, Claude, Gemini, or v0.</a:t>
            </a:r>
            <a:endParaRPr lang="en-US" sz="1500" dirty="0"/>
          </a:p>
        </p:txBody>
      </p:sp>
      <p:sp>
        <p:nvSpPr>
          <p:cNvPr id="19" name="Text 15"/>
          <p:cNvSpPr txBox="1"/>
          <p:nvPr/>
        </p:nvSpPr>
        <p:spPr>
          <a:xfrm>
            <a:off x="4585716" y="3474720"/>
            <a:ext cx="3017520" cy="822960"/>
          </a:xfrm>
          <a:prstGeom prst="rect">
            <a:avLst/>
          </a:prstGeom>
          <a:noFill/>
          <a:ln/>
        </p:spPr>
        <p:txBody>
          <a:bodyPr wrap="square" lIns="0" tIns="0" rIns="0" bIns="0" rtlCol="0" anchor="t"/>
          <a:lstStyle/>
          <a:p>
            <a:pPr algn="l" indent="0" marL="0">
              <a:lnSpc>
                <a:spcPct val="115000"/>
              </a:lnSpc>
              <a:buNone/>
            </a:pPr>
            <a:r>
              <a:rPr lang="en-US" sz="1500" dirty="0">
                <a:solidFill>
                  <a:srgbClr val="0D1219"/>
                </a:solidFill>
                <a:latin typeface="Arial" pitchFamily="34" charset="0"/>
                <a:ea typeface="Arial" pitchFamily="34" charset="-122"/>
                <a:cs typeface="Arial" pitchFamily="34" charset="-120"/>
              </a:rPr>
              <a:t>Stores the project and its history, in your account.</a:t>
            </a:r>
            <a:endParaRPr lang="en-US" sz="1500" dirty="0"/>
          </a:p>
        </p:txBody>
      </p:sp>
      <p:sp>
        <p:nvSpPr>
          <p:cNvPr id="20" name="Text 16"/>
          <p:cNvSpPr txBox="1"/>
          <p:nvPr/>
        </p:nvSpPr>
        <p:spPr>
          <a:xfrm>
            <a:off x="8531352" y="3474720"/>
            <a:ext cx="3017520" cy="822960"/>
          </a:xfrm>
          <a:prstGeom prst="rect">
            <a:avLst/>
          </a:prstGeom>
          <a:noFill/>
          <a:ln/>
        </p:spPr>
        <p:txBody>
          <a:bodyPr wrap="square" lIns="0" tIns="0" rIns="0" bIns="0" rtlCol="0" anchor="t"/>
          <a:lstStyle/>
          <a:p>
            <a:pPr algn="l" indent="0" marL="0">
              <a:lnSpc>
                <a:spcPct val="115000"/>
              </a:lnSpc>
              <a:buNone/>
            </a:pPr>
            <a:r>
              <a:rPr lang="en-US" sz="1500" dirty="0">
                <a:solidFill>
                  <a:srgbClr val="0D1219"/>
                </a:solidFill>
                <a:latin typeface="Arial" pitchFamily="34" charset="0"/>
                <a:ea typeface="Arial" pitchFamily="34" charset="-122"/>
                <a:cs typeface="Arial" pitchFamily="34" charset="-120"/>
              </a:rPr>
              <a:t>Hosts the published version at a URL anyone can open.</a:t>
            </a:r>
            <a:endParaRPr lang="en-US" sz="1500" dirty="0"/>
          </a:p>
        </p:txBody>
      </p:sp>
      <p:sp>
        <p:nvSpPr>
          <p:cNvPr id="21" name="Shape 17"/>
          <p:cNvSpPr/>
          <p:nvPr/>
        </p:nvSpPr>
        <p:spPr>
          <a:xfrm>
            <a:off x="3762756" y="4389120"/>
            <a:ext cx="4663440" cy="548640"/>
          </a:xfrm>
          <a:prstGeom prst="rect">
            <a:avLst/>
          </a:prstGeom>
          <a:solidFill>
            <a:srgbClr val="E8EEF7"/>
          </a:solidFill>
          <a:ln w="9525">
            <a:solidFill>
              <a:srgbClr val="E8EEF7"/>
            </a:solidFill>
            <a:prstDash val="solid"/>
          </a:ln>
        </p:spPr>
      </p:sp>
      <p:sp>
        <p:nvSpPr>
          <p:cNvPr id="22" name="Text 18"/>
          <p:cNvSpPr txBox="1"/>
          <p:nvPr/>
        </p:nvSpPr>
        <p:spPr>
          <a:xfrm>
            <a:off x="3945636" y="4389120"/>
            <a:ext cx="731520" cy="548640"/>
          </a:xfrm>
          <a:prstGeom prst="rect">
            <a:avLst/>
          </a:prstGeom>
          <a:noFill/>
          <a:ln/>
        </p:spPr>
        <p:txBody>
          <a:bodyPr wrap="square" lIns="0" tIns="0" rIns="0" bIns="0" rtlCol="0" anchor="ctr"/>
          <a:lstStyle/>
          <a:p>
            <a:pPr algn="l" indent="0" marL="0">
              <a:lnSpc>
                <a:spcPct val="115000"/>
              </a:lnSpc>
              <a:buNone/>
            </a:pPr>
            <a:r>
              <a:rPr lang="en-US" sz="1500" b="1" dirty="0">
                <a:solidFill>
                  <a:srgbClr val="0D1219"/>
                </a:solidFill>
                <a:latin typeface="Courier New" pitchFamily="34" charset="0"/>
                <a:ea typeface="Courier New" pitchFamily="34" charset="-122"/>
                <a:cs typeface="Courier New" pitchFamily="34" charset="-120"/>
              </a:rPr>
              <a:t>Git</a:t>
            </a:r>
            <a:endParaRPr lang="en-US" sz="1500" dirty="0"/>
          </a:p>
        </p:txBody>
      </p:sp>
      <p:sp>
        <p:nvSpPr>
          <p:cNvPr id="23" name="Text 19"/>
          <p:cNvSpPr txBox="1"/>
          <p:nvPr/>
        </p:nvSpPr>
        <p:spPr>
          <a:xfrm>
            <a:off x="4585716" y="4389120"/>
            <a:ext cx="3749040" cy="548640"/>
          </a:xfrm>
          <a:prstGeom prst="rect">
            <a:avLst/>
          </a:prstGeom>
          <a:noFill/>
          <a:ln/>
        </p:spPr>
        <p:txBody>
          <a:bodyPr wrap="square" lIns="0" tIns="0" rIns="0" bIns="0" rtlCol="0" anchor="ctr"/>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tracks every change underneath GitHub. You won’t type a Git command today.</a:t>
            </a:r>
            <a:endParaRPr lang="en-US" sz="1300" dirty="0"/>
          </a:p>
        </p:txBody>
      </p:sp>
      <p:sp>
        <p:nvSpPr>
          <p:cNvPr id="24" name="Text 2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Four words you’ll hear all day.</a:t>
            </a:r>
            <a:endParaRPr lang="en-US" sz="3200" dirty="0"/>
          </a:p>
        </p:txBody>
      </p:sp>
      <p:sp>
        <p:nvSpPr>
          <p:cNvPr id="8" name="Text 4"/>
          <p:cNvSpPr txBox="1"/>
          <p:nvPr/>
        </p:nvSpPr>
        <p:spPr>
          <a:xfrm>
            <a:off x="640080" y="2103120"/>
            <a:ext cx="2926080" cy="685800"/>
          </a:xfrm>
          <a:prstGeom prst="rect">
            <a:avLst/>
          </a:prstGeom>
          <a:noFill/>
          <a:ln/>
        </p:spPr>
        <p:txBody>
          <a:bodyPr wrap="square" lIns="0" tIns="0" rIns="0" bIns="0" rtlCol="0" anchor="t"/>
          <a:lstStyle/>
          <a:p>
            <a:pPr indent="0" marL="0">
              <a:buNone/>
            </a:pPr>
            <a:r>
              <a:rPr lang="en-US" sz="1800" b="1" dirty="0">
                <a:solidFill>
                  <a:srgbClr val="EF8B39"/>
                </a:solidFill>
                <a:latin typeface="Courier New" pitchFamily="34" charset="0"/>
                <a:ea typeface="Courier New" pitchFamily="34" charset="-122"/>
                <a:cs typeface="Courier New" pitchFamily="34" charset="-120"/>
              </a:rPr>
              <a:t>Repository</a:t>
            </a:r>
            <a:endParaRPr lang="en-US" sz="1800" dirty="0"/>
          </a:p>
        </p:txBody>
      </p:sp>
      <p:sp>
        <p:nvSpPr>
          <p:cNvPr id="9" name="Text 5"/>
          <p:cNvSpPr txBox="1"/>
          <p:nvPr/>
        </p:nvSpPr>
        <p:spPr>
          <a:xfrm>
            <a:off x="3749040" y="2130552"/>
            <a:ext cx="7799832" cy="68580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The project folder and its whole history.</a:t>
            </a:r>
            <a:endParaRPr lang="en-US" sz="1600" dirty="0"/>
          </a:p>
        </p:txBody>
      </p:sp>
      <p:sp>
        <p:nvSpPr>
          <p:cNvPr id="10" name="Text 6"/>
          <p:cNvSpPr txBox="1"/>
          <p:nvPr/>
        </p:nvSpPr>
        <p:spPr>
          <a:xfrm>
            <a:off x="640080" y="2880360"/>
            <a:ext cx="2926080" cy="685800"/>
          </a:xfrm>
          <a:prstGeom prst="rect">
            <a:avLst/>
          </a:prstGeom>
          <a:noFill/>
          <a:ln/>
        </p:spPr>
        <p:txBody>
          <a:bodyPr wrap="square" lIns="0" tIns="0" rIns="0" bIns="0" rtlCol="0" anchor="t"/>
          <a:lstStyle/>
          <a:p>
            <a:pPr indent="0" marL="0">
              <a:buNone/>
            </a:pPr>
            <a:r>
              <a:rPr lang="en-US" sz="1800" b="1" dirty="0">
                <a:solidFill>
                  <a:srgbClr val="EF8B39"/>
                </a:solidFill>
                <a:latin typeface="Courier New" pitchFamily="34" charset="0"/>
                <a:ea typeface="Courier New" pitchFamily="34" charset="-122"/>
                <a:cs typeface="Courier New" pitchFamily="34" charset="-120"/>
              </a:rPr>
              <a:t>Commit</a:t>
            </a:r>
            <a:endParaRPr lang="en-US" sz="1800" dirty="0"/>
          </a:p>
        </p:txBody>
      </p:sp>
      <p:sp>
        <p:nvSpPr>
          <p:cNvPr id="11" name="Text 7"/>
          <p:cNvSpPr txBox="1"/>
          <p:nvPr/>
        </p:nvSpPr>
        <p:spPr>
          <a:xfrm>
            <a:off x="3749040" y="2907792"/>
            <a:ext cx="7799832" cy="68580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A named checkpoint. “Added my About section.”</a:t>
            </a:r>
            <a:endParaRPr lang="en-US" sz="1600" dirty="0"/>
          </a:p>
        </p:txBody>
      </p:sp>
      <p:sp>
        <p:nvSpPr>
          <p:cNvPr id="12" name="Text 8"/>
          <p:cNvSpPr txBox="1"/>
          <p:nvPr/>
        </p:nvSpPr>
        <p:spPr>
          <a:xfrm>
            <a:off x="640080" y="3657600"/>
            <a:ext cx="2926080" cy="685800"/>
          </a:xfrm>
          <a:prstGeom prst="rect">
            <a:avLst/>
          </a:prstGeom>
          <a:noFill/>
          <a:ln/>
        </p:spPr>
        <p:txBody>
          <a:bodyPr wrap="square" lIns="0" tIns="0" rIns="0" bIns="0" rtlCol="0" anchor="t"/>
          <a:lstStyle/>
          <a:p>
            <a:pPr indent="0" marL="0">
              <a:buNone/>
            </a:pPr>
            <a:r>
              <a:rPr lang="en-US" sz="1800" b="1" dirty="0">
                <a:solidFill>
                  <a:srgbClr val="EF8B39"/>
                </a:solidFill>
                <a:latin typeface="Courier New" pitchFamily="34" charset="0"/>
                <a:ea typeface="Courier New" pitchFamily="34" charset="-122"/>
                <a:cs typeface="Courier New" pitchFamily="34" charset="-120"/>
              </a:rPr>
              <a:t>Branch</a:t>
            </a:r>
            <a:endParaRPr lang="en-US" sz="1800" dirty="0"/>
          </a:p>
        </p:txBody>
      </p:sp>
      <p:sp>
        <p:nvSpPr>
          <p:cNvPr id="13" name="Text 9"/>
          <p:cNvSpPr txBox="1"/>
          <p:nvPr/>
        </p:nvSpPr>
        <p:spPr>
          <a:xfrm>
            <a:off x="3749040" y="3685032"/>
            <a:ext cx="7799832" cy="68580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A separate line of changes that never touches the live one.</a:t>
            </a:r>
            <a:endParaRPr lang="en-US" sz="1600" dirty="0"/>
          </a:p>
        </p:txBody>
      </p:sp>
      <p:sp>
        <p:nvSpPr>
          <p:cNvPr id="14" name="Text 10"/>
          <p:cNvSpPr txBox="1"/>
          <p:nvPr/>
        </p:nvSpPr>
        <p:spPr>
          <a:xfrm>
            <a:off x="640080" y="4434840"/>
            <a:ext cx="2926080" cy="685800"/>
          </a:xfrm>
          <a:prstGeom prst="rect">
            <a:avLst/>
          </a:prstGeom>
          <a:noFill/>
          <a:ln/>
        </p:spPr>
        <p:txBody>
          <a:bodyPr wrap="square" lIns="0" tIns="0" rIns="0" bIns="0" rtlCol="0" anchor="t"/>
          <a:lstStyle/>
          <a:p>
            <a:pPr indent="0" marL="0">
              <a:buNone/>
            </a:pPr>
            <a:r>
              <a:rPr lang="en-US" sz="1800" b="1" dirty="0">
                <a:solidFill>
                  <a:srgbClr val="EF8B39"/>
                </a:solidFill>
                <a:latin typeface="Courier New" pitchFamily="34" charset="0"/>
                <a:ea typeface="Courier New" pitchFamily="34" charset="-122"/>
                <a:cs typeface="Courier New" pitchFamily="34" charset="-120"/>
              </a:rPr>
              <a:t>Pull request</a:t>
            </a:r>
            <a:endParaRPr lang="en-US" sz="1800" dirty="0"/>
          </a:p>
        </p:txBody>
      </p:sp>
      <p:sp>
        <p:nvSpPr>
          <p:cNvPr id="15" name="Text 11"/>
          <p:cNvSpPr txBox="1"/>
          <p:nvPr/>
        </p:nvSpPr>
        <p:spPr>
          <a:xfrm>
            <a:off x="3749040" y="4462272"/>
            <a:ext cx="7799832" cy="685800"/>
          </a:xfrm>
          <a:prstGeom prst="rect">
            <a:avLst/>
          </a:prstGeom>
          <a:noFill/>
          <a:ln/>
        </p:spPr>
        <p:txBody>
          <a:bodyPr wrap="square" lIns="0" tIns="0" rIns="0" bIns="0" rtlCol="0" anchor="t"/>
          <a:lstStyle/>
          <a:p>
            <a:pPr indent="0" marL="0">
              <a:lnSpc>
                <a:spcPct val="115000"/>
              </a:lnSpc>
              <a:buNone/>
            </a:pPr>
            <a:r>
              <a:rPr lang="en-US" sz="1600" dirty="0">
                <a:solidFill>
                  <a:srgbClr val="0D1219"/>
                </a:solidFill>
                <a:latin typeface="Arial" pitchFamily="34" charset="0"/>
                <a:ea typeface="Arial" pitchFamily="34" charset="-122"/>
                <a:cs typeface="Arial" pitchFamily="34" charset="-120"/>
              </a:rPr>
              <a:t>A proposed change for review, with a preview, before it goes live.</a:t>
            </a:r>
            <a:endParaRPr lang="en-US" sz="1600" dirty="0"/>
          </a:p>
        </p:txBody>
      </p:sp>
      <p:sp>
        <p:nvSpPr>
          <p:cNvPr id="16" name="Text 12"/>
          <p:cNvSpPr txBox="1"/>
          <p:nvPr/>
        </p:nvSpPr>
        <p:spPr>
          <a:xfrm>
            <a:off x="640080" y="5303520"/>
            <a:ext cx="10908792" cy="365760"/>
          </a:xfrm>
          <a:prstGeom prst="rect">
            <a:avLst/>
          </a:prstGeom>
          <a:noFill/>
          <a:ln/>
        </p:spPr>
        <p:txBody>
          <a:bodyPr wrap="square" lIns="0" tIns="0" rIns="0" bIns="0" rtlCol="0" anchor="t"/>
          <a:lstStyle/>
          <a:p>
            <a:pPr algn="l" indent="0" marL="0">
              <a:lnSpc>
                <a:spcPct val="115000"/>
              </a:lnSpc>
              <a:buNone/>
            </a:pPr>
            <a:r>
              <a:rPr lang="en-US" sz="1400" i="1" dirty="0">
                <a:solidFill>
                  <a:srgbClr val="5B6675"/>
                </a:solidFill>
                <a:latin typeface="Arial" pitchFamily="34" charset="0"/>
                <a:ea typeface="Arial" pitchFamily="34" charset="-122"/>
                <a:cs typeface="Arial" pitchFamily="34" charset="-120"/>
              </a:rPr>
              <a:t>On the projector: one heading change, and the difference from the earlier version.</a:t>
            </a:r>
            <a:endParaRPr lang="en-US" sz="1400" dirty="0"/>
          </a:p>
        </p:txBody>
      </p:sp>
      <p:sp>
        <p:nvSpPr>
          <p:cNvPr id="17" name="Text 13"/>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Where do these four go on the loop?</a:t>
            </a:r>
            <a:endParaRPr lang="en-US" sz="3200" dirty="0"/>
          </a:p>
        </p:txBody>
      </p:sp>
      <p:sp>
        <p:nvSpPr>
          <p:cNvPr id="8" name="Text 4"/>
          <p:cNvSpPr txBox="1"/>
          <p:nvPr/>
        </p:nvSpPr>
        <p:spPr>
          <a:xfrm>
            <a:off x="640080" y="1737360"/>
            <a:ext cx="10908792" cy="2011680"/>
          </a:xfrm>
          <a:prstGeom prst="rect">
            <a:avLst/>
          </a:prstGeom>
          <a:noFill/>
          <a:ln/>
        </p:spPr>
        <p:txBody>
          <a:bodyPr wrap="square" lIns="0" tIns="0" rIns="0" bIns="0" rtlCol="0" anchor="t"/>
          <a:lstStyle/>
          <a:p>
            <a:pPr indent="0" marL="0">
              <a:lnSpc>
                <a:spcPct val="120000"/>
              </a:lnSpc>
              <a:spcAft>
                <a:spcPts val="600"/>
              </a:spcAft>
              <a:buNone/>
            </a:pPr>
            <a:r>
              <a:rPr lang="en-US" sz="1800" dirty="0">
                <a:solidFill>
                  <a:srgbClr val="0D1219"/>
                </a:solidFill>
                <a:latin typeface="Arial" pitchFamily="34" charset="0"/>
                <a:ea typeface="Arial" pitchFamily="34" charset="-122"/>
                <a:cs typeface="Arial" pitchFamily="34" charset="-120"/>
              </a:rPr>
              <a:t>1   Choose the website’s audience</a:t>
            </a:r>
            <a:endParaRPr lang="en-US" sz="1800" dirty="0"/>
          </a:p>
          <a:p>
            <a:pPr indent="0" marL="0">
              <a:lnSpc>
                <a:spcPct val="120000"/>
              </a:lnSpc>
              <a:spcAft>
                <a:spcPts val="600"/>
              </a:spcAft>
              <a:buNone/>
            </a:pPr>
            <a:r>
              <a:rPr lang="en-US" sz="1800" dirty="0">
                <a:solidFill>
                  <a:srgbClr val="0D1219"/>
                </a:solidFill>
                <a:latin typeface="Arial" pitchFamily="34" charset="0"/>
                <a:ea typeface="Arial" pitchFamily="34" charset="-122"/>
                <a:cs typeface="Arial" pitchFamily="34" charset="-120"/>
              </a:rPr>
              <a:t>2   Describe what its button does</a:t>
            </a:r>
            <a:endParaRPr lang="en-US" sz="1800" dirty="0"/>
          </a:p>
          <a:p>
            <a:pPr indent="0" marL="0">
              <a:lnSpc>
                <a:spcPct val="120000"/>
              </a:lnSpc>
              <a:spcAft>
                <a:spcPts val="600"/>
              </a:spcAft>
              <a:buNone/>
            </a:pPr>
            <a:r>
              <a:rPr lang="en-US" sz="1800" dirty="0">
                <a:solidFill>
                  <a:srgbClr val="0D1219"/>
                </a:solidFill>
                <a:latin typeface="Arial" pitchFamily="34" charset="0"/>
                <a:ea typeface="Arial" pitchFamily="34" charset="-122"/>
                <a:cs typeface="Arial" pitchFamily="34" charset="-120"/>
              </a:rPr>
              <a:t>3   Test the game’s Restart</a:t>
            </a:r>
            <a:endParaRPr lang="en-US" sz="1800" dirty="0"/>
          </a:p>
          <a:p>
            <a:pPr indent="0" marL="0">
              <a:lnSpc>
                <a:spcPct val="120000"/>
              </a:lnSpc>
              <a:spcAft>
                <a:spcPts val="600"/>
              </a:spcAft>
              <a:buNone/>
            </a:pPr>
            <a:r>
              <a:rPr lang="en-US" sz="1800" dirty="0">
                <a:solidFill>
                  <a:srgbClr val="0D1219"/>
                </a:solidFill>
                <a:latin typeface="Arial" pitchFamily="34" charset="0"/>
                <a:ea typeface="Arial" pitchFamily="34" charset="-122"/>
                <a:cs typeface="Arial" pitchFamily="34" charset="-120"/>
              </a:rPr>
              <a:t>4   Publish a checked version</a:t>
            </a:r>
            <a:endParaRPr lang="en-US" sz="1800" dirty="0"/>
          </a:p>
        </p:txBody>
      </p:sp>
      <p:sp>
        <p:nvSpPr>
          <p:cNvPr id="9" name="Shape 5"/>
          <p:cNvSpPr/>
          <p:nvPr/>
        </p:nvSpPr>
        <p:spPr>
          <a:xfrm>
            <a:off x="640080" y="3977640"/>
            <a:ext cx="1543812" cy="822960"/>
          </a:xfrm>
          <a:prstGeom prst="roundRect">
            <a:avLst>
              <a:gd name="adj" fmla="val 8889"/>
            </a:avLst>
          </a:prstGeom>
          <a:solidFill>
            <a:srgbClr val="FFFFFF"/>
          </a:solidFill>
          <a:ln w="15875">
            <a:solidFill>
              <a:srgbClr val="0D1219"/>
            </a:solidFill>
            <a:prstDash val="solid"/>
          </a:ln>
        </p:spPr>
      </p:sp>
      <p:sp>
        <p:nvSpPr>
          <p:cNvPr id="10" name="Text 6"/>
          <p:cNvSpPr/>
          <p:nvPr/>
        </p:nvSpPr>
        <p:spPr>
          <a:xfrm>
            <a:off x="640080" y="3977640"/>
            <a:ext cx="1543812" cy="82296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DESCRIBE</a:t>
            </a:r>
            <a:endParaRPr lang="en-US" sz="1800" dirty="0"/>
          </a:p>
        </p:txBody>
      </p:sp>
      <p:sp>
        <p:nvSpPr>
          <p:cNvPr id="11" name="Shape 7"/>
          <p:cNvSpPr/>
          <p:nvPr/>
        </p:nvSpPr>
        <p:spPr>
          <a:xfrm>
            <a:off x="2220468" y="4389120"/>
            <a:ext cx="256032" cy="0"/>
          </a:xfrm>
          <a:prstGeom prst="line">
            <a:avLst/>
          </a:prstGeom>
          <a:noFill/>
          <a:ln w="19050">
            <a:solidFill>
              <a:srgbClr val="0D1219"/>
            </a:solidFill>
            <a:prstDash val="solid"/>
            <a:tailEnd type="triangle"/>
          </a:ln>
        </p:spPr>
      </p:sp>
      <p:sp>
        <p:nvSpPr>
          <p:cNvPr id="12" name="Shape 8"/>
          <p:cNvSpPr/>
          <p:nvPr/>
        </p:nvSpPr>
        <p:spPr>
          <a:xfrm>
            <a:off x="2513076" y="3977640"/>
            <a:ext cx="1543812" cy="822960"/>
          </a:xfrm>
          <a:prstGeom prst="roundRect">
            <a:avLst>
              <a:gd name="adj" fmla="val 8889"/>
            </a:avLst>
          </a:prstGeom>
          <a:solidFill>
            <a:srgbClr val="FFFFFF"/>
          </a:solidFill>
          <a:ln w="15875">
            <a:solidFill>
              <a:srgbClr val="0D1219"/>
            </a:solidFill>
            <a:prstDash val="solid"/>
          </a:ln>
        </p:spPr>
      </p:sp>
      <p:sp>
        <p:nvSpPr>
          <p:cNvPr id="13" name="Text 9"/>
          <p:cNvSpPr/>
          <p:nvPr/>
        </p:nvSpPr>
        <p:spPr>
          <a:xfrm>
            <a:off x="2513076" y="3977640"/>
            <a:ext cx="1543812" cy="82296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PLAN</a:t>
            </a:r>
            <a:endParaRPr lang="en-US" sz="1800" dirty="0"/>
          </a:p>
        </p:txBody>
      </p:sp>
      <p:sp>
        <p:nvSpPr>
          <p:cNvPr id="14" name="Shape 10"/>
          <p:cNvSpPr/>
          <p:nvPr/>
        </p:nvSpPr>
        <p:spPr>
          <a:xfrm>
            <a:off x="4093464" y="4389120"/>
            <a:ext cx="256032" cy="0"/>
          </a:xfrm>
          <a:prstGeom prst="line">
            <a:avLst/>
          </a:prstGeom>
          <a:noFill/>
          <a:ln w="19050">
            <a:solidFill>
              <a:srgbClr val="0D1219"/>
            </a:solidFill>
            <a:prstDash val="solid"/>
            <a:tailEnd type="triangle"/>
          </a:ln>
        </p:spPr>
      </p:sp>
      <p:sp>
        <p:nvSpPr>
          <p:cNvPr id="15" name="Shape 11"/>
          <p:cNvSpPr/>
          <p:nvPr/>
        </p:nvSpPr>
        <p:spPr>
          <a:xfrm>
            <a:off x="4386072" y="3977640"/>
            <a:ext cx="1543812" cy="822960"/>
          </a:xfrm>
          <a:prstGeom prst="roundRect">
            <a:avLst>
              <a:gd name="adj" fmla="val 8889"/>
            </a:avLst>
          </a:prstGeom>
          <a:solidFill>
            <a:srgbClr val="FFFFFF"/>
          </a:solidFill>
          <a:ln w="15875">
            <a:solidFill>
              <a:srgbClr val="0D1219"/>
            </a:solidFill>
            <a:prstDash val="solid"/>
          </a:ln>
        </p:spPr>
      </p:sp>
      <p:sp>
        <p:nvSpPr>
          <p:cNvPr id="16" name="Text 12"/>
          <p:cNvSpPr/>
          <p:nvPr/>
        </p:nvSpPr>
        <p:spPr>
          <a:xfrm>
            <a:off x="4386072" y="3977640"/>
            <a:ext cx="1543812" cy="82296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BUILD</a:t>
            </a:r>
            <a:endParaRPr lang="en-US" sz="1800" dirty="0"/>
          </a:p>
        </p:txBody>
      </p:sp>
      <p:sp>
        <p:nvSpPr>
          <p:cNvPr id="17" name="Shape 13"/>
          <p:cNvSpPr/>
          <p:nvPr/>
        </p:nvSpPr>
        <p:spPr>
          <a:xfrm>
            <a:off x="5966460" y="4389120"/>
            <a:ext cx="256032" cy="0"/>
          </a:xfrm>
          <a:prstGeom prst="line">
            <a:avLst/>
          </a:prstGeom>
          <a:noFill/>
          <a:ln w="19050">
            <a:solidFill>
              <a:srgbClr val="0D1219"/>
            </a:solidFill>
            <a:prstDash val="solid"/>
            <a:tailEnd type="triangle"/>
          </a:ln>
        </p:spPr>
      </p:sp>
      <p:sp>
        <p:nvSpPr>
          <p:cNvPr id="18" name="Shape 14"/>
          <p:cNvSpPr/>
          <p:nvPr/>
        </p:nvSpPr>
        <p:spPr>
          <a:xfrm>
            <a:off x="6259068" y="3977640"/>
            <a:ext cx="1543812" cy="822960"/>
          </a:xfrm>
          <a:prstGeom prst="roundRect">
            <a:avLst>
              <a:gd name="adj" fmla="val 8889"/>
            </a:avLst>
          </a:prstGeom>
          <a:solidFill>
            <a:srgbClr val="FFFFFF"/>
          </a:solidFill>
          <a:ln w="15875">
            <a:solidFill>
              <a:srgbClr val="0D1219"/>
            </a:solidFill>
            <a:prstDash val="solid"/>
          </a:ln>
        </p:spPr>
      </p:sp>
      <p:sp>
        <p:nvSpPr>
          <p:cNvPr id="19" name="Text 15"/>
          <p:cNvSpPr/>
          <p:nvPr/>
        </p:nvSpPr>
        <p:spPr>
          <a:xfrm>
            <a:off x="6259068" y="3977640"/>
            <a:ext cx="1543812" cy="82296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CHECK</a:t>
            </a:r>
            <a:endParaRPr lang="en-US" sz="1800" dirty="0"/>
          </a:p>
        </p:txBody>
      </p:sp>
      <p:sp>
        <p:nvSpPr>
          <p:cNvPr id="20" name="Shape 16"/>
          <p:cNvSpPr/>
          <p:nvPr/>
        </p:nvSpPr>
        <p:spPr>
          <a:xfrm>
            <a:off x="7839456" y="4389120"/>
            <a:ext cx="256032" cy="0"/>
          </a:xfrm>
          <a:prstGeom prst="line">
            <a:avLst/>
          </a:prstGeom>
          <a:noFill/>
          <a:ln w="19050">
            <a:solidFill>
              <a:srgbClr val="0D1219"/>
            </a:solidFill>
            <a:prstDash val="solid"/>
            <a:tailEnd type="triangle"/>
          </a:ln>
        </p:spPr>
      </p:sp>
      <p:sp>
        <p:nvSpPr>
          <p:cNvPr id="21" name="Shape 17"/>
          <p:cNvSpPr/>
          <p:nvPr/>
        </p:nvSpPr>
        <p:spPr>
          <a:xfrm>
            <a:off x="8132064" y="3977640"/>
            <a:ext cx="1543812" cy="822960"/>
          </a:xfrm>
          <a:prstGeom prst="roundRect">
            <a:avLst>
              <a:gd name="adj" fmla="val 8889"/>
            </a:avLst>
          </a:prstGeom>
          <a:solidFill>
            <a:srgbClr val="FFFFFF"/>
          </a:solidFill>
          <a:ln w="15875">
            <a:solidFill>
              <a:srgbClr val="0D1219"/>
            </a:solidFill>
            <a:prstDash val="solid"/>
          </a:ln>
        </p:spPr>
      </p:sp>
      <p:sp>
        <p:nvSpPr>
          <p:cNvPr id="22" name="Text 18"/>
          <p:cNvSpPr/>
          <p:nvPr/>
        </p:nvSpPr>
        <p:spPr>
          <a:xfrm>
            <a:off x="8132064" y="3977640"/>
            <a:ext cx="1543812" cy="82296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SAVE</a:t>
            </a:r>
            <a:endParaRPr lang="en-US" sz="1800" dirty="0"/>
          </a:p>
        </p:txBody>
      </p:sp>
      <p:sp>
        <p:nvSpPr>
          <p:cNvPr id="23" name="Shape 19"/>
          <p:cNvSpPr/>
          <p:nvPr/>
        </p:nvSpPr>
        <p:spPr>
          <a:xfrm>
            <a:off x="9712452" y="4389120"/>
            <a:ext cx="256032" cy="0"/>
          </a:xfrm>
          <a:prstGeom prst="line">
            <a:avLst/>
          </a:prstGeom>
          <a:noFill/>
          <a:ln w="19050">
            <a:solidFill>
              <a:srgbClr val="0D1219"/>
            </a:solidFill>
            <a:prstDash val="solid"/>
            <a:tailEnd type="triangle"/>
          </a:ln>
        </p:spPr>
      </p:sp>
      <p:sp>
        <p:nvSpPr>
          <p:cNvPr id="24" name="Shape 20"/>
          <p:cNvSpPr/>
          <p:nvPr/>
        </p:nvSpPr>
        <p:spPr>
          <a:xfrm>
            <a:off x="10005060" y="3977640"/>
            <a:ext cx="1543812" cy="822960"/>
          </a:xfrm>
          <a:prstGeom prst="roundRect">
            <a:avLst>
              <a:gd name="adj" fmla="val 8889"/>
            </a:avLst>
          </a:prstGeom>
          <a:solidFill>
            <a:srgbClr val="FFFFFF"/>
          </a:solidFill>
          <a:ln w="15875">
            <a:solidFill>
              <a:srgbClr val="0D1219"/>
            </a:solidFill>
            <a:prstDash val="solid"/>
          </a:ln>
        </p:spPr>
      </p:sp>
      <p:sp>
        <p:nvSpPr>
          <p:cNvPr id="25" name="Text 21"/>
          <p:cNvSpPr/>
          <p:nvPr/>
        </p:nvSpPr>
        <p:spPr>
          <a:xfrm>
            <a:off x="10005060" y="3977640"/>
            <a:ext cx="1543812" cy="822960"/>
          </a:xfrm>
          <a:prstGeom prst="rect">
            <a:avLst/>
          </a:prstGeom>
          <a:noFill/>
          <a:ln/>
        </p:spPr>
        <p:txBody>
          <a:bodyPr wrap="square" lIns="0" tIns="0" rIns="0" bIns="0" rtlCol="0" anchor="ctr"/>
          <a:lstStyle/>
          <a:p>
            <a:pPr algn="ctr" indent="0" marL="0">
              <a:buNone/>
            </a:pPr>
            <a:r>
              <a:rPr lang="en-US" sz="1800" b="1" dirty="0">
                <a:solidFill>
                  <a:srgbClr val="0D1219"/>
                </a:solidFill>
                <a:latin typeface="Arial" pitchFamily="34" charset="0"/>
                <a:ea typeface="Arial" pitchFamily="34" charset="-122"/>
                <a:cs typeface="Arial" pitchFamily="34" charset="-120"/>
              </a:rPr>
              <a:t>PUBLISH</a:t>
            </a:r>
            <a:endParaRPr lang="en-US" sz="1800" dirty="0"/>
          </a:p>
        </p:txBody>
      </p:sp>
      <p:sp>
        <p:nvSpPr>
          <p:cNvPr id="26" name="Shape 22"/>
          <p:cNvSpPr/>
          <p:nvPr/>
        </p:nvSpPr>
        <p:spPr>
          <a:xfrm>
            <a:off x="10776966" y="4818888"/>
            <a:ext cx="0" cy="256032"/>
          </a:xfrm>
          <a:prstGeom prst="line">
            <a:avLst/>
          </a:prstGeom>
          <a:noFill/>
          <a:ln w="19050">
            <a:solidFill>
              <a:srgbClr val="0D1219"/>
            </a:solidFill>
            <a:prstDash val="solid"/>
          </a:ln>
        </p:spPr>
      </p:sp>
      <p:sp>
        <p:nvSpPr>
          <p:cNvPr id="27" name="Shape 23"/>
          <p:cNvSpPr/>
          <p:nvPr/>
        </p:nvSpPr>
        <p:spPr>
          <a:xfrm flipH="1">
            <a:off x="1411986" y="5074920"/>
            <a:ext cx="9364980" cy="0"/>
          </a:xfrm>
          <a:prstGeom prst="line">
            <a:avLst/>
          </a:prstGeom>
          <a:noFill/>
          <a:ln w="19050">
            <a:solidFill>
              <a:srgbClr val="0D1219"/>
            </a:solidFill>
            <a:prstDash val="solid"/>
          </a:ln>
        </p:spPr>
      </p:sp>
      <p:sp>
        <p:nvSpPr>
          <p:cNvPr id="28" name="Shape 24"/>
          <p:cNvSpPr/>
          <p:nvPr/>
        </p:nvSpPr>
        <p:spPr>
          <a:xfrm flipV="1">
            <a:off x="1411986" y="4873752"/>
            <a:ext cx="0" cy="201168"/>
          </a:xfrm>
          <a:prstGeom prst="line">
            <a:avLst/>
          </a:prstGeom>
          <a:noFill/>
          <a:ln w="19050">
            <a:solidFill>
              <a:srgbClr val="0D1219"/>
            </a:solidFill>
            <a:prstDash val="solid"/>
            <a:tailEnd type="triangle"/>
          </a:ln>
        </p:spPr>
      </p:sp>
      <p:sp>
        <p:nvSpPr>
          <p:cNvPr id="29" name="Text 25"/>
          <p:cNvSpPr/>
          <p:nvPr/>
        </p:nvSpPr>
        <p:spPr>
          <a:xfrm>
            <a:off x="2183892" y="5111496"/>
            <a:ext cx="7821168"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and again, for the next increment</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1 · HOW SOFTWARE GETS BUILT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9:00 – 9:20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Is a beautiful game with wrong scoring finished?</a:t>
            </a:r>
            <a:endParaRPr lang="en-US" sz="3200" dirty="0"/>
          </a:p>
        </p:txBody>
      </p:sp>
      <p:sp>
        <p:nvSpPr>
          <p:cNvPr id="8" name="Text 4"/>
          <p:cNvSpPr txBox="1"/>
          <p:nvPr/>
        </p:nvSpPr>
        <p:spPr>
          <a:xfrm>
            <a:off x="640080" y="237744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SENTENCE FOR THE DAY</a:t>
            </a:r>
            <a:endParaRPr lang="en-US" sz="1100" dirty="0"/>
          </a:p>
        </p:txBody>
      </p:sp>
      <p:sp>
        <p:nvSpPr>
          <p:cNvPr id="9" name="Text 5"/>
          <p:cNvSpPr txBox="1"/>
          <p:nvPr/>
        </p:nvSpPr>
        <p:spPr>
          <a:xfrm>
            <a:off x="640080" y="2743200"/>
            <a:ext cx="10908792" cy="1828800"/>
          </a:xfrm>
          <a:prstGeom prst="rect">
            <a:avLst/>
          </a:prstGeom>
          <a:noFill/>
          <a:ln/>
        </p:spPr>
        <p:txBody>
          <a:bodyPr wrap="square" lIns="0" tIns="0" rIns="0" bIns="0" rtlCol="0" anchor="t"/>
          <a:lstStyle/>
          <a:p>
            <a:pPr algn="l" indent="0" marL="0">
              <a:lnSpc>
                <a:spcPct val="115000"/>
              </a:lnSpc>
              <a:buNone/>
            </a:pPr>
            <a:r>
              <a:rPr lang="en-US" sz="3400" b="1" dirty="0">
                <a:solidFill>
                  <a:srgbClr val="0D1219"/>
                </a:solidFill>
                <a:latin typeface="Arial" pitchFamily="34" charset="0"/>
                <a:ea typeface="Arial" pitchFamily="34" charset="-122"/>
                <a:cs typeface="Arial" pitchFamily="34" charset="-120"/>
              </a:rPr>
              <a:t>Describe the outcome, build in small steps, check the evidence, save progress.</a:t>
            </a:r>
            <a:endParaRPr lang="en-US" sz="3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THE MAP OF TOOLS · DOCS/PLATFORM-LANDSCAPE.MD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9:20 – 9:30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800" b="1" dirty="0">
                <a:solidFill>
                  <a:srgbClr val="0D1219"/>
                </a:solidFill>
                <a:latin typeface="Arial" pitchFamily="34" charset="0"/>
                <a:ea typeface="Arial" pitchFamily="34" charset="-122"/>
                <a:cs typeface="Arial" pitchFamily="34" charset="-120"/>
              </a:rPr>
              <a:t>Eight tools, one line: where does your code live afterward?</a:t>
            </a:r>
            <a:endParaRPr lang="en-US" sz="28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Placed by the “Your GitHub?” column of the landscape doc. Prices and menus drift; the line doesn’t.</a:t>
            </a:r>
            <a:endParaRPr lang="en-US" sz="1600" dirty="0"/>
          </a:p>
        </p:txBody>
      </p:sp>
      <p:sp>
        <p:nvSpPr>
          <p:cNvPr id="9" name="Shape 5"/>
          <p:cNvSpPr/>
          <p:nvPr/>
        </p:nvSpPr>
        <p:spPr>
          <a:xfrm>
            <a:off x="1097280" y="3977640"/>
            <a:ext cx="9994392" cy="0"/>
          </a:xfrm>
          <a:prstGeom prst="line">
            <a:avLst/>
          </a:prstGeom>
          <a:noFill/>
          <a:ln w="31750">
            <a:solidFill>
              <a:srgbClr val="0D1219"/>
            </a:solidFill>
            <a:prstDash val="solid"/>
            <a:tailEnd type="triangle"/>
          </a:ln>
        </p:spPr>
      </p:sp>
      <p:sp>
        <p:nvSpPr>
          <p:cNvPr id="10" name="Text 6"/>
          <p:cNvSpPr txBox="1"/>
          <p:nvPr/>
        </p:nvSpPr>
        <p:spPr>
          <a:xfrm>
            <a:off x="640080" y="2011680"/>
            <a:ext cx="5486400" cy="274320"/>
          </a:xfrm>
          <a:prstGeom prst="rect">
            <a:avLst/>
          </a:prstGeom>
          <a:noFill/>
          <a:ln/>
        </p:spPr>
        <p:txBody>
          <a:bodyPr wrap="square" lIns="0" tIns="0" rIns="0" bIns="0" rtlCol="0" anchor="t"/>
          <a:lstStyle/>
          <a:p>
            <a:pPr algn="l" indent="0" marL="0">
              <a:lnSpc>
                <a:spcPct val="115000"/>
              </a:lnSpc>
              <a:buNone/>
            </a:pPr>
            <a:r>
              <a:rPr lang="en-US" sz="1100" b="1" dirty="0">
                <a:solidFill>
                  <a:srgbClr val="5B6675"/>
                </a:solidFill>
                <a:latin typeface="Courier New" pitchFamily="34" charset="0"/>
                <a:ea typeface="Courier New" pitchFamily="34" charset="-122"/>
                <a:cs typeface="Courier New" pitchFamily="34" charset="-120"/>
              </a:rPr>
              <a:t>◀  HOSTED BUILDER · their code, their servers</a:t>
            </a:r>
            <a:endParaRPr lang="en-US" sz="1100" dirty="0"/>
          </a:p>
        </p:txBody>
      </p:sp>
      <p:sp>
        <p:nvSpPr>
          <p:cNvPr id="11" name="Text 7"/>
          <p:cNvSpPr txBox="1"/>
          <p:nvPr/>
        </p:nvSpPr>
        <p:spPr>
          <a:xfrm>
            <a:off x="6062472" y="2011680"/>
            <a:ext cx="5486400" cy="274320"/>
          </a:xfrm>
          <a:prstGeom prst="rect">
            <a:avLst/>
          </a:prstGeom>
          <a:noFill/>
          <a:ln/>
        </p:spPr>
        <p:txBody>
          <a:bodyPr wrap="square" lIns="0" tIns="0" rIns="0" bIns="0" rtlCol="0" anchor="t"/>
          <a:lstStyle/>
          <a:p>
            <a:pPr algn="r" indent="0" marL="0">
              <a:lnSpc>
                <a:spcPct val="115000"/>
              </a:lnSpc>
              <a:buNone/>
            </a:pPr>
            <a:r>
              <a:rPr lang="en-US" sz="1100" b="1" dirty="0">
                <a:solidFill>
                  <a:srgbClr val="5B6675"/>
                </a:solidFill>
                <a:latin typeface="Courier New" pitchFamily="34" charset="0"/>
                <a:ea typeface="Courier New" pitchFamily="34" charset="-122"/>
                <a:cs typeface="Courier New" pitchFamily="34" charset="-120"/>
              </a:rPr>
              <a:t>YOUR REPO · your Vercel  ▶</a:t>
            </a:r>
            <a:endParaRPr lang="en-US" sz="1100" dirty="0"/>
          </a:p>
        </p:txBody>
      </p:sp>
      <p:sp>
        <p:nvSpPr>
          <p:cNvPr id="12" name="Shape 8"/>
          <p:cNvSpPr/>
          <p:nvPr/>
        </p:nvSpPr>
        <p:spPr>
          <a:xfrm>
            <a:off x="1378184" y="3858768"/>
            <a:ext cx="237744" cy="237744"/>
          </a:xfrm>
          <a:prstGeom prst="ellipse">
            <a:avLst/>
          </a:prstGeom>
          <a:solidFill>
            <a:srgbClr val="307FE2"/>
          </a:solidFill>
          <a:ln w="12700">
            <a:solidFill>
              <a:srgbClr val="FFFFFF"/>
            </a:solidFill>
            <a:prstDash val="solid"/>
          </a:ln>
        </p:spPr>
      </p:sp>
      <p:sp>
        <p:nvSpPr>
          <p:cNvPr id="13" name="Shape 9"/>
          <p:cNvSpPr/>
          <p:nvPr/>
        </p:nvSpPr>
        <p:spPr>
          <a:xfrm flipV="1">
            <a:off x="1497056" y="3474720"/>
            <a:ext cx="0" cy="356616"/>
          </a:xfrm>
          <a:prstGeom prst="line">
            <a:avLst/>
          </a:prstGeom>
          <a:noFill/>
          <a:ln w="12700">
            <a:solidFill>
              <a:srgbClr val="D9E0EA"/>
            </a:solidFill>
            <a:prstDash val="solid"/>
          </a:ln>
        </p:spPr>
      </p:sp>
      <p:sp>
        <p:nvSpPr>
          <p:cNvPr id="14" name="Text 10"/>
          <p:cNvSpPr txBox="1"/>
          <p:nvPr/>
        </p:nvSpPr>
        <p:spPr>
          <a:xfrm>
            <a:off x="354056" y="2377440"/>
            <a:ext cx="2286000" cy="310896"/>
          </a:xfrm>
          <a:prstGeom prst="rect">
            <a:avLst/>
          </a:prstGeom>
          <a:noFill/>
          <a:ln/>
        </p:spPr>
        <p:txBody>
          <a:bodyPr wrap="square" lIns="0" tIns="0" rIns="0" bIns="0" rtlCol="0" anchor="b"/>
          <a:lstStyle/>
          <a:p>
            <a:pPr algn="ctr" indent="0" marL="0">
              <a:lnSpc>
                <a:spcPct val="100000"/>
              </a:lnSpc>
              <a:buNone/>
            </a:pPr>
            <a:r>
              <a:rPr lang="en-US" sz="1500" b="1" dirty="0">
                <a:solidFill>
                  <a:srgbClr val="307FE2"/>
                </a:solidFill>
                <a:latin typeface="Arial" pitchFamily="34" charset="0"/>
                <a:ea typeface="Arial" pitchFamily="34" charset="-122"/>
                <a:cs typeface="Arial" pitchFamily="34" charset="-120"/>
              </a:rPr>
              <a:t>Emergent</a:t>
            </a:r>
            <a:endParaRPr lang="en-US" sz="1500" dirty="0"/>
          </a:p>
        </p:txBody>
      </p:sp>
      <p:sp>
        <p:nvSpPr>
          <p:cNvPr id="15" name="Text 11"/>
          <p:cNvSpPr txBox="1"/>
          <p:nvPr/>
        </p:nvSpPr>
        <p:spPr>
          <a:xfrm>
            <a:off x="354056" y="2706624"/>
            <a:ext cx="2286000" cy="777240"/>
          </a:xfrm>
          <a:prstGeom prst="rect">
            <a:avLst/>
          </a:prstGeom>
          <a:noFill/>
          <a:ln/>
        </p:spPr>
        <p:txBody>
          <a:bodyPr wrap="square" lIns="0" tIns="0" rIns="0" bIns="0" rtlCol="0" anchor="b"/>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GitHub only on paid plans; which way it syncs is unverified</a:t>
            </a:r>
            <a:endParaRPr lang="en-US" sz="1150" dirty="0"/>
          </a:p>
        </p:txBody>
      </p:sp>
      <p:sp>
        <p:nvSpPr>
          <p:cNvPr id="16" name="Shape 12"/>
          <p:cNvSpPr/>
          <p:nvPr/>
        </p:nvSpPr>
        <p:spPr>
          <a:xfrm>
            <a:off x="2677455" y="3858768"/>
            <a:ext cx="237744" cy="237744"/>
          </a:xfrm>
          <a:prstGeom prst="ellipse">
            <a:avLst/>
          </a:prstGeom>
          <a:solidFill>
            <a:srgbClr val="307FE2"/>
          </a:solidFill>
          <a:ln w="12700">
            <a:solidFill>
              <a:srgbClr val="FFFFFF"/>
            </a:solidFill>
            <a:prstDash val="solid"/>
          </a:ln>
        </p:spPr>
      </p:sp>
      <p:sp>
        <p:nvSpPr>
          <p:cNvPr id="17" name="Shape 13"/>
          <p:cNvSpPr/>
          <p:nvPr/>
        </p:nvSpPr>
        <p:spPr>
          <a:xfrm>
            <a:off x="2796327" y="4123944"/>
            <a:ext cx="0" cy="356616"/>
          </a:xfrm>
          <a:prstGeom prst="line">
            <a:avLst/>
          </a:prstGeom>
          <a:noFill/>
          <a:ln w="12700">
            <a:solidFill>
              <a:srgbClr val="D9E0EA"/>
            </a:solidFill>
            <a:prstDash val="solid"/>
          </a:ln>
        </p:spPr>
      </p:sp>
      <p:sp>
        <p:nvSpPr>
          <p:cNvPr id="18" name="Text 14"/>
          <p:cNvSpPr txBox="1"/>
          <p:nvPr/>
        </p:nvSpPr>
        <p:spPr>
          <a:xfrm>
            <a:off x="1653327" y="4526280"/>
            <a:ext cx="22860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307FE2"/>
                </a:solidFill>
                <a:latin typeface="Arial" pitchFamily="34" charset="0"/>
                <a:ea typeface="Arial" pitchFamily="34" charset="-122"/>
                <a:cs typeface="Arial" pitchFamily="34" charset="-120"/>
              </a:rPr>
              <a:t>Base44</a:t>
            </a:r>
            <a:endParaRPr lang="en-US" sz="1500" dirty="0"/>
          </a:p>
        </p:txBody>
      </p:sp>
      <p:sp>
        <p:nvSpPr>
          <p:cNvPr id="19" name="Text 15"/>
          <p:cNvSpPr txBox="1"/>
          <p:nvPr/>
        </p:nvSpPr>
        <p:spPr>
          <a:xfrm>
            <a:off x="1653327" y="4855464"/>
            <a:ext cx="2286000" cy="777240"/>
          </a:xfrm>
          <a:prstGeom prst="rect">
            <a:avLst/>
          </a:prstGeom>
          <a:noFill/>
          <a:ln/>
        </p:spPr>
        <p:txBody>
          <a:bodyPr wrap="square" lIns="0" tIns="0" rIns="0" bIns="0" rtlCol="0" anchor="t"/>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Code syncs; your data and backend stay on Base44</a:t>
            </a:r>
            <a:endParaRPr lang="en-US" sz="1150" dirty="0"/>
          </a:p>
        </p:txBody>
      </p:sp>
      <p:sp>
        <p:nvSpPr>
          <p:cNvPr id="20" name="Shape 16"/>
          <p:cNvSpPr/>
          <p:nvPr/>
        </p:nvSpPr>
        <p:spPr>
          <a:xfrm>
            <a:off x="4076670" y="3858768"/>
            <a:ext cx="237744" cy="237744"/>
          </a:xfrm>
          <a:prstGeom prst="ellipse">
            <a:avLst/>
          </a:prstGeom>
          <a:solidFill>
            <a:srgbClr val="307FE2"/>
          </a:solidFill>
          <a:ln w="12700">
            <a:solidFill>
              <a:srgbClr val="FFFFFF"/>
            </a:solidFill>
            <a:prstDash val="solid"/>
          </a:ln>
        </p:spPr>
      </p:sp>
      <p:sp>
        <p:nvSpPr>
          <p:cNvPr id="21" name="Shape 17"/>
          <p:cNvSpPr/>
          <p:nvPr/>
        </p:nvSpPr>
        <p:spPr>
          <a:xfrm flipV="1">
            <a:off x="4195542" y="3474720"/>
            <a:ext cx="0" cy="356616"/>
          </a:xfrm>
          <a:prstGeom prst="line">
            <a:avLst/>
          </a:prstGeom>
          <a:noFill/>
          <a:ln w="12700">
            <a:solidFill>
              <a:srgbClr val="D9E0EA"/>
            </a:solidFill>
            <a:prstDash val="solid"/>
          </a:ln>
        </p:spPr>
      </p:sp>
      <p:sp>
        <p:nvSpPr>
          <p:cNvPr id="22" name="Text 18"/>
          <p:cNvSpPr txBox="1"/>
          <p:nvPr/>
        </p:nvSpPr>
        <p:spPr>
          <a:xfrm>
            <a:off x="3052542" y="2377440"/>
            <a:ext cx="2286000" cy="310896"/>
          </a:xfrm>
          <a:prstGeom prst="rect">
            <a:avLst/>
          </a:prstGeom>
          <a:noFill/>
          <a:ln/>
        </p:spPr>
        <p:txBody>
          <a:bodyPr wrap="square" lIns="0" tIns="0" rIns="0" bIns="0" rtlCol="0" anchor="b"/>
          <a:lstStyle/>
          <a:p>
            <a:pPr algn="ctr" indent="0" marL="0">
              <a:lnSpc>
                <a:spcPct val="100000"/>
              </a:lnSpc>
              <a:buNone/>
            </a:pPr>
            <a:r>
              <a:rPr lang="en-US" sz="1300" b="1" dirty="0">
                <a:solidFill>
                  <a:srgbClr val="307FE2"/>
                </a:solidFill>
                <a:latin typeface="Arial" pitchFamily="34" charset="0"/>
                <a:ea typeface="Arial" pitchFamily="34" charset="-122"/>
                <a:cs typeface="Arial" pitchFamily="34" charset="-120"/>
              </a:rPr>
              <a:t>Google AI Studio</a:t>
            </a:r>
            <a:endParaRPr lang="en-US" sz="1300" dirty="0"/>
          </a:p>
        </p:txBody>
      </p:sp>
      <p:sp>
        <p:nvSpPr>
          <p:cNvPr id="23" name="Text 19"/>
          <p:cNvSpPr txBox="1"/>
          <p:nvPr/>
        </p:nvSpPr>
        <p:spPr>
          <a:xfrm>
            <a:off x="3052542" y="2706624"/>
            <a:ext cx="2286000" cy="777240"/>
          </a:xfrm>
          <a:prstGeom prst="rect">
            <a:avLst/>
          </a:prstGeom>
          <a:noFill/>
          <a:ln/>
        </p:spPr>
        <p:txBody>
          <a:bodyPr wrap="square" lIns="0" tIns="0" rIns="0" bIns="0" rtlCol="0" anchor="b"/>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Push, import, or download a ZIP</a:t>
            </a:r>
            <a:endParaRPr lang="en-US" sz="1150" dirty="0"/>
          </a:p>
        </p:txBody>
      </p:sp>
      <p:sp>
        <p:nvSpPr>
          <p:cNvPr id="24" name="Shape 20"/>
          <p:cNvSpPr/>
          <p:nvPr/>
        </p:nvSpPr>
        <p:spPr>
          <a:xfrm>
            <a:off x="5475884" y="3858768"/>
            <a:ext cx="237744" cy="237744"/>
          </a:xfrm>
          <a:prstGeom prst="ellipse">
            <a:avLst/>
          </a:prstGeom>
          <a:solidFill>
            <a:srgbClr val="307FE2"/>
          </a:solidFill>
          <a:ln w="12700">
            <a:solidFill>
              <a:srgbClr val="FFFFFF"/>
            </a:solidFill>
            <a:prstDash val="solid"/>
          </a:ln>
        </p:spPr>
      </p:sp>
      <p:sp>
        <p:nvSpPr>
          <p:cNvPr id="25" name="Shape 21"/>
          <p:cNvSpPr/>
          <p:nvPr/>
        </p:nvSpPr>
        <p:spPr>
          <a:xfrm>
            <a:off x="5594756" y="4123944"/>
            <a:ext cx="0" cy="356616"/>
          </a:xfrm>
          <a:prstGeom prst="line">
            <a:avLst/>
          </a:prstGeom>
          <a:noFill/>
          <a:ln w="12700">
            <a:solidFill>
              <a:srgbClr val="D9E0EA"/>
            </a:solidFill>
            <a:prstDash val="solid"/>
          </a:ln>
        </p:spPr>
      </p:sp>
      <p:sp>
        <p:nvSpPr>
          <p:cNvPr id="26" name="Text 22"/>
          <p:cNvSpPr txBox="1"/>
          <p:nvPr/>
        </p:nvSpPr>
        <p:spPr>
          <a:xfrm>
            <a:off x="4451756" y="4526280"/>
            <a:ext cx="22860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307FE2"/>
                </a:solidFill>
                <a:latin typeface="Arial" pitchFamily="34" charset="0"/>
                <a:ea typeface="Arial" pitchFamily="34" charset="-122"/>
                <a:cs typeface="Arial" pitchFamily="34" charset="-120"/>
              </a:rPr>
              <a:t>Lovable</a:t>
            </a:r>
            <a:endParaRPr lang="en-US" sz="1500" dirty="0"/>
          </a:p>
        </p:txBody>
      </p:sp>
      <p:sp>
        <p:nvSpPr>
          <p:cNvPr id="27" name="Text 23"/>
          <p:cNvSpPr txBox="1"/>
          <p:nvPr/>
        </p:nvSpPr>
        <p:spPr>
          <a:xfrm>
            <a:off x="4451756" y="4855464"/>
            <a:ext cx="2286000" cy="777240"/>
          </a:xfrm>
          <a:prstGeom prst="rect">
            <a:avLst/>
          </a:prstGeom>
          <a:noFill/>
          <a:ln/>
        </p:spPr>
        <p:txBody>
          <a:bodyPr wrap="square" lIns="0" tIns="0" rIns="0" bIns="0" rtlCol="0" anchor="t"/>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Two-way sync, one branch, every plan</a:t>
            </a:r>
            <a:endParaRPr lang="en-US" sz="1150" dirty="0"/>
          </a:p>
        </p:txBody>
      </p:sp>
      <p:sp>
        <p:nvSpPr>
          <p:cNvPr id="28" name="Shape 24"/>
          <p:cNvSpPr/>
          <p:nvPr/>
        </p:nvSpPr>
        <p:spPr>
          <a:xfrm>
            <a:off x="6775155" y="3858768"/>
            <a:ext cx="237744" cy="237744"/>
          </a:xfrm>
          <a:prstGeom prst="ellipse">
            <a:avLst/>
          </a:prstGeom>
          <a:solidFill>
            <a:srgbClr val="307FE2"/>
          </a:solidFill>
          <a:ln w="12700">
            <a:solidFill>
              <a:srgbClr val="FFFFFF"/>
            </a:solidFill>
            <a:prstDash val="solid"/>
          </a:ln>
        </p:spPr>
      </p:sp>
      <p:sp>
        <p:nvSpPr>
          <p:cNvPr id="29" name="Shape 25"/>
          <p:cNvSpPr/>
          <p:nvPr/>
        </p:nvSpPr>
        <p:spPr>
          <a:xfrm flipV="1">
            <a:off x="6894027" y="3474720"/>
            <a:ext cx="0" cy="356616"/>
          </a:xfrm>
          <a:prstGeom prst="line">
            <a:avLst/>
          </a:prstGeom>
          <a:noFill/>
          <a:ln w="12700">
            <a:solidFill>
              <a:srgbClr val="D9E0EA"/>
            </a:solidFill>
            <a:prstDash val="solid"/>
          </a:ln>
        </p:spPr>
      </p:sp>
      <p:sp>
        <p:nvSpPr>
          <p:cNvPr id="30" name="Text 26"/>
          <p:cNvSpPr txBox="1"/>
          <p:nvPr/>
        </p:nvSpPr>
        <p:spPr>
          <a:xfrm>
            <a:off x="5751027" y="2377440"/>
            <a:ext cx="2286000" cy="310896"/>
          </a:xfrm>
          <a:prstGeom prst="rect">
            <a:avLst/>
          </a:prstGeom>
          <a:noFill/>
          <a:ln/>
        </p:spPr>
        <p:txBody>
          <a:bodyPr wrap="square" lIns="0" tIns="0" rIns="0" bIns="0" rtlCol="0" anchor="b"/>
          <a:lstStyle/>
          <a:p>
            <a:pPr algn="ctr" indent="0" marL="0">
              <a:lnSpc>
                <a:spcPct val="100000"/>
              </a:lnSpc>
              <a:buNone/>
            </a:pPr>
            <a:r>
              <a:rPr lang="en-US" sz="1500" b="1" dirty="0">
                <a:solidFill>
                  <a:srgbClr val="307FE2"/>
                </a:solidFill>
                <a:latin typeface="Arial" pitchFamily="34" charset="0"/>
                <a:ea typeface="Arial" pitchFamily="34" charset="-122"/>
                <a:cs typeface="Arial" pitchFamily="34" charset="-120"/>
              </a:rPr>
              <a:t>Bolt.new</a:t>
            </a:r>
            <a:endParaRPr lang="en-US" sz="1500" dirty="0"/>
          </a:p>
        </p:txBody>
      </p:sp>
      <p:sp>
        <p:nvSpPr>
          <p:cNvPr id="31" name="Text 27"/>
          <p:cNvSpPr txBox="1"/>
          <p:nvPr/>
        </p:nvSpPr>
        <p:spPr>
          <a:xfrm>
            <a:off x="5751027" y="2706624"/>
            <a:ext cx="2286000" cy="777240"/>
          </a:xfrm>
          <a:prstGeom prst="rect">
            <a:avLst/>
          </a:prstGeom>
          <a:noFill/>
          <a:ln/>
        </p:spPr>
        <p:txBody>
          <a:bodyPr wrap="square" lIns="0" tIns="0" rIns="0" bIns="0" rtlCol="0" anchor="b"/>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Two-way sync; imports a repo you already have</a:t>
            </a:r>
            <a:endParaRPr lang="en-US" sz="1150" dirty="0"/>
          </a:p>
        </p:txBody>
      </p:sp>
      <p:sp>
        <p:nvSpPr>
          <p:cNvPr id="32" name="Shape 28"/>
          <p:cNvSpPr/>
          <p:nvPr/>
        </p:nvSpPr>
        <p:spPr>
          <a:xfrm>
            <a:off x="7974482" y="3858768"/>
            <a:ext cx="237744" cy="237744"/>
          </a:xfrm>
          <a:prstGeom prst="ellipse">
            <a:avLst/>
          </a:prstGeom>
          <a:solidFill>
            <a:srgbClr val="307FE2"/>
          </a:solidFill>
          <a:ln w="12700">
            <a:solidFill>
              <a:srgbClr val="FFFFFF"/>
            </a:solidFill>
            <a:prstDash val="solid"/>
          </a:ln>
        </p:spPr>
      </p:sp>
      <p:sp>
        <p:nvSpPr>
          <p:cNvPr id="33" name="Shape 29"/>
          <p:cNvSpPr/>
          <p:nvPr/>
        </p:nvSpPr>
        <p:spPr>
          <a:xfrm>
            <a:off x="8093354" y="4123944"/>
            <a:ext cx="0" cy="356616"/>
          </a:xfrm>
          <a:prstGeom prst="line">
            <a:avLst/>
          </a:prstGeom>
          <a:noFill/>
          <a:ln w="12700">
            <a:solidFill>
              <a:srgbClr val="D9E0EA"/>
            </a:solidFill>
            <a:prstDash val="solid"/>
          </a:ln>
        </p:spPr>
      </p:sp>
      <p:sp>
        <p:nvSpPr>
          <p:cNvPr id="34" name="Text 30"/>
          <p:cNvSpPr txBox="1"/>
          <p:nvPr/>
        </p:nvSpPr>
        <p:spPr>
          <a:xfrm>
            <a:off x="6950354" y="4526280"/>
            <a:ext cx="2286000" cy="310896"/>
          </a:xfrm>
          <a:prstGeom prst="rect">
            <a:avLst/>
          </a:prstGeom>
          <a:noFill/>
          <a:ln/>
        </p:spPr>
        <p:txBody>
          <a:bodyPr wrap="square" lIns="0" tIns="0" rIns="0" bIns="0" rtlCol="0" anchor="t"/>
          <a:lstStyle/>
          <a:p>
            <a:pPr algn="ctr" indent="0" marL="0">
              <a:lnSpc>
                <a:spcPct val="100000"/>
              </a:lnSpc>
              <a:buNone/>
            </a:pPr>
            <a:r>
              <a:rPr lang="en-US" sz="1500" b="1" dirty="0">
                <a:solidFill>
                  <a:srgbClr val="307FE2"/>
                </a:solidFill>
                <a:latin typeface="Arial" pitchFamily="34" charset="0"/>
                <a:ea typeface="Arial" pitchFamily="34" charset="-122"/>
                <a:cs typeface="Arial" pitchFamily="34" charset="-120"/>
              </a:rPr>
              <a:t>Replit</a:t>
            </a:r>
            <a:endParaRPr lang="en-US" sz="1500" dirty="0"/>
          </a:p>
        </p:txBody>
      </p:sp>
      <p:sp>
        <p:nvSpPr>
          <p:cNvPr id="35" name="Text 31"/>
          <p:cNvSpPr txBox="1"/>
          <p:nvPr/>
        </p:nvSpPr>
        <p:spPr>
          <a:xfrm>
            <a:off x="6950354" y="4855464"/>
            <a:ext cx="2286000" cy="777240"/>
          </a:xfrm>
          <a:prstGeom prst="rect">
            <a:avLst/>
          </a:prstGeom>
          <a:noFill/>
          <a:ln/>
        </p:spPr>
        <p:txBody>
          <a:bodyPr wrap="square" lIns="0" tIns="0" rIns="0" bIns="0" rtlCol="0" anchor="t"/>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Two-way through its own Git pane</a:t>
            </a:r>
            <a:endParaRPr lang="en-US" sz="1150" dirty="0"/>
          </a:p>
        </p:txBody>
      </p:sp>
      <p:sp>
        <p:nvSpPr>
          <p:cNvPr id="36" name="Shape 32"/>
          <p:cNvSpPr/>
          <p:nvPr/>
        </p:nvSpPr>
        <p:spPr>
          <a:xfrm>
            <a:off x="9373697" y="3858768"/>
            <a:ext cx="237744" cy="237744"/>
          </a:xfrm>
          <a:prstGeom prst="ellipse">
            <a:avLst/>
          </a:prstGeom>
          <a:solidFill>
            <a:srgbClr val="EF8B39"/>
          </a:solidFill>
          <a:ln w="12700">
            <a:solidFill>
              <a:srgbClr val="FFFFFF"/>
            </a:solidFill>
            <a:prstDash val="solid"/>
          </a:ln>
        </p:spPr>
      </p:sp>
      <p:sp>
        <p:nvSpPr>
          <p:cNvPr id="37" name="Shape 33"/>
          <p:cNvSpPr/>
          <p:nvPr/>
        </p:nvSpPr>
        <p:spPr>
          <a:xfrm flipV="1">
            <a:off x="9492569" y="3474720"/>
            <a:ext cx="0" cy="356616"/>
          </a:xfrm>
          <a:prstGeom prst="line">
            <a:avLst/>
          </a:prstGeom>
          <a:noFill/>
          <a:ln w="12700">
            <a:solidFill>
              <a:srgbClr val="D9E0EA"/>
            </a:solidFill>
            <a:prstDash val="solid"/>
          </a:ln>
        </p:spPr>
      </p:sp>
      <p:sp>
        <p:nvSpPr>
          <p:cNvPr id="38" name="Text 34"/>
          <p:cNvSpPr txBox="1"/>
          <p:nvPr/>
        </p:nvSpPr>
        <p:spPr>
          <a:xfrm>
            <a:off x="8349569" y="2377440"/>
            <a:ext cx="2286000" cy="310896"/>
          </a:xfrm>
          <a:prstGeom prst="rect">
            <a:avLst/>
          </a:prstGeom>
          <a:noFill/>
          <a:ln/>
        </p:spPr>
        <p:txBody>
          <a:bodyPr wrap="square" lIns="0" tIns="0" rIns="0" bIns="0" rtlCol="0" anchor="b"/>
          <a:lstStyle/>
          <a:p>
            <a:pPr algn="ctr" indent="0" marL="0">
              <a:lnSpc>
                <a:spcPct val="100000"/>
              </a:lnSpc>
              <a:buNone/>
            </a:pPr>
            <a:r>
              <a:rPr lang="en-US" sz="1500" b="1" dirty="0">
                <a:solidFill>
                  <a:srgbClr val="EF8B39"/>
                </a:solidFill>
                <a:latin typeface="Arial" pitchFamily="34" charset="0"/>
                <a:ea typeface="Arial" pitchFamily="34" charset="-122"/>
                <a:cs typeface="Arial" pitchFamily="34" charset="-120"/>
              </a:rPr>
              <a:t>v0</a:t>
            </a:r>
            <a:endParaRPr lang="en-US" sz="1500" dirty="0"/>
          </a:p>
        </p:txBody>
      </p:sp>
      <p:sp>
        <p:nvSpPr>
          <p:cNvPr id="39" name="Text 35"/>
          <p:cNvSpPr txBox="1"/>
          <p:nvPr/>
        </p:nvSpPr>
        <p:spPr>
          <a:xfrm>
            <a:off x="8349569" y="2706624"/>
            <a:ext cx="2286000" cy="777240"/>
          </a:xfrm>
          <a:prstGeom prst="rect">
            <a:avLst/>
          </a:prstGeom>
          <a:noFill/>
          <a:ln/>
        </p:spPr>
        <p:txBody>
          <a:bodyPr wrap="square" lIns="0" tIns="0" rIns="0" bIns="0" rtlCol="0" anchor="b"/>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Branch and pull request into your repo; deploys to your Vercel</a:t>
            </a:r>
            <a:endParaRPr lang="en-US" sz="1150" dirty="0"/>
          </a:p>
        </p:txBody>
      </p:sp>
      <p:sp>
        <p:nvSpPr>
          <p:cNvPr id="40" name="Shape 36"/>
          <p:cNvSpPr/>
          <p:nvPr/>
        </p:nvSpPr>
        <p:spPr>
          <a:xfrm>
            <a:off x="10672968" y="3858768"/>
            <a:ext cx="237744" cy="237744"/>
          </a:xfrm>
          <a:prstGeom prst="ellipse">
            <a:avLst/>
          </a:prstGeom>
          <a:solidFill>
            <a:srgbClr val="307FE2"/>
          </a:solidFill>
          <a:ln w="12700">
            <a:solidFill>
              <a:srgbClr val="FFFFFF"/>
            </a:solidFill>
            <a:prstDash val="solid"/>
          </a:ln>
        </p:spPr>
      </p:sp>
      <p:sp>
        <p:nvSpPr>
          <p:cNvPr id="41" name="Shape 37"/>
          <p:cNvSpPr/>
          <p:nvPr/>
        </p:nvSpPr>
        <p:spPr>
          <a:xfrm>
            <a:off x="10791840" y="4123944"/>
            <a:ext cx="0" cy="356616"/>
          </a:xfrm>
          <a:prstGeom prst="line">
            <a:avLst/>
          </a:prstGeom>
          <a:noFill/>
          <a:ln w="12700">
            <a:solidFill>
              <a:srgbClr val="D9E0EA"/>
            </a:solidFill>
            <a:prstDash val="solid"/>
          </a:ln>
        </p:spPr>
      </p:sp>
      <p:sp>
        <p:nvSpPr>
          <p:cNvPr id="42" name="Text 38"/>
          <p:cNvSpPr txBox="1"/>
          <p:nvPr/>
        </p:nvSpPr>
        <p:spPr>
          <a:xfrm>
            <a:off x="9648840" y="4526280"/>
            <a:ext cx="2286000" cy="548640"/>
          </a:xfrm>
          <a:prstGeom prst="rect">
            <a:avLst/>
          </a:prstGeom>
          <a:noFill/>
          <a:ln/>
        </p:spPr>
        <p:txBody>
          <a:bodyPr wrap="square" lIns="0" tIns="0" rIns="0" bIns="0" rtlCol="0" anchor="t"/>
          <a:lstStyle/>
          <a:p>
            <a:pPr algn="ctr" indent="0" marL="0">
              <a:lnSpc>
                <a:spcPct val="100000"/>
              </a:lnSpc>
              <a:buNone/>
            </a:pPr>
            <a:r>
              <a:rPr lang="en-US" sz="1300" b="1" dirty="0">
                <a:solidFill>
                  <a:srgbClr val="307FE2"/>
                </a:solidFill>
                <a:latin typeface="Arial" pitchFamily="34" charset="0"/>
                <a:ea typeface="Arial" pitchFamily="34" charset="-122"/>
                <a:cs typeface="Arial" pitchFamily="34" charset="-120"/>
              </a:rPr>
              <a:t>Claude Code</a:t>
            </a:r>
            <a:endParaRPr lang="en-US" sz="1300" dirty="0"/>
          </a:p>
          <a:p>
            <a:pPr algn="ctr" indent="0" marL="0">
              <a:lnSpc>
                <a:spcPct val="100000"/>
              </a:lnSpc>
              <a:buNone/>
            </a:pPr>
            <a:r>
              <a:rPr lang="en-US" sz="1300" b="1" dirty="0">
                <a:solidFill>
                  <a:srgbClr val="307FE2"/>
                </a:solidFill>
                <a:latin typeface="Arial" pitchFamily="34" charset="0"/>
                <a:ea typeface="Arial" pitchFamily="34" charset="-122"/>
                <a:cs typeface="Arial" pitchFamily="34" charset="-120"/>
              </a:rPr>
              <a:t>Codex · Cursor</a:t>
            </a:r>
            <a:endParaRPr lang="en-US" sz="1300" dirty="0"/>
          </a:p>
        </p:txBody>
      </p:sp>
      <p:sp>
        <p:nvSpPr>
          <p:cNvPr id="43" name="Text 39"/>
          <p:cNvSpPr txBox="1"/>
          <p:nvPr/>
        </p:nvSpPr>
        <p:spPr>
          <a:xfrm>
            <a:off x="9648840" y="5093208"/>
            <a:ext cx="2286000" cy="777240"/>
          </a:xfrm>
          <a:prstGeom prst="rect">
            <a:avLst/>
          </a:prstGeom>
          <a:noFill/>
          <a:ln/>
        </p:spPr>
        <p:txBody>
          <a:bodyPr wrap="square" lIns="0" tIns="0" rIns="0" bIns="0" rtlCol="0" anchor="t"/>
          <a:lstStyle/>
          <a:p>
            <a:pPr algn="ctr" indent="0" marL="0">
              <a:lnSpc>
                <a:spcPct val="115000"/>
              </a:lnSpc>
              <a:buNone/>
            </a:pPr>
            <a:r>
              <a:rPr lang="en-US" sz="1150" dirty="0">
                <a:solidFill>
                  <a:srgbClr val="5B6675"/>
                </a:solidFill>
                <a:latin typeface="Arial" pitchFamily="34" charset="0"/>
                <a:ea typeface="Arial" pitchFamily="34" charset="-122"/>
                <a:cs typeface="Arial" pitchFamily="34" charset="-120"/>
              </a:rPr>
              <a:t>It is your folder. You make the commit.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THE MAP OF TOOLS · DOCS/PLATFORM-LANDSCAPE.MD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9:20 – 9:30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The one question to ask any tool.</a:t>
            </a:r>
            <a:endParaRPr lang="en-US" sz="3200" dirty="0"/>
          </a:p>
        </p:txBody>
      </p:sp>
      <p:sp>
        <p:nvSpPr>
          <p:cNvPr id="8" name="Text 4"/>
          <p:cNvSpPr txBox="1"/>
          <p:nvPr/>
        </p:nvSpPr>
        <p:spPr>
          <a:xfrm>
            <a:off x="640080" y="1645920"/>
            <a:ext cx="10908792" cy="1188720"/>
          </a:xfrm>
          <a:prstGeom prst="rect">
            <a:avLst/>
          </a:prstGeom>
          <a:noFill/>
          <a:ln/>
        </p:spPr>
        <p:txBody>
          <a:bodyPr wrap="square" lIns="0" tIns="0" rIns="0" bIns="0" rtlCol="0" anchor="t"/>
          <a:lstStyle/>
          <a:p>
            <a:pPr algn="l" indent="0" marL="0">
              <a:lnSpc>
                <a:spcPct val="115000"/>
              </a:lnSpc>
              <a:buNone/>
            </a:pPr>
            <a:r>
              <a:rPr lang="en-US" sz="3200" b="1" dirty="0">
                <a:solidFill>
                  <a:srgbClr val="EF8B39"/>
                </a:solidFill>
                <a:latin typeface="Arial" pitchFamily="34" charset="0"/>
                <a:ea typeface="Arial" pitchFamily="34" charset="-122"/>
                <a:cs typeface="Arial" pitchFamily="34" charset="-120"/>
              </a:rPr>
              <a:t>“Where does my code live afterward, and can I take it with me?”</a:t>
            </a:r>
            <a:endParaRPr lang="en-US" sz="3200" dirty="0"/>
          </a:p>
        </p:txBody>
      </p:sp>
      <p:sp>
        <p:nvSpPr>
          <p:cNvPr id="9" name="Text 5"/>
          <p:cNvSpPr txBox="1"/>
          <p:nvPr/>
        </p:nvSpPr>
        <p:spPr>
          <a:xfrm>
            <a:off x="640080" y="320040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THREE CAUTIONARY FACTS, VERIFIED, WITH DATES</a:t>
            </a:r>
            <a:endParaRPr lang="en-US" sz="1100" dirty="0"/>
          </a:p>
        </p:txBody>
      </p:sp>
      <p:sp>
        <p:nvSpPr>
          <p:cNvPr id="10" name="Text 6"/>
          <p:cNvSpPr txBox="1"/>
          <p:nvPr/>
        </p:nvSpPr>
        <p:spPr>
          <a:xfrm>
            <a:off x="640080" y="3566160"/>
            <a:ext cx="2194560" cy="621792"/>
          </a:xfrm>
          <a:prstGeom prst="rect">
            <a:avLst/>
          </a:prstGeom>
          <a:noFill/>
          <a:ln/>
        </p:spPr>
        <p:txBody>
          <a:bodyPr wrap="square" lIns="0" tIns="0" rIns="0" bIns="0" rtlCol="0" anchor="t"/>
          <a:lstStyle/>
          <a:p>
            <a:pPr indent="0" marL="0">
              <a:buNone/>
            </a:pPr>
            <a:r>
              <a:rPr lang="en-US" sz="1400" b="1" dirty="0">
                <a:solidFill>
                  <a:srgbClr val="0D1219"/>
                </a:solidFill>
                <a:latin typeface="Courier New" pitchFamily="34" charset="0"/>
                <a:ea typeface="Courier New" pitchFamily="34" charset="-122"/>
                <a:cs typeface="Courier New" pitchFamily="34" charset="-120"/>
              </a:rPr>
              <a:t>July 18, 2025</a:t>
            </a:r>
            <a:endParaRPr lang="en-US" sz="1400" dirty="0"/>
          </a:p>
        </p:txBody>
      </p:sp>
      <p:sp>
        <p:nvSpPr>
          <p:cNvPr id="11" name="Text 7"/>
          <p:cNvSpPr txBox="1"/>
          <p:nvPr/>
        </p:nvSpPr>
        <p:spPr>
          <a:xfrm>
            <a:off x="3017520" y="3593592"/>
            <a:ext cx="8531352" cy="621792"/>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Replit’s agent deleted a production database during a code freeze. Rollback worked. Replit now separates development and production databases.</a:t>
            </a:r>
            <a:endParaRPr lang="en-US" sz="1400" dirty="0"/>
          </a:p>
        </p:txBody>
      </p:sp>
      <p:sp>
        <p:nvSpPr>
          <p:cNvPr id="12" name="Text 8"/>
          <p:cNvSpPr txBox="1"/>
          <p:nvPr/>
        </p:nvSpPr>
        <p:spPr>
          <a:xfrm>
            <a:off x="640080" y="4279392"/>
            <a:ext cx="2194560" cy="621792"/>
          </a:xfrm>
          <a:prstGeom prst="rect">
            <a:avLst/>
          </a:prstGeom>
          <a:noFill/>
          <a:ln/>
        </p:spPr>
        <p:txBody>
          <a:bodyPr wrap="square" lIns="0" tIns="0" rIns="0" bIns="0" rtlCol="0" anchor="t"/>
          <a:lstStyle/>
          <a:p>
            <a:pPr indent="0" marL="0">
              <a:buNone/>
            </a:pPr>
            <a:r>
              <a:rPr lang="en-US" sz="1400" b="1" dirty="0">
                <a:solidFill>
                  <a:srgbClr val="0D1219"/>
                </a:solidFill>
                <a:latin typeface="Courier New" pitchFamily="34" charset="0"/>
                <a:ea typeface="Courier New" pitchFamily="34" charset="-122"/>
                <a:cs typeface="Courier New" pitchFamily="34" charset="-120"/>
              </a:rPr>
              <a:t>May 30, 2025</a:t>
            </a:r>
            <a:endParaRPr lang="en-US" sz="1400" dirty="0"/>
          </a:p>
        </p:txBody>
      </p:sp>
      <p:sp>
        <p:nvSpPr>
          <p:cNvPr id="13" name="Text 9"/>
          <p:cNvSpPr txBox="1"/>
          <p:nvPr/>
        </p:nvSpPr>
        <p:spPr>
          <a:xfrm>
            <a:off x="3017520" y="4306824"/>
            <a:ext cx="8531352" cy="621792"/>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CVE-2025-48757: one in ten scanned Lovable apps had a database anyone could read or write. Lovable added a pre-publish scan.</a:t>
            </a:r>
            <a:endParaRPr lang="en-US" sz="1400" dirty="0"/>
          </a:p>
        </p:txBody>
      </p:sp>
      <p:sp>
        <p:nvSpPr>
          <p:cNvPr id="14" name="Text 10"/>
          <p:cNvSpPr txBox="1"/>
          <p:nvPr/>
        </p:nvSpPr>
        <p:spPr>
          <a:xfrm>
            <a:off x="640080" y="4992624"/>
            <a:ext cx="2194560" cy="621792"/>
          </a:xfrm>
          <a:prstGeom prst="rect">
            <a:avLst/>
          </a:prstGeom>
          <a:noFill/>
          <a:ln/>
        </p:spPr>
        <p:txBody>
          <a:bodyPr wrap="square" lIns="0" tIns="0" rIns="0" bIns="0" rtlCol="0" anchor="t"/>
          <a:lstStyle/>
          <a:p>
            <a:pPr indent="0" marL="0">
              <a:buNone/>
            </a:pPr>
            <a:r>
              <a:rPr lang="en-US" sz="1400" b="1" dirty="0">
                <a:solidFill>
                  <a:srgbClr val="0D1219"/>
                </a:solidFill>
                <a:latin typeface="Courier New" pitchFamily="34" charset="0"/>
                <a:ea typeface="Courier New" pitchFamily="34" charset="-122"/>
                <a:cs typeface="Courier New" pitchFamily="34" charset="-120"/>
              </a:rPr>
              <a:t>June 18, 2025</a:t>
            </a:r>
            <a:endParaRPr lang="en-US" sz="1400" dirty="0"/>
          </a:p>
        </p:txBody>
      </p:sp>
      <p:sp>
        <p:nvSpPr>
          <p:cNvPr id="15" name="Text 11"/>
          <p:cNvSpPr txBox="1"/>
          <p:nvPr/>
        </p:nvSpPr>
        <p:spPr>
          <a:xfrm>
            <a:off x="3017520" y="5020056"/>
            <a:ext cx="8531352" cy="621792"/>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Wix bought Base44, six months after launch, for about $80 million. The product you build on can change owners.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2 · SETUP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9:30 – 9:55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Three accounts, one loop.</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v0 writes, GitHub remembers, Vercel ships. Nothing is installed on your laptop.</a:t>
            </a:r>
            <a:endParaRPr lang="en-US" sz="1600" dirty="0"/>
          </a:p>
        </p:txBody>
      </p:sp>
      <p:sp>
        <p:nvSpPr>
          <p:cNvPr id="9" name="Shape 5"/>
          <p:cNvSpPr/>
          <p:nvPr/>
        </p:nvSpPr>
        <p:spPr>
          <a:xfrm>
            <a:off x="1783080" y="2331720"/>
            <a:ext cx="1737360" cy="1737360"/>
          </a:xfrm>
          <a:prstGeom prst="ellipse">
            <a:avLst/>
          </a:prstGeom>
          <a:solidFill>
            <a:srgbClr val="EF8B39"/>
          </a:solidFill>
          <a:ln w="12700">
            <a:solidFill>
              <a:srgbClr val="EF8B39"/>
            </a:solidFill>
            <a:prstDash val="solid"/>
          </a:ln>
        </p:spPr>
      </p:sp>
      <p:sp>
        <p:nvSpPr>
          <p:cNvPr id="10" name="Text 6"/>
          <p:cNvSpPr/>
          <p:nvPr/>
        </p:nvSpPr>
        <p:spPr>
          <a:xfrm>
            <a:off x="1783080" y="2331720"/>
            <a:ext cx="1737360" cy="17373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v0</a:t>
            </a:r>
            <a:endParaRPr lang="en-US" sz="2600" dirty="0"/>
          </a:p>
        </p:txBody>
      </p:sp>
      <p:sp>
        <p:nvSpPr>
          <p:cNvPr id="11" name="Text 7"/>
          <p:cNvSpPr txBox="1"/>
          <p:nvPr/>
        </p:nvSpPr>
        <p:spPr>
          <a:xfrm>
            <a:off x="1325880" y="4206240"/>
            <a:ext cx="2651760" cy="548640"/>
          </a:xfrm>
          <a:prstGeom prst="rect">
            <a:avLst/>
          </a:prstGeom>
          <a:noFill/>
          <a:ln/>
        </p:spPr>
        <p:txBody>
          <a:bodyPr wrap="square" lIns="0" tIns="0" rIns="0" bIns="0" rtlCol="0" anchor="t"/>
          <a:lstStyle/>
          <a:p>
            <a:pPr algn="ctr" indent="0" marL="0">
              <a:lnSpc>
                <a:spcPct val="115000"/>
              </a:lnSpc>
              <a:buNone/>
            </a:pPr>
            <a:r>
              <a:rPr lang="en-US" sz="1500" dirty="0">
                <a:solidFill>
                  <a:srgbClr val="0D1219"/>
                </a:solidFill>
                <a:latin typeface="Arial" pitchFamily="34" charset="0"/>
                <a:ea typeface="Arial" pitchFamily="34" charset="-122"/>
                <a:cs typeface="Arial" pitchFamily="34" charset="-120"/>
              </a:rPr>
              <a:t>Writes the code you describe</a:t>
            </a:r>
            <a:endParaRPr lang="en-US" sz="1500" dirty="0"/>
          </a:p>
        </p:txBody>
      </p:sp>
      <p:sp>
        <p:nvSpPr>
          <p:cNvPr id="12" name="Text 8"/>
          <p:cNvSpPr txBox="1"/>
          <p:nvPr/>
        </p:nvSpPr>
        <p:spPr>
          <a:xfrm>
            <a:off x="1143000" y="4800600"/>
            <a:ext cx="3017520" cy="274320"/>
          </a:xfrm>
          <a:prstGeom prst="rect">
            <a:avLst/>
          </a:prstGeom>
          <a:noFill/>
          <a:ln/>
        </p:spPr>
        <p:txBody>
          <a:bodyPr wrap="square" lIns="0" tIns="0" rIns="0" bIns="0" rtlCol="0" anchor="t"/>
          <a:lstStyle/>
          <a:p>
            <a:pPr algn="ctr" indent="0" marL="0">
              <a:lnSpc>
                <a:spcPct val="115000"/>
              </a:lnSpc>
              <a:buNone/>
            </a:pPr>
            <a:r>
              <a:rPr lang="en-US" sz="1100" dirty="0">
                <a:solidFill>
                  <a:srgbClr val="7B8594"/>
                </a:solidFill>
                <a:latin typeface="Courier New" pitchFamily="34" charset="0"/>
                <a:ea typeface="Courier New" pitchFamily="34" charset="-122"/>
                <a:cs typeface="Courier New" pitchFamily="34" charset="-120"/>
              </a:rPr>
              <a:t>v0.app · sign in with GitHub</a:t>
            </a:r>
            <a:endParaRPr lang="en-US" sz="1100" dirty="0"/>
          </a:p>
        </p:txBody>
      </p:sp>
      <p:sp>
        <p:nvSpPr>
          <p:cNvPr id="13" name="Shape 9"/>
          <p:cNvSpPr/>
          <p:nvPr/>
        </p:nvSpPr>
        <p:spPr>
          <a:xfrm>
            <a:off x="5225796" y="2331720"/>
            <a:ext cx="1737360" cy="1737360"/>
          </a:xfrm>
          <a:prstGeom prst="ellipse">
            <a:avLst/>
          </a:prstGeom>
          <a:solidFill>
            <a:srgbClr val="307FE2"/>
          </a:solidFill>
          <a:ln w="12700">
            <a:solidFill>
              <a:srgbClr val="307FE2"/>
            </a:solidFill>
            <a:prstDash val="solid"/>
          </a:ln>
        </p:spPr>
      </p:sp>
      <p:sp>
        <p:nvSpPr>
          <p:cNvPr id="14" name="Text 10"/>
          <p:cNvSpPr/>
          <p:nvPr/>
        </p:nvSpPr>
        <p:spPr>
          <a:xfrm>
            <a:off x="5225796" y="2331720"/>
            <a:ext cx="1737360" cy="17373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GitHub</a:t>
            </a:r>
            <a:endParaRPr lang="en-US" sz="2600" dirty="0"/>
          </a:p>
        </p:txBody>
      </p:sp>
      <p:sp>
        <p:nvSpPr>
          <p:cNvPr id="15" name="Text 11"/>
          <p:cNvSpPr txBox="1"/>
          <p:nvPr/>
        </p:nvSpPr>
        <p:spPr>
          <a:xfrm>
            <a:off x="4768596" y="4206240"/>
            <a:ext cx="2651760" cy="548640"/>
          </a:xfrm>
          <a:prstGeom prst="rect">
            <a:avLst/>
          </a:prstGeom>
          <a:noFill/>
          <a:ln/>
        </p:spPr>
        <p:txBody>
          <a:bodyPr wrap="square" lIns="0" tIns="0" rIns="0" bIns="0" rtlCol="0" anchor="t"/>
          <a:lstStyle/>
          <a:p>
            <a:pPr algn="ctr" indent="0" marL="0">
              <a:lnSpc>
                <a:spcPct val="115000"/>
              </a:lnSpc>
              <a:buNone/>
            </a:pPr>
            <a:r>
              <a:rPr lang="en-US" sz="1500" dirty="0">
                <a:solidFill>
                  <a:srgbClr val="0D1219"/>
                </a:solidFill>
                <a:latin typeface="Arial" pitchFamily="34" charset="0"/>
                <a:ea typeface="Arial" pitchFamily="34" charset="-122"/>
                <a:cs typeface="Arial" pitchFamily="34" charset="-120"/>
              </a:rPr>
              <a:t>Remembers every version of every file</a:t>
            </a:r>
            <a:endParaRPr lang="en-US" sz="1500" dirty="0"/>
          </a:p>
        </p:txBody>
      </p:sp>
      <p:sp>
        <p:nvSpPr>
          <p:cNvPr id="16" name="Text 12"/>
          <p:cNvSpPr txBox="1"/>
          <p:nvPr/>
        </p:nvSpPr>
        <p:spPr>
          <a:xfrm>
            <a:off x="4585716" y="4800600"/>
            <a:ext cx="3017520" cy="274320"/>
          </a:xfrm>
          <a:prstGeom prst="rect">
            <a:avLst/>
          </a:prstGeom>
          <a:noFill/>
          <a:ln/>
        </p:spPr>
        <p:txBody>
          <a:bodyPr wrap="square" lIns="0" tIns="0" rIns="0" bIns="0" rtlCol="0" anchor="t"/>
          <a:lstStyle/>
          <a:p>
            <a:pPr algn="ctr" indent="0" marL="0">
              <a:lnSpc>
                <a:spcPct val="115000"/>
              </a:lnSpc>
              <a:buNone/>
            </a:pPr>
            <a:r>
              <a:rPr lang="en-US" sz="1100" dirty="0">
                <a:solidFill>
                  <a:srgbClr val="7B8594"/>
                </a:solidFill>
                <a:latin typeface="Courier New" pitchFamily="34" charset="0"/>
                <a:ea typeface="Courier New" pitchFamily="34" charset="-122"/>
                <a:cs typeface="Courier New" pitchFamily="34" charset="-120"/>
              </a:rPr>
              <a:t>github.com · free</a:t>
            </a:r>
            <a:endParaRPr lang="en-US" sz="1100" dirty="0"/>
          </a:p>
        </p:txBody>
      </p:sp>
      <p:sp>
        <p:nvSpPr>
          <p:cNvPr id="17" name="Shape 13"/>
          <p:cNvSpPr/>
          <p:nvPr/>
        </p:nvSpPr>
        <p:spPr>
          <a:xfrm>
            <a:off x="8668512" y="2331720"/>
            <a:ext cx="1737360" cy="1737360"/>
          </a:xfrm>
          <a:prstGeom prst="ellipse">
            <a:avLst/>
          </a:prstGeom>
          <a:solidFill>
            <a:srgbClr val="307FE2"/>
          </a:solidFill>
          <a:ln w="12700">
            <a:solidFill>
              <a:srgbClr val="307FE2"/>
            </a:solidFill>
            <a:prstDash val="solid"/>
          </a:ln>
        </p:spPr>
      </p:sp>
      <p:sp>
        <p:nvSpPr>
          <p:cNvPr id="18" name="Text 14"/>
          <p:cNvSpPr/>
          <p:nvPr/>
        </p:nvSpPr>
        <p:spPr>
          <a:xfrm>
            <a:off x="8668512" y="2331720"/>
            <a:ext cx="1737360" cy="173736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Vercel</a:t>
            </a:r>
            <a:endParaRPr lang="en-US" sz="2600" dirty="0"/>
          </a:p>
        </p:txBody>
      </p:sp>
      <p:sp>
        <p:nvSpPr>
          <p:cNvPr id="19" name="Text 15"/>
          <p:cNvSpPr txBox="1"/>
          <p:nvPr/>
        </p:nvSpPr>
        <p:spPr>
          <a:xfrm>
            <a:off x="8211312" y="4206240"/>
            <a:ext cx="2651760" cy="548640"/>
          </a:xfrm>
          <a:prstGeom prst="rect">
            <a:avLst/>
          </a:prstGeom>
          <a:noFill/>
          <a:ln/>
        </p:spPr>
        <p:txBody>
          <a:bodyPr wrap="square" lIns="0" tIns="0" rIns="0" bIns="0" rtlCol="0" anchor="t"/>
          <a:lstStyle/>
          <a:p>
            <a:pPr algn="ctr" indent="0" marL="0">
              <a:lnSpc>
                <a:spcPct val="115000"/>
              </a:lnSpc>
              <a:buNone/>
            </a:pPr>
            <a:r>
              <a:rPr lang="en-US" sz="1500" dirty="0">
                <a:solidFill>
                  <a:srgbClr val="0D1219"/>
                </a:solidFill>
                <a:latin typeface="Arial" pitchFamily="34" charset="0"/>
                <a:ea typeface="Arial" pitchFamily="34" charset="-122"/>
                <a:cs typeface="Arial" pitchFamily="34" charset="-120"/>
              </a:rPr>
              <a:t>Ships every push as a live URL</a:t>
            </a:r>
            <a:endParaRPr lang="en-US" sz="1500" dirty="0"/>
          </a:p>
        </p:txBody>
      </p:sp>
      <p:sp>
        <p:nvSpPr>
          <p:cNvPr id="20" name="Text 16"/>
          <p:cNvSpPr txBox="1"/>
          <p:nvPr/>
        </p:nvSpPr>
        <p:spPr>
          <a:xfrm>
            <a:off x="8028432" y="4800600"/>
            <a:ext cx="3017520" cy="274320"/>
          </a:xfrm>
          <a:prstGeom prst="rect">
            <a:avLst/>
          </a:prstGeom>
          <a:noFill/>
          <a:ln/>
        </p:spPr>
        <p:txBody>
          <a:bodyPr wrap="square" lIns="0" tIns="0" rIns="0" bIns="0" rtlCol="0" anchor="t"/>
          <a:lstStyle/>
          <a:p>
            <a:pPr algn="ctr" indent="0" marL="0">
              <a:lnSpc>
                <a:spcPct val="115000"/>
              </a:lnSpc>
              <a:buNone/>
            </a:pPr>
            <a:r>
              <a:rPr lang="en-US" sz="1100" dirty="0">
                <a:solidFill>
                  <a:srgbClr val="7B8594"/>
                </a:solidFill>
                <a:latin typeface="Courier New" pitchFamily="34" charset="0"/>
                <a:ea typeface="Courier New" pitchFamily="34" charset="-122"/>
                <a:cs typeface="Courier New" pitchFamily="34" charset="-120"/>
              </a:rPr>
              <a:t>vercel.com · sign in with GitHub</a:t>
            </a:r>
            <a:endParaRPr lang="en-US" sz="1100" dirty="0"/>
          </a:p>
        </p:txBody>
      </p:sp>
      <p:sp>
        <p:nvSpPr>
          <p:cNvPr id="21" name="Shape 17"/>
          <p:cNvSpPr/>
          <p:nvPr/>
        </p:nvSpPr>
        <p:spPr>
          <a:xfrm>
            <a:off x="3611880" y="3200400"/>
            <a:ext cx="1522476" cy="0"/>
          </a:xfrm>
          <a:prstGeom prst="line">
            <a:avLst/>
          </a:prstGeom>
          <a:noFill/>
          <a:ln w="25400">
            <a:solidFill>
              <a:srgbClr val="0D1219"/>
            </a:solidFill>
            <a:prstDash val="solid"/>
            <a:tailEnd type="triangle"/>
          </a:ln>
        </p:spPr>
      </p:sp>
      <p:sp>
        <p:nvSpPr>
          <p:cNvPr id="22" name="Shape 18"/>
          <p:cNvSpPr/>
          <p:nvPr/>
        </p:nvSpPr>
        <p:spPr>
          <a:xfrm>
            <a:off x="7054596" y="3200400"/>
            <a:ext cx="1522476" cy="0"/>
          </a:xfrm>
          <a:prstGeom prst="line">
            <a:avLst/>
          </a:prstGeom>
          <a:noFill/>
          <a:ln w="25400">
            <a:solidFill>
              <a:srgbClr val="0D1219"/>
            </a:solidFill>
            <a:prstDash val="solid"/>
            <a:tailEnd type="triangle"/>
          </a:ln>
        </p:spPr>
      </p:sp>
      <p:sp>
        <p:nvSpPr>
          <p:cNvPr id="23" name="Text 19"/>
          <p:cNvSpPr txBox="1"/>
          <p:nvPr/>
        </p:nvSpPr>
        <p:spPr>
          <a:xfrm>
            <a:off x="3520440" y="2788920"/>
            <a:ext cx="1705356" cy="274320"/>
          </a:xfrm>
          <a:prstGeom prst="rect">
            <a:avLst/>
          </a:prstGeom>
          <a:noFill/>
          <a:ln/>
        </p:spPr>
        <p:txBody>
          <a:bodyPr wrap="square" lIns="0" tIns="0" rIns="0" bIns="0" rtlCol="0" anchor="t"/>
          <a:lstStyle/>
          <a:p>
            <a:pPr algn="ctr" indent="0" marL="0">
              <a:lnSpc>
                <a:spcPct val="115000"/>
              </a:lnSpc>
              <a:buNone/>
            </a:pPr>
            <a:r>
              <a:rPr lang="en-US" sz="1200" dirty="0">
                <a:solidFill>
                  <a:srgbClr val="7B8594"/>
                </a:solidFill>
                <a:latin typeface="Arial" pitchFamily="34" charset="0"/>
                <a:ea typeface="Arial" pitchFamily="34" charset="-122"/>
                <a:cs typeface="Arial" pitchFamily="34" charset="-120"/>
              </a:rPr>
              <a:t>pushes the code</a:t>
            </a:r>
            <a:endParaRPr lang="en-US" sz="1200" dirty="0"/>
          </a:p>
        </p:txBody>
      </p:sp>
      <p:sp>
        <p:nvSpPr>
          <p:cNvPr id="24" name="Text 20"/>
          <p:cNvSpPr txBox="1"/>
          <p:nvPr/>
        </p:nvSpPr>
        <p:spPr>
          <a:xfrm>
            <a:off x="6963156" y="2788920"/>
            <a:ext cx="1705356" cy="274320"/>
          </a:xfrm>
          <a:prstGeom prst="rect">
            <a:avLst/>
          </a:prstGeom>
          <a:noFill/>
          <a:ln/>
        </p:spPr>
        <p:txBody>
          <a:bodyPr wrap="square" lIns="0" tIns="0" rIns="0" bIns="0" rtlCol="0" anchor="t"/>
          <a:lstStyle/>
          <a:p>
            <a:pPr algn="ctr" indent="0" marL="0">
              <a:lnSpc>
                <a:spcPct val="115000"/>
              </a:lnSpc>
              <a:buNone/>
            </a:pPr>
            <a:r>
              <a:rPr lang="en-US" sz="1200" dirty="0">
                <a:solidFill>
                  <a:srgbClr val="7B8594"/>
                </a:solidFill>
                <a:latin typeface="Arial" pitchFamily="34" charset="0"/>
                <a:ea typeface="Arial" pitchFamily="34" charset="-122"/>
                <a:cs typeface="Arial" pitchFamily="34" charset="-120"/>
              </a:rPr>
              <a:t>deploys every push</a:t>
            </a:r>
            <a:endParaRPr lang="en-US" sz="1200" dirty="0"/>
          </a:p>
        </p:txBody>
      </p:sp>
      <p:sp>
        <p:nvSpPr>
          <p:cNvPr id="25" name="Shape 21"/>
          <p:cNvSpPr/>
          <p:nvPr/>
        </p:nvSpPr>
        <p:spPr>
          <a:xfrm>
            <a:off x="9537192" y="5120640"/>
            <a:ext cx="0" cy="91440"/>
          </a:xfrm>
          <a:prstGeom prst="line">
            <a:avLst/>
          </a:prstGeom>
          <a:noFill/>
          <a:ln w="19050">
            <a:solidFill>
              <a:srgbClr val="0D1219"/>
            </a:solidFill>
            <a:prstDash val="solid"/>
          </a:ln>
        </p:spPr>
      </p:sp>
      <p:sp>
        <p:nvSpPr>
          <p:cNvPr id="26" name="Shape 22"/>
          <p:cNvSpPr/>
          <p:nvPr/>
        </p:nvSpPr>
        <p:spPr>
          <a:xfrm flipH="1">
            <a:off x="2651760" y="5212080"/>
            <a:ext cx="6885432" cy="0"/>
          </a:xfrm>
          <a:prstGeom prst="line">
            <a:avLst/>
          </a:prstGeom>
          <a:noFill/>
          <a:ln w="19050">
            <a:solidFill>
              <a:srgbClr val="0D1219"/>
            </a:solidFill>
            <a:prstDash val="solid"/>
          </a:ln>
        </p:spPr>
      </p:sp>
      <p:sp>
        <p:nvSpPr>
          <p:cNvPr id="27" name="Shape 23"/>
          <p:cNvSpPr/>
          <p:nvPr/>
        </p:nvSpPr>
        <p:spPr>
          <a:xfrm flipV="1">
            <a:off x="2651760" y="5120640"/>
            <a:ext cx="0" cy="91440"/>
          </a:xfrm>
          <a:prstGeom prst="line">
            <a:avLst/>
          </a:prstGeom>
          <a:noFill/>
          <a:ln w="25400">
            <a:solidFill>
              <a:srgbClr val="0D1219"/>
            </a:solidFill>
            <a:prstDash val="solid"/>
            <a:tailEnd type="triangle"/>
          </a:ln>
        </p:spPr>
      </p:sp>
      <p:sp>
        <p:nvSpPr>
          <p:cNvPr id="28" name="Text 24"/>
          <p:cNvSpPr txBox="1"/>
          <p:nvPr/>
        </p:nvSpPr>
        <p:spPr>
          <a:xfrm>
            <a:off x="3108960" y="5257800"/>
            <a:ext cx="5971032" cy="274320"/>
          </a:xfrm>
          <a:prstGeom prst="rect">
            <a:avLst/>
          </a:prstGeom>
          <a:noFill/>
          <a:ln/>
        </p:spPr>
        <p:txBody>
          <a:bodyPr wrap="square" lIns="0" tIns="0" rIns="0" bIns="0" rtlCol="0" anchor="t"/>
          <a:lstStyle/>
          <a:p>
            <a:pPr algn="ctr" indent="0" marL="0">
              <a:lnSpc>
                <a:spcPct val="115000"/>
              </a:lnSpc>
              <a:buNone/>
            </a:pPr>
            <a:r>
              <a:rPr lang="en-US" sz="1100" dirty="0">
                <a:solidFill>
                  <a:srgbClr val="7B8594"/>
                </a:solidFill>
                <a:latin typeface="Courier New" pitchFamily="34" charset="0"/>
                <a:ea typeface="Courier New" pitchFamily="34" charset="-122"/>
                <a:cs typeface="Courier New" pitchFamily="34" charset="-120"/>
              </a:rPr>
              <a:t>you open the URL on your phone and describe the next change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2 · SETUP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9:30 – 9:55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GitHub: one empty repository with your name on it.</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you open your repository, read the README, and the owner shown is you, not me.</a:t>
            </a:r>
            <a:endParaRPr lang="en-US" sz="1600" dirty="0"/>
          </a:p>
        </p:txBody>
      </p:sp>
      <p:sp>
        <p:nvSpPr>
          <p:cNvPr id="9" name="Text 5"/>
          <p:cNvSpPr txBox="1"/>
          <p:nvPr/>
        </p:nvSpPr>
        <p:spPr>
          <a:xfrm>
            <a:off x="640080" y="2194560"/>
            <a:ext cx="10908792" cy="2560320"/>
          </a:xfrm>
          <a:prstGeom prst="rect">
            <a:avLst/>
          </a:prstGeom>
          <a:noFill/>
          <a:ln/>
        </p:spPr>
        <p:txBody>
          <a:bodyPr wrap="square" lIns="0" tIns="0" rIns="0" bIns="0" rtlCol="0" anchor="t"/>
          <a:lstStyle/>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1   Open github.com, signed in. Click “+” then “New repository.”</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2   Owner: you. Name: my-first-site. Public or private, on purpose.</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3   Tick “Add a README.” Click “Create repository.”</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4   Copy the repository URL into your notes. This is your project.</a:t>
            </a:r>
            <a:endParaRPr lang="en-US" sz="1800" dirty="0"/>
          </a:p>
        </p:txBody>
      </p:sp>
      <p:sp>
        <p:nvSpPr>
          <p:cNvPr id="10" name="Text 6"/>
          <p:cNvSpPr txBox="1"/>
          <p:nvPr/>
        </p:nvSpPr>
        <p:spPr>
          <a:xfrm>
            <a:off x="640080" y="5029200"/>
            <a:ext cx="10908792" cy="365760"/>
          </a:xfrm>
          <a:prstGeom prst="rect">
            <a:avLst/>
          </a:prstGeom>
          <a:noFill/>
          <a:ln/>
        </p:spPr>
        <p:txBody>
          <a:bodyPr wrap="square" lIns="0" tIns="0" rIns="0" bIns="0" rtlCol="0" anchor="t"/>
          <a:lstStyle/>
          <a:p>
            <a:pPr algn="l" indent="0" marL="0">
              <a:lnSpc>
                <a:spcPct val="115000"/>
              </a:lnSpc>
              <a:buNone/>
            </a:pPr>
            <a:r>
              <a:rPr lang="en-US" sz="1500" dirty="0">
                <a:solidFill>
                  <a:srgbClr val="5B6675"/>
                </a:solidFill>
                <a:latin typeface="Arial" pitchFamily="34" charset="0"/>
                <a:ea typeface="Arial" pitchFamily="34" charset="-122"/>
                <a:cs typeface="Arial" pitchFamily="34" charset="-120"/>
              </a:rPr>
              <a:t>This afternoon the game gets its own repository, my-first-game. Never this one.</a:t>
            </a:r>
            <a:endParaRPr lang="en-US" sz="1500" dirty="0"/>
          </a:p>
        </p:txBody>
      </p:sp>
      <p:sp>
        <p:nvSpPr>
          <p:cNvPr id="11" name="Shape 7"/>
          <p:cNvSpPr/>
          <p:nvPr/>
        </p:nvSpPr>
        <p:spPr>
          <a:xfrm>
            <a:off x="640080" y="5971032"/>
            <a:ext cx="201168" cy="201168"/>
          </a:xfrm>
          <a:prstGeom prst="rect">
            <a:avLst/>
          </a:prstGeom>
          <a:solidFill>
            <a:srgbClr val="22C55E"/>
          </a:solidFill>
          <a:ln w="12700">
            <a:solidFill>
              <a:srgbClr val="22C55E"/>
            </a:solidFill>
            <a:prstDash val="solid"/>
          </a:ln>
        </p:spPr>
      </p:sp>
      <p:sp>
        <p:nvSpPr>
          <p:cNvPr id="12" name="Text 8"/>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3" name="Shape 9"/>
          <p:cNvSpPr/>
          <p:nvPr/>
        </p:nvSpPr>
        <p:spPr>
          <a:xfrm>
            <a:off x="4206240" y="5971032"/>
            <a:ext cx="201168" cy="201168"/>
          </a:xfrm>
          <a:prstGeom prst="rect">
            <a:avLst/>
          </a:prstGeom>
          <a:solidFill>
            <a:srgbClr val="EF4444"/>
          </a:solidFill>
          <a:ln w="12700">
            <a:solidFill>
              <a:srgbClr val="EF4444"/>
            </a:solidFill>
            <a:prstDash val="solid"/>
          </a:ln>
        </p:spPr>
      </p:sp>
      <p:sp>
        <p:nvSpPr>
          <p:cNvPr id="14" name="Text 10"/>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5" name="Text 11"/>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2 · SETUP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9:30 – 9:55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800" b="1" dirty="0">
                <a:solidFill>
                  <a:srgbClr val="0D1219"/>
                </a:solidFill>
                <a:latin typeface="Arial" pitchFamily="34" charset="0"/>
                <a:ea typeface="Arial" pitchFamily="34" charset="-122"/>
                <a:cs typeface="Arial" pitchFamily="34" charset="-120"/>
              </a:rPr>
              <a:t>A ten-minute tour of GitHub: six screens, in this order.</a:t>
            </a:r>
            <a:endParaRPr lang="en-US" sz="2800" dirty="0"/>
          </a:p>
        </p:txBody>
      </p:sp>
      <p:sp>
        <p:nvSpPr>
          <p:cNvPr id="8" name="Shape 4"/>
          <p:cNvSpPr/>
          <p:nvPr/>
        </p:nvSpPr>
        <p:spPr>
          <a:xfrm>
            <a:off x="640080" y="1828800"/>
            <a:ext cx="3456432" cy="1600200"/>
          </a:xfrm>
          <a:prstGeom prst="rect">
            <a:avLst/>
          </a:prstGeom>
          <a:solidFill>
            <a:srgbClr val="FFFFFF"/>
          </a:solidFill>
          <a:ln w="12700">
            <a:solidFill>
              <a:srgbClr val="0D1219"/>
            </a:solidFill>
            <a:prstDash val="solid"/>
          </a:ln>
        </p:spPr>
      </p:sp>
      <p:sp>
        <p:nvSpPr>
          <p:cNvPr id="9" name="Shape 5"/>
          <p:cNvSpPr/>
          <p:nvPr/>
        </p:nvSpPr>
        <p:spPr>
          <a:xfrm>
            <a:off x="640080" y="1828800"/>
            <a:ext cx="3456432" cy="310896"/>
          </a:xfrm>
          <a:prstGeom prst="rect">
            <a:avLst/>
          </a:prstGeom>
          <a:solidFill>
            <a:srgbClr val="E8EEF7"/>
          </a:solidFill>
          <a:ln w="12700">
            <a:solidFill>
              <a:srgbClr val="0D1219"/>
            </a:solidFill>
            <a:prstDash val="solid"/>
          </a:ln>
        </p:spPr>
      </p:sp>
      <p:sp>
        <p:nvSpPr>
          <p:cNvPr id="10" name="Shape 6"/>
          <p:cNvSpPr/>
          <p:nvPr/>
        </p:nvSpPr>
        <p:spPr>
          <a:xfrm>
            <a:off x="804672" y="1929384"/>
            <a:ext cx="109728" cy="109728"/>
          </a:xfrm>
          <a:prstGeom prst="ellipse">
            <a:avLst/>
          </a:prstGeom>
          <a:solidFill>
            <a:srgbClr val="7B8594"/>
          </a:solidFill>
          <a:ln w="12700">
            <a:solidFill>
              <a:srgbClr val="7B8594"/>
            </a:solidFill>
            <a:prstDash val="solid"/>
          </a:ln>
        </p:spPr>
      </p:sp>
      <p:sp>
        <p:nvSpPr>
          <p:cNvPr id="11" name="Shape 7"/>
          <p:cNvSpPr/>
          <p:nvPr/>
        </p:nvSpPr>
        <p:spPr>
          <a:xfrm>
            <a:off x="969264" y="1929384"/>
            <a:ext cx="109728" cy="109728"/>
          </a:xfrm>
          <a:prstGeom prst="ellipse">
            <a:avLst/>
          </a:prstGeom>
          <a:solidFill>
            <a:srgbClr val="7B8594"/>
          </a:solidFill>
          <a:ln w="12700">
            <a:solidFill>
              <a:srgbClr val="7B8594"/>
            </a:solidFill>
            <a:prstDash val="solid"/>
          </a:ln>
        </p:spPr>
      </p:sp>
      <p:sp>
        <p:nvSpPr>
          <p:cNvPr id="12" name="Shape 8"/>
          <p:cNvSpPr/>
          <p:nvPr/>
        </p:nvSpPr>
        <p:spPr>
          <a:xfrm>
            <a:off x="1133856" y="1929384"/>
            <a:ext cx="109728" cy="109728"/>
          </a:xfrm>
          <a:prstGeom prst="ellipse">
            <a:avLst/>
          </a:prstGeom>
          <a:solidFill>
            <a:srgbClr val="7B8594"/>
          </a:solidFill>
          <a:ln w="12700">
            <a:solidFill>
              <a:srgbClr val="7B8594"/>
            </a:solidFill>
            <a:prstDash val="solid"/>
          </a:ln>
        </p:spPr>
      </p:sp>
      <p:sp>
        <p:nvSpPr>
          <p:cNvPr id="13" name="Text 9"/>
          <p:cNvSpPr txBox="1"/>
          <p:nvPr/>
        </p:nvSpPr>
        <p:spPr>
          <a:xfrm>
            <a:off x="3639312" y="1847088"/>
            <a:ext cx="365760" cy="274320"/>
          </a:xfrm>
          <a:prstGeom prst="rect">
            <a:avLst/>
          </a:prstGeom>
          <a:noFill/>
          <a:ln/>
        </p:spPr>
        <p:txBody>
          <a:bodyPr wrap="square" lIns="0" tIns="0" rIns="0" bIns="0" rtlCol="0" anchor="t"/>
          <a:lstStyle/>
          <a:p>
            <a:pPr algn="r" indent="0" marL="0">
              <a:lnSpc>
                <a:spcPct val="115000"/>
              </a:lnSpc>
              <a:buNone/>
            </a:pPr>
            <a:r>
              <a:rPr lang="en-US" sz="1100" b="1" dirty="0">
                <a:solidFill>
                  <a:srgbClr val="EF8B39"/>
                </a:solidFill>
                <a:latin typeface="Courier New" pitchFamily="34" charset="0"/>
                <a:ea typeface="Courier New" pitchFamily="34" charset="-122"/>
                <a:cs typeface="Courier New" pitchFamily="34" charset="-120"/>
              </a:rPr>
              <a:t>1</a:t>
            </a:r>
            <a:endParaRPr lang="en-US" sz="1100" dirty="0"/>
          </a:p>
        </p:txBody>
      </p:sp>
      <p:sp>
        <p:nvSpPr>
          <p:cNvPr id="14" name="Text 10"/>
          <p:cNvSpPr txBox="1"/>
          <p:nvPr/>
        </p:nvSpPr>
        <p:spPr>
          <a:xfrm>
            <a:off x="822960" y="2286000"/>
            <a:ext cx="3090672" cy="365760"/>
          </a:xfrm>
          <a:prstGeom prst="rect">
            <a:avLst/>
          </a:prstGeom>
          <a:noFill/>
          <a:ln/>
        </p:spPr>
        <p:txBody>
          <a:bodyPr wrap="square" lIns="0" tIns="0" rIns="0" bIns="0" rtlCol="0" anchor="t"/>
          <a:lstStyle/>
          <a:p>
            <a:pPr algn="l" indent="0" marL="0">
              <a:lnSpc>
                <a:spcPct val="115000"/>
              </a:lnSpc>
              <a:buNone/>
            </a:pPr>
            <a:r>
              <a:rPr lang="en-US" sz="1700" b="1" dirty="0">
                <a:solidFill>
                  <a:srgbClr val="0D1219"/>
                </a:solidFill>
                <a:latin typeface="Arial" pitchFamily="34" charset="0"/>
                <a:ea typeface="Arial" pitchFamily="34" charset="-122"/>
                <a:cs typeface="Arial" pitchFamily="34" charset="-120"/>
              </a:rPr>
              <a:t>Home · the Code tab</a:t>
            </a:r>
            <a:endParaRPr lang="en-US" sz="1700" dirty="0"/>
          </a:p>
        </p:txBody>
      </p:sp>
      <p:sp>
        <p:nvSpPr>
          <p:cNvPr id="15" name="Text 11"/>
          <p:cNvSpPr txBox="1"/>
          <p:nvPr/>
        </p:nvSpPr>
        <p:spPr>
          <a:xfrm>
            <a:off x="822960" y="2697480"/>
            <a:ext cx="3090672" cy="6858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The file list, the README, the green Code button, Add file.</a:t>
            </a:r>
            <a:endParaRPr lang="en-US" sz="1300" dirty="0"/>
          </a:p>
        </p:txBody>
      </p:sp>
      <p:sp>
        <p:nvSpPr>
          <p:cNvPr id="16" name="Shape 12"/>
          <p:cNvSpPr/>
          <p:nvPr/>
        </p:nvSpPr>
        <p:spPr>
          <a:xfrm>
            <a:off x="4366260" y="1828800"/>
            <a:ext cx="3456432" cy="1600200"/>
          </a:xfrm>
          <a:prstGeom prst="rect">
            <a:avLst/>
          </a:prstGeom>
          <a:solidFill>
            <a:srgbClr val="FFFFFF"/>
          </a:solidFill>
          <a:ln w="12700">
            <a:solidFill>
              <a:srgbClr val="0D1219"/>
            </a:solidFill>
            <a:prstDash val="solid"/>
          </a:ln>
        </p:spPr>
      </p:sp>
      <p:sp>
        <p:nvSpPr>
          <p:cNvPr id="17" name="Shape 13"/>
          <p:cNvSpPr/>
          <p:nvPr/>
        </p:nvSpPr>
        <p:spPr>
          <a:xfrm>
            <a:off x="4366260" y="1828800"/>
            <a:ext cx="3456432" cy="310896"/>
          </a:xfrm>
          <a:prstGeom prst="rect">
            <a:avLst/>
          </a:prstGeom>
          <a:solidFill>
            <a:srgbClr val="E8EEF7"/>
          </a:solidFill>
          <a:ln w="12700">
            <a:solidFill>
              <a:srgbClr val="0D1219"/>
            </a:solidFill>
            <a:prstDash val="solid"/>
          </a:ln>
        </p:spPr>
      </p:sp>
      <p:sp>
        <p:nvSpPr>
          <p:cNvPr id="18" name="Shape 14"/>
          <p:cNvSpPr/>
          <p:nvPr/>
        </p:nvSpPr>
        <p:spPr>
          <a:xfrm>
            <a:off x="4530852" y="1929384"/>
            <a:ext cx="109728" cy="109728"/>
          </a:xfrm>
          <a:prstGeom prst="ellipse">
            <a:avLst/>
          </a:prstGeom>
          <a:solidFill>
            <a:srgbClr val="7B8594"/>
          </a:solidFill>
          <a:ln w="12700">
            <a:solidFill>
              <a:srgbClr val="7B8594"/>
            </a:solidFill>
            <a:prstDash val="solid"/>
          </a:ln>
        </p:spPr>
      </p:sp>
      <p:sp>
        <p:nvSpPr>
          <p:cNvPr id="19" name="Shape 15"/>
          <p:cNvSpPr/>
          <p:nvPr/>
        </p:nvSpPr>
        <p:spPr>
          <a:xfrm>
            <a:off x="4695444" y="1929384"/>
            <a:ext cx="109728" cy="109728"/>
          </a:xfrm>
          <a:prstGeom prst="ellipse">
            <a:avLst/>
          </a:prstGeom>
          <a:solidFill>
            <a:srgbClr val="7B8594"/>
          </a:solidFill>
          <a:ln w="12700">
            <a:solidFill>
              <a:srgbClr val="7B8594"/>
            </a:solidFill>
            <a:prstDash val="solid"/>
          </a:ln>
        </p:spPr>
      </p:sp>
      <p:sp>
        <p:nvSpPr>
          <p:cNvPr id="20" name="Shape 16"/>
          <p:cNvSpPr/>
          <p:nvPr/>
        </p:nvSpPr>
        <p:spPr>
          <a:xfrm>
            <a:off x="4860036" y="1929384"/>
            <a:ext cx="109728" cy="109728"/>
          </a:xfrm>
          <a:prstGeom prst="ellipse">
            <a:avLst/>
          </a:prstGeom>
          <a:solidFill>
            <a:srgbClr val="7B8594"/>
          </a:solidFill>
          <a:ln w="12700">
            <a:solidFill>
              <a:srgbClr val="7B8594"/>
            </a:solidFill>
            <a:prstDash val="solid"/>
          </a:ln>
        </p:spPr>
      </p:sp>
      <p:sp>
        <p:nvSpPr>
          <p:cNvPr id="21" name="Text 17"/>
          <p:cNvSpPr txBox="1"/>
          <p:nvPr/>
        </p:nvSpPr>
        <p:spPr>
          <a:xfrm>
            <a:off x="7365492" y="1847088"/>
            <a:ext cx="365760" cy="274320"/>
          </a:xfrm>
          <a:prstGeom prst="rect">
            <a:avLst/>
          </a:prstGeom>
          <a:noFill/>
          <a:ln/>
        </p:spPr>
        <p:txBody>
          <a:bodyPr wrap="square" lIns="0" tIns="0" rIns="0" bIns="0" rtlCol="0" anchor="t"/>
          <a:lstStyle/>
          <a:p>
            <a:pPr algn="r" indent="0" marL="0">
              <a:lnSpc>
                <a:spcPct val="115000"/>
              </a:lnSpc>
              <a:buNone/>
            </a:pPr>
            <a:r>
              <a:rPr lang="en-US" sz="1100" b="1" dirty="0">
                <a:solidFill>
                  <a:srgbClr val="EF8B39"/>
                </a:solidFill>
                <a:latin typeface="Courier New" pitchFamily="34" charset="0"/>
                <a:ea typeface="Courier New" pitchFamily="34" charset="-122"/>
                <a:cs typeface="Courier New" pitchFamily="34" charset="-120"/>
              </a:rPr>
              <a:t>2</a:t>
            </a:r>
            <a:endParaRPr lang="en-US" sz="1100" dirty="0"/>
          </a:p>
        </p:txBody>
      </p:sp>
      <p:sp>
        <p:nvSpPr>
          <p:cNvPr id="22" name="Text 18"/>
          <p:cNvSpPr txBox="1"/>
          <p:nvPr/>
        </p:nvSpPr>
        <p:spPr>
          <a:xfrm>
            <a:off x="4549140" y="2286000"/>
            <a:ext cx="3090672" cy="365760"/>
          </a:xfrm>
          <a:prstGeom prst="rect">
            <a:avLst/>
          </a:prstGeom>
          <a:noFill/>
          <a:ln/>
        </p:spPr>
        <p:txBody>
          <a:bodyPr wrap="square" lIns="0" tIns="0" rIns="0" bIns="0" rtlCol="0" anchor="t"/>
          <a:lstStyle/>
          <a:p>
            <a:pPr algn="l" indent="0" marL="0">
              <a:lnSpc>
                <a:spcPct val="115000"/>
              </a:lnSpc>
              <a:buNone/>
            </a:pPr>
            <a:r>
              <a:rPr lang="en-US" sz="1700" b="1" dirty="0">
                <a:solidFill>
                  <a:srgbClr val="0D1219"/>
                </a:solidFill>
                <a:latin typeface="Arial" pitchFamily="34" charset="0"/>
                <a:ea typeface="Arial" pitchFamily="34" charset="-122"/>
                <a:cs typeface="Arial" pitchFamily="34" charset="-120"/>
              </a:rPr>
              <a:t>Commits</a:t>
            </a:r>
            <a:endParaRPr lang="en-US" sz="1700" dirty="0"/>
          </a:p>
        </p:txBody>
      </p:sp>
      <p:sp>
        <p:nvSpPr>
          <p:cNvPr id="23" name="Text 19"/>
          <p:cNvSpPr txBox="1"/>
          <p:nvPr/>
        </p:nvSpPr>
        <p:spPr>
          <a:xfrm>
            <a:off x="4549140" y="2697480"/>
            <a:ext cx="3090672" cy="6858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The history: one row per saved change, with its message.</a:t>
            </a:r>
            <a:endParaRPr lang="en-US" sz="1300" dirty="0"/>
          </a:p>
        </p:txBody>
      </p:sp>
      <p:sp>
        <p:nvSpPr>
          <p:cNvPr id="24" name="Shape 20"/>
          <p:cNvSpPr/>
          <p:nvPr/>
        </p:nvSpPr>
        <p:spPr>
          <a:xfrm>
            <a:off x="8092440" y="1828800"/>
            <a:ext cx="3456432" cy="1600200"/>
          </a:xfrm>
          <a:prstGeom prst="rect">
            <a:avLst/>
          </a:prstGeom>
          <a:solidFill>
            <a:srgbClr val="FFFFFF"/>
          </a:solidFill>
          <a:ln w="12700">
            <a:solidFill>
              <a:srgbClr val="0D1219"/>
            </a:solidFill>
            <a:prstDash val="solid"/>
          </a:ln>
        </p:spPr>
      </p:sp>
      <p:sp>
        <p:nvSpPr>
          <p:cNvPr id="25" name="Shape 21"/>
          <p:cNvSpPr/>
          <p:nvPr/>
        </p:nvSpPr>
        <p:spPr>
          <a:xfrm>
            <a:off x="8092440" y="1828800"/>
            <a:ext cx="3456432" cy="310896"/>
          </a:xfrm>
          <a:prstGeom prst="rect">
            <a:avLst/>
          </a:prstGeom>
          <a:solidFill>
            <a:srgbClr val="E8EEF7"/>
          </a:solidFill>
          <a:ln w="12700">
            <a:solidFill>
              <a:srgbClr val="0D1219"/>
            </a:solidFill>
            <a:prstDash val="solid"/>
          </a:ln>
        </p:spPr>
      </p:sp>
      <p:sp>
        <p:nvSpPr>
          <p:cNvPr id="26" name="Shape 22"/>
          <p:cNvSpPr/>
          <p:nvPr/>
        </p:nvSpPr>
        <p:spPr>
          <a:xfrm>
            <a:off x="8257032" y="1929384"/>
            <a:ext cx="109728" cy="109728"/>
          </a:xfrm>
          <a:prstGeom prst="ellipse">
            <a:avLst/>
          </a:prstGeom>
          <a:solidFill>
            <a:srgbClr val="7B8594"/>
          </a:solidFill>
          <a:ln w="12700">
            <a:solidFill>
              <a:srgbClr val="7B8594"/>
            </a:solidFill>
            <a:prstDash val="solid"/>
          </a:ln>
        </p:spPr>
      </p:sp>
      <p:sp>
        <p:nvSpPr>
          <p:cNvPr id="27" name="Shape 23"/>
          <p:cNvSpPr/>
          <p:nvPr/>
        </p:nvSpPr>
        <p:spPr>
          <a:xfrm>
            <a:off x="8421624" y="1929384"/>
            <a:ext cx="109728" cy="109728"/>
          </a:xfrm>
          <a:prstGeom prst="ellipse">
            <a:avLst/>
          </a:prstGeom>
          <a:solidFill>
            <a:srgbClr val="7B8594"/>
          </a:solidFill>
          <a:ln w="12700">
            <a:solidFill>
              <a:srgbClr val="7B8594"/>
            </a:solidFill>
            <a:prstDash val="solid"/>
          </a:ln>
        </p:spPr>
      </p:sp>
      <p:sp>
        <p:nvSpPr>
          <p:cNvPr id="28" name="Shape 24"/>
          <p:cNvSpPr/>
          <p:nvPr/>
        </p:nvSpPr>
        <p:spPr>
          <a:xfrm>
            <a:off x="8586216" y="1929384"/>
            <a:ext cx="109728" cy="109728"/>
          </a:xfrm>
          <a:prstGeom prst="ellipse">
            <a:avLst/>
          </a:prstGeom>
          <a:solidFill>
            <a:srgbClr val="7B8594"/>
          </a:solidFill>
          <a:ln w="12700">
            <a:solidFill>
              <a:srgbClr val="7B8594"/>
            </a:solidFill>
            <a:prstDash val="solid"/>
          </a:ln>
        </p:spPr>
      </p:sp>
      <p:sp>
        <p:nvSpPr>
          <p:cNvPr id="29" name="Text 25"/>
          <p:cNvSpPr txBox="1"/>
          <p:nvPr/>
        </p:nvSpPr>
        <p:spPr>
          <a:xfrm>
            <a:off x="11091672" y="1847088"/>
            <a:ext cx="365760" cy="274320"/>
          </a:xfrm>
          <a:prstGeom prst="rect">
            <a:avLst/>
          </a:prstGeom>
          <a:noFill/>
          <a:ln/>
        </p:spPr>
        <p:txBody>
          <a:bodyPr wrap="square" lIns="0" tIns="0" rIns="0" bIns="0" rtlCol="0" anchor="t"/>
          <a:lstStyle/>
          <a:p>
            <a:pPr algn="r" indent="0" marL="0">
              <a:lnSpc>
                <a:spcPct val="115000"/>
              </a:lnSpc>
              <a:buNone/>
            </a:pPr>
            <a:r>
              <a:rPr lang="en-US" sz="1100" b="1" dirty="0">
                <a:solidFill>
                  <a:srgbClr val="EF8B39"/>
                </a:solidFill>
                <a:latin typeface="Courier New" pitchFamily="34" charset="0"/>
                <a:ea typeface="Courier New" pitchFamily="34" charset="-122"/>
                <a:cs typeface="Courier New" pitchFamily="34" charset="-120"/>
              </a:rPr>
              <a:t>3</a:t>
            </a:r>
            <a:endParaRPr lang="en-US" sz="1100" dirty="0"/>
          </a:p>
        </p:txBody>
      </p:sp>
      <p:sp>
        <p:nvSpPr>
          <p:cNvPr id="30" name="Text 26"/>
          <p:cNvSpPr txBox="1"/>
          <p:nvPr/>
        </p:nvSpPr>
        <p:spPr>
          <a:xfrm>
            <a:off x="8275320" y="2286000"/>
            <a:ext cx="3090672" cy="365760"/>
          </a:xfrm>
          <a:prstGeom prst="rect">
            <a:avLst/>
          </a:prstGeom>
          <a:noFill/>
          <a:ln/>
        </p:spPr>
        <p:txBody>
          <a:bodyPr wrap="square" lIns="0" tIns="0" rIns="0" bIns="0" rtlCol="0" anchor="t"/>
          <a:lstStyle/>
          <a:p>
            <a:pPr algn="l" indent="0" marL="0">
              <a:lnSpc>
                <a:spcPct val="115000"/>
              </a:lnSpc>
              <a:buNone/>
            </a:pPr>
            <a:r>
              <a:rPr lang="en-US" sz="1700" b="1" dirty="0">
                <a:solidFill>
                  <a:srgbClr val="0D1219"/>
                </a:solidFill>
                <a:latin typeface="Arial" pitchFamily="34" charset="0"/>
                <a:ea typeface="Arial" pitchFamily="34" charset="-122"/>
                <a:cs typeface="Arial" pitchFamily="34" charset="-120"/>
              </a:rPr>
              <a:t>A commit</a:t>
            </a:r>
            <a:endParaRPr lang="en-US" sz="1700" dirty="0"/>
          </a:p>
        </p:txBody>
      </p:sp>
      <p:sp>
        <p:nvSpPr>
          <p:cNvPr id="31" name="Text 27"/>
          <p:cNvSpPr txBox="1"/>
          <p:nvPr/>
        </p:nvSpPr>
        <p:spPr>
          <a:xfrm>
            <a:off x="8275320" y="2697480"/>
            <a:ext cx="3090672" cy="6858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The diff: green lines added, red lines removed.</a:t>
            </a:r>
            <a:endParaRPr lang="en-US" sz="1300" dirty="0"/>
          </a:p>
        </p:txBody>
      </p:sp>
      <p:sp>
        <p:nvSpPr>
          <p:cNvPr id="32" name="Shape 28"/>
          <p:cNvSpPr/>
          <p:nvPr/>
        </p:nvSpPr>
        <p:spPr>
          <a:xfrm>
            <a:off x="640080" y="3794760"/>
            <a:ext cx="3456432" cy="1600200"/>
          </a:xfrm>
          <a:prstGeom prst="rect">
            <a:avLst/>
          </a:prstGeom>
          <a:solidFill>
            <a:srgbClr val="FFFFFF"/>
          </a:solidFill>
          <a:ln w="12700">
            <a:solidFill>
              <a:srgbClr val="0D1219"/>
            </a:solidFill>
            <a:prstDash val="solid"/>
          </a:ln>
        </p:spPr>
      </p:sp>
      <p:sp>
        <p:nvSpPr>
          <p:cNvPr id="33" name="Shape 29"/>
          <p:cNvSpPr/>
          <p:nvPr/>
        </p:nvSpPr>
        <p:spPr>
          <a:xfrm>
            <a:off x="640080" y="3794760"/>
            <a:ext cx="3456432" cy="310896"/>
          </a:xfrm>
          <a:prstGeom prst="rect">
            <a:avLst/>
          </a:prstGeom>
          <a:solidFill>
            <a:srgbClr val="E8EEF7"/>
          </a:solidFill>
          <a:ln w="12700">
            <a:solidFill>
              <a:srgbClr val="0D1219"/>
            </a:solidFill>
            <a:prstDash val="solid"/>
          </a:ln>
        </p:spPr>
      </p:sp>
      <p:sp>
        <p:nvSpPr>
          <p:cNvPr id="34" name="Shape 30"/>
          <p:cNvSpPr/>
          <p:nvPr/>
        </p:nvSpPr>
        <p:spPr>
          <a:xfrm>
            <a:off x="804672" y="3895344"/>
            <a:ext cx="109728" cy="109728"/>
          </a:xfrm>
          <a:prstGeom prst="ellipse">
            <a:avLst/>
          </a:prstGeom>
          <a:solidFill>
            <a:srgbClr val="7B8594"/>
          </a:solidFill>
          <a:ln w="12700">
            <a:solidFill>
              <a:srgbClr val="7B8594"/>
            </a:solidFill>
            <a:prstDash val="solid"/>
          </a:ln>
        </p:spPr>
      </p:sp>
      <p:sp>
        <p:nvSpPr>
          <p:cNvPr id="35" name="Shape 31"/>
          <p:cNvSpPr/>
          <p:nvPr/>
        </p:nvSpPr>
        <p:spPr>
          <a:xfrm>
            <a:off x="969264" y="3895344"/>
            <a:ext cx="109728" cy="109728"/>
          </a:xfrm>
          <a:prstGeom prst="ellipse">
            <a:avLst/>
          </a:prstGeom>
          <a:solidFill>
            <a:srgbClr val="7B8594"/>
          </a:solidFill>
          <a:ln w="12700">
            <a:solidFill>
              <a:srgbClr val="7B8594"/>
            </a:solidFill>
            <a:prstDash val="solid"/>
          </a:ln>
        </p:spPr>
      </p:sp>
      <p:sp>
        <p:nvSpPr>
          <p:cNvPr id="36" name="Shape 32"/>
          <p:cNvSpPr/>
          <p:nvPr/>
        </p:nvSpPr>
        <p:spPr>
          <a:xfrm>
            <a:off x="1133856" y="3895344"/>
            <a:ext cx="109728" cy="109728"/>
          </a:xfrm>
          <a:prstGeom prst="ellipse">
            <a:avLst/>
          </a:prstGeom>
          <a:solidFill>
            <a:srgbClr val="7B8594"/>
          </a:solidFill>
          <a:ln w="12700">
            <a:solidFill>
              <a:srgbClr val="7B8594"/>
            </a:solidFill>
            <a:prstDash val="solid"/>
          </a:ln>
        </p:spPr>
      </p:sp>
      <p:sp>
        <p:nvSpPr>
          <p:cNvPr id="37" name="Text 33"/>
          <p:cNvSpPr txBox="1"/>
          <p:nvPr/>
        </p:nvSpPr>
        <p:spPr>
          <a:xfrm>
            <a:off x="3639312" y="3813048"/>
            <a:ext cx="365760" cy="274320"/>
          </a:xfrm>
          <a:prstGeom prst="rect">
            <a:avLst/>
          </a:prstGeom>
          <a:noFill/>
          <a:ln/>
        </p:spPr>
        <p:txBody>
          <a:bodyPr wrap="square" lIns="0" tIns="0" rIns="0" bIns="0" rtlCol="0" anchor="t"/>
          <a:lstStyle/>
          <a:p>
            <a:pPr algn="r" indent="0" marL="0">
              <a:lnSpc>
                <a:spcPct val="115000"/>
              </a:lnSpc>
              <a:buNone/>
            </a:pPr>
            <a:r>
              <a:rPr lang="en-US" sz="1100" b="1" dirty="0">
                <a:solidFill>
                  <a:srgbClr val="EF8B39"/>
                </a:solidFill>
                <a:latin typeface="Courier New" pitchFamily="34" charset="0"/>
                <a:ea typeface="Courier New" pitchFamily="34" charset="-122"/>
                <a:cs typeface="Courier New" pitchFamily="34" charset="-120"/>
              </a:rPr>
              <a:t>4</a:t>
            </a:r>
            <a:endParaRPr lang="en-US" sz="1100" dirty="0"/>
          </a:p>
        </p:txBody>
      </p:sp>
      <p:sp>
        <p:nvSpPr>
          <p:cNvPr id="38" name="Text 34"/>
          <p:cNvSpPr txBox="1"/>
          <p:nvPr/>
        </p:nvSpPr>
        <p:spPr>
          <a:xfrm>
            <a:off x="822960" y="4251960"/>
            <a:ext cx="3090672" cy="365760"/>
          </a:xfrm>
          <a:prstGeom prst="rect">
            <a:avLst/>
          </a:prstGeom>
          <a:noFill/>
          <a:ln/>
        </p:spPr>
        <p:txBody>
          <a:bodyPr wrap="square" lIns="0" tIns="0" rIns="0" bIns="0" rtlCol="0" anchor="t"/>
          <a:lstStyle/>
          <a:p>
            <a:pPr algn="l" indent="0" marL="0">
              <a:lnSpc>
                <a:spcPct val="115000"/>
              </a:lnSpc>
              <a:buNone/>
            </a:pPr>
            <a:r>
              <a:rPr lang="en-US" sz="1700" b="1" dirty="0">
                <a:solidFill>
                  <a:srgbClr val="0D1219"/>
                </a:solidFill>
                <a:latin typeface="Arial" pitchFamily="34" charset="0"/>
                <a:ea typeface="Arial" pitchFamily="34" charset="-122"/>
                <a:cs typeface="Arial" pitchFamily="34" charset="-120"/>
              </a:rPr>
              <a:t>Branches</a:t>
            </a:r>
            <a:endParaRPr lang="en-US" sz="1700" dirty="0"/>
          </a:p>
        </p:txBody>
      </p:sp>
      <p:sp>
        <p:nvSpPr>
          <p:cNvPr id="39" name="Text 35"/>
          <p:cNvSpPr txBox="1"/>
          <p:nvPr/>
        </p:nvSpPr>
        <p:spPr>
          <a:xfrm>
            <a:off x="822960" y="4663440"/>
            <a:ext cx="3090672" cy="6858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The dropdown that says main. Type a name to make a safe copy.</a:t>
            </a:r>
            <a:endParaRPr lang="en-US" sz="1300" dirty="0"/>
          </a:p>
        </p:txBody>
      </p:sp>
      <p:sp>
        <p:nvSpPr>
          <p:cNvPr id="40" name="Shape 36"/>
          <p:cNvSpPr/>
          <p:nvPr/>
        </p:nvSpPr>
        <p:spPr>
          <a:xfrm>
            <a:off x="4366260" y="3794760"/>
            <a:ext cx="3456432" cy="1600200"/>
          </a:xfrm>
          <a:prstGeom prst="rect">
            <a:avLst/>
          </a:prstGeom>
          <a:solidFill>
            <a:srgbClr val="FFFFFF"/>
          </a:solidFill>
          <a:ln w="12700">
            <a:solidFill>
              <a:srgbClr val="0D1219"/>
            </a:solidFill>
            <a:prstDash val="solid"/>
          </a:ln>
        </p:spPr>
      </p:sp>
      <p:sp>
        <p:nvSpPr>
          <p:cNvPr id="41" name="Shape 37"/>
          <p:cNvSpPr/>
          <p:nvPr/>
        </p:nvSpPr>
        <p:spPr>
          <a:xfrm>
            <a:off x="4366260" y="3794760"/>
            <a:ext cx="3456432" cy="310896"/>
          </a:xfrm>
          <a:prstGeom prst="rect">
            <a:avLst/>
          </a:prstGeom>
          <a:solidFill>
            <a:srgbClr val="E8EEF7"/>
          </a:solidFill>
          <a:ln w="12700">
            <a:solidFill>
              <a:srgbClr val="0D1219"/>
            </a:solidFill>
            <a:prstDash val="solid"/>
          </a:ln>
        </p:spPr>
      </p:sp>
      <p:sp>
        <p:nvSpPr>
          <p:cNvPr id="42" name="Shape 38"/>
          <p:cNvSpPr/>
          <p:nvPr/>
        </p:nvSpPr>
        <p:spPr>
          <a:xfrm>
            <a:off x="4530852" y="3895344"/>
            <a:ext cx="109728" cy="109728"/>
          </a:xfrm>
          <a:prstGeom prst="ellipse">
            <a:avLst/>
          </a:prstGeom>
          <a:solidFill>
            <a:srgbClr val="7B8594"/>
          </a:solidFill>
          <a:ln w="12700">
            <a:solidFill>
              <a:srgbClr val="7B8594"/>
            </a:solidFill>
            <a:prstDash val="solid"/>
          </a:ln>
        </p:spPr>
      </p:sp>
      <p:sp>
        <p:nvSpPr>
          <p:cNvPr id="43" name="Shape 39"/>
          <p:cNvSpPr/>
          <p:nvPr/>
        </p:nvSpPr>
        <p:spPr>
          <a:xfrm>
            <a:off x="4695444" y="3895344"/>
            <a:ext cx="109728" cy="109728"/>
          </a:xfrm>
          <a:prstGeom prst="ellipse">
            <a:avLst/>
          </a:prstGeom>
          <a:solidFill>
            <a:srgbClr val="7B8594"/>
          </a:solidFill>
          <a:ln w="12700">
            <a:solidFill>
              <a:srgbClr val="7B8594"/>
            </a:solidFill>
            <a:prstDash val="solid"/>
          </a:ln>
        </p:spPr>
      </p:sp>
      <p:sp>
        <p:nvSpPr>
          <p:cNvPr id="44" name="Shape 40"/>
          <p:cNvSpPr/>
          <p:nvPr/>
        </p:nvSpPr>
        <p:spPr>
          <a:xfrm>
            <a:off x="4860036" y="3895344"/>
            <a:ext cx="109728" cy="109728"/>
          </a:xfrm>
          <a:prstGeom prst="ellipse">
            <a:avLst/>
          </a:prstGeom>
          <a:solidFill>
            <a:srgbClr val="7B8594"/>
          </a:solidFill>
          <a:ln w="12700">
            <a:solidFill>
              <a:srgbClr val="7B8594"/>
            </a:solidFill>
            <a:prstDash val="solid"/>
          </a:ln>
        </p:spPr>
      </p:sp>
      <p:sp>
        <p:nvSpPr>
          <p:cNvPr id="45" name="Text 41"/>
          <p:cNvSpPr txBox="1"/>
          <p:nvPr/>
        </p:nvSpPr>
        <p:spPr>
          <a:xfrm>
            <a:off x="7365492" y="3813048"/>
            <a:ext cx="365760" cy="274320"/>
          </a:xfrm>
          <a:prstGeom prst="rect">
            <a:avLst/>
          </a:prstGeom>
          <a:noFill/>
          <a:ln/>
        </p:spPr>
        <p:txBody>
          <a:bodyPr wrap="square" lIns="0" tIns="0" rIns="0" bIns="0" rtlCol="0" anchor="t"/>
          <a:lstStyle/>
          <a:p>
            <a:pPr algn="r" indent="0" marL="0">
              <a:lnSpc>
                <a:spcPct val="115000"/>
              </a:lnSpc>
              <a:buNone/>
            </a:pPr>
            <a:r>
              <a:rPr lang="en-US" sz="1100" b="1" dirty="0">
                <a:solidFill>
                  <a:srgbClr val="EF8B39"/>
                </a:solidFill>
                <a:latin typeface="Courier New" pitchFamily="34" charset="0"/>
                <a:ea typeface="Courier New" pitchFamily="34" charset="-122"/>
                <a:cs typeface="Courier New" pitchFamily="34" charset="-120"/>
              </a:rPr>
              <a:t>5</a:t>
            </a:r>
            <a:endParaRPr lang="en-US" sz="1100" dirty="0"/>
          </a:p>
        </p:txBody>
      </p:sp>
      <p:sp>
        <p:nvSpPr>
          <p:cNvPr id="46" name="Text 42"/>
          <p:cNvSpPr txBox="1"/>
          <p:nvPr/>
        </p:nvSpPr>
        <p:spPr>
          <a:xfrm>
            <a:off x="4549140" y="4251960"/>
            <a:ext cx="3090672" cy="365760"/>
          </a:xfrm>
          <a:prstGeom prst="rect">
            <a:avLst/>
          </a:prstGeom>
          <a:noFill/>
          <a:ln/>
        </p:spPr>
        <p:txBody>
          <a:bodyPr wrap="square" lIns="0" tIns="0" rIns="0" bIns="0" rtlCol="0" anchor="t"/>
          <a:lstStyle/>
          <a:p>
            <a:pPr algn="l" indent="0" marL="0">
              <a:lnSpc>
                <a:spcPct val="115000"/>
              </a:lnSpc>
              <a:buNone/>
            </a:pPr>
            <a:r>
              <a:rPr lang="en-US" sz="1700" b="1" dirty="0">
                <a:solidFill>
                  <a:srgbClr val="0D1219"/>
                </a:solidFill>
                <a:latin typeface="Arial" pitchFamily="34" charset="0"/>
                <a:ea typeface="Arial" pitchFamily="34" charset="-122"/>
                <a:cs typeface="Arial" pitchFamily="34" charset="-120"/>
              </a:rPr>
              <a:t>Pull requests</a:t>
            </a:r>
            <a:endParaRPr lang="en-US" sz="1700" dirty="0"/>
          </a:p>
        </p:txBody>
      </p:sp>
      <p:sp>
        <p:nvSpPr>
          <p:cNvPr id="47" name="Text 43"/>
          <p:cNvSpPr txBox="1"/>
          <p:nvPr/>
        </p:nvSpPr>
        <p:spPr>
          <a:xfrm>
            <a:off x="4549140" y="4663440"/>
            <a:ext cx="3090672" cy="6858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Review a branch, then merge it. Or close it: no.</a:t>
            </a:r>
            <a:endParaRPr lang="en-US" sz="1300" dirty="0"/>
          </a:p>
        </p:txBody>
      </p:sp>
      <p:sp>
        <p:nvSpPr>
          <p:cNvPr id="48" name="Shape 44"/>
          <p:cNvSpPr/>
          <p:nvPr/>
        </p:nvSpPr>
        <p:spPr>
          <a:xfrm>
            <a:off x="8092440" y="3794760"/>
            <a:ext cx="3456432" cy="1600200"/>
          </a:xfrm>
          <a:prstGeom prst="rect">
            <a:avLst/>
          </a:prstGeom>
          <a:solidFill>
            <a:srgbClr val="FFFFFF"/>
          </a:solidFill>
          <a:ln w="12700">
            <a:solidFill>
              <a:srgbClr val="0D1219"/>
            </a:solidFill>
            <a:prstDash val="solid"/>
          </a:ln>
        </p:spPr>
      </p:sp>
      <p:sp>
        <p:nvSpPr>
          <p:cNvPr id="49" name="Shape 45"/>
          <p:cNvSpPr/>
          <p:nvPr/>
        </p:nvSpPr>
        <p:spPr>
          <a:xfrm>
            <a:off x="8092440" y="3794760"/>
            <a:ext cx="3456432" cy="310896"/>
          </a:xfrm>
          <a:prstGeom prst="rect">
            <a:avLst/>
          </a:prstGeom>
          <a:solidFill>
            <a:srgbClr val="E8EEF7"/>
          </a:solidFill>
          <a:ln w="12700">
            <a:solidFill>
              <a:srgbClr val="0D1219"/>
            </a:solidFill>
            <a:prstDash val="solid"/>
          </a:ln>
        </p:spPr>
      </p:sp>
      <p:sp>
        <p:nvSpPr>
          <p:cNvPr id="50" name="Shape 46"/>
          <p:cNvSpPr/>
          <p:nvPr/>
        </p:nvSpPr>
        <p:spPr>
          <a:xfrm>
            <a:off x="8257032" y="3895344"/>
            <a:ext cx="109728" cy="109728"/>
          </a:xfrm>
          <a:prstGeom prst="ellipse">
            <a:avLst/>
          </a:prstGeom>
          <a:solidFill>
            <a:srgbClr val="7B8594"/>
          </a:solidFill>
          <a:ln w="12700">
            <a:solidFill>
              <a:srgbClr val="7B8594"/>
            </a:solidFill>
            <a:prstDash val="solid"/>
          </a:ln>
        </p:spPr>
      </p:sp>
      <p:sp>
        <p:nvSpPr>
          <p:cNvPr id="51" name="Shape 47"/>
          <p:cNvSpPr/>
          <p:nvPr/>
        </p:nvSpPr>
        <p:spPr>
          <a:xfrm>
            <a:off x="8421624" y="3895344"/>
            <a:ext cx="109728" cy="109728"/>
          </a:xfrm>
          <a:prstGeom prst="ellipse">
            <a:avLst/>
          </a:prstGeom>
          <a:solidFill>
            <a:srgbClr val="7B8594"/>
          </a:solidFill>
          <a:ln w="12700">
            <a:solidFill>
              <a:srgbClr val="7B8594"/>
            </a:solidFill>
            <a:prstDash val="solid"/>
          </a:ln>
        </p:spPr>
      </p:sp>
      <p:sp>
        <p:nvSpPr>
          <p:cNvPr id="52" name="Shape 48"/>
          <p:cNvSpPr/>
          <p:nvPr/>
        </p:nvSpPr>
        <p:spPr>
          <a:xfrm>
            <a:off x="8586216" y="3895344"/>
            <a:ext cx="109728" cy="109728"/>
          </a:xfrm>
          <a:prstGeom prst="ellipse">
            <a:avLst/>
          </a:prstGeom>
          <a:solidFill>
            <a:srgbClr val="7B8594"/>
          </a:solidFill>
          <a:ln w="12700">
            <a:solidFill>
              <a:srgbClr val="7B8594"/>
            </a:solidFill>
            <a:prstDash val="solid"/>
          </a:ln>
        </p:spPr>
      </p:sp>
      <p:sp>
        <p:nvSpPr>
          <p:cNvPr id="53" name="Text 49"/>
          <p:cNvSpPr txBox="1"/>
          <p:nvPr/>
        </p:nvSpPr>
        <p:spPr>
          <a:xfrm>
            <a:off x="11091672" y="3813048"/>
            <a:ext cx="365760" cy="274320"/>
          </a:xfrm>
          <a:prstGeom prst="rect">
            <a:avLst/>
          </a:prstGeom>
          <a:noFill/>
          <a:ln/>
        </p:spPr>
        <p:txBody>
          <a:bodyPr wrap="square" lIns="0" tIns="0" rIns="0" bIns="0" rtlCol="0" anchor="t"/>
          <a:lstStyle/>
          <a:p>
            <a:pPr algn="r" indent="0" marL="0">
              <a:lnSpc>
                <a:spcPct val="115000"/>
              </a:lnSpc>
              <a:buNone/>
            </a:pPr>
            <a:r>
              <a:rPr lang="en-US" sz="1100" b="1" dirty="0">
                <a:solidFill>
                  <a:srgbClr val="EF8B39"/>
                </a:solidFill>
                <a:latin typeface="Courier New" pitchFamily="34" charset="0"/>
                <a:ea typeface="Courier New" pitchFamily="34" charset="-122"/>
                <a:cs typeface="Courier New" pitchFamily="34" charset="-120"/>
              </a:rPr>
              <a:t>6</a:t>
            </a:r>
            <a:endParaRPr lang="en-US" sz="1100" dirty="0"/>
          </a:p>
        </p:txBody>
      </p:sp>
      <p:sp>
        <p:nvSpPr>
          <p:cNvPr id="54" name="Text 50"/>
          <p:cNvSpPr txBox="1"/>
          <p:nvPr/>
        </p:nvSpPr>
        <p:spPr>
          <a:xfrm>
            <a:off x="8275320" y="4251960"/>
            <a:ext cx="3090672" cy="365760"/>
          </a:xfrm>
          <a:prstGeom prst="rect">
            <a:avLst/>
          </a:prstGeom>
          <a:noFill/>
          <a:ln/>
        </p:spPr>
        <p:txBody>
          <a:bodyPr wrap="square" lIns="0" tIns="0" rIns="0" bIns="0" rtlCol="0" anchor="t"/>
          <a:lstStyle/>
          <a:p>
            <a:pPr algn="l" indent="0" marL="0">
              <a:lnSpc>
                <a:spcPct val="115000"/>
              </a:lnSpc>
              <a:buNone/>
            </a:pPr>
            <a:r>
              <a:rPr lang="en-US" sz="1700" b="1" dirty="0">
                <a:solidFill>
                  <a:srgbClr val="0D1219"/>
                </a:solidFill>
                <a:latin typeface="Arial" pitchFamily="34" charset="0"/>
                <a:ea typeface="Arial" pitchFamily="34" charset="-122"/>
                <a:cs typeface="Arial" pitchFamily="34" charset="-120"/>
              </a:rPr>
              <a:t>Settings</a:t>
            </a:r>
            <a:endParaRPr lang="en-US" sz="1700" dirty="0"/>
          </a:p>
        </p:txBody>
      </p:sp>
      <p:sp>
        <p:nvSpPr>
          <p:cNvPr id="55" name="Text 51"/>
          <p:cNvSpPr txBox="1"/>
          <p:nvPr/>
        </p:nvSpPr>
        <p:spPr>
          <a:xfrm>
            <a:off x="8275320" y="4663440"/>
            <a:ext cx="3090672" cy="685800"/>
          </a:xfrm>
          <a:prstGeom prst="rect">
            <a:avLst/>
          </a:prstGeom>
          <a:noFill/>
          <a:ln/>
        </p:spPr>
        <p:txBody>
          <a:bodyPr wrap="square" lIns="0" tIns="0" rIns="0" bIns="0" rtlCol="0" anchor="t"/>
          <a:lstStyle/>
          <a:p>
            <a:pPr algn="l" indent="0" marL="0">
              <a:lnSpc>
                <a:spcPct val="115000"/>
              </a:lnSpc>
              <a:buNone/>
            </a:pPr>
            <a:r>
              <a:rPr lang="en-US" sz="1300" dirty="0">
                <a:solidFill>
                  <a:srgbClr val="5B6675"/>
                </a:solidFill>
                <a:latin typeface="Arial" pitchFamily="34" charset="0"/>
                <a:ea typeface="Arial" pitchFamily="34" charset="-122"/>
                <a:cs typeface="Arial" pitchFamily="34" charset="-120"/>
              </a:rPr>
              <a:t>Public or private. Collaborators. Nothing asks for your password except delete.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2 · SETUP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9:30 – 9:55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Do the tour once yourself. Five steps.</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Commits shows two rows in your repository and you have opened one diff.</a:t>
            </a:r>
            <a:endParaRPr lang="en-US" sz="1600" dirty="0"/>
          </a:p>
        </p:txBody>
      </p:sp>
      <p:sp>
        <p:nvSpPr>
          <p:cNvPr id="9" name="Text 5"/>
          <p:cNvSpPr txBox="1"/>
          <p:nvPr/>
        </p:nvSpPr>
        <p:spPr>
          <a:xfrm>
            <a:off x="640080" y="2194560"/>
            <a:ext cx="10908792" cy="2926080"/>
          </a:xfrm>
          <a:prstGeom prst="rect">
            <a:avLst/>
          </a:prstGeom>
          <a:noFill/>
          <a:ln/>
        </p:spPr>
        <p:txBody>
          <a:bodyPr wrap="square" lIns="0" tIns="0" rIns="0" bIns="0" rtlCol="0" anchor="t"/>
          <a:lstStyle/>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1   Create my-first-site with a README. You just did this.</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2   Upload one starter from website-starters/ with “Add file” → “Upload files.” Message: “Add starter page.”</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3   Open Commits, open that commit, find your file in the diff.</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4   Edit the README in the browser: one line that says what the site will be. Commit it.</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5   Open Commits again. Two rows. That was the loop with no chatbot: change, save, history.</a:t>
            </a:r>
            <a:endParaRPr lang="en-US" sz="1600" dirty="0"/>
          </a:p>
        </p:txBody>
      </p:sp>
      <p:sp>
        <p:nvSpPr>
          <p:cNvPr id="10" name="Shape 6"/>
          <p:cNvSpPr/>
          <p:nvPr/>
        </p:nvSpPr>
        <p:spPr>
          <a:xfrm>
            <a:off x="640080" y="5971032"/>
            <a:ext cx="201168" cy="201168"/>
          </a:xfrm>
          <a:prstGeom prst="rect">
            <a:avLst/>
          </a:prstGeom>
          <a:solidFill>
            <a:srgbClr val="22C55E"/>
          </a:solidFill>
          <a:ln w="12700">
            <a:solidFill>
              <a:srgbClr val="22C55E"/>
            </a:solidFill>
            <a:prstDash val="solid"/>
          </a:ln>
        </p:spPr>
      </p:sp>
      <p:sp>
        <p:nvSpPr>
          <p:cNvPr id="11" name="Text 7"/>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2" name="Shape 8"/>
          <p:cNvSpPr/>
          <p:nvPr/>
        </p:nvSpPr>
        <p:spPr>
          <a:xfrm>
            <a:off x="4206240" y="5971032"/>
            <a:ext cx="201168" cy="201168"/>
          </a:xfrm>
          <a:prstGeom prst="rect">
            <a:avLst/>
          </a:prstGeom>
          <a:solidFill>
            <a:srgbClr val="EF4444"/>
          </a:solidFill>
          <a:ln w="12700">
            <a:solidFill>
              <a:srgbClr val="EF4444"/>
            </a:solidFill>
            <a:prstDash val="solid"/>
          </a:ln>
        </p:spPr>
      </p:sp>
      <p:sp>
        <p:nvSpPr>
          <p:cNvPr id="13" name="Text 9"/>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4"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29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THE ONE RULE · DOCS/SECRETS-TOKENS-AND-THE-CLIPBOARD.MD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9:41 – 9:43</a:t>
            </a:r>
            <a:endParaRPr lang="en-US" sz="1100" dirty="0"/>
          </a:p>
        </p:txBody>
      </p:sp>
      <p:sp>
        <p:nvSpPr>
          <p:cNvPr id="7" name="Text 3"/>
          <p:cNvSpPr txBox="1"/>
          <p:nvPr/>
        </p:nvSpPr>
        <p:spPr>
          <a:xfrm>
            <a:off x="640080" y="1920240"/>
            <a:ext cx="10908792" cy="2743200"/>
          </a:xfrm>
          <a:prstGeom prst="rect">
            <a:avLst/>
          </a:prstGeom>
          <a:noFill/>
          <a:ln/>
        </p:spPr>
        <p:txBody>
          <a:bodyPr wrap="square" lIns="0" tIns="0" rIns="0" bIns="0" rtlCol="0" anchor="ctr"/>
          <a:lstStyle/>
          <a:p>
            <a:pPr indent="0" marL="0">
              <a:lnSpc>
                <a:spcPct val="110000"/>
              </a:lnSpc>
              <a:buNone/>
            </a:pPr>
            <a:r>
              <a:rPr lang="en-US" sz="4400" b="1" dirty="0">
                <a:solidFill>
                  <a:srgbClr val="0D1219"/>
                </a:solidFill>
                <a:latin typeface="Arial" pitchFamily="34" charset="0"/>
                <a:ea typeface="Arial" pitchFamily="34" charset="-122"/>
                <a:cs typeface="Arial" pitchFamily="34" charset="-120"/>
              </a:rPr>
              <a:t>Nothing that unlocks an account goes into a chat window. Ever.</a:t>
            </a:r>
            <a:endParaRPr lang="en-US" sz="4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THE ONE RULE · DOCS/SECRETS-TOKENS-AND-THE-CLIPBOARD.MD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9:41 – 9:43</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Where a secret lives. Where it never goes.</a:t>
            </a:r>
            <a:endParaRPr lang="en-US" sz="3200" dirty="0"/>
          </a:p>
        </p:txBody>
      </p:sp>
      <p:sp>
        <p:nvSpPr>
          <p:cNvPr id="8" name="Text 4"/>
          <p:cNvSpPr txBox="1"/>
          <p:nvPr/>
        </p:nvSpPr>
        <p:spPr>
          <a:xfrm>
            <a:off x="640080" y="1691640"/>
            <a:ext cx="5225796" cy="274320"/>
          </a:xfrm>
          <a:prstGeom prst="rect">
            <a:avLst/>
          </a:prstGeom>
          <a:noFill/>
          <a:ln/>
        </p:spPr>
        <p:txBody>
          <a:bodyPr wrap="square" lIns="0" tIns="0" rIns="0" bIns="0" rtlCol="0" anchor="ctr"/>
          <a:lstStyle/>
          <a:p>
            <a:pPr indent="0" marL="0">
              <a:buNone/>
            </a:pPr>
            <a:r>
              <a:rPr lang="en-US" sz="1100" b="1" spc="150" kern="0" dirty="0">
                <a:solidFill>
                  <a:srgbClr val="22C55E"/>
                </a:solidFill>
                <a:latin typeface="Courier New" pitchFamily="34" charset="0"/>
                <a:ea typeface="Courier New" pitchFamily="34" charset="-122"/>
                <a:cs typeface="Courier New" pitchFamily="34" charset="-120"/>
              </a:rPr>
              <a:t>YES</a:t>
            </a:r>
            <a:endParaRPr lang="en-US" sz="1100" dirty="0"/>
          </a:p>
        </p:txBody>
      </p:sp>
      <p:sp>
        <p:nvSpPr>
          <p:cNvPr id="9" name="Text 5"/>
          <p:cNvSpPr txBox="1"/>
          <p:nvPr/>
        </p:nvSpPr>
        <p:spPr>
          <a:xfrm>
            <a:off x="640080" y="2039112"/>
            <a:ext cx="5225796" cy="1554480"/>
          </a:xfrm>
          <a:prstGeom prst="rect">
            <a:avLst/>
          </a:prstGeom>
          <a:noFill/>
          <a:ln/>
        </p:spPr>
        <p:txBody>
          <a:bodyPr wrap="square" lIns="0" tIns="0" rIns="0" bIns="0" rtlCol="0" anchor="t"/>
          <a:lstStyle/>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Your password manager: the source of truth.</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Vercel → your project → Settings → Environment Variables.</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A .env.local file, if .gitignore lists it.</a:t>
            </a:r>
            <a:endParaRPr lang="en-US" sz="1500" dirty="0"/>
          </a:p>
        </p:txBody>
      </p:sp>
      <p:sp>
        <p:nvSpPr>
          <p:cNvPr id="10" name="Text 6"/>
          <p:cNvSpPr txBox="1"/>
          <p:nvPr/>
        </p:nvSpPr>
        <p:spPr>
          <a:xfrm>
            <a:off x="6323076" y="1691640"/>
            <a:ext cx="5225796" cy="274320"/>
          </a:xfrm>
          <a:prstGeom prst="rect">
            <a:avLst/>
          </a:prstGeom>
          <a:noFill/>
          <a:ln/>
        </p:spPr>
        <p:txBody>
          <a:bodyPr wrap="square" lIns="0" tIns="0" rIns="0" bIns="0" rtlCol="0" anchor="ctr"/>
          <a:lstStyle/>
          <a:p>
            <a:pPr indent="0" marL="0">
              <a:buNone/>
            </a:pPr>
            <a:r>
              <a:rPr lang="en-US" sz="1100" b="1" spc="150" kern="0" dirty="0">
                <a:solidFill>
                  <a:srgbClr val="EF4444"/>
                </a:solidFill>
                <a:latin typeface="Courier New" pitchFamily="34" charset="0"/>
                <a:ea typeface="Courier New" pitchFamily="34" charset="-122"/>
                <a:cs typeface="Courier New" pitchFamily="34" charset="-120"/>
              </a:rPr>
              <a:t>NEVER</a:t>
            </a:r>
            <a:endParaRPr lang="en-US" sz="1100" dirty="0"/>
          </a:p>
        </p:txBody>
      </p:sp>
      <p:sp>
        <p:nvSpPr>
          <p:cNvPr id="11" name="Text 7"/>
          <p:cNvSpPr txBox="1"/>
          <p:nvPr/>
        </p:nvSpPr>
        <p:spPr>
          <a:xfrm>
            <a:off x="6323076" y="2039112"/>
            <a:ext cx="5225796" cy="1554480"/>
          </a:xfrm>
          <a:prstGeom prst="rect">
            <a:avLst/>
          </a:prstGeom>
          <a:noFill/>
          <a:ln/>
        </p:spPr>
        <p:txBody>
          <a:bodyPr wrap="square" lIns="0" tIns="0" rIns="0" bIns="0" rtlCol="0" anchor="t"/>
          <a:lstStyle/>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A chat window.</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The code, a README, a commit message, an issue.</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A screenshot, a slide, a shared doc.</a:t>
            </a:r>
            <a:endParaRPr lang="en-US" sz="1500" dirty="0"/>
          </a:p>
        </p:txBody>
      </p:sp>
      <p:sp>
        <p:nvSpPr>
          <p:cNvPr id="12" name="Text 8"/>
          <p:cNvSpPr txBox="1"/>
          <p:nvPr/>
        </p:nvSpPr>
        <p:spPr>
          <a:xfrm>
            <a:off x="640080" y="342900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CLIPBOARD MOVE: COPY THE KEY, THEN ONE COMMAND MOVES IT. THE AGENT NEVER SEES IT.</a:t>
            </a:r>
            <a:endParaRPr lang="en-US" sz="1100" dirty="0"/>
          </a:p>
        </p:txBody>
      </p:sp>
      <p:sp>
        <p:nvSpPr>
          <p:cNvPr id="13" name="Text 9"/>
          <p:cNvSpPr txBox="1"/>
          <p:nvPr/>
        </p:nvSpPr>
        <p:spPr>
          <a:xfrm>
            <a:off x="640080" y="3730752"/>
            <a:ext cx="10908792" cy="365760"/>
          </a:xfrm>
          <a:prstGeom prst="rect">
            <a:avLst/>
          </a:prstGeom>
          <a:noFill/>
          <a:ln/>
        </p:spPr>
        <p:txBody>
          <a:bodyPr wrap="square" lIns="0" tIns="0" rIns="0" bIns="0" rtlCol="0" anchor="t"/>
          <a:lstStyle/>
          <a:p>
            <a:pPr algn="l" indent="0" marL="0">
              <a:lnSpc>
                <a:spcPct val="115000"/>
              </a:lnSpc>
              <a:buNone/>
            </a:pPr>
            <a:r>
              <a:rPr lang="en-US" sz="1800" b="1" dirty="0">
                <a:solidFill>
                  <a:srgbClr val="0D1219"/>
                </a:solidFill>
                <a:latin typeface="Courier New" pitchFamily="34" charset="0"/>
                <a:ea typeface="Courier New" pitchFamily="34" charset="-122"/>
                <a:cs typeface="Courier New" pitchFamily="34" charset="-120"/>
              </a:rPr>
              <a:t>pbpaste | vercel env add RESEND_API_KEY production</a:t>
            </a:r>
            <a:endParaRPr lang="en-US" sz="1800" dirty="0"/>
          </a:p>
        </p:txBody>
      </p:sp>
      <p:sp>
        <p:nvSpPr>
          <p:cNvPr id="14" name="Shape 10"/>
          <p:cNvSpPr/>
          <p:nvPr/>
        </p:nvSpPr>
        <p:spPr>
          <a:xfrm>
            <a:off x="640080" y="4251960"/>
            <a:ext cx="10908792" cy="1325880"/>
          </a:xfrm>
          <a:prstGeom prst="rect">
            <a:avLst/>
          </a:prstGeom>
          <a:solidFill>
            <a:srgbClr val="121B2B"/>
          </a:solidFill>
          <a:ln w="12700">
            <a:solidFill>
              <a:srgbClr val="EF8B39"/>
            </a:solidFill>
            <a:prstDash val="solid"/>
          </a:ln>
        </p:spPr>
      </p:sp>
      <p:sp>
        <p:nvSpPr>
          <p:cNvPr id="15" name="Text 11"/>
          <p:cNvSpPr/>
          <p:nvPr/>
        </p:nvSpPr>
        <p:spPr>
          <a:xfrm>
            <a:off x="868680" y="43799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ASK FOR THE COMMAND, NOT THE VALUE · VERBATIM</a:t>
            </a:r>
            <a:endParaRPr lang="en-US" sz="1100" dirty="0"/>
          </a:p>
        </p:txBody>
      </p:sp>
      <p:sp>
        <p:nvSpPr>
          <p:cNvPr id="16" name="Text 12"/>
          <p:cNvSpPr txBox="1"/>
          <p:nvPr/>
        </p:nvSpPr>
        <p:spPr>
          <a:xfrm>
            <a:off x="868680" y="4709160"/>
            <a:ext cx="10451592" cy="73152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I have the Resend API key on my clipboard. Give me the one command that saves it into .env.local as RESEND_API_KEY using pbpaste, and the line to add to .gitignore. Do not ask me to paste the key.</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2 · SETUP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9:30 – 9:55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Vercel and v0: sign in with GitHub, then stop.</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Vercel and v0 both show your GitHub account, my-first-site is in the import list, nothing is deployed.</a:t>
            </a:r>
            <a:endParaRPr lang="en-US" sz="1600" dirty="0"/>
          </a:p>
        </p:txBody>
      </p:sp>
      <p:sp>
        <p:nvSpPr>
          <p:cNvPr id="9" name="Text 5"/>
          <p:cNvSpPr txBox="1"/>
          <p:nvPr/>
        </p:nvSpPr>
        <p:spPr>
          <a:xfrm>
            <a:off x="640080" y="2194560"/>
            <a:ext cx="10908792" cy="2743200"/>
          </a:xfrm>
          <a:prstGeom prst="rect">
            <a:avLst/>
          </a:prstGeom>
          <a:noFill/>
          <a:ln/>
        </p:spPr>
        <p:txBody>
          <a:bodyPr wrap="square" lIns="0" tIns="0" rIns="0" bIns="0" rtlCol="0" anchor="t"/>
          <a:lstStyle/>
          <a:p>
            <a:pPr indent="0" marL="0">
              <a:lnSpc>
                <a:spcPct val="120000"/>
              </a:lnSpc>
              <a:spcAft>
                <a:spcPts val="1300"/>
              </a:spcAft>
              <a:buNone/>
            </a:pPr>
            <a:r>
              <a:rPr lang="en-US" sz="1700" dirty="0">
                <a:solidFill>
                  <a:srgbClr val="0D1219"/>
                </a:solidFill>
                <a:latin typeface="Arial" pitchFamily="34" charset="0"/>
                <a:ea typeface="Arial" pitchFamily="34" charset="-122"/>
                <a:cs typeface="Arial" pitchFamily="34" charset="-120"/>
              </a:rPr>
              <a:t>1   vercel.com → “Continue with GitHub.” Authorize it in Vercel’s own window.</a:t>
            </a:r>
            <a:endParaRPr lang="en-US" sz="1700" dirty="0"/>
          </a:p>
          <a:p>
            <a:pPr indent="0" marL="0">
              <a:lnSpc>
                <a:spcPct val="120000"/>
              </a:lnSpc>
              <a:spcAft>
                <a:spcPts val="1300"/>
              </a:spcAft>
              <a:buNone/>
            </a:pPr>
            <a:r>
              <a:rPr lang="en-US" sz="1700" dirty="0">
                <a:solidFill>
                  <a:srgbClr val="0D1219"/>
                </a:solidFill>
                <a:latin typeface="Arial" pitchFamily="34" charset="0"/>
                <a:ea typeface="Arial" pitchFamily="34" charset="-122"/>
                <a:cs typeface="Arial" pitchFamily="34" charset="-120"/>
              </a:rPr>
              <a:t>2   Let Vercel see my-first-site. Check it appears under “Add New” → “Project.” Don’t import.</a:t>
            </a:r>
            <a:endParaRPr lang="en-US" sz="1700" dirty="0"/>
          </a:p>
          <a:p>
            <a:pPr indent="0" marL="0">
              <a:lnSpc>
                <a:spcPct val="120000"/>
              </a:lnSpc>
              <a:spcAft>
                <a:spcPts val="1300"/>
              </a:spcAft>
              <a:buNone/>
            </a:pPr>
            <a:r>
              <a:rPr lang="en-US" sz="1700" dirty="0">
                <a:solidFill>
                  <a:srgbClr val="0D1219"/>
                </a:solidFill>
                <a:latin typeface="Arial" pitchFamily="34" charset="0"/>
                <a:ea typeface="Arial" pitchFamily="34" charset="-122"/>
                <a:cs typeface="Arial" pitchFamily="34" charset="-120"/>
              </a:rPr>
              <a:t>3   v0.app → sign in. Find the GitHub option, grant “only select repositories,” pick my-first-site.</a:t>
            </a:r>
            <a:endParaRPr lang="en-US" sz="1700" dirty="0"/>
          </a:p>
          <a:p>
            <a:pPr indent="0" marL="0">
              <a:lnSpc>
                <a:spcPct val="120000"/>
              </a:lnSpc>
              <a:spcAft>
                <a:spcPts val="1300"/>
              </a:spcAft>
              <a:buNone/>
            </a:pPr>
            <a:r>
              <a:rPr lang="en-US" sz="1700" dirty="0">
                <a:solidFill>
                  <a:srgbClr val="0D1219"/>
                </a:solidFill>
                <a:latin typeface="Arial" pitchFamily="34" charset="0"/>
                <a:ea typeface="Arial" pitchFamily="34" charset="-122"/>
                <a:cs typeface="Arial" pitchFamily="34" charset="-120"/>
              </a:rPr>
              <a:t>4   Stop. Nothing deployed, nothing generated. We build at 10:00.</a:t>
            </a:r>
            <a:endParaRPr lang="en-US" sz="1700" dirty="0"/>
          </a:p>
        </p:txBody>
      </p:sp>
      <p:sp>
        <p:nvSpPr>
          <p:cNvPr id="10" name="Shape 6"/>
          <p:cNvSpPr/>
          <p:nvPr/>
        </p:nvSpPr>
        <p:spPr>
          <a:xfrm>
            <a:off x="640080" y="5971032"/>
            <a:ext cx="201168" cy="201168"/>
          </a:xfrm>
          <a:prstGeom prst="rect">
            <a:avLst/>
          </a:prstGeom>
          <a:solidFill>
            <a:srgbClr val="22C55E"/>
          </a:solidFill>
          <a:ln w="12700">
            <a:solidFill>
              <a:srgbClr val="22C55E"/>
            </a:solidFill>
            <a:prstDash val="solid"/>
          </a:ln>
        </p:spPr>
      </p:sp>
      <p:sp>
        <p:nvSpPr>
          <p:cNvPr id="11" name="Text 7"/>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2" name="Shape 8"/>
          <p:cNvSpPr/>
          <p:nvPr/>
        </p:nvSpPr>
        <p:spPr>
          <a:xfrm>
            <a:off x="4206240" y="5971032"/>
            <a:ext cx="201168" cy="201168"/>
          </a:xfrm>
          <a:prstGeom prst="rect">
            <a:avLst/>
          </a:prstGeom>
          <a:solidFill>
            <a:srgbClr val="EF4444"/>
          </a:solidFill>
          <a:ln w="12700">
            <a:solidFill>
              <a:srgbClr val="EF4444"/>
            </a:solidFill>
            <a:prstDash val="solid"/>
          </a:ln>
        </p:spPr>
      </p:sp>
      <p:sp>
        <p:nvSpPr>
          <p:cNvPr id="13" name="Text 9"/>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4"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2 · SETUP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9:30 – 9:55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Two ways to build. Same prompts, same checks.</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Pick one by 10:00 and write it at the top of your notes. Stay on it until lunch.</a:t>
            </a:r>
            <a:endParaRPr lang="en-US" sz="1600" dirty="0"/>
          </a:p>
        </p:txBody>
      </p:sp>
      <p:sp>
        <p:nvSpPr>
          <p:cNvPr id="9" name="Text 5"/>
          <p:cNvSpPr txBox="1"/>
          <p:nvPr/>
        </p:nvSpPr>
        <p:spPr>
          <a:xfrm>
            <a:off x="640080" y="214884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 V0 ROUTE · FEATURED</a:t>
            </a:r>
            <a:endParaRPr lang="en-US" sz="1100" dirty="0"/>
          </a:p>
        </p:txBody>
      </p:sp>
      <p:sp>
        <p:nvSpPr>
          <p:cNvPr id="10" name="Shape 6"/>
          <p:cNvSpPr/>
          <p:nvPr/>
        </p:nvSpPr>
        <p:spPr>
          <a:xfrm>
            <a:off x="640080" y="2514600"/>
            <a:ext cx="2418588" cy="685800"/>
          </a:xfrm>
          <a:prstGeom prst="roundRect">
            <a:avLst>
              <a:gd name="adj" fmla="val 13333"/>
            </a:avLst>
          </a:prstGeom>
          <a:solidFill>
            <a:srgbClr val="FFFFFF"/>
          </a:solidFill>
          <a:ln w="12700">
            <a:solidFill>
              <a:srgbClr val="EF8B39"/>
            </a:solidFill>
            <a:prstDash val="solid"/>
          </a:ln>
        </p:spPr>
      </p:sp>
      <p:sp>
        <p:nvSpPr>
          <p:cNvPr id="11" name="Text 7"/>
          <p:cNvSpPr/>
          <p:nvPr/>
        </p:nvSpPr>
        <p:spPr>
          <a:xfrm>
            <a:off x="640080" y="2514600"/>
            <a:ext cx="2418588" cy="68580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Describe in the v0 chat</a:t>
            </a:r>
            <a:endParaRPr lang="en-US" sz="1500" dirty="0"/>
          </a:p>
        </p:txBody>
      </p:sp>
      <p:sp>
        <p:nvSpPr>
          <p:cNvPr id="12" name="Shape 8"/>
          <p:cNvSpPr/>
          <p:nvPr/>
        </p:nvSpPr>
        <p:spPr>
          <a:xfrm>
            <a:off x="3104388" y="2857500"/>
            <a:ext cx="320040" cy="0"/>
          </a:xfrm>
          <a:prstGeom prst="line">
            <a:avLst/>
          </a:prstGeom>
          <a:noFill/>
          <a:ln w="19050">
            <a:solidFill>
              <a:srgbClr val="EF8B39"/>
            </a:solidFill>
            <a:prstDash val="solid"/>
            <a:tailEnd type="triangle"/>
          </a:ln>
        </p:spPr>
      </p:sp>
      <p:sp>
        <p:nvSpPr>
          <p:cNvPr id="13" name="Shape 9"/>
          <p:cNvSpPr/>
          <p:nvPr/>
        </p:nvSpPr>
        <p:spPr>
          <a:xfrm>
            <a:off x="3470148" y="2514600"/>
            <a:ext cx="2418588" cy="685800"/>
          </a:xfrm>
          <a:prstGeom prst="roundRect">
            <a:avLst>
              <a:gd name="adj" fmla="val 13333"/>
            </a:avLst>
          </a:prstGeom>
          <a:solidFill>
            <a:srgbClr val="FFFFFF"/>
          </a:solidFill>
          <a:ln w="12700">
            <a:solidFill>
              <a:srgbClr val="EF8B39"/>
            </a:solidFill>
            <a:prstDash val="solid"/>
          </a:ln>
        </p:spPr>
      </p:sp>
      <p:sp>
        <p:nvSpPr>
          <p:cNvPr id="14" name="Text 10"/>
          <p:cNvSpPr/>
          <p:nvPr/>
        </p:nvSpPr>
        <p:spPr>
          <a:xfrm>
            <a:off x="3470148" y="2514600"/>
            <a:ext cx="2418588" cy="68580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Live preview, a React app</a:t>
            </a:r>
            <a:endParaRPr lang="en-US" sz="1500" dirty="0"/>
          </a:p>
        </p:txBody>
      </p:sp>
      <p:sp>
        <p:nvSpPr>
          <p:cNvPr id="15" name="Shape 11"/>
          <p:cNvSpPr/>
          <p:nvPr/>
        </p:nvSpPr>
        <p:spPr>
          <a:xfrm>
            <a:off x="5934456" y="2857500"/>
            <a:ext cx="320040" cy="0"/>
          </a:xfrm>
          <a:prstGeom prst="line">
            <a:avLst/>
          </a:prstGeom>
          <a:noFill/>
          <a:ln w="19050">
            <a:solidFill>
              <a:srgbClr val="EF8B39"/>
            </a:solidFill>
            <a:prstDash val="solid"/>
            <a:tailEnd type="triangle"/>
          </a:ln>
        </p:spPr>
      </p:sp>
      <p:sp>
        <p:nvSpPr>
          <p:cNvPr id="16" name="Shape 12"/>
          <p:cNvSpPr/>
          <p:nvPr/>
        </p:nvSpPr>
        <p:spPr>
          <a:xfrm>
            <a:off x="6300216" y="2514600"/>
            <a:ext cx="2418588" cy="685800"/>
          </a:xfrm>
          <a:prstGeom prst="roundRect">
            <a:avLst>
              <a:gd name="adj" fmla="val 13333"/>
            </a:avLst>
          </a:prstGeom>
          <a:solidFill>
            <a:srgbClr val="FFFFFF"/>
          </a:solidFill>
          <a:ln w="12700">
            <a:solidFill>
              <a:srgbClr val="EF8B39"/>
            </a:solidFill>
            <a:prstDash val="solid"/>
          </a:ln>
        </p:spPr>
      </p:sp>
      <p:sp>
        <p:nvSpPr>
          <p:cNvPr id="17" name="Text 13"/>
          <p:cNvSpPr/>
          <p:nvPr/>
        </p:nvSpPr>
        <p:spPr>
          <a:xfrm>
            <a:off x="6300216" y="2514600"/>
            <a:ext cx="2418588" cy="68580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Click Deploy</a:t>
            </a:r>
            <a:endParaRPr lang="en-US" sz="1500" dirty="0"/>
          </a:p>
        </p:txBody>
      </p:sp>
      <p:sp>
        <p:nvSpPr>
          <p:cNvPr id="18" name="Shape 14"/>
          <p:cNvSpPr/>
          <p:nvPr/>
        </p:nvSpPr>
        <p:spPr>
          <a:xfrm>
            <a:off x="8764524" y="2857500"/>
            <a:ext cx="320040" cy="0"/>
          </a:xfrm>
          <a:prstGeom prst="line">
            <a:avLst/>
          </a:prstGeom>
          <a:noFill/>
          <a:ln w="19050">
            <a:solidFill>
              <a:srgbClr val="EF8B39"/>
            </a:solidFill>
            <a:prstDash val="solid"/>
            <a:tailEnd type="triangle"/>
          </a:ln>
        </p:spPr>
      </p:sp>
      <p:sp>
        <p:nvSpPr>
          <p:cNvPr id="19" name="Shape 15"/>
          <p:cNvSpPr/>
          <p:nvPr/>
        </p:nvSpPr>
        <p:spPr>
          <a:xfrm>
            <a:off x="9130284" y="2514600"/>
            <a:ext cx="2418588" cy="685800"/>
          </a:xfrm>
          <a:prstGeom prst="roundRect">
            <a:avLst>
              <a:gd name="adj" fmla="val 13333"/>
            </a:avLst>
          </a:prstGeom>
          <a:solidFill>
            <a:srgbClr val="EF8B39"/>
          </a:solidFill>
          <a:ln w="12700">
            <a:solidFill>
              <a:srgbClr val="EF8B39"/>
            </a:solidFill>
            <a:prstDash val="solid"/>
          </a:ln>
        </p:spPr>
      </p:sp>
      <p:sp>
        <p:nvSpPr>
          <p:cNvPr id="20" name="Text 16"/>
          <p:cNvSpPr/>
          <p:nvPr/>
        </p:nvSpPr>
        <p:spPr>
          <a:xfrm>
            <a:off x="9130284" y="2514600"/>
            <a:ext cx="2418588"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Connect to GitHub: my-first-site</a:t>
            </a:r>
            <a:endParaRPr lang="en-US" sz="1500" dirty="0"/>
          </a:p>
        </p:txBody>
      </p:sp>
      <p:sp>
        <p:nvSpPr>
          <p:cNvPr id="21" name="Text 17"/>
          <p:cNvSpPr txBox="1"/>
          <p:nvPr/>
        </p:nvSpPr>
        <p:spPr>
          <a:xfrm>
            <a:off x="640080" y="3291840"/>
            <a:ext cx="10908792" cy="365760"/>
          </a:xfrm>
          <a:prstGeom prst="rect">
            <a:avLst/>
          </a:prstGeom>
          <a:noFill/>
          <a:ln/>
        </p:spPr>
        <p:txBody>
          <a:bodyPr wrap="square" lIns="0" tIns="0" rIns="0" bIns="0" rtlCol="0" anchor="t"/>
          <a:lstStyle/>
          <a:p>
            <a:pPr algn="l" indent="0" marL="0">
              <a:lnSpc>
                <a:spcPct val="115000"/>
              </a:lnSpc>
              <a:buNone/>
            </a:pPr>
            <a:r>
              <a:rPr lang="en-US" sz="1400" dirty="0">
                <a:solidFill>
                  <a:srgbClr val="5B6675"/>
                </a:solidFill>
                <a:latin typeface="Arial" pitchFamily="34" charset="0"/>
                <a:ea typeface="Arial" pitchFamily="34" charset="-122"/>
                <a:cs typeface="Arial" pitchFamily="34" charset="-120"/>
              </a:rPr>
              <a:t>Every version lands in your repository. Hand v0 the example as the style reference and your template as the content.</a:t>
            </a:r>
            <a:endParaRPr lang="en-US" sz="1400" dirty="0"/>
          </a:p>
        </p:txBody>
      </p:sp>
      <p:sp>
        <p:nvSpPr>
          <p:cNvPr id="22" name="Text 18"/>
          <p:cNvSpPr txBox="1"/>
          <p:nvPr/>
        </p:nvSpPr>
        <p:spPr>
          <a:xfrm>
            <a:off x="640080" y="388620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307FE2"/>
                </a:solidFill>
                <a:latin typeface="Courier New" pitchFamily="34" charset="0"/>
                <a:ea typeface="Courier New" pitchFamily="34" charset="-122"/>
                <a:cs typeface="Courier New" pitchFamily="34" charset="-120"/>
              </a:rPr>
              <a:t>THE PORTABLE ROUTE · ANY CHATBOT THAT RETURNS FILES</a:t>
            </a:r>
            <a:endParaRPr lang="en-US" sz="1100" dirty="0"/>
          </a:p>
        </p:txBody>
      </p:sp>
      <p:sp>
        <p:nvSpPr>
          <p:cNvPr id="23" name="Shape 19"/>
          <p:cNvSpPr/>
          <p:nvPr/>
        </p:nvSpPr>
        <p:spPr>
          <a:xfrm>
            <a:off x="640080" y="4251960"/>
            <a:ext cx="2418588" cy="685800"/>
          </a:xfrm>
          <a:prstGeom prst="roundRect">
            <a:avLst>
              <a:gd name="adj" fmla="val 13333"/>
            </a:avLst>
          </a:prstGeom>
          <a:solidFill>
            <a:srgbClr val="FFFFFF"/>
          </a:solidFill>
          <a:ln w="12700">
            <a:solidFill>
              <a:srgbClr val="307FE2"/>
            </a:solidFill>
            <a:prstDash val="solid"/>
          </a:ln>
        </p:spPr>
      </p:sp>
      <p:sp>
        <p:nvSpPr>
          <p:cNvPr id="24" name="Text 20"/>
          <p:cNvSpPr/>
          <p:nvPr/>
        </p:nvSpPr>
        <p:spPr>
          <a:xfrm>
            <a:off x="640080" y="4251960"/>
            <a:ext cx="2418588" cy="68580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ChatGPT, Claude, Gemini, Copilot</a:t>
            </a:r>
            <a:endParaRPr lang="en-US" sz="1500" dirty="0"/>
          </a:p>
        </p:txBody>
      </p:sp>
      <p:sp>
        <p:nvSpPr>
          <p:cNvPr id="25" name="Shape 21"/>
          <p:cNvSpPr/>
          <p:nvPr/>
        </p:nvSpPr>
        <p:spPr>
          <a:xfrm>
            <a:off x="3104388" y="4594860"/>
            <a:ext cx="320040" cy="0"/>
          </a:xfrm>
          <a:prstGeom prst="line">
            <a:avLst/>
          </a:prstGeom>
          <a:noFill/>
          <a:ln w="19050">
            <a:solidFill>
              <a:srgbClr val="307FE2"/>
            </a:solidFill>
            <a:prstDash val="solid"/>
            <a:tailEnd type="triangle"/>
          </a:ln>
        </p:spPr>
      </p:sp>
      <p:sp>
        <p:nvSpPr>
          <p:cNvPr id="26" name="Shape 22"/>
          <p:cNvSpPr/>
          <p:nvPr/>
        </p:nvSpPr>
        <p:spPr>
          <a:xfrm>
            <a:off x="3470148" y="4251960"/>
            <a:ext cx="2418588" cy="685800"/>
          </a:xfrm>
          <a:prstGeom prst="roundRect">
            <a:avLst>
              <a:gd name="adj" fmla="val 13333"/>
            </a:avLst>
          </a:prstGeom>
          <a:solidFill>
            <a:srgbClr val="FFFFFF"/>
          </a:solidFill>
          <a:ln w="12700">
            <a:solidFill>
              <a:srgbClr val="307FE2"/>
            </a:solidFill>
            <a:prstDash val="solid"/>
          </a:ln>
        </p:spPr>
      </p:sp>
      <p:sp>
        <p:nvSpPr>
          <p:cNvPr id="27" name="Text 23"/>
          <p:cNvSpPr/>
          <p:nvPr/>
        </p:nvSpPr>
        <p:spPr>
          <a:xfrm>
            <a:off x="3470148" y="4251960"/>
            <a:ext cx="2418588" cy="68580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Save as index.html</a:t>
            </a:r>
            <a:endParaRPr lang="en-US" sz="1500" dirty="0"/>
          </a:p>
        </p:txBody>
      </p:sp>
      <p:sp>
        <p:nvSpPr>
          <p:cNvPr id="28" name="Shape 24"/>
          <p:cNvSpPr/>
          <p:nvPr/>
        </p:nvSpPr>
        <p:spPr>
          <a:xfrm>
            <a:off x="5934456" y="4594860"/>
            <a:ext cx="320040" cy="0"/>
          </a:xfrm>
          <a:prstGeom prst="line">
            <a:avLst/>
          </a:prstGeom>
          <a:noFill/>
          <a:ln w="19050">
            <a:solidFill>
              <a:srgbClr val="307FE2"/>
            </a:solidFill>
            <a:prstDash val="solid"/>
            <a:tailEnd type="triangle"/>
          </a:ln>
        </p:spPr>
      </p:sp>
      <p:sp>
        <p:nvSpPr>
          <p:cNvPr id="29" name="Shape 25"/>
          <p:cNvSpPr/>
          <p:nvPr/>
        </p:nvSpPr>
        <p:spPr>
          <a:xfrm>
            <a:off x="6300216" y="4251960"/>
            <a:ext cx="2418588" cy="685800"/>
          </a:xfrm>
          <a:prstGeom prst="roundRect">
            <a:avLst>
              <a:gd name="adj" fmla="val 13333"/>
            </a:avLst>
          </a:prstGeom>
          <a:solidFill>
            <a:srgbClr val="FFFFFF"/>
          </a:solidFill>
          <a:ln w="12700">
            <a:solidFill>
              <a:srgbClr val="307FE2"/>
            </a:solidFill>
            <a:prstDash val="solid"/>
          </a:ln>
        </p:spPr>
      </p:sp>
      <p:sp>
        <p:nvSpPr>
          <p:cNvPr id="30" name="Text 26"/>
          <p:cNvSpPr/>
          <p:nvPr/>
        </p:nvSpPr>
        <p:spPr>
          <a:xfrm>
            <a:off x="6300216" y="4251960"/>
            <a:ext cx="2418588" cy="685800"/>
          </a:xfrm>
          <a:prstGeom prst="rect">
            <a:avLst/>
          </a:prstGeom>
          <a:noFill/>
          <a:ln/>
        </p:spPr>
        <p:txBody>
          <a:bodyPr wrap="square" lIns="0" tIns="0" rIns="0" bIns="0" rtlCol="0" anchor="ctr"/>
          <a:lstStyle/>
          <a:p>
            <a:pPr algn="ctr" indent="0" marL="0">
              <a:buNone/>
            </a:pPr>
            <a:r>
              <a:rPr lang="en-US" sz="1500" b="1" dirty="0">
                <a:solidFill>
                  <a:srgbClr val="0D1219"/>
                </a:solidFill>
                <a:latin typeface="Arial" pitchFamily="34" charset="0"/>
                <a:ea typeface="Arial" pitchFamily="34" charset="-122"/>
                <a:cs typeface="Arial" pitchFamily="34" charset="-120"/>
              </a:rPr>
              <a:t>Upload to GitHub in the browser</a:t>
            </a:r>
            <a:endParaRPr lang="en-US" sz="1500" dirty="0"/>
          </a:p>
        </p:txBody>
      </p:sp>
      <p:sp>
        <p:nvSpPr>
          <p:cNvPr id="31" name="Shape 27"/>
          <p:cNvSpPr/>
          <p:nvPr/>
        </p:nvSpPr>
        <p:spPr>
          <a:xfrm>
            <a:off x="8764524" y="4594860"/>
            <a:ext cx="320040" cy="0"/>
          </a:xfrm>
          <a:prstGeom prst="line">
            <a:avLst/>
          </a:prstGeom>
          <a:noFill/>
          <a:ln w="19050">
            <a:solidFill>
              <a:srgbClr val="307FE2"/>
            </a:solidFill>
            <a:prstDash val="solid"/>
            <a:tailEnd type="triangle"/>
          </a:ln>
        </p:spPr>
      </p:sp>
      <p:sp>
        <p:nvSpPr>
          <p:cNvPr id="32" name="Shape 28"/>
          <p:cNvSpPr/>
          <p:nvPr/>
        </p:nvSpPr>
        <p:spPr>
          <a:xfrm>
            <a:off x="9130284" y="4251960"/>
            <a:ext cx="2418588" cy="685800"/>
          </a:xfrm>
          <a:prstGeom prst="roundRect">
            <a:avLst>
              <a:gd name="adj" fmla="val 13333"/>
            </a:avLst>
          </a:prstGeom>
          <a:solidFill>
            <a:srgbClr val="307FE2"/>
          </a:solidFill>
          <a:ln w="12700">
            <a:solidFill>
              <a:srgbClr val="307FE2"/>
            </a:solidFill>
            <a:prstDash val="solid"/>
          </a:ln>
        </p:spPr>
      </p:sp>
      <p:sp>
        <p:nvSpPr>
          <p:cNvPr id="33" name="Text 29"/>
          <p:cNvSpPr/>
          <p:nvPr/>
        </p:nvSpPr>
        <p:spPr>
          <a:xfrm>
            <a:off x="9130284" y="4251960"/>
            <a:ext cx="2418588" cy="6858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Import in Vercel</a:t>
            </a:r>
            <a:endParaRPr lang="en-US" sz="1500" dirty="0"/>
          </a:p>
        </p:txBody>
      </p:sp>
      <p:sp>
        <p:nvSpPr>
          <p:cNvPr id="34" name="Text 30"/>
          <p:cNvSpPr txBox="1"/>
          <p:nvPr/>
        </p:nvSpPr>
        <p:spPr>
          <a:xfrm>
            <a:off x="640080" y="5029200"/>
            <a:ext cx="10908792" cy="365760"/>
          </a:xfrm>
          <a:prstGeom prst="rect">
            <a:avLst/>
          </a:prstGeom>
          <a:noFill/>
          <a:ln/>
        </p:spPr>
        <p:txBody>
          <a:bodyPr wrap="square" lIns="0" tIns="0" rIns="0" bIns="0" rtlCol="0" anchor="t"/>
          <a:lstStyle/>
          <a:p>
            <a:pPr algn="l" indent="0" marL="0">
              <a:lnSpc>
                <a:spcPct val="115000"/>
              </a:lnSpc>
              <a:buNone/>
            </a:pPr>
            <a:r>
              <a:rPr lang="en-US" sz="1400" dirty="0">
                <a:solidFill>
                  <a:srgbClr val="5B6675"/>
                </a:solidFill>
                <a:latin typeface="Arial" pitchFamily="34" charset="0"/>
                <a:ea typeface="Arial" pitchFamily="34" charset="-122"/>
                <a:cs typeface="Arial" pitchFamily="34" charset="-120"/>
              </a:rPr>
              <a:t>Every example and checkpoint is one HTML file; it works here as is. Claude Code or Codex: same route, and you review the pull request.</a:t>
            </a:r>
            <a:endParaRPr lang="en-US" sz="1400" dirty="0"/>
          </a:p>
        </p:txBody>
      </p:sp>
      <p:sp>
        <p:nvSpPr>
          <p:cNvPr id="35" name="Text 31"/>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BLOCK 2 · SETUP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9:30 – 9:55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Prove your route works now, not at 11:30.</a:t>
            </a:r>
            <a:endParaRPr lang="en-US" sz="3200" dirty="0"/>
          </a:p>
        </p:txBody>
      </p:sp>
      <p:sp>
        <p:nvSpPr>
          <p:cNvPr id="8" name="Shape 4"/>
          <p:cNvSpPr/>
          <p:nvPr/>
        </p:nvSpPr>
        <p:spPr>
          <a:xfrm>
            <a:off x="640080" y="1691640"/>
            <a:ext cx="10908792" cy="1874520"/>
          </a:xfrm>
          <a:prstGeom prst="rect">
            <a:avLst/>
          </a:prstGeom>
          <a:solidFill>
            <a:srgbClr val="121B2B"/>
          </a:solidFill>
          <a:ln w="12700">
            <a:solidFill>
              <a:srgbClr val="EF8B39"/>
            </a:solidFill>
            <a:prstDash val="solid"/>
          </a:ln>
        </p:spPr>
      </p:sp>
      <p:sp>
        <p:nvSpPr>
          <p:cNvPr id="9" name="Text 5"/>
          <p:cNvSpPr/>
          <p:nvPr/>
        </p:nvSpPr>
        <p:spPr>
          <a:xfrm>
            <a:off x="868680" y="181965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CONNECTED ROUTE (CLAUDE CODE, CODEX) · TYPE THIS, VERBATIM</a:t>
            </a:r>
            <a:endParaRPr lang="en-US" sz="1100" dirty="0"/>
          </a:p>
        </p:txBody>
      </p:sp>
      <p:sp>
        <p:nvSpPr>
          <p:cNvPr id="10" name="Text 6"/>
          <p:cNvSpPr txBox="1"/>
          <p:nvPr/>
        </p:nvSpPr>
        <p:spPr>
          <a:xfrm>
            <a:off x="868680" y="2148840"/>
            <a:ext cx="10451592" cy="128016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Identify the GitHub account, repository, and branch for this class project. Read the README. Tell me which of these you can actually do here: edit project files, run checks, create a branch or pull request, and inspect Vercel deployments. Distinguish what you verified from what you have not tried. Do not change the repository or deploy anything yet.</a:t>
            </a:r>
            <a:endParaRPr lang="en-US" sz="1400" dirty="0"/>
          </a:p>
        </p:txBody>
      </p:sp>
      <p:sp>
        <p:nvSpPr>
          <p:cNvPr id="11" name="Text 7"/>
          <p:cNvSpPr txBox="1"/>
          <p:nvPr/>
        </p:nvSpPr>
        <p:spPr>
          <a:xfrm>
            <a:off x="640080" y="374904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V0 AND PORTABLE ROUTES: THE CHECK</a:t>
            </a:r>
            <a:endParaRPr lang="en-US" sz="1100" dirty="0"/>
          </a:p>
        </p:txBody>
      </p:sp>
      <p:sp>
        <p:nvSpPr>
          <p:cNvPr id="12" name="Text 8"/>
          <p:cNvSpPr txBox="1"/>
          <p:nvPr/>
        </p:nvSpPr>
        <p:spPr>
          <a:xfrm>
            <a:off x="640080" y="4069080"/>
            <a:ext cx="10908792" cy="1645920"/>
          </a:xfrm>
          <a:prstGeom prst="rect">
            <a:avLst/>
          </a:prstGeom>
          <a:noFill/>
          <a:ln/>
        </p:spPr>
        <p:txBody>
          <a:bodyPr wrap="square" lIns="0" tIns="0" rIns="0" bIns="0" rtlCol="0" anchor="t"/>
          <a:lstStyle/>
          <a:p>
            <a:pPr indent="0" marL="0">
              <a:lnSpc>
                <a:spcPct val="120000"/>
              </a:lnSpc>
              <a:spcAft>
                <a:spcPts val="700"/>
              </a:spcAft>
              <a:buNone/>
            </a:pPr>
            <a:r>
              <a:rPr lang="en-US" sz="1500" dirty="0">
                <a:solidFill>
                  <a:srgbClr val="0D1219"/>
                </a:solidFill>
                <a:latin typeface="Arial" pitchFamily="34" charset="0"/>
                <a:ea typeface="Arial" pitchFamily="34" charset="-122"/>
                <a:cs typeface="Arial" pitchFamily="34" charset="-120"/>
              </a:rPr>
              <a:t>1   v0: ask for a one-screen page that says hello with your name. Don’t deploy.</a:t>
            </a:r>
            <a:endParaRPr lang="en-US" sz="1500" dirty="0"/>
          </a:p>
          <a:p>
            <a:pPr indent="0" marL="0">
              <a:lnSpc>
                <a:spcPct val="120000"/>
              </a:lnSpc>
              <a:spcAft>
                <a:spcPts val="700"/>
              </a:spcAft>
              <a:buNone/>
            </a:pPr>
            <a:r>
              <a:rPr lang="en-US" sz="1500" dirty="0">
                <a:solidFill>
                  <a:srgbClr val="0D1219"/>
                </a:solidFill>
                <a:latin typeface="Arial" pitchFamily="34" charset="0"/>
                <a:ea typeface="Arial" pitchFamily="34" charset="-122"/>
                <a:cs typeface="Arial" pitchFamily="34" charset="-120"/>
              </a:rPr>
              <a:t>2   Portable: ask for a one-line index.html that says hello. Save as index.html, “All files” type. Double-click it: your name shows in the browser.</a:t>
            </a:r>
            <a:endParaRPr lang="en-US" sz="1500" dirty="0"/>
          </a:p>
          <a:p>
            <a:pPr indent="0" marL="0">
              <a:lnSpc>
                <a:spcPct val="120000"/>
              </a:lnSpc>
              <a:spcAft>
                <a:spcPts val="700"/>
              </a:spcAft>
              <a:buNone/>
            </a:pPr>
            <a:r>
              <a:rPr lang="en-US" sz="1500" dirty="0">
                <a:solidFill>
                  <a:srgbClr val="0D1219"/>
                </a:solidFill>
                <a:latin typeface="Arial" pitchFamily="34" charset="0"/>
                <a:ea typeface="Arial" pitchFamily="34" charset="-122"/>
                <a:cs typeface="Arial" pitchFamily="34" charset="-120"/>
              </a:rPr>
              <a:t>3   Something fails? Write down the exact message and move on. Helpers fix accounts at the break.</a:t>
            </a:r>
            <a:endParaRPr lang="en-US" sz="1500" dirty="0"/>
          </a:p>
        </p:txBody>
      </p:sp>
      <p:sp>
        <p:nvSpPr>
          <p:cNvPr id="13" name="Shape 9"/>
          <p:cNvSpPr/>
          <p:nvPr/>
        </p:nvSpPr>
        <p:spPr>
          <a:xfrm>
            <a:off x="640080" y="5971032"/>
            <a:ext cx="201168" cy="201168"/>
          </a:xfrm>
          <a:prstGeom prst="rect">
            <a:avLst/>
          </a:prstGeom>
          <a:solidFill>
            <a:srgbClr val="22C55E"/>
          </a:solidFill>
          <a:ln w="12700">
            <a:solidFill>
              <a:srgbClr val="22C55E"/>
            </a:solidFill>
            <a:prstDash val="solid"/>
          </a:ln>
        </p:spPr>
      </p:sp>
      <p:sp>
        <p:nvSpPr>
          <p:cNvPr id="14" name="Text 10"/>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5" name="Shape 11"/>
          <p:cNvSpPr/>
          <p:nvPr/>
        </p:nvSpPr>
        <p:spPr>
          <a:xfrm>
            <a:off x="4206240" y="5971032"/>
            <a:ext cx="201168" cy="201168"/>
          </a:xfrm>
          <a:prstGeom prst="rect">
            <a:avLst/>
          </a:prstGeom>
          <a:solidFill>
            <a:srgbClr val="EF4444"/>
          </a:solidFill>
          <a:ln w="12700">
            <a:solidFill>
              <a:srgbClr val="EF4444"/>
            </a:solidFill>
            <a:prstDash val="solid"/>
          </a:ln>
        </p:spPr>
      </p:sp>
      <p:sp>
        <p:nvSpPr>
          <p:cNvPr id="16" name="Text 12"/>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7" name="Text 13"/>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PLAN FIRST · DOCS/PLAN-FIRST-AND-MODELS.MD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9:55 – 10:00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600" b="1" dirty="0">
                <a:solidFill>
                  <a:srgbClr val="0D1219"/>
                </a:solidFill>
                <a:latin typeface="Arial" pitchFamily="34" charset="0"/>
                <a:ea typeface="Arial" pitchFamily="34" charset="-122"/>
                <a:cs typeface="Arial" pitchFamily="34" charset="-120"/>
              </a:rPr>
              <a:t>Plan with the biggest model, build with the middle, tidy with the smallest.</a:t>
            </a:r>
            <a:endParaRPr lang="en-US" sz="2600" dirty="0"/>
          </a:p>
        </p:txBody>
      </p:sp>
      <p:sp>
        <p:nvSpPr>
          <p:cNvPr id="8" name="Shape 4"/>
          <p:cNvSpPr/>
          <p:nvPr/>
        </p:nvSpPr>
        <p:spPr>
          <a:xfrm>
            <a:off x="640080" y="1828800"/>
            <a:ext cx="10908792" cy="566928"/>
          </a:xfrm>
          <a:prstGeom prst="rect">
            <a:avLst/>
          </a:prstGeom>
          <a:solidFill>
            <a:srgbClr val="307FE2"/>
          </a:solidFill>
          <a:ln w="9525">
            <a:solidFill>
              <a:srgbClr val="307FE2"/>
            </a:solidFill>
            <a:prstDash val="solid"/>
          </a:ln>
        </p:spPr>
      </p:sp>
      <p:sp>
        <p:nvSpPr>
          <p:cNvPr id="9" name="Text 5"/>
          <p:cNvSpPr/>
          <p:nvPr/>
        </p:nvSpPr>
        <p:spPr>
          <a:xfrm>
            <a:off x="868680" y="1828800"/>
            <a:ext cx="10451592"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PLAN   </a:t>
            </a:r>
            <a:pPr indent="0" marL="0">
              <a:buNone/>
            </a:pPr>
            <a:r>
              <a:rPr lang="en-US" sz="1400" dirty="0">
                <a:solidFill>
                  <a:srgbClr val="FFFFFF"/>
                </a:solidFill>
                <a:latin typeface="Arial" pitchFamily="34" charset="0"/>
                <a:ea typeface="Arial" pitchFamily="34" charset="-122"/>
                <a:cs typeface="Arial" pitchFamily="34" charset="-120"/>
              </a:rPr>
              <a:t>The biggest, thinking model</a:t>
            </a:r>
            <a:endParaRPr lang="en-US" sz="1600" dirty="0"/>
          </a:p>
        </p:txBody>
      </p:sp>
      <p:sp>
        <p:nvSpPr>
          <p:cNvPr id="10" name="Text 6"/>
          <p:cNvSpPr txBox="1"/>
          <p:nvPr/>
        </p:nvSpPr>
        <p:spPr>
          <a:xfrm>
            <a:off x="640080" y="2468880"/>
            <a:ext cx="6763451" cy="5486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The brief, the scope, the plan, reviewing a diff, deciding what to cut, getting unstuck after ten minutes.</a:t>
            </a:r>
            <a:endParaRPr lang="en-US" sz="1400" dirty="0"/>
          </a:p>
        </p:txBody>
      </p:sp>
      <p:sp>
        <p:nvSpPr>
          <p:cNvPr id="11" name="Text 7"/>
          <p:cNvSpPr txBox="1"/>
          <p:nvPr/>
        </p:nvSpPr>
        <p:spPr>
          <a:xfrm>
            <a:off x="7621707" y="2468880"/>
            <a:ext cx="3927165" cy="548640"/>
          </a:xfrm>
          <a:prstGeom prst="rect">
            <a:avLst/>
          </a:prstGeom>
          <a:noFill/>
          <a:ln/>
        </p:spPr>
        <p:txBody>
          <a:bodyPr wrap="square" lIns="0" tIns="0" rIns="0" bIns="0" rtlCol="0" anchor="t"/>
          <a:lstStyle/>
          <a:p>
            <a:pPr algn="l" indent="0" marL="0">
              <a:lnSpc>
                <a:spcPct val="115000"/>
              </a:lnSpc>
              <a:buNone/>
            </a:pPr>
            <a:r>
              <a:rPr lang="en-US" sz="1150" dirty="0">
                <a:solidFill>
                  <a:srgbClr val="7B8594"/>
                </a:solidFill>
                <a:latin typeface="Arial" pitchFamily="34" charset="0"/>
                <a:ea typeface="Arial" pitchFamily="34" charset="-122"/>
                <a:cs typeface="Arial" pitchFamily="34" charset="-120"/>
              </a:rPr>
              <a:t>Claude Opus-class · ChatGPT thinking or pro · Gemini Pro</a:t>
            </a:r>
            <a:endParaRPr lang="en-US" sz="1150" dirty="0"/>
          </a:p>
        </p:txBody>
      </p:sp>
      <p:sp>
        <p:nvSpPr>
          <p:cNvPr id="12" name="Shape 8"/>
          <p:cNvSpPr/>
          <p:nvPr/>
        </p:nvSpPr>
        <p:spPr>
          <a:xfrm>
            <a:off x="640080" y="3108960"/>
            <a:ext cx="7199803" cy="566928"/>
          </a:xfrm>
          <a:prstGeom prst="rect">
            <a:avLst/>
          </a:prstGeom>
          <a:solidFill>
            <a:srgbClr val="307FE2"/>
          </a:solidFill>
          <a:ln w="9525">
            <a:solidFill>
              <a:srgbClr val="307FE2"/>
            </a:solidFill>
            <a:prstDash val="solid"/>
          </a:ln>
        </p:spPr>
      </p:sp>
      <p:sp>
        <p:nvSpPr>
          <p:cNvPr id="13" name="Text 9"/>
          <p:cNvSpPr/>
          <p:nvPr/>
        </p:nvSpPr>
        <p:spPr>
          <a:xfrm>
            <a:off x="868680" y="3108960"/>
            <a:ext cx="6742603"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BUILD   </a:t>
            </a:r>
            <a:pPr indent="0" marL="0">
              <a:buNone/>
            </a:pPr>
            <a:r>
              <a:rPr lang="en-US" sz="1400" dirty="0">
                <a:solidFill>
                  <a:srgbClr val="FFFFFF"/>
                </a:solidFill>
                <a:latin typeface="Arial" pitchFamily="34" charset="0"/>
                <a:ea typeface="Arial" pitchFamily="34" charset="-122"/>
                <a:cs typeface="Arial" pitchFamily="34" charset="-120"/>
              </a:rPr>
              <a:t>The middle model</a:t>
            </a:r>
            <a:endParaRPr lang="en-US" sz="1600" dirty="0"/>
          </a:p>
        </p:txBody>
      </p:sp>
      <p:sp>
        <p:nvSpPr>
          <p:cNvPr id="14" name="Text 10"/>
          <p:cNvSpPr txBox="1"/>
          <p:nvPr/>
        </p:nvSpPr>
        <p:spPr>
          <a:xfrm>
            <a:off x="640080" y="3749040"/>
            <a:ext cx="6763451" cy="5486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Generate the files, make one change, add one feature from a skill.</a:t>
            </a:r>
            <a:endParaRPr lang="en-US" sz="1400" dirty="0"/>
          </a:p>
        </p:txBody>
      </p:sp>
      <p:sp>
        <p:nvSpPr>
          <p:cNvPr id="15" name="Text 11"/>
          <p:cNvSpPr txBox="1"/>
          <p:nvPr/>
        </p:nvSpPr>
        <p:spPr>
          <a:xfrm>
            <a:off x="7621707" y="3749040"/>
            <a:ext cx="3927165" cy="548640"/>
          </a:xfrm>
          <a:prstGeom prst="rect">
            <a:avLst/>
          </a:prstGeom>
          <a:noFill/>
          <a:ln/>
        </p:spPr>
        <p:txBody>
          <a:bodyPr wrap="square" lIns="0" tIns="0" rIns="0" bIns="0" rtlCol="0" anchor="t"/>
          <a:lstStyle/>
          <a:p>
            <a:pPr algn="l" indent="0" marL="0">
              <a:lnSpc>
                <a:spcPct val="115000"/>
              </a:lnSpc>
              <a:buNone/>
            </a:pPr>
            <a:r>
              <a:rPr lang="en-US" sz="1150" dirty="0">
                <a:solidFill>
                  <a:srgbClr val="7B8594"/>
                </a:solidFill>
                <a:latin typeface="Arial" pitchFamily="34" charset="0"/>
                <a:ea typeface="Arial" pitchFamily="34" charset="-122"/>
                <a:cs typeface="Arial" pitchFamily="34" charset="-120"/>
              </a:rPr>
              <a:t>Claude Sonnet-class · the standard ChatGPT model · Gemini Flash with thinking on</a:t>
            </a:r>
            <a:endParaRPr lang="en-US" sz="1150" dirty="0"/>
          </a:p>
        </p:txBody>
      </p:sp>
      <p:sp>
        <p:nvSpPr>
          <p:cNvPr id="16" name="Shape 12"/>
          <p:cNvSpPr/>
          <p:nvPr/>
        </p:nvSpPr>
        <p:spPr>
          <a:xfrm>
            <a:off x="640080" y="4389120"/>
            <a:ext cx="3927165" cy="566928"/>
          </a:xfrm>
          <a:prstGeom prst="rect">
            <a:avLst/>
          </a:prstGeom>
          <a:solidFill>
            <a:srgbClr val="307FE2"/>
          </a:solidFill>
          <a:ln w="9525">
            <a:solidFill>
              <a:srgbClr val="307FE2"/>
            </a:solidFill>
            <a:prstDash val="solid"/>
          </a:ln>
        </p:spPr>
      </p:sp>
      <p:sp>
        <p:nvSpPr>
          <p:cNvPr id="17" name="Text 13"/>
          <p:cNvSpPr/>
          <p:nvPr/>
        </p:nvSpPr>
        <p:spPr>
          <a:xfrm>
            <a:off x="868680" y="4389120"/>
            <a:ext cx="3469965" cy="56692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TIDY   </a:t>
            </a:r>
            <a:pPr indent="0" marL="0">
              <a:buNone/>
            </a:pPr>
            <a:r>
              <a:rPr lang="en-US" sz="1400" dirty="0">
                <a:solidFill>
                  <a:srgbClr val="FFFFFF"/>
                </a:solidFill>
                <a:latin typeface="Arial" pitchFamily="34" charset="0"/>
                <a:ea typeface="Arial" pitchFamily="34" charset="-122"/>
                <a:cs typeface="Arial" pitchFamily="34" charset="-120"/>
              </a:rPr>
              <a:t>The smallest, fastest model</a:t>
            </a:r>
            <a:endParaRPr lang="en-US" sz="1600" dirty="0"/>
          </a:p>
        </p:txBody>
      </p:sp>
      <p:sp>
        <p:nvSpPr>
          <p:cNvPr id="18" name="Text 14"/>
          <p:cNvSpPr txBox="1"/>
          <p:nvPr/>
        </p:nvSpPr>
        <p:spPr>
          <a:xfrm>
            <a:off x="640080" y="5029200"/>
            <a:ext cx="6763451" cy="5486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Rename things, write alt text, summarize an error message, draft a commit message, reformat a list.</a:t>
            </a:r>
            <a:endParaRPr lang="en-US" sz="1400" dirty="0"/>
          </a:p>
        </p:txBody>
      </p:sp>
      <p:sp>
        <p:nvSpPr>
          <p:cNvPr id="19" name="Text 15"/>
          <p:cNvSpPr txBox="1"/>
          <p:nvPr/>
        </p:nvSpPr>
        <p:spPr>
          <a:xfrm>
            <a:off x="7621707" y="5029200"/>
            <a:ext cx="3927165" cy="548640"/>
          </a:xfrm>
          <a:prstGeom prst="rect">
            <a:avLst/>
          </a:prstGeom>
          <a:noFill/>
          <a:ln/>
        </p:spPr>
        <p:txBody>
          <a:bodyPr wrap="square" lIns="0" tIns="0" rIns="0" bIns="0" rtlCol="0" anchor="t"/>
          <a:lstStyle/>
          <a:p>
            <a:pPr algn="l" indent="0" marL="0">
              <a:lnSpc>
                <a:spcPct val="115000"/>
              </a:lnSpc>
              <a:buNone/>
            </a:pPr>
            <a:r>
              <a:rPr lang="en-US" sz="1150" dirty="0">
                <a:solidFill>
                  <a:srgbClr val="7B8594"/>
                </a:solidFill>
                <a:latin typeface="Arial" pitchFamily="34" charset="0"/>
                <a:ea typeface="Arial" pitchFamily="34" charset="-122"/>
                <a:cs typeface="Arial" pitchFamily="34" charset="-120"/>
              </a:rPr>
              <a:t>Claude Haiku-class · the ChatGPT mini tier · Gemini Flash-Lite</a:t>
            </a:r>
            <a:endParaRPr lang="en-US" sz="1150" dirty="0"/>
          </a:p>
        </p:txBody>
      </p:sp>
      <p:sp>
        <p:nvSpPr>
          <p:cNvPr id="20" name="Text 16"/>
          <p:cNvSpPr txBox="1"/>
          <p:nvPr/>
        </p:nvSpPr>
        <p:spPr>
          <a:xfrm>
            <a:off x="640080" y="5577840"/>
            <a:ext cx="10908792" cy="411480"/>
          </a:xfrm>
          <a:prstGeom prst="rect">
            <a:avLst/>
          </a:prstGeom>
          <a:noFill/>
          <a:ln/>
        </p:spPr>
        <p:txBody>
          <a:bodyPr wrap="square" lIns="0" tIns="0" rIns="0" bIns="0" rtlCol="0" anchor="t"/>
          <a:lstStyle/>
          <a:p>
            <a:pPr algn="l" indent="0" marL="0">
              <a:lnSpc>
                <a:spcPct val="115000"/>
              </a:lnSpc>
              <a:buNone/>
            </a:pPr>
            <a:r>
              <a:rPr lang="en-US" sz="1400" dirty="0">
                <a:solidFill>
                  <a:srgbClr val="5B6675"/>
                </a:solidFill>
                <a:latin typeface="Arial" pitchFamily="34" charset="0"/>
                <a:ea typeface="Arial" pitchFamily="34" charset="-122"/>
                <a:cs typeface="Arial" pitchFamily="34" charset="-120"/>
              </a:rPr>
              <a:t>Claude Code: Shift+Tab until the prompt says plan. ChatGPT and Claude.ai: the thinking model in the selector, then the plan prompt.</a:t>
            </a:r>
            <a:endParaRPr lang="en-US" sz="1400" dirty="0"/>
          </a:p>
        </p:txBody>
      </p:sp>
      <p:sp>
        <p:nvSpPr>
          <p:cNvPr id="21" name="Text 17"/>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0 · WHAT DONE LOOKS LIKE</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10:00 – 11:45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Meet Jordan Rivera. Jordan isn’t real.</a:t>
            </a:r>
            <a:endParaRPr lang="en-US" sz="3200" dirty="0"/>
          </a:p>
        </p:txBody>
      </p:sp>
      <p:pic>
        <p:nvPicPr>
          <p:cNvPr id="8" name="Image 1" descr="assets/slate-centered-crop.png">    </p:cNvPr>
          <p:cNvPicPr>
            <a:picLocks noChangeAspect="1"/>
          </p:cNvPicPr>
          <p:nvPr/>
        </p:nvPicPr>
        <p:blipFill>
          <a:blip r:embed="rId2"/>
          <a:stretch>
            <a:fillRect/>
          </a:stretch>
        </p:blipFill>
        <p:spPr>
          <a:xfrm>
            <a:off x="640080" y="1783080"/>
            <a:ext cx="3566160" cy="3566160"/>
          </a:xfrm>
          <a:prstGeom prst="rect">
            <a:avLst/>
          </a:prstGeom>
        </p:spPr>
      </p:pic>
      <p:pic>
        <p:nvPicPr>
          <p:cNvPr id="9" name="Image 2" descr="assets/ocean-sidebar-crop.png">    </p:cNvPr>
          <p:cNvPicPr>
            <a:picLocks noChangeAspect="1"/>
          </p:cNvPicPr>
          <p:nvPr/>
        </p:nvPicPr>
        <p:blipFill>
          <a:blip r:embed="rId3"/>
          <a:stretch>
            <a:fillRect/>
          </a:stretch>
        </p:blipFill>
        <p:spPr>
          <a:xfrm>
            <a:off x="4389120" y="1783080"/>
            <a:ext cx="3566160" cy="3566160"/>
          </a:xfrm>
          <a:prstGeom prst="rect">
            <a:avLst/>
          </a:prstGeom>
        </p:spPr>
      </p:pic>
      <p:sp>
        <p:nvSpPr>
          <p:cNvPr id="10" name="Text 4"/>
          <p:cNvSpPr txBox="1"/>
          <p:nvPr/>
        </p:nvSpPr>
        <p:spPr>
          <a:xfrm>
            <a:off x="640080" y="5394960"/>
            <a:ext cx="3566160" cy="274320"/>
          </a:xfrm>
          <a:prstGeom prst="rect">
            <a:avLst/>
          </a:prstGeom>
          <a:noFill/>
          <a:ln/>
        </p:spPr>
        <p:txBody>
          <a:bodyPr wrap="square" lIns="0" tIns="0" rIns="0" bIns="0" rtlCol="0" anchor="t"/>
          <a:lstStyle/>
          <a:p>
            <a:pPr algn="l" indent="0" marL="0">
              <a:lnSpc>
                <a:spcPct val="115000"/>
              </a:lnSpc>
              <a:buNone/>
            </a:pPr>
            <a:r>
              <a:rPr lang="en-US" sz="1100" dirty="0">
                <a:solidFill>
                  <a:srgbClr val="EF8B39"/>
                </a:solidFill>
                <a:latin typeface="Courier New" pitchFamily="34" charset="0"/>
                <a:ea typeface="Courier New" pitchFamily="34" charset="-122"/>
                <a:cs typeface="Courier New" pitchFamily="34" charset="-120"/>
              </a:rPr>
              <a:t>slate · centered</a:t>
            </a:r>
            <a:endParaRPr lang="en-US" sz="1100" dirty="0"/>
          </a:p>
        </p:txBody>
      </p:sp>
      <p:sp>
        <p:nvSpPr>
          <p:cNvPr id="11" name="Text 5"/>
          <p:cNvSpPr txBox="1"/>
          <p:nvPr/>
        </p:nvSpPr>
        <p:spPr>
          <a:xfrm>
            <a:off x="4389120" y="5394960"/>
            <a:ext cx="3566160" cy="274320"/>
          </a:xfrm>
          <a:prstGeom prst="rect">
            <a:avLst/>
          </a:prstGeom>
          <a:noFill/>
          <a:ln/>
        </p:spPr>
        <p:txBody>
          <a:bodyPr wrap="square" lIns="0" tIns="0" rIns="0" bIns="0" rtlCol="0" anchor="t"/>
          <a:lstStyle/>
          <a:p>
            <a:pPr algn="l" indent="0" marL="0">
              <a:lnSpc>
                <a:spcPct val="115000"/>
              </a:lnSpc>
              <a:buNone/>
            </a:pPr>
            <a:r>
              <a:rPr lang="en-US" sz="1100" dirty="0">
                <a:solidFill>
                  <a:srgbClr val="EF8B39"/>
                </a:solidFill>
                <a:latin typeface="Courier New" pitchFamily="34" charset="0"/>
                <a:ea typeface="Courier New" pitchFamily="34" charset="-122"/>
                <a:cs typeface="Courier New" pitchFamily="34" charset="-120"/>
              </a:rPr>
              <a:t>ocean · sidebar</a:t>
            </a:r>
            <a:endParaRPr lang="en-US" sz="1100" dirty="0"/>
          </a:p>
        </p:txBody>
      </p:sp>
      <p:sp>
        <p:nvSpPr>
          <p:cNvPr id="12" name="Text 6"/>
          <p:cNvSpPr txBox="1"/>
          <p:nvPr/>
        </p:nvSpPr>
        <p:spPr>
          <a:xfrm>
            <a:off x="8321040" y="1783080"/>
            <a:ext cx="3291840" cy="548640"/>
          </a:xfrm>
          <a:prstGeom prst="rect">
            <a:avLst/>
          </a:prstGeom>
          <a:noFill/>
          <a:ln/>
        </p:spPr>
        <p:txBody>
          <a:bodyPr wrap="square" lIns="0" tIns="0" rIns="0" bIns="0" rtlCol="0" anchor="t"/>
          <a:lstStyle/>
          <a:p>
            <a:pPr algn="l" indent="0" marL="0">
              <a:lnSpc>
                <a:spcPct val="115000"/>
              </a:lnSpc>
              <a:buNone/>
            </a:pPr>
            <a:r>
              <a:rPr lang="en-US" sz="1100" dirty="0">
                <a:solidFill>
                  <a:srgbClr val="EF8B39"/>
                </a:solidFill>
                <a:latin typeface="Courier New" pitchFamily="34" charset="0"/>
                <a:ea typeface="Courier New" pitchFamily="34" charset="-122"/>
                <a:cs typeface="Courier New" pitchFamily="34" charset="-120"/>
              </a:rPr>
              <a:t>examples/personal-website/index.html</a:t>
            </a:r>
            <a:endParaRPr lang="en-US" sz="1100" dirty="0"/>
          </a:p>
        </p:txBody>
      </p:sp>
      <p:sp>
        <p:nvSpPr>
          <p:cNvPr id="13" name="Text 7"/>
          <p:cNvSpPr txBox="1"/>
          <p:nvPr/>
        </p:nvSpPr>
        <p:spPr>
          <a:xfrm>
            <a:off x="8321040" y="2286000"/>
            <a:ext cx="3246120" cy="3108960"/>
          </a:xfrm>
          <a:prstGeom prst="rect">
            <a:avLst/>
          </a:prstGeom>
          <a:noFill/>
          <a:ln/>
        </p:spPr>
        <p:txBody>
          <a:bodyPr wrap="square" lIns="0" tIns="0" rIns="0" bIns="0" rtlCol="0" anchor="t"/>
          <a:lstStyle/>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One file. Opens by double-click.</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Six color themes, two layouts, a picker in the footer.</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Prints as a tidy resume.</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By 11:45 every word on it is yours.</a:t>
            </a:r>
            <a:endParaRPr lang="en-US" sz="1600" dirty="0"/>
          </a:p>
        </p:txBody>
      </p:sp>
      <p:sp>
        <p:nvSpPr>
          <p:cNvPr id="14" name="Text 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1 · EXPORT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10:03 – 10:13</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Get your content out of LinkedIn.</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you can see your name, headline, and at least two roles in the PDF or the template.</a:t>
            </a:r>
            <a:endParaRPr lang="en-US" sz="1600" dirty="0"/>
          </a:p>
        </p:txBody>
      </p:sp>
      <p:sp>
        <p:nvSpPr>
          <p:cNvPr id="9" name="Text 5"/>
          <p:cNvSpPr txBox="1"/>
          <p:nvPr/>
        </p:nvSpPr>
        <p:spPr>
          <a:xfrm>
            <a:off x="640080" y="2194560"/>
            <a:ext cx="3331464"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ROUTE A · THE QUICK PDF</a:t>
            </a:r>
            <a:endParaRPr lang="en-US" sz="1100" dirty="0"/>
          </a:p>
        </p:txBody>
      </p:sp>
      <p:sp>
        <p:nvSpPr>
          <p:cNvPr id="10" name="Text 6"/>
          <p:cNvSpPr txBox="1"/>
          <p:nvPr/>
        </p:nvSpPr>
        <p:spPr>
          <a:xfrm>
            <a:off x="640080" y="2542032"/>
            <a:ext cx="3331464" cy="2926080"/>
          </a:xfrm>
          <a:prstGeom prst="rect">
            <a:avLst/>
          </a:prstGeom>
          <a:noFill/>
          <a:ln/>
        </p:spPr>
        <p:txBody>
          <a:bodyPr wrap="square" lIns="0" tIns="0" rIns="0" bIns="0" rtlCol="0" anchor="t"/>
          <a:lstStyle/>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1   Your own profile. Below the headline, “More” (sometimes “Resources”).</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2   Choose “Save to PDF.” Profile.pdf downloads.</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3   That’s your resume for today.</a:t>
            </a:r>
            <a:endParaRPr lang="en-US" sz="1500" dirty="0"/>
          </a:p>
        </p:txBody>
      </p:sp>
      <p:sp>
        <p:nvSpPr>
          <p:cNvPr id="11" name="Text 7"/>
          <p:cNvSpPr txBox="1"/>
          <p:nvPr/>
        </p:nvSpPr>
        <p:spPr>
          <a:xfrm>
            <a:off x="4428744" y="2194560"/>
            <a:ext cx="3331464"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ROUTE B · THE FULL EXPORT</a:t>
            </a:r>
            <a:endParaRPr lang="en-US" sz="1100" dirty="0"/>
          </a:p>
        </p:txBody>
      </p:sp>
      <p:sp>
        <p:nvSpPr>
          <p:cNvPr id="12" name="Text 8"/>
          <p:cNvSpPr txBox="1"/>
          <p:nvPr/>
        </p:nvSpPr>
        <p:spPr>
          <a:xfrm>
            <a:off x="4428744" y="2542032"/>
            <a:ext cx="3331464" cy="2926080"/>
          </a:xfrm>
          <a:prstGeom prst="rect">
            <a:avLst/>
          </a:prstGeom>
          <a:noFill/>
          <a:ln/>
        </p:spPr>
        <p:txBody>
          <a:bodyPr wrap="square" lIns="0" tIns="0" rIns="0" bIns="0" rtlCol="0" anchor="t"/>
          <a:lstStyle/>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1   Your photo → Settings &amp; Privacy → Data privacy → “Get a copy of your data.”</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2   Choose the smaller option: profile, positions, education, skills.</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3   LinkedIn emails a link in about ten minutes. Start it now.</a:t>
            </a:r>
            <a:endParaRPr lang="en-US" sz="1500" dirty="0"/>
          </a:p>
        </p:txBody>
      </p:sp>
      <p:sp>
        <p:nvSpPr>
          <p:cNvPr id="13" name="Text 9"/>
          <p:cNvSpPr txBox="1"/>
          <p:nvPr/>
        </p:nvSpPr>
        <p:spPr>
          <a:xfrm>
            <a:off x="8217408" y="219456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NO LINKEDIN, OR IT WON’T EXPORT?</a:t>
            </a:r>
            <a:endParaRPr lang="en-US" sz="1100" dirty="0"/>
          </a:p>
        </p:txBody>
      </p:sp>
      <p:sp>
        <p:nvSpPr>
          <p:cNvPr id="14" name="Text 10"/>
          <p:cNvSpPr txBox="1"/>
          <p:nvPr/>
        </p:nvSpPr>
        <p:spPr>
          <a:xfrm>
            <a:off x="8217408" y="2542032"/>
            <a:ext cx="3331464" cy="2926080"/>
          </a:xfrm>
          <a:prstGeom prst="rect">
            <a:avLst/>
          </a:prstGeom>
          <a:noFill/>
          <a:ln/>
        </p:spPr>
        <p:txBody>
          <a:bodyPr wrap="square" lIns="0" tIns="0" rIns="0" bIns="0" rtlCol="0" anchor="t"/>
          <a:lstStyle/>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Open examples/personal-website/resume-template.md and type your details in.</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Fifteen minutes of typing beats fifteen minutes of fighting a menu.</a:t>
            </a:r>
            <a:endParaRPr lang="en-US" sz="1500" dirty="0"/>
          </a:p>
        </p:txBody>
      </p:sp>
      <p:sp>
        <p:nvSpPr>
          <p:cNvPr id="15" name="Shape 11"/>
          <p:cNvSpPr/>
          <p:nvPr/>
        </p:nvSpPr>
        <p:spPr>
          <a:xfrm>
            <a:off x="640080" y="5971032"/>
            <a:ext cx="201168" cy="201168"/>
          </a:xfrm>
          <a:prstGeom prst="rect">
            <a:avLst/>
          </a:prstGeom>
          <a:solidFill>
            <a:srgbClr val="22C55E"/>
          </a:solidFill>
          <a:ln w="12700">
            <a:solidFill>
              <a:srgbClr val="22C55E"/>
            </a:solidFill>
            <a:prstDash val="solid"/>
          </a:ln>
        </p:spPr>
      </p:sp>
      <p:sp>
        <p:nvSpPr>
          <p:cNvPr id="16" name="Text 12"/>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7" name="Shape 13"/>
          <p:cNvSpPr/>
          <p:nvPr/>
        </p:nvSpPr>
        <p:spPr>
          <a:xfrm>
            <a:off x="4206240" y="5971032"/>
            <a:ext cx="201168" cy="201168"/>
          </a:xfrm>
          <a:prstGeom prst="rect">
            <a:avLst/>
          </a:prstGeom>
          <a:solidFill>
            <a:srgbClr val="EF4444"/>
          </a:solidFill>
          <a:ln w="12700">
            <a:solidFill>
              <a:srgbClr val="EF4444"/>
            </a:solidFill>
            <a:prstDash val="solid"/>
          </a:ln>
        </p:spPr>
      </p:sp>
      <p:sp>
        <p:nvSpPr>
          <p:cNvPr id="18" name="Text 14"/>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9" name="Text 15"/>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2 · PRIVACY PASS</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10:13 – 10:18</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The site is public. So is the chat.</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Can’t edit the PDF? The next prompt leaves these out. Check its output anyway.</a:t>
            </a:r>
            <a:endParaRPr lang="en-US" sz="1600" dirty="0"/>
          </a:p>
        </p:txBody>
      </p:sp>
      <p:sp>
        <p:nvSpPr>
          <p:cNvPr id="9" name="Text 5"/>
          <p:cNvSpPr txBox="1"/>
          <p:nvPr/>
        </p:nvSpPr>
        <p:spPr>
          <a:xfrm>
            <a:off x="640080" y="2194560"/>
            <a:ext cx="5225796" cy="274320"/>
          </a:xfrm>
          <a:prstGeom prst="rect">
            <a:avLst/>
          </a:prstGeom>
          <a:noFill/>
          <a:ln/>
        </p:spPr>
        <p:txBody>
          <a:bodyPr wrap="square" lIns="0" tIns="0" rIns="0" bIns="0" rtlCol="0" anchor="ctr"/>
          <a:lstStyle/>
          <a:p>
            <a:pPr indent="0" marL="0">
              <a:buNone/>
            </a:pPr>
            <a:r>
              <a:rPr lang="en-US" sz="1100" b="1" spc="150" kern="0" dirty="0">
                <a:solidFill>
                  <a:srgbClr val="EF4444"/>
                </a:solidFill>
                <a:latin typeface="Courier New" pitchFamily="34" charset="0"/>
                <a:ea typeface="Courier New" pitchFamily="34" charset="-122"/>
                <a:cs typeface="Courier New" pitchFamily="34" charset="-120"/>
              </a:rPr>
              <a:t>REMOVE BEFORE THE CHATBOT SEES IT</a:t>
            </a:r>
            <a:endParaRPr lang="en-US" sz="1100" dirty="0"/>
          </a:p>
        </p:txBody>
      </p:sp>
      <p:sp>
        <p:nvSpPr>
          <p:cNvPr id="10" name="Text 6"/>
          <p:cNvSpPr txBox="1"/>
          <p:nvPr/>
        </p:nvSpPr>
        <p:spPr>
          <a:xfrm>
            <a:off x="640080" y="2542032"/>
            <a:ext cx="5225796" cy="2926080"/>
          </a:xfrm>
          <a:prstGeom prst="rect">
            <a:avLst/>
          </a:prstGeom>
          <a:noFill/>
          <a:ln/>
        </p:spPr>
        <p:txBody>
          <a:bodyPr wrap="square" lIns="0" tIns="0" rIns="0" bIns="0" rtlCol="0" anchor="t"/>
          <a:lstStyle/>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Phone number, street address, birth date.</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ID numbers, salary, anything about health or family.</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Email addresses you don’t want strangers using.</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Anything a former employer would call confidential.</a:t>
            </a:r>
            <a:endParaRPr lang="en-US" sz="1700" dirty="0"/>
          </a:p>
        </p:txBody>
      </p:sp>
      <p:sp>
        <p:nvSpPr>
          <p:cNvPr id="11" name="Text 7"/>
          <p:cNvSpPr txBox="1"/>
          <p:nvPr/>
        </p:nvSpPr>
        <p:spPr>
          <a:xfrm>
            <a:off x="6323076" y="2194560"/>
            <a:ext cx="5225796" cy="274320"/>
          </a:xfrm>
          <a:prstGeom prst="rect">
            <a:avLst/>
          </a:prstGeom>
          <a:noFill/>
          <a:ln/>
        </p:spPr>
        <p:txBody>
          <a:bodyPr wrap="square" lIns="0" tIns="0" rIns="0" bIns="0" rtlCol="0" anchor="ctr"/>
          <a:lstStyle/>
          <a:p>
            <a:pPr indent="0" marL="0">
              <a:buNone/>
            </a:pPr>
            <a:r>
              <a:rPr lang="en-US" sz="1100" b="1" spc="150" kern="0" dirty="0">
                <a:solidFill>
                  <a:srgbClr val="22C55E"/>
                </a:solidFill>
                <a:latin typeface="Courier New" pitchFamily="34" charset="0"/>
                <a:ea typeface="Courier New" pitchFamily="34" charset="-122"/>
                <a:cs typeface="Courier New" pitchFamily="34" charset="-120"/>
              </a:rPr>
              <a:t>KEEP</a:t>
            </a:r>
            <a:endParaRPr lang="en-US" sz="1100" dirty="0"/>
          </a:p>
        </p:txBody>
      </p:sp>
      <p:sp>
        <p:nvSpPr>
          <p:cNvPr id="12" name="Text 8"/>
          <p:cNvSpPr txBox="1"/>
          <p:nvPr/>
        </p:nvSpPr>
        <p:spPr>
          <a:xfrm>
            <a:off x="6323076" y="2542032"/>
            <a:ext cx="5225796" cy="2926080"/>
          </a:xfrm>
          <a:prstGeom prst="rect">
            <a:avLst/>
          </a:prstGeom>
          <a:noFill/>
          <a:ln/>
        </p:spPr>
        <p:txBody>
          <a:bodyPr wrap="square" lIns="0" tIns="0" rIns="0" bIns="0" rtlCol="0" anchor="t"/>
          <a:lstStyle/>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Name, city, and headline.</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Work history, with outcomes.</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Skills and education.</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Public links.</a:t>
            </a:r>
            <a:endParaRPr lang="en-US" sz="1700" dirty="0"/>
          </a:p>
        </p:txBody>
      </p:sp>
      <p:sp>
        <p:nvSpPr>
          <p:cNvPr id="13" name="Text 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3 · CONTENT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10:18 – 10:38</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Turn your export into site content.</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resume-template.md is filled, with no placeholders and nothing you wouldn’t say to a stranger.</a:t>
            </a:r>
            <a:endParaRPr lang="en-US" sz="1600" dirty="0"/>
          </a:p>
        </p:txBody>
      </p:sp>
      <p:sp>
        <p:nvSpPr>
          <p:cNvPr id="9" name="Shape 5"/>
          <p:cNvSpPr/>
          <p:nvPr/>
        </p:nvSpPr>
        <p:spPr>
          <a:xfrm>
            <a:off x="640080" y="2103120"/>
            <a:ext cx="10908792" cy="2286000"/>
          </a:xfrm>
          <a:prstGeom prst="rect">
            <a:avLst/>
          </a:prstGeom>
          <a:solidFill>
            <a:srgbClr val="121B2B"/>
          </a:solidFill>
          <a:ln w="12700">
            <a:solidFill>
              <a:srgbClr val="EF8B39"/>
            </a:solidFill>
            <a:prstDash val="solid"/>
          </a:ln>
        </p:spPr>
      </p:sp>
      <p:sp>
        <p:nvSpPr>
          <p:cNvPr id="10" name="Text 6"/>
          <p:cNvSpPr/>
          <p:nvPr/>
        </p:nvSpPr>
        <p:spPr>
          <a:xfrm>
            <a:off x="868680" y="223113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ATTACH YOUR RESUME PDF + resume-template.md · TYPE THIS, VERBATIM</a:t>
            </a:r>
            <a:endParaRPr lang="en-US" sz="1100" dirty="0"/>
          </a:p>
        </p:txBody>
      </p:sp>
      <p:sp>
        <p:nvSpPr>
          <p:cNvPr id="11" name="Text 7"/>
          <p:cNvSpPr txBox="1"/>
          <p:nvPr/>
        </p:nvSpPr>
        <p:spPr>
          <a:xfrm>
            <a:off x="868680" y="2560320"/>
            <a:ext cx="10451592" cy="169164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Read my attached resume and fill in resume-template.md with my real information only. Do not invent anything. Leave a field blank if the resume does not say. Rewrite each job as a title, employer, dates, and two or three bullets that state what changed because of my work, in plain English. Draft a three-paragraph About section in first person that sounds like a person, not a brochure. Leave out my phone number, street address, and birth date. Show me the result; do not build the site yet.</a:t>
            </a:r>
            <a:endParaRPr lang="en-US" sz="1400" dirty="0"/>
          </a:p>
        </p:txBody>
      </p:sp>
      <p:sp>
        <p:nvSpPr>
          <p:cNvPr id="12" name="Text 8"/>
          <p:cNvSpPr txBox="1"/>
          <p:nvPr/>
        </p:nvSpPr>
        <p:spPr>
          <a:xfrm>
            <a:off x="640080" y="457200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THEN YOU DO THE EXPERT PART</a:t>
            </a:r>
            <a:endParaRPr lang="en-US" sz="1100" dirty="0"/>
          </a:p>
        </p:txBody>
      </p:sp>
      <p:sp>
        <p:nvSpPr>
          <p:cNvPr id="13" name="Text 9"/>
          <p:cNvSpPr txBox="1"/>
          <p:nvPr/>
        </p:nvSpPr>
        <p:spPr>
          <a:xfrm>
            <a:off x="640080" y="4892040"/>
            <a:ext cx="10908792" cy="914400"/>
          </a:xfrm>
          <a:prstGeom prst="rect">
            <a:avLst/>
          </a:prstGeom>
          <a:noFill/>
          <a:ln/>
        </p:spPr>
        <p:txBody>
          <a:bodyPr wrap="square" lIns="0" tIns="0" rIns="0" bIns="0" rtlCol="0" anchor="t"/>
          <a:lstStyle/>
          <a:p>
            <a:pPr indent="0" marL="0">
              <a:lnSpc>
                <a:spcPct val="120000"/>
              </a:lnSpc>
              <a:spcAft>
                <a:spcPts val="400"/>
              </a:spcAft>
              <a:buNone/>
            </a:pPr>
            <a:r>
              <a:rPr lang="en-US" sz="1500" dirty="0">
                <a:solidFill>
                  <a:srgbClr val="0D1219"/>
                </a:solidFill>
                <a:latin typeface="Arial" pitchFamily="34" charset="0"/>
                <a:ea typeface="Arial" pitchFamily="34" charset="-122"/>
                <a:cs typeface="Arial" pitchFamily="34" charset="-120"/>
              </a:rPr>
              <a:t>Read every line. Fix dates. Fix titles. Cut anything that sounds like a press release.</a:t>
            </a:r>
            <a:endParaRPr lang="en-US" sz="1500" dirty="0"/>
          </a:p>
          <a:p>
            <a:pPr indent="0" marL="0">
              <a:lnSpc>
                <a:spcPct val="120000"/>
              </a:lnSpc>
              <a:spcAft>
                <a:spcPts val="400"/>
              </a:spcAft>
              <a:buNone/>
            </a:pPr>
            <a:r>
              <a:rPr lang="en-US" sz="1500" dirty="0">
                <a:solidFill>
                  <a:srgbClr val="0D1219"/>
                </a:solidFill>
                <a:latin typeface="Arial" pitchFamily="34" charset="0"/>
                <a:ea typeface="Arial" pitchFamily="34" charset="-122"/>
                <a:cs typeface="Arial" pitchFamily="34" charset="-120"/>
              </a:rPr>
              <a:t>If it invented something, say so and ask again.</a:t>
            </a:r>
            <a:endParaRPr lang="en-US" sz="1500" dirty="0"/>
          </a:p>
        </p:txBody>
      </p:sp>
      <p:sp>
        <p:nvSpPr>
          <p:cNvPr id="14" name="Shape 10"/>
          <p:cNvSpPr/>
          <p:nvPr/>
        </p:nvSpPr>
        <p:spPr>
          <a:xfrm>
            <a:off x="640080" y="5971032"/>
            <a:ext cx="201168" cy="201168"/>
          </a:xfrm>
          <a:prstGeom prst="rect">
            <a:avLst/>
          </a:prstGeom>
          <a:solidFill>
            <a:srgbClr val="22C55E"/>
          </a:solidFill>
          <a:ln w="12700">
            <a:solidFill>
              <a:srgbClr val="22C55E"/>
            </a:solidFill>
            <a:prstDash val="solid"/>
          </a:ln>
        </p:spPr>
      </p:sp>
      <p:sp>
        <p:nvSpPr>
          <p:cNvPr id="15" name="Text 11"/>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6" name="Shape 12"/>
          <p:cNvSpPr/>
          <p:nvPr/>
        </p:nvSpPr>
        <p:spPr>
          <a:xfrm>
            <a:off x="4206240" y="5971032"/>
            <a:ext cx="201168" cy="201168"/>
          </a:xfrm>
          <a:prstGeom prst="rect">
            <a:avLst/>
          </a:prstGeom>
          <a:solidFill>
            <a:srgbClr val="EF4444"/>
          </a:solidFill>
          <a:ln w="12700">
            <a:solidFill>
              <a:srgbClr val="EF4444"/>
            </a:solidFill>
            <a:prstDash val="solid"/>
          </a:ln>
        </p:spPr>
      </p:sp>
      <p:sp>
        <p:nvSpPr>
          <p:cNvPr id="17" name="Text 13"/>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39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4 · BUILD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10:38 – 10:45 · 11:00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One prompt, one complete file back.</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your name is in the tab, three roles are visible, every link works, and nothing says “Jordan.”</a:t>
            </a:r>
            <a:endParaRPr lang="en-US" sz="1600" dirty="0"/>
          </a:p>
        </p:txBody>
      </p:sp>
      <p:sp>
        <p:nvSpPr>
          <p:cNvPr id="9" name="Shape 5"/>
          <p:cNvSpPr/>
          <p:nvPr/>
        </p:nvSpPr>
        <p:spPr>
          <a:xfrm>
            <a:off x="640080" y="2103120"/>
            <a:ext cx="10908792" cy="1920240"/>
          </a:xfrm>
          <a:prstGeom prst="rect">
            <a:avLst/>
          </a:prstGeom>
          <a:solidFill>
            <a:srgbClr val="121B2B"/>
          </a:solidFill>
          <a:ln w="12700">
            <a:solidFill>
              <a:srgbClr val="EF8B39"/>
            </a:solidFill>
            <a:prstDash val="solid"/>
          </a:ln>
        </p:spPr>
      </p:sp>
      <p:sp>
        <p:nvSpPr>
          <p:cNvPr id="10" name="Text 6"/>
          <p:cNvSpPr/>
          <p:nvPr/>
        </p:nvSpPr>
        <p:spPr>
          <a:xfrm>
            <a:off x="868680" y="223113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ATTACH THE EXAMPLE index.html + YOUR resume-template.md · VERBATIM</a:t>
            </a:r>
            <a:endParaRPr lang="en-US" sz="1100" dirty="0"/>
          </a:p>
        </p:txBody>
      </p:sp>
      <p:sp>
        <p:nvSpPr>
          <p:cNvPr id="11" name="Text 7"/>
          <p:cNvSpPr txBox="1"/>
          <p:nvPr/>
        </p:nvSpPr>
        <p:spPr>
          <a:xfrm>
            <a:off x="868680" y="2560320"/>
            <a:ext cx="10451592" cy="132588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Using the attached index.html as the exact structure and style, replace all of Jordan Rivera's content with mine from resume-template.md. Keep every id, every CUSTOMIZE comment, every ADD-ON SLOT comment, the theme and layout system, and the print stylesheet. Delete the Projects section if my template has nothing for it. Return the complete file.</a:t>
            </a:r>
            <a:endParaRPr lang="en-US" sz="1400" dirty="0"/>
          </a:p>
        </p:txBody>
      </p:sp>
      <p:sp>
        <p:nvSpPr>
          <p:cNvPr id="12" name="Text 8"/>
          <p:cNvSpPr txBox="1"/>
          <p:nvPr/>
        </p:nvSpPr>
        <p:spPr>
          <a:xfrm>
            <a:off x="640080" y="420624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THEN CHECK IT</a:t>
            </a:r>
            <a:endParaRPr lang="en-US" sz="1100" dirty="0"/>
          </a:p>
        </p:txBody>
      </p:sp>
      <p:sp>
        <p:nvSpPr>
          <p:cNvPr id="13" name="Text 9"/>
          <p:cNvSpPr txBox="1"/>
          <p:nvPr/>
        </p:nvSpPr>
        <p:spPr>
          <a:xfrm>
            <a:off x="640080" y="4526280"/>
            <a:ext cx="10908792" cy="1280160"/>
          </a:xfrm>
          <a:prstGeom prst="rect">
            <a:avLst/>
          </a:prstGeom>
          <a:noFill/>
          <a:ln/>
        </p:spPr>
        <p:txBody>
          <a:bodyPr wrap="square" lIns="0" tIns="0" rIns="0" bIns="0" rtlCol="0" anchor="t"/>
          <a:lstStyle/>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1   Save as index.html. Double-click it.</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2   Send it to your phone and open it there.</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3   Search the page for “Jordan.” Find nothing.</a:t>
            </a:r>
            <a:endParaRPr lang="en-US" sz="1500" dirty="0"/>
          </a:p>
        </p:txBody>
      </p:sp>
      <p:sp>
        <p:nvSpPr>
          <p:cNvPr id="14" name="Shape 10"/>
          <p:cNvSpPr/>
          <p:nvPr/>
        </p:nvSpPr>
        <p:spPr>
          <a:xfrm>
            <a:off x="640080" y="5971032"/>
            <a:ext cx="201168" cy="201168"/>
          </a:xfrm>
          <a:prstGeom prst="rect">
            <a:avLst/>
          </a:prstGeom>
          <a:solidFill>
            <a:srgbClr val="22C55E"/>
          </a:solidFill>
          <a:ln w="12700">
            <a:solidFill>
              <a:srgbClr val="22C55E"/>
            </a:solidFill>
            <a:prstDash val="solid"/>
          </a:ln>
        </p:spPr>
      </p:sp>
      <p:sp>
        <p:nvSpPr>
          <p:cNvPr id="15" name="Text 11"/>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6" name="Shape 12"/>
          <p:cNvSpPr/>
          <p:nvPr/>
        </p:nvSpPr>
        <p:spPr>
          <a:xfrm>
            <a:off x="4206240" y="5971032"/>
            <a:ext cx="201168" cy="201168"/>
          </a:xfrm>
          <a:prstGeom prst="rect">
            <a:avLst/>
          </a:prstGeom>
          <a:solidFill>
            <a:srgbClr val="EF4444"/>
          </a:solidFill>
          <a:ln w="12700">
            <a:solidFill>
              <a:srgbClr val="EF4444"/>
            </a:solidFill>
            <a:prstDash val="solid"/>
          </a:ln>
        </p:spPr>
      </p:sp>
      <p:sp>
        <p:nvSpPr>
          <p:cNvPr id="17" name="Text 13"/>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4 · BUILD · V0 ROUTE</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10:38 – 10:45 · 11:00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800" b="1" dirty="0">
                <a:solidFill>
                  <a:srgbClr val="0D1219"/>
                </a:solidFill>
                <a:latin typeface="Arial" pitchFamily="34" charset="0"/>
                <a:ea typeface="Arial" pitchFamily="34" charset="-122"/>
                <a:cs typeface="Arial" pitchFamily="34" charset="-120"/>
              </a:rPr>
              <a:t>On v0: one generation, then check facts before looks.</a:t>
            </a:r>
            <a:endParaRPr lang="en-US" sz="2800" dirty="0"/>
          </a:p>
        </p:txBody>
      </p:sp>
      <p:sp>
        <p:nvSpPr>
          <p:cNvPr id="8" name="Shape 4"/>
          <p:cNvSpPr/>
          <p:nvPr/>
        </p:nvSpPr>
        <p:spPr>
          <a:xfrm>
            <a:off x="640080" y="1691640"/>
            <a:ext cx="10908792" cy="2514600"/>
          </a:xfrm>
          <a:prstGeom prst="rect">
            <a:avLst/>
          </a:prstGeom>
          <a:solidFill>
            <a:srgbClr val="121B2B"/>
          </a:solidFill>
          <a:ln w="12700">
            <a:solidFill>
              <a:srgbClr val="EF8B39"/>
            </a:solidFill>
            <a:prstDash val="solid"/>
          </a:ln>
        </p:spPr>
      </p:sp>
      <p:sp>
        <p:nvSpPr>
          <p:cNvPr id="9" name="Text 5"/>
          <p:cNvSpPr/>
          <p:nvPr/>
        </p:nvSpPr>
        <p:spPr>
          <a:xfrm>
            <a:off x="868680" y="181965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ATTACH resume-template.md + THE EXAMPLE index.html AS STYLE REFERENCE · VERBATIM</a:t>
            </a:r>
            <a:endParaRPr lang="en-US" sz="1100" dirty="0"/>
          </a:p>
        </p:txBody>
      </p:sp>
      <p:sp>
        <p:nvSpPr>
          <p:cNvPr id="10" name="Text 6"/>
          <p:cNvSpPr txBox="1"/>
          <p:nvPr/>
        </p:nvSpPr>
        <p:spPr>
          <a:xfrm>
            <a:off x="868680" y="2148840"/>
            <a:ext cx="10451592" cy="192024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Build a one-page personal website from the attached resume-template.md. Use only the facts in it; invent nothing and leave blank fields out. Match the structure and restraint of the attached index.html: header with name and nav, hero with name, headline, city, and three link buttons, About, Experience, Skills, Education, optional Projects, Contact with a mailto link, footer. Use the "slate" palette from the reference as CSS variables so I can change colors later. No contact form yet. No images. Fits a phone. Readable code with short comments.</a:t>
            </a:r>
            <a:endParaRPr lang="en-US" sz="1400" dirty="0"/>
          </a:p>
        </p:txBody>
      </p:sp>
      <p:sp>
        <p:nvSpPr>
          <p:cNvPr id="11" name="Text 7"/>
          <p:cNvSpPr txBox="1"/>
          <p:nvPr/>
        </p:nvSpPr>
        <p:spPr>
          <a:xfrm>
            <a:off x="640080" y="438912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THEN CHECK THE PREVIEW</a:t>
            </a:r>
            <a:endParaRPr lang="en-US" sz="1100" dirty="0"/>
          </a:p>
        </p:txBody>
      </p:sp>
      <p:sp>
        <p:nvSpPr>
          <p:cNvPr id="12" name="Text 8"/>
          <p:cNvSpPr txBox="1"/>
          <p:nvPr/>
        </p:nvSpPr>
        <p:spPr>
          <a:xfrm>
            <a:off x="640080" y="4709160"/>
            <a:ext cx="10908792" cy="1188720"/>
          </a:xfrm>
          <a:prstGeom prst="rect">
            <a:avLst/>
          </a:prstGeom>
          <a:noFill/>
          <a:ln/>
        </p:spPr>
        <p:txBody>
          <a:bodyPr wrap="square" lIns="0" tIns="0" rIns="0" bIns="0" rtlCol="0" anchor="t"/>
          <a:lstStyle/>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1   Your name, your three roles, every link. Fix facts before you fix looks.</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2   Something you didn’t ask for? “Version 1 has no form, no database, no sign-in.”</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3   Don’t press Deploy yet. That’s 11:20.</a:t>
            </a:r>
            <a:endParaRPr lang="en-US" sz="1500" dirty="0"/>
          </a:p>
        </p:txBody>
      </p:sp>
      <p:sp>
        <p:nvSpPr>
          <p:cNvPr id="13" name="Shape 9"/>
          <p:cNvSpPr/>
          <p:nvPr/>
        </p:nvSpPr>
        <p:spPr>
          <a:xfrm>
            <a:off x="640080" y="5971032"/>
            <a:ext cx="201168" cy="201168"/>
          </a:xfrm>
          <a:prstGeom prst="rect">
            <a:avLst/>
          </a:prstGeom>
          <a:solidFill>
            <a:srgbClr val="22C55E"/>
          </a:solidFill>
          <a:ln w="12700">
            <a:solidFill>
              <a:srgbClr val="22C55E"/>
            </a:solidFill>
            <a:prstDash val="solid"/>
          </a:ln>
        </p:spPr>
      </p:sp>
      <p:sp>
        <p:nvSpPr>
          <p:cNvPr id="14" name="Text 10"/>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5" name="Shape 11"/>
          <p:cNvSpPr/>
          <p:nvPr/>
        </p:nvSpPr>
        <p:spPr>
          <a:xfrm>
            <a:off x="4206240" y="5971032"/>
            <a:ext cx="201168" cy="201168"/>
          </a:xfrm>
          <a:prstGeom prst="rect">
            <a:avLst/>
          </a:prstGeom>
          <a:solidFill>
            <a:srgbClr val="EF4444"/>
          </a:solidFill>
          <a:ln w="12700">
            <a:solidFill>
              <a:srgbClr val="EF4444"/>
            </a:solidFill>
            <a:prstDash val="solid"/>
          </a:ln>
        </p:spPr>
      </p:sp>
      <p:sp>
        <p:nvSpPr>
          <p:cNvPr id="16" name="Text 12"/>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7" name="Text 13"/>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h-white.png">    </p:cNvPr>
          <p:cNvPicPr>
            <a:picLocks noChangeAspect="1"/>
          </p:cNvPicPr>
          <p:nvPr/>
        </p:nvPicPr>
        <p:blipFill>
          <a:blip r:embed="rId2"/>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BREAK</a:t>
            </a:r>
            <a:endParaRPr lang="en-US" sz="1100" dirty="0"/>
          </a:p>
        </p:txBody>
      </p:sp>
      <p:sp>
        <p:nvSpPr>
          <p:cNvPr id="6" name="Text 2"/>
          <p:cNvSpPr txBox="1"/>
          <p:nvPr/>
        </p:nvSpPr>
        <p:spPr>
          <a:xfrm>
            <a:off x="640080" y="1371600"/>
            <a:ext cx="10908792"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10:45 – 11:00</a:t>
            </a:r>
            <a:endParaRPr lang="en-US" sz="5400" dirty="0"/>
          </a:p>
        </p:txBody>
      </p:sp>
      <p:sp>
        <p:nvSpPr>
          <p:cNvPr id="7" name="Text 3"/>
          <p:cNvSpPr txBox="1"/>
          <p:nvPr/>
        </p:nvSpPr>
        <p:spPr>
          <a:xfrm>
            <a:off x="640080" y="2514600"/>
            <a:ext cx="10908792" cy="548640"/>
          </a:xfrm>
          <a:prstGeom prst="rect">
            <a:avLst/>
          </a:prstGeom>
          <a:noFill/>
          <a:ln/>
        </p:spPr>
        <p:txBody>
          <a:bodyPr wrap="square" lIns="0" tIns="0" rIns="0" bIns="0" rtlCol="0" anchor="ctr"/>
          <a:lstStyle/>
          <a:p>
            <a:pPr indent="0" marL="0">
              <a:buNone/>
            </a:pPr>
            <a:r>
              <a:rPr lang="en-US" sz="1800" dirty="0">
                <a:solidFill>
                  <a:srgbClr val="EF8B39"/>
                </a:solidFill>
                <a:latin typeface="Courier New" pitchFamily="34" charset="0"/>
                <a:ea typeface="Courier New" pitchFamily="34" charset="-122"/>
                <a:cs typeface="Courier New" pitchFamily="34" charset="-120"/>
              </a:rPr>
              <a:t>Back at 11:00 sharp. Stickies up when you sit down.</a:t>
            </a:r>
            <a:endParaRPr lang="en-US" sz="1800" dirty="0"/>
          </a:p>
        </p:txBody>
      </p:sp>
      <p:sp>
        <p:nvSpPr>
          <p:cNvPr id="8" name="Text 4"/>
          <p:cNvSpPr txBox="1"/>
          <p:nvPr/>
        </p:nvSpPr>
        <p:spPr>
          <a:xfrm>
            <a:off x="640080" y="3566160"/>
            <a:ext cx="731520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WHEN YOU SIT BACK DOWN, HAVE THIS</a:t>
            </a:r>
            <a:endParaRPr lang="en-US" sz="1100" dirty="0"/>
          </a:p>
        </p:txBody>
      </p:sp>
      <p:sp>
        <p:nvSpPr>
          <p:cNvPr id="9" name="Text 5"/>
          <p:cNvSpPr txBox="1"/>
          <p:nvPr/>
        </p:nvSpPr>
        <p:spPr>
          <a:xfrm>
            <a:off x="640080" y="3931920"/>
            <a:ext cx="8686800" cy="1828800"/>
          </a:xfrm>
          <a:prstGeom prst="rect">
            <a:avLst/>
          </a:prstGeom>
          <a:noFill/>
          <a:ln/>
        </p:spPr>
        <p:txBody>
          <a:bodyPr wrap="square" lIns="0" tIns="0" rIns="0" bIns="0" rtlCol="0" anchor="t"/>
          <a:lstStyle/>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1   index.html open in your browser with your name in the tab</a:t>
            </a:r>
            <a:endParaRPr lang="en-US" sz="1800" dirty="0"/>
          </a:p>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2   Nothing on the page says “Jordan”</a:t>
            </a:r>
            <a:endParaRPr lang="en-US" sz="1800" dirty="0"/>
          </a:p>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3   If not: the first ten minutes after the break are yours, helpers circulate</a:t>
            </a:r>
            <a:endParaRPr lang="en-US" sz="1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5 · COLORS</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11:00 – 11:08</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Six themes built in. Try three, pick one.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Use the picker in the footer, or add this to the end of the address:   ?theme=forest&amp;layout=sidebar</a:t>
            </a:r>
            <a:endParaRPr lang="en-US" sz="1600" dirty="0"/>
          </a:p>
        </p:txBody>
      </p:sp>
      <p:sp>
        <p:nvSpPr>
          <p:cNvPr id="9" name="Shape 5"/>
          <p:cNvSpPr/>
          <p:nvPr/>
        </p:nvSpPr>
        <p:spPr>
          <a:xfrm>
            <a:off x="640080" y="2240280"/>
            <a:ext cx="1600200" cy="1600200"/>
          </a:xfrm>
          <a:prstGeom prst="rect">
            <a:avLst/>
          </a:prstGeom>
          <a:solidFill>
            <a:srgbClr val="F6F3EE"/>
          </a:solidFill>
          <a:ln w="12700">
            <a:solidFill>
              <a:srgbClr val="D9E0EA"/>
            </a:solidFill>
            <a:prstDash val="solid"/>
          </a:ln>
        </p:spPr>
      </p:sp>
      <p:sp>
        <p:nvSpPr>
          <p:cNvPr id="10" name="Shape 6"/>
          <p:cNvSpPr/>
          <p:nvPr/>
        </p:nvSpPr>
        <p:spPr>
          <a:xfrm>
            <a:off x="822960" y="2423160"/>
            <a:ext cx="1234440" cy="201168"/>
          </a:xfrm>
          <a:prstGeom prst="rect">
            <a:avLst/>
          </a:prstGeom>
          <a:solidFill>
            <a:srgbClr val="1F3A93"/>
          </a:solidFill>
          <a:ln w="9525">
            <a:solidFill>
              <a:srgbClr val="1F3A93"/>
            </a:solidFill>
            <a:prstDash val="solid"/>
          </a:ln>
        </p:spPr>
      </p:sp>
      <p:sp>
        <p:nvSpPr>
          <p:cNvPr id="11" name="Text 7"/>
          <p:cNvSpPr/>
          <p:nvPr/>
        </p:nvSpPr>
        <p:spPr>
          <a:xfrm>
            <a:off x="822960" y="2697480"/>
            <a:ext cx="1234440" cy="365760"/>
          </a:xfrm>
          <a:prstGeom prst="rect">
            <a:avLst/>
          </a:prstGeom>
          <a:noFill/>
          <a:ln/>
        </p:spPr>
        <p:txBody>
          <a:bodyPr wrap="square" lIns="0" tIns="0" rIns="0" bIns="0" rtlCol="0" anchor="ctr"/>
          <a:lstStyle/>
          <a:p>
            <a:pPr indent="0" marL="0">
              <a:buNone/>
            </a:pPr>
            <a:r>
              <a:rPr lang="en-US" sz="1400" b="1" dirty="0">
                <a:solidFill>
                  <a:srgbClr val="1C2333"/>
                </a:solidFill>
                <a:latin typeface="Arial" pitchFamily="34" charset="0"/>
                <a:ea typeface="Arial" pitchFamily="34" charset="-122"/>
                <a:cs typeface="Arial" pitchFamily="34" charset="-120"/>
              </a:rPr>
              <a:t>Your Name</a:t>
            </a:r>
            <a:endParaRPr lang="en-US" sz="1400" dirty="0"/>
          </a:p>
        </p:txBody>
      </p:sp>
      <p:sp>
        <p:nvSpPr>
          <p:cNvPr id="12" name="Text 8"/>
          <p:cNvSpPr/>
          <p:nvPr/>
        </p:nvSpPr>
        <p:spPr>
          <a:xfrm>
            <a:off x="822960" y="3017520"/>
            <a:ext cx="1234440" cy="274320"/>
          </a:xfrm>
          <a:prstGeom prst="rect">
            <a:avLst/>
          </a:prstGeom>
          <a:noFill/>
          <a:ln/>
        </p:spPr>
        <p:txBody>
          <a:bodyPr wrap="square" lIns="0" tIns="0" rIns="0" bIns="0" rtlCol="0" anchor="ctr"/>
          <a:lstStyle/>
          <a:p>
            <a:pPr indent="0" marL="0">
              <a:buNone/>
            </a:pPr>
            <a:r>
              <a:rPr lang="en-US" sz="1100" dirty="0">
                <a:solidFill>
                  <a:srgbClr val="1C2333"/>
                </a:solidFill>
                <a:latin typeface="Arial" pitchFamily="34" charset="0"/>
                <a:ea typeface="Arial" pitchFamily="34" charset="-122"/>
                <a:cs typeface="Arial" pitchFamily="34" charset="-120"/>
              </a:rPr>
              <a:t>Headline, city</a:t>
            </a:r>
            <a:endParaRPr lang="en-US" sz="1100" dirty="0"/>
          </a:p>
        </p:txBody>
      </p:sp>
      <p:sp>
        <p:nvSpPr>
          <p:cNvPr id="13" name="Shape 9"/>
          <p:cNvSpPr/>
          <p:nvPr/>
        </p:nvSpPr>
        <p:spPr>
          <a:xfrm>
            <a:off x="822960" y="3383280"/>
            <a:ext cx="731520" cy="274320"/>
          </a:xfrm>
          <a:prstGeom prst="roundRect">
            <a:avLst>
              <a:gd name="adj" fmla="val 13333"/>
            </a:avLst>
          </a:prstGeom>
          <a:solidFill>
            <a:srgbClr val="1F3A93"/>
          </a:solidFill>
          <a:ln w="9525">
            <a:solidFill>
              <a:srgbClr val="1F3A93"/>
            </a:solidFill>
            <a:prstDash val="solid"/>
          </a:ln>
        </p:spPr>
      </p:sp>
      <p:sp>
        <p:nvSpPr>
          <p:cNvPr id="14" name="Text 10"/>
          <p:cNvSpPr/>
          <p:nvPr/>
        </p:nvSpPr>
        <p:spPr>
          <a:xfrm>
            <a:off x="822960" y="338328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Email</a:t>
            </a:r>
            <a:endParaRPr lang="en-US" sz="1100" dirty="0"/>
          </a:p>
        </p:txBody>
      </p:sp>
      <p:sp>
        <p:nvSpPr>
          <p:cNvPr id="15" name="Text 11"/>
          <p:cNvSpPr txBox="1"/>
          <p:nvPr/>
        </p:nvSpPr>
        <p:spPr>
          <a:xfrm>
            <a:off x="640080" y="3950208"/>
            <a:ext cx="1600200" cy="320040"/>
          </a:xfrm>
          <a:prstGeom prst="rect">
            <a:avLst/>
          </a:prstGeom>
          <a:noFill/>
          <a:ln/>
        </p:spPr>
        <p:txBody>
          <a:bodyPr wrap="square" lIns="0" tIns="0" rIns="0" bIns="0" rtlCol="0" anchor="t"/>
          <a:lstStyle/>
          <a:p>
            <a:pPr algn="ctr" indent="0" marL="0">
              <a:lnSpc>
                <a:spcPct val="115000"/>
              </a:lnSpc>
              <a:buNone/>
            </a:pPr>
            <a:r>
              <a:rPr lang="en-US" sz="1500" b="1" dirty="0">
                <a:solidFill>
                  <a:srgbClr val="0D1219"/>
                </a:solidFill>
                <a:latin typeface="Courier New" pitchFamily="34" charset="0"/>
                <a:ea typeface="Courier New" pitchFamily="34" charset="-122"/>
                <a:cs typeface="Courier New" pitchFamily="34" charset="-120"/>
              </a:rPr>
              <a:t>slate</a:t>
            </a:r>
            <a:endParaRPr lang="en-US" sz="1500" dirty="0"/>
          </a:p>
        </p:txBody>
      </p:sp>
      <p:sp>
        <p:nvSpPr>
          <p:cNvPr id="16" name="Text 12"/>
          <p:cNvSpPr txBox="1"/>
          <p:nvPr/>
        </p:nvSpPr>
        <p:spPr>
          <a:xfrm>
            <a:off x="548640" y="4297680"/>
            <a:ext cx="1783080" cy="73152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Most professions; the safe default</a:t>
            </a:r>
            <a:endParaRPr lang="en-US" sz="1200" dirty="0"/>
          </a:p>
        </p:txBody>
      </p:sp>
      <p:sp>
        <p:nvSpPr>
          <p:cNvPr id="17" name="Shape 13"/>
          <p:cNvSpPr/>
          <p:nvPr/>
        </p:nvSpPr>
        <p:spPr>
          <a:xfrm>
            <a:off x="2501798" y="2240280"/>
            <a:ext cx="1600200" cy="1600200"/>
          </a:xfrm>
          <a:prstGeom prst="rect">
            <a:avLst/>
          </a:prstGeom>
          <a:solidFill>
            <a:srgbClr val="F1F5EF"/>
          </a:solidFill>
          <a:ln w="12700">
            <a:solidFill>
              <a:srgbClr val="D9E0EA"/>
            </a:solidFill>
            <a:prstDash val="solid"/>
          </a:ln>
        </p:spPr>
      </p:sp>
      <p:sp>
        <p:nvSpPr>
          <p:cNvPr id="18" name="Shape 14"/>
          <p:cNvSpPr/>
          <p:nvPr/>
        </p:nvSpPr>
        <p:spPr>
          <a:xfrm>
            <a:off x="2684678" y="2423160"/>
            <a:ext cx="1234440" cy="201168"/>
          </a:xfrm>
          <a:prstGeom prst="rect">
            <a:avLst/>
          </a:prstGeom>
          <a:solidFill>
            <a:srgbClr val="2F6B3F"/>
          </a:solidFill>
          <a:ln w="9525">
            <a:solidFill>
              <a:srgbClr val="2F6B3F"/>
            </a:solidFill>
            <a:prstDash val="solid"/>
          </a:ln>
        </p:spPr>
      </p:sp>
      <p:sp>
        <p:nvSpPr>
          <p:cNvPr id="19" name="Text 15"/>
          <p:cNvSpPr/>
          <p:nvPr/>
        </p:nvSpPr>
        <p:spPr>
          <a:xfrm>
            <a:off x="2684678" y="2697480"/>
            <a:ext cx="1234440" cy="365760"/>
          </a:xfrm>
          <a:prstGeom prst="rect">
            <a:avLst/>
          </a:prstGeom>
          <a:noFill/>
          <a:ln/>
        </p:spPr>
        <p:txBody>
          <a:bodyPr wrap="square" lIns="0" tIns="0" rIns="0" bIns="0" rtlCol="0" anchor="ctr"/>
          <a:lstStyle/>
          <a:p>
            <a:pPr indent="0" marL="0">
              <a:buNone/>
            </a:pPr>
            <a:r>
              <a:rPr lang="en-US" sz="1400" b="1" dirty="0">
                <a:solidFill>
                  <a:srgbClr val="1B2A1F"/>
                </a:solidFill>
                <a:latin typeface="Arial" pitchFamily="34" charset="0"/>
                <a:ea typeface="Arial" pitchFamily="34" charset="-122"/>
                <a:cs typeface="Arial" pitchFamily="34" charset="-120"/>
              </a:rPr>
              <a:t>Your Name</a:t>
            </a:r>
            <a:endParaRPr lang="en-US" sz="1400" dirty="0"/>
          </a:p>
        </p:txBody>
      </p:sp>
      <p:sp>
        <p:nvSpPr>
          <p:cNvPr id="20" name="Text 16"/>
          <p:cNvSpPr/>
          <p:nvPr/>
        </p:nvSpPr>
        <p:spPr>
          <a:xfrm>
            <a:off x="2684678" y="3017520"/>
            <a:ext cx="1234440" cy="274320"/>
          </a:xfrm>
          <a:prstGeom prst="rect">
            <a:avLst/>
          </a:prstGeom>
          <a:noFill/>
          <a:ln/>
        </p:spPr>
        <p:txBody>
          <a:bodyPr wrap="square" lIns="0" tIns="0" rIns="0" bIns="0" rtlCol="0" anchor="ctr"/>
          <a:lstStyle/>
          <a:p>
            <a:pPr indent="0" marL="0">
              <a:buNone/>
            </a:pPr>
            <a:r>
              <a:rPr lang="en-US" sz="1100" dirty="0">
                <a:solidFill>
                  <a:srgbClr val="1B2A1F"/>
                </a:solidFill>
                <a:latin typeface="Arial" pitchFamily="34" charset="0"/>
                <a:ea typeface="Arial" pitchFamily="34" charset="-122"/>
                <a:cs typeface="Arial" pitchFamily="34" charset="-120"/>
              </a:rPr>
              <a:t>Headline, city</a:t>
            </a:r>
            <a:endParaRPr lang="en-US" sz="1100" dirty="0"/>
          </a:p>
        </p:txBody>
      </p:sp>
      <p:sp>
        <p:nvSpPr>
          <p:cNvPr id="21" name="Shape 17"/>
          <p:cNvSpPr/>
          <p:nvPr/>
        </p:nvSpPr>
        <p:spPr>
          <a:xfrm>
            <a:off x="2684678" y="3383280"/>
            <a:ext cx="731520" cy="274320"/>
          </a:xfrm>
          <a:prstGeom prst="roundRect">
            <a:avLst>
              <a:gd name="adj" fmla="val 13333"/>
            </a:avLst>
          </a:prstGeom>
          <a:solidFill>
            <a:srgbClr val="2F6B3F"/>
          </a:solidFill>
          <a:ln w="9525">
            <a:solidFill>
              <a:srgbClr val="2F6B3F"/>
            </a:solidFill>
            <a:prstDash val="solid"/>
          </a:ln>
        </p:spPr>
      </p:sp>
      <p:sp>
        <p:nvSpPr>
          <p:cNvPr id="22" name="Text 18"/>
          <p:cNvSpPr/>
          <p:nvPr/>
        </p:nvSpPr>
        <p:spPr>
          <a:xfrm>
            <a:off x="2684678" y="338328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Email</a:t>
            </a:r>
            <a:endParaRPr lang="en-US" sz="1100" dirty="0"/>
          </a:p>
        </p:txBody>
      </p:sp>
      <p:sp>
        <p:nvSpPr>
          <p:cNvPr id="23" name="Text 19"/>
          <p:cNvSpPr txBox="1"/>
          <p:nvPr/>
        </p:nvSpPr>
        <p:spPr>
          <a:xfrm>
            <a:off x="2501798" y="3950208"/>
            <a:ext cx="1600200" cy="320040"/>
          </a:xfrm>
          <a:prstGeom prst="rect">
            <a:avLst/>
          </a:prstGeom>
          <a:noFill/>
          <a:ln/>
        </p:spPr>
        <p:txBody>
          <a:bodyPr wrap="square" lIns="0" tIns="0" rIns="0" bIns="0" rtlCol="0" anchor="t"/>
          <a:lstStyle/>
          <a:p>
            <a:pPr algn="ctr" indent="0" marL="0">
              <a:lnSpc>
                <a:spcPct val="115000"/>
              </a:lnSpc>
              <a:buNone/>
            </a:pPr>
            <a:r>
              <a:rPr lang="en-US" sz="1500" b="1" dirty="0">
                <a:solidFill>
                  <a:srgbClr val="0D1219"/>
                </a:solidFill>
                <a:latin typeface="Courier New" pitchFamily="34" charset="0"/>
                <a:ea typeface="Courier New" pitchFamily="34" charset="-122"/>
                <a:cs typeface="Courier New" pitchFamily="34" charset="-120"/>
              </a:rPr>
              <a:t>forest</a:t>
            </a:r>
            <a:endParaRPr lang="en-US" sz="1500" dirty="0"/>
          </a:p>
        </p:txBody>
      </p:sp>
      <p:sp>
        <p:nvSpPr>
          <p:cNvPr id="24" name="Text 20"/>
          <p:cNvSpPr txBox="1"/>
          <p:nvPr/>
        </p:nvSpPr>
        <p:spPr>
          <a:xfrm>
            <a:off x="2410358" y="4297680"/>
            <a:ext cx="1783080" cy="73152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Health, education, sustainability</a:t>
            </a:r>
            <a:endParaRPr lang="en-US" sz="1200" dirty="0"/>
          </a:p>
        </p:txBody>
      </p:sp>
      <p:sp>
        <p:nvSpPr>
          <p:cNvPr id="25" name="Shape 21"/>
          <p:cNvSpPr/>
          <p:nvPr/>
        </p:nvSpPr>
        <p:spPr>
          <a:xfrm>
            <a:off x="4363517" y="2240280"/>
            <a:ext cx="1600200" cy="1600200"/>
          </a:xfrm>
          <a:prstGeom prst="rect">
            <a:avLst/>
          </a:prstGeom>
          <a:solidFill>
            <a:srgbClr val="FFF6EE"/>
          </a:solidFill>
          <a:ln w="12700">
            <a:solidFill>
              <a:srgbClr val="D9E0EA"/>
            </a:solidFill>
            <a:prstDash val="solid"/>
          </a:ln>
        </p:spPr>
      </p:sp>
      <p:sp>
        <p:nvSpPr>
          <p:cNvPr id="26" name="Shape 22"/>
          <p:cNvSpPr/>
          <p:nvPr/>
        </p:nvSpPr>
        <p:spPr>
          <a:xfrm>
            <a:off x="4546397" y="2423160"/>
            <a:ext cx="1234440" cy="201168"/>
          </a:xfrm>
          <a:prstGeom prst="rect">
            <a:avLst/>
          </a:prstGeom>
          <a:solidFill>
            <a:srgbClr val="C2410C"/>
          </a:solidFill>
          <a:ln w="9525">
            <a:solidFill>
              <a:srgbClr val="C2410C"/>
            </a:solidFill>
            <a:prstDash val="solid"/>
          </a:ln>
        </p:spPr>
      </p:sp>
      <p:sp>
        <p:nvSpPr>
          <p:cNvPr id="27" name="Text 23"/>
          <p:cNvSpPr/>
          <p:nvPr/>
        </p:nvSpPr>
        <p:spPr>
          <a:xfrm>
            <a:off x="4546397" y="2697480"/>
            <a:ext cx="1234440" cy="365760"/>
          </a:xfrm>
          <a:prstGeom prst="rect">
            <a:avLst/>
          </a:prstGeom>
          <a:noFill/>
          <a:ln/>
        </p:spPr>
        <p:txBody>
          <a:bodyPr wrap="square" lIns="0" tIns="0" rIns="0" bIns="0" rtlCol="0" anchor="ctr"/>
          <a:lstStyle/>
          <a:p>
            <a:pPr indent="0" marL="0">
              <a:buNone/>
            </a:pPr>
            <a:r>
              <a:rPr lang="en-US" sz="1400" b="1" dirty="0">
                <a:solidFill>
                  <a:srgbClr val="3A2318"/>
                </a:solidFill>
                <a:latin typeface="Arial" pitchFamily="34" charset="0"/>
                <a:ea typeface="Arial" pitchFamily="34" charset="-122"/>
                <a:cs typeface="Arial" pitchFamily="34" charset="-120"/>
              </a:rPr>
              <a:t>Your Name</a:t>
            </a:r>
            <a:endParaRPr lang="en-US" sz="1400" dirty="0"/>
          </a:p>
        </p:txBody>
      </p:sp>
      <p:sp>
        <p:nvSpPr>
          <p:cNvPr id="28" name="Text 24"/>
          <p:cNvSpPr/>
          <p:nvPr/>
        </p:nvSpPr>
        <p:spPr>
          <a:xfrm>
            <a:off x="4546397" y="3017520"/>
            <a:ext cx="1234440" cy="274320"/>
          </a:xfrm>
          <a:prstGeom prst="rect">
            <a:avLst/>
          </a:prstGeom>
          <a:noFill/>
          <a:ln/>
        </p:spPr>
        <p:txBody>
          <a:bodyPr wrap="square" lIns="0" tIns="0" rIns="0" bIns="0" rtlCol="0" anchor="ctr"/>
          <a:lstStyle/>
          <a:p>
            <a:pPr indent="0" marL="0">
              <a:buNone/>
            </a:pPr>
            <a:r>
              <a:rPr lang="en-US" sz="1100" dirty="0">
                <a:solidFill>
                  <a:srgbClr val="3A2318"/>
                </a:solidFill>
                <a:latin typeface="Arial" pitchFamily="34" charset="0"/>
                <a:ea typeface="Arial" pitchFamily="34" charset="-122"/>
                <a:cs typeface="Arial" pitchFamily="34" charset="-120"/>
              </a:rPr>
              <a:t>Headline, city</a:t>
            </a:r>
            <a:endParaRPr lang="en-US" sz="1100" dirty="0"/>
          </a:p>
        </p:txBody>
      </p:sp>
      <p:sp>
        <p:nvSpPr>
          <p:cNvPr id="29" name="Shape 25"/>
          <p:cNvSpPr/>
          <p:nvPr/>
        </p:nvSpPr>
        <p:spPr>
          <a:xfrm>
            <a:off x="4546397" y="3383280"/>
            <a:ext cx="731520" cy="274320"/>
          </a:xfrm>
          <a:prstGeom prst="roundRect">
            <a:avLst>
              <a:gd name="adj" fmla="val 13333"/>
            </a:avLst>
          </a:prstGeom>
          <a:solidFill>
            <a:srgbClr val="C2410C"/>
          </a:solidFill>
          <a:ln w="9525">
            <a:solidFill>
              <a:srgbClr val="C2410C"/>
            </a:solidFill>
            <a:prstDash val="solid"/>
          </a:ln>
        </p:spPr>
      </p:sp>
      <p:sp>
        <p:nvSpPr>
          <p:cNvPr id="30" name="Text 26"/>
          <p:cNvSpPr/>
          <p:nvPr/>
        </p:nvSpPr>
        <p:spPr>
          <a:xfrm>
            <a:off x="4546397" y="338328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Email</a:t>
            </a:r>
            <a:endParaRPr lang="en-US" sz="1100" dirty="0"/>
          </a:p>
        </p:txBody>
      </p:sp>
      <p:sp>
        <p:nvSpPr>
          <p:cNvPr id="31" name="Text 27"/>
          <p:cNvSpPr txBox="1"/>
          <p:nvPr/>
        </p:nvSpPr>
        <p:spPr>
          <a:xfrm>
            <a:off x="4363517" y="3950208"/>
            <a:ext cx="1600200" cy="320040"/>
          </a:xfrm>
          <a:prstGeom prst="rect">
            <a:avLst/>
          </a:prstGeom>
          <a:noFill/>
          <a:ln/>
        </p:spPr>
        <p:txBody>
          <a:bodyPr wrap="square" lIns="0" tIns="0" rIns="0" bIns="0" rtlCol="0" anchor="t"/>
          <a:lstStyle/>
          <a:p>
            <a:pPr algn="ctr" indent="0" marL="0">
              <a:lnSpc>
                <a:spcPct val="115000"/>
              </a:lnSpc>
              <a:buNone/>
            </a:pPr>
            <a:r>
              <a:rPr lang="en-US" sz="1500" b="1" dirty="0">
                <a:solidFill>
                  <a:srgbClr val="0D1219"/>
                </a:solidFill>
                <a:latin typeface="Courier New" pitchFamily="34" charset="0"/>
                <a:ea typeface="Courier New" pitchFamily="34" charset="-122"/>
                <a:cs typeface="Courier New" pitchFamily="34" charset="-120"/>
              </a:rPr>
              <a:t>sunset</a:t>
            </a:r>
            <a:endParaRPr lang="en-US" sz="1500" dirty="0"/>
          </a:p>
        </p:txBody>
      </p:sp>
      <p:sp>
        <p:nvSpPr>
          <p:cNvPr id="32" name="Text 28"/>
          <p:cNvSpPr txBox="1"/>
          <p:nvPr/>
        </p:nvSpPr>
        <p:spPr>
          <a:xfrm>
            <a:off x="4272077" y="4297680"/>
            <a:ext cx="1783080" cy="73152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Creative and people-facing roles</a:t>
            </a:r>
            <a:endParaRPr lang="en-US" sz="1200" dirty="0"/>
          </a:p>
        </p:txBody>
      </p:sp>
      <p:sp>
        <p:nvSpPr>
          <p:cNvPr id="33" name="Shape 29"/>
          <p:cNvSpPr/>
          <p:nvPr/>
        </p:nvSpPr>
        <p:spPr>
          <a:xfrm>
            <a:off x="6225235" y="2240280"/>
            <a:ext cx="1600200" cy="1600200"/>
          </a:xfrm>
          <a:prstGeom prst="rect">
            <a:avLst/>
          </a:prstGeom>
          <a:solidFill>
            <a:srgbClr val="0F1B2D"/>
          </a:solidFill>
          <a:ln w="12700">
            <a:solidFill>
              <a:srgbClr val="D9E0EA"/>
            </a:solidFill>
            <a:prstDash val="solid"/>
          </a:ln>
        </p:spPr>
      </p:sp>
      <p:sp>
        <p:nvSpPr>
          <p:cNvPr id="34" name="Shape 30"/>
          <p:cNvSpPr/>
          <p:nvPr/>
        </p:nvSpPr>
        <p:spPr>
          <a:xfrm>
            <a:off x="6408115" y="2423160"/>
            <a:ext cx="1234440" cy="201168"/>
          </a:xfrm>
          <a:prstGeom prst="rect">
            <a:avLst/>
          </a:prstGeom>
          <a:solidFill>
            <a:srgbClr val="5CC8FF"/>
          </a:solidFill>
          <a:ln w="9525">
            <a:solidFill>
              <a:srgbClr val="5CC8FF"/>
            </a:solidFill>
            <a:prstDash val="solid"/>
          </a:ln>
        </p:spPr>
      </p:sp>
      <p:sp>
        <p:nvSpPr>
          <p:cNvPr id="35" name="Text 31"/>
          <p:cNvSpPr/>
          <p:nvPr/>
        </p:nvSpPr>
        <p:spPr>
          <a:xfrm>
            <a:off x="6408115" y="2697480"/>
            <a:ext cx="1234440" cy="365760"/>
          </a:xfrm>
          <a:prstGeom prst="rect">
            <a:avLst/>
          </a:prstGeom>
          <a:noFill/>
          <a:ln/>
        </p:spPr>
        <p:txBody>
          <a:bodyPr wrap="square" lIns="0" tIns="0" rIns="0" bIns="0" rtlCol="0" anchor="ctr"/>
          <a:lstStyle/>
          <a:p>
            <a:pPr indent="0" marL="0">
              <a:buNone/>
            </a:pPr>
            <a:r>
              <a:rPr lang="en-US" sz="1400" b="1" dirty="0">
                <a:solidFill>
                  <a:srgbClr val="E8EEF8"/>
                </a:solidFill>
                <a:latin typeface="Arial" pitchFamily="34" charset="0"/>
                <a:ea typeface="Arial" pitchFamily="34" charset="-122"/>
                <a:cs typeface="Arial" pitchFamily="34" charset="-120"/>
              </a:rPr>
              <a:t>Your Name</a:t>
            </a:r>
            <a:endParaRPr lang="en-US" sz="1400" dirty="0"/>
          </a:p>
        </p:txBody>
      </p:sp>
      <p:sp>
        <p:nvSpPr>
          <p:cNvPr id="36" name="Text 32"/>
          <p:cNvSpPr/>
          <p:nvPr/>
        </p:nvSpPr>
        <p:spPr>
          <a:xfrm>
            <a:off x="6408115" y="3017520"/>
            <a:ext cx="1234440" cy="274320"/>
          </a:xfrm>
          <a:prstGeom prst="rect">
            <a:avLst/>
          </a:prstGeom>
          <a:noFill/>
          <a:ln/>
        </p:spPr>
        <p:txBody>
          <a:bodyPr wrap="square" lIns="0" tIns="0" rIns="0" bIns="0" rtlCol="0" anchor="ctr"/>
          <a:lstStyle/>
          <a:p>
            <a:pPr indent="0" marL="0">
              <a:buNone/>
            </a:pPr>
            <a:r>
              <a:rPr lang="en-US" sz="1100" dirty="0">
                <a:solidFill>
                  <a:srgbClr val="E8EEF8"/>
                </a:solidFill>
                <a:latin typeface="Arial" pitchFamily="34" charset="0"/>
                <a:ea typeface="Arial" pitchFamily="34" charset="-122"/>
                <a:cs typeface="Arial" pitchFamily="34" charset="-120"/>
              </a:rPr>
              <a:t>Headline, city</a:t>
            </a:r>
            <a:endParaRPr lang="en-US" sz="1100" dirty="0"/>
          </a:p>
        </p:txBody>
      </p:sp>
      <p:sp>
        <p:nvSpPr>
          <p:cNvPr id="37" name="Shape 33"/>
          <p:cNvSpPr/>
          <p:nvPr/>
        </p:nvSpPr>
        <p:spPr>
          <a:xfrm>
            <a:off x="6408115" y="3383280"/>
            <a:ext cx="731520" cy="274320"/>
          </a:xfrm>
          <a:prstGeom prst="roundRect">
            <a:avLst>
              <a:gd name="adj" fmla="val 13333"/>
            </a:avLst>
          </a:prstGeom>
          <a:solidFill>
            <a:srgbClr val="5CC8FF"/>
          </a:solidFill>
          <a:ln w="9525">
            <a:solidFill>
              <a:srgbClr val="5CC8FF"/>
            </a:solidFill>
            <a:prstDash val="solid"/>
          </a:ln>
        </p:spPr>
      </p:sp>
      <p:sp>
        <p:nvSpPr>
          <p:cNvPr id="38" name="Text 34"/>
          <p:cNvSpPr/>
          <p:nvPr/>
        </p:nvSpPr>
        <p:spPr>
          <a:xfrm>
            <a:off x="6408115" y="3383280"/>
            <a:ext cx="731520" cy="274320"/>
          </a:xfrm>
          <a:prstGeom prst="rect">
            <a:avLst/>
          </a:prstGeom>
          <a:noFill/>
          <a:ln/>
        </p:spPr>
        <p:txBody>
          <a:bodyPr wrap="square" lIns="0" tIns="0" rIns="0" bIns="0" rtlCol="0" anchor="ctr"/>
          <a:lstStyle/>
          <a:p>
            <a:pPr algn="ctr" indent="0" marL="0">
              <a:buNone/>
            </a:pPr>
            <a:r>
              <a:rPr lang="en-US" sz="1100" b="1" dirty="0">
                <a:solidFill>
                  <a:srgbClr val="06243A"/>
                </a:solidFill>
                <a:latin typeface="Arial" pitchFamily="34" charset="0"/>
                <a:ea typeface="Arial" pitchFamily="34" charset="-122"/>
                <a:cs typeface="Arial" pitchFamily="34" charset="-120"/>
              </a:rPr>
              <a:t>Email</a:t>
            </a:r>
            <a:endParaRPr lang="en-US" sz="1100" dirty="0"/>
          </a:p>
        </p:txBody>
      </p:sp>
      <p:sp>
        <p:nvSpPr>
          <p:cNvPr id="39" name="Text 35"/>
          <p:cNvSpPr txBox="1"/>
          <p:nvPr/>
        </p:nvSpPr>
        <p:spPr>
          <a:xfrm>
            <a:off x="6225235" y="3950208"/>
            <a:ext cx="1600200" cy="320040"/>
          </a:xfrm>
          <a:prstGeom prst="rect">
            <a:avLst/>
          </a:prstGeom>
          <a:noFill/>
          <a:ln/>
        </p:spPr>
        <p:txBody>
          <a:bodyPr wrap="square" lIns="0" tIns="0" rIns="0" bIns="0" rtlCol="0" anchor="t"/>
          <a:lstStyle/>
          <a:p>
            <a:pPr algn="ctr" indent="0" marL="0">
              <a:lnSpc>
                <a:spcPct val="115000"/>
              </a:lnSpc>
              <a:buNone/>
            </a:pPr>
            <a:r>
              <a:rPr lang="en-US" sz="1500" b="1" dirty="0">
                <a:solidFill>
                  <a:srgbClr val="0D1219"/>
                </a:solidFill>
                <a:latin typeface="Courier New" pitchFamily="34" charset="0"/>
                <a:ea typeface="Courier New" pitchFamily="34" charset="-122"/>
                <a:cs typeface="Courier New" pitchFamily="34" charset="-120"/>
              </a:rPr>
              <a:t>ocean</a:t>
            </a:r>
            <a:endParaRPr lang="en-US" sz="1500" dirty="0"/>
          </a:p>
        </p:txBody>
      </p:sp>
      <p:sp>
        <p:nvSpPr>
          <p:cNvPr id="40" name="Text 36"/>
          <p:cNvSpPr txBox="1"/>
          <p:nvPr/>
        </p:nvSpPr>
        <p:spPr>
          <a:xfrm>
            <a:off x="6133795" y="4297680"/>
            <a:ext cx="1783080" cy="73152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Technology, consulting</a:t>
            </a:r>
            <a:endParaRPr lang="en-US" sz="1200" dirty="0"/>
          </a:p>
        </p:txBody>
      </p:sp>
      <p:sp>
        <p:nvSpPr>
          <p:cNvPr id="41" name="Shape 37"/>
          <p:cNvSpPr/>
          <p:nvPr/>
        </p:nvSpPr>
        <p:spPr>
          <a:xfrm>
            <a:off x="8086954" y="2240280"/>
            <a:ext cx="1600200" cy="1600200"/>
          </a:xfrm>
          <a:prstGeom prst="rect">
            <a:avLst/>
          </a:prstGeom>
          <a:solidFill>
            <a:srgbClr val="FFFFFF"/>
          </a:solidFill>
          <a:ln w="12700">
            <a:solidFill>
              <a:srgbClr val="D9E0EA"/>
            </a:solidFill>
            <a:prstDash val="solid"/>
          </a:ln>
        </p:spPr>
      </p:sp>
      <p:sp>
        <p:nvSpPr>
          <p:cNvPr id="42" name="Shape 38"/>
          <p:cNvSpPr/>
          <p:nvPr/>
        </p:nvSpPr>
        <p:spPr>
          <a:xfrm>
            <a:off x="8269834" y="2423160"/>
            <a:ext cx="1234440" cy="201168"/>
          </a:xfrm>
          <a:prstGeom prst="rect">
            <a:avLst/>
          </a:prstGeom>
          <a:solidFill>
            <a:srgbClr val="D6336C"/>
          </a:solidFill>
          <a:ln w="9525">
            <a:solidFill>
              <a:srgbClr val="D6336C"/>
            </a:solidFill>
            <a:prstDash val="solid"/>
          </a:ln>
        </p:spPr>
      </p:sp>
      <p:sp>
        <p:nvSpPr>
          <p:cNvPr id="43" name="Text 39"/>
          <p:cNvSpPr/>
          <p:nvPr/>
        </p:nvSpPr>
        <p:spPr>
          <a:xfrm>
            <a:off x="8269834" y="2697480"/>
            <a:ext cx="1234440" cy="365760"/>
          </a:xfrm>
          <a:prstGeom prst="rect">
            <a:avLst/>
          </a:prstGeom>
          <a:noFill/>
          <a:ln/>
        </p:spPr>
        <p:txBody>
          <a:bodyPr wrap="square" lIns="0" tIns="0" rIns="0" bIns="0" rtlCol="0" anchor="ctr"/>
          <a:lstStyle/>
          <a:p>
            <a:pPr indent="0" marL="0">
              <a:buNone/>
            </a:pPr>
            <a:r>
              <a:rPr lang="en-US" sz="1400" b="1" dirty="0">
                <a:solidFill>
                  <a:srgbClr val="111111"/>
                </a:solidFill>
                <a:latin typeface="Arial" pitchFamily="34" charset="0"/>
                <a:ea typeface="Arial" pitchFamily="34" charset="-122"/>
                <a:cs typeface="Arial" pitchFamily="34" charset="-120"/>
              </a:rPr>
              <a:t>Your Name</a:t>
            </a:r>
            <a:endParaRPr lang="en-US" sz="1400" dirty="0"/>
          </a:p>
        </p:txBody>
      </p:sp>
      <p:sp>
        <p:nvSpPr>
          <p:cNvPr id="44" name="Text 40"/>
          <p:cNvSpPr/>
          <p:nvPr/>
        </p:nvSpPr>
        <p:spPr>
          <a:xfrm>
            <a:off x="8269834" y="3017520"/>
            <a:ext cx="1234440" cy="274320"/>
          </a:xfrm>
          <a:prstGeom prst="rect">
            <a:avLst/>
          </a:prstGeom>
          <a:noFill/>
          <a:ln/>
        </p:spPr>
        <p:txBody>
          <a:bodyPr wrap="square" lIns="0" tIns="0" rIns="0" bIns="0" rtlCol="0" anchor="ctr"/>
          <a:lstStyle/>
          <a:p>
            <a:pPr indent="0" marL="0">
              <a:buNone/>
            </a:pPr>
            <a:r>
              <a:rPr lang="en-US" sz="1100" dirty="0">
                <a:solidFill>
                  <a:srgbClr val="111111"/>
                </a:solidFill>
                <a:latin typeface="Arial" pitchFamily="34" charset="0"/>
                <a:ea typeface="Arial" pitchFamily="34" charset="-122"/>
                <a:cs typeface="Arial" pitchFamily="34" charset="-120"/>
              </a:rPr>
              <a:t>Headline, city</a:t>
            </a:r>
            <a:endParaRPr lang="en-US" sz="1100" dirty="0"/>
          </a:p>
        </p:txBody>
      </p:sp>
      <p:sp>
        <p:nvSpPr>
          <p:cNvPr id="45" name="Shape 41"/>
          <p:cNvSpPr/>
          <p:nvPr/>
        </p:nvSpPr>
        <p:spPr>
          <a:xfrm>
            <a:off x="8269834" y="3383280"/>
            <a:ext cx="731520" cy="274320"/>
          </a:xfrm>
          <a:prstGeom prst="roundRect">
            <a:avLst>
              <a:gd name="adj" fmla="val 13333"/>
            </a:avLst>
          </a:prstGeom>
          <a:solidFill>
            <a:srgbClr val="D6336C"/>
          </a:solidFill>
          <a:ln w="9525">
            <a:solidFill>
              <a:srgbClr val="D6336C"/>
            </a:solidFill>
            <a:prstDash val="solid"/>
          </a:ln>
        </p:spPr>
      </p:sp>
      <p:sp>
        <p:nvSpPr>
          <p:cNvPr id="46" name="Text 42"/>
          <p:cNvSpPr/>
          <p:nvPr/>
        </p:nvSpPr>
        <p:spPr>
          <a:xfrm>
            <a:off x="8269834" y="338328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Email</a:t>
            </a:r>
            <a:endParaRPr lang="en-US" sz="1100" dirty="0"/>
          </a:p>
        </p:txBody>
      </p:sp>
      <p:sp>
        <p:nvSpPr>
          <p:cNvPr id="47" name="Text 43"/>
          <p:cNvSpPr txBox="1"/>
          <p:nvPr/>
        </p:nvSpPr>
        <p:spPr>
          <a:xfrm>
            <a:off x="8086954" y="3950208"/>
            <a:ext cx="1600200" cy="320040"/>
          </a:xfrm>
          <a:prstGeom prst="rect">
            <a:avLst/>
          </a:prstGeom>
          <a:noFill/>
          <a:ln/>
        </p:spPr>
        <p:txBody>
          <a:bodyPr wrap="square" lIns="0" tIns="0" rIns="0" bIns="0" rtlCol="0" anchor="t"/>
          <a:lstStyle/>
          <a:p>
            <a:pPr algn="ctr" indent="0" marL="0">
              <a:lnSpc>
                <a:spcPct val="115000"/>
              </a:lnSpc>
              <a:buNone/>
            </a:pPr>
            <a:r>
              <a:rPr lang="en-US" sz="1500" b="1" dirty="0">
                <a:solidFill>
                  <a:srgbClr val="0D1219"/>
                </a:solidFill>
                <a:latin typeface="Courier New" pitchFamily="34" charset="0"/>
                <a:ea typeface="Courier New" pitchFamily="34" charset="-122"/>
                <a:cs typeface="Courier New" pitchFamily="34" charset="-120"/>
              </a:rPr>
              <a:t>mono</a:t>
            </a:r>
            <a:endParaRPr lang="en-US" sz="1500" dirty="0"/>
          </a:p>
        </p:txBody>
      </p:sp>
      <p:sp>
        <p:nvSpPr>
          <p:cNvPr id="48" name="Text 44"/>
          <p:cNvSpPr txBox="1"/>
          <p:nvPr/>
        </p:nvSpPr>
        <p:spPr>
          <a:xfrm>
            <a:off x="7995514" y="4297680"/>
            <a:ext cx="1783080" cy="73152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Design, writing, anyone who wants it quiet</a:t>
            </a:r>
            <a:endParaRPr lang="en-US" sz="1200" dirty="0"/>
          </a:p>
        </p:txBody>
      </p:sp>
      <p:sp>
        <p:nvSpPr>
          <p:cNvPr id="49" name="Shape 45"/>
          <p:cNvSpPr/>
          <p:nvPr/>
        </p:nvSpPr>
        <p:spPr>
          <a:xfrm>
            <a:off x="9948672" y="2240280"/>
            <a:ext cx="1600200" cy="1600200"/>
          </a:xfrm>
          <a:prstGeom prst="rect">
            <a:avLst/>
          </a:prstGeom>
          <a:solidFill>
            <a:srgbClr val="F8F3FA"/>
          </a:solidFill>
          <a:ln w="12700">
            <a:solidFill>
              <a:srgbClr val="D9E0EA"/>
            </a:solidFill>
            <a:prstDash val="solid"/>
          </a:ln>
        </p:spPr>
      </p:sp>
      <p:sp>
        <p:nvSpPr>
          <p:cNvPr id="50" name="Shape 46"/>
          <p:cNvSpPr/>
          <p:nvPr/>
        </p:nvSpPr>
        <p:spPr>
          <a:xfrm>
            <a:off x="10131552" y="2423160"/>
            <a:ext cx="1234440" cy="201168"/>
          </a:xfrm>
          <a:prstGeom prst="rect">
            <a:avLst/>
          </a:prstGeom>
          <a:solidFill>
            <a:srgbClr val="6D2A7C"/>
          </a:solidFill>
          <a:ln w="9525">
            <a:solidFill>
              <a:srgbClr val="6D2A7C"/>
            </a:solidFill>
            <a:prstDash val="solid"/>
          </a:ln>
        </p:spPr>
      </p:sp>
      <p:sp>
        <p:nvSpPr>
          <p:cNvPr id="51" name="Text 47"/>
          <p:cNvSpPr/>
          <p:nvPr/>
        </p:nvSpPr>
        <p:spPr>
          <a:xfrm>
            <a:off x="10131552" y="2697480"/>
            <a:ext cx="1234440" cy="365760"/>
          </a:xfrm>
          <a:prstGeom prst="rect">
            <a:avLst/>
          </a:prstGeom>
          <a:noFill/>
          <a:ln/>
        </p:spPr>
        <p:txBody>
          <a:bodyPr wrap="square" lIns="0" tIns="0" rIns="0" bIns="0" rtlCol="0" anchor="ctr"/>
          <a:lstStyle/>
          <a:p>
            <a:pPr indent="0" marL="0">
              <a:buNone/>
            </a:pPr>
            <a:r>
              <a:rPr lang="en-US" sz="1400" b="1" dirty="0">
                <a:solidFill>
                  <a:srgbClr val="2A1A30"/>
                </a:solidFill>
                <a:latin typeface="Arial" pitchFamily="34" charset="0"/>
                <a:ea typeface="Arial" pitchFamily="34" charset="-122"/>
                <a:cs typeface="Arial" pitchFamily="34" charset="-120"/>
              </a:rPr>
              <a:t>Your Name</a:t>
            </a:r>
            <a:endParaRPr lang="en-US" sz="1400" dirty="0"/>
          </a:p>
        </p:txBody>
      </p:sp>
      <p:sp>
        <p:nvSpPr>
          <p:cNvPr id="52" name="Text 48"/>
          <p:cNvSpPr/>
          <p:nvPr/>
        </p:nvSpPr>
        <p:spPr>
          <a:xfrm>
            <a:off x="10131552" y="3017520"/>
            <a:ext cx="1234440" cy="274320"/>
          </a:xfrm>
          <a:prstGeom prst="rect">
            <a:avLst/>
          </a:prstGeom>
          <a:noFill/>
          <a:ln/>
        </p:spPr>
        <p:txBody>
          <a:bodyPr wrap="square" lIns="0" tIns="0" rIns="0" bIns="0" rtlCol="0" anchor="ctr"/>
          <a:lstStyle/>
          <a:p>
            <a:pPr indent="0" marL="0">
              <a:buNone/>
            </a:pPr>
            <a:r>
              <a:rPr lang="en-US" sz="1100" dirty="0">
                <a:solidFill>
                  <a:srgbClr val="2A1A30"/>
                </a:solidFill>
                <a:latin typeface="Arial" pitchFamily="34" charset="0"/>
                <a:ea typeface="Arial" pitchFamily="34" charset="-122"/>
                <a:cs typeface="Arial" pitchFamily="34" charset="-120"/>
              </a:rPr>
              <a:t>Headline, city</a:t>
            </a:r>
            <a:endParaRPr lang="en-US" sz="1100" dirty="0"/>
          </a:p>
        </p:txBody>
      </p:sp>
      <p:sp>
        <p:nvSpPr>
          <p:cNvPr id="53" name="Shape 49"/>
          <p:cNvSpPr/>
          <p:nvPr/>
        </p:nvSpPr>
        <p:spPr>
          <a:xfrm>
            <a:off x="10131552" y="3383280"/>
            <a:ext cx="731520" cy="274320"/>
          </a:xfrm>
          <a:prstGeom prst="roundRect">
            <a:avLst>
              <a:gd name="adj" fmla="val 13333"/>
            </a:avLst>
          </a:prstGeom>
          <a:solidFill>
            <a:srgbClr val="6D2A7C"/>
          </a:solidFill>
          <a:ln w="9525">
            <a:solidFill>
              <a:srgbClr val="6D2A7C"/>
            </a:solidFill>
            <a:prstDash val="solid"/>
          </a:ln>
        </p:spPr>
      </p:sp>
      <p:sp>
        <p:nvSpPr>
          <p:cNvPr id="54" name="Text 50"/>
          <p:cNvSpPr/>
          <p:nvPr/>
        </p:nvSpPr>
        <p:spPr>
          <a:xfrm>
            <a:off x="10131552" y="3383280"/>
            <a:ext cx="7315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Email</a:t>
            </a:r>
            <a:endParaRPr lang="en-US" sz="1100" dirty="0"/>
          </a:p>
        </p:txBody>
      </p:sp>
      <p:sp>
        <p:nvSpPr>
          <p:cNvPr id="55" name="Text 51"/>
          <p:cNvSpPr txBox="1"/>
          <p:nvPr/>
        </p:nvSpPr>
        <p:spPr>
          <a:xfrm>
            <a:off x="9948672" y="3950208"/>
            <a:ext cx="1600200" cy="320040"/>
          </a:xfrm>
          <a:prstGeom prst="rect">
            <a:avLst/>
          </a:prstGeom>
          <a:noFill/>
          <a:ln/>
        </p:spPr>
        <p:txBody>
          <a:bodyPr wrap="square" lIns="0" tIns="0" rIns="0" bIns="0" rtlCol="0" anchor="t"/>
          <a:lstStyle/>
          <a:p>
            <a:pPr algn="ctr" indent="0" marL="0">
              <a:lnSpc>
                <a:spcPct val="115000"/>
              </a:lnSpc>
              <a:buNone/>
            </a:pPr>
            <a:r>
              <a:rPr lang="en-US" sz="1500" b="1" dirty="0">
                <a:solidFill>
                  <a:srgbClr val="0D1219"/>
                </a:solidFill>
                <a:latin typeface="Courier New" pitchFamily="34" charset="0"/>
                <a:ea typeface="Courier New" pitchFamily="34" charset="-122"/>
                <a:cs typeface="Courier New" pitchFamily="34" charset="-120"/>
              </a:rPr>
              <a:t>plum</a:t>
            </a:r>
            <a:endParaRPr lang="en-US" sz="1500" dirty="0"/>
          </a:p>
        </p:txBody>
      </p:sp>
      <p:sp>
        <p:nvSpPr>
          <p:cNvPr id="56" name="Text 52"/>
          <p:cNvSpPr txBox="1"/>
          <p:nvPr/>
        </p:nvSpPr>
        <p:spPr>
          <a:xfrm>
            <a:off x="9857232" y="4297680"/>
            <a:ext cx="1783080" cy="73152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Marketing, events, speakers</a:t>
            </a:r>
            <a:endParaRPr lang="en-US" sz="1200" dirty="0"/>
          </a:p>
        </p:txBody>
      </p:sp>
      <p:sp>
        <p:nvSpPr>
          <p:cNvPr id="57" name="Text 53"/>
          <p:cNvSpPr txBox="1"/>
          <p:nvPr/>
        </p:nvSpPr>
        <p:spPr>
          <a:xfrm>
            <a:off x="640080" y="5257800"/>
            <a:ext cx="10908792" cy="548640"/>
          </a:xfrm>
          <a:prstGeom prst="rect">
            <a:avLst/>
          </a:prstGeom>
          <a:noFill/>
          <a:ln/>
        </p:spPr>
        <p:txBody>
          <a:bodyPr wrap="square" lIns="0" tIns="0" rIns="0" bIns="0" rtlCol="0" anchor="t"/>
          <a:lstStyle/>
          <a:p>
            <a:pPr algn="l" indent="0" marL="0">
              <a:lnSpc>
                <a:spcPct val="115000"/>
              </a:lnSpc>
              <a:buNone/>
            </a:pPr>
            <a:r>
              <a:rPr lang="en-US" sz="1400" dirty="0">
                <a:solidFill>
                  <a:srgbClr val="5B6675"/>
                </a:solidFill>
                <a:latin typeface="Arial" pitchFamily="34" charset="0"/>
                <a:ea typeface="Arial" pitchFamily="34" charset="-122"/>
                <a:cs typeface="Arial" pitchFamily="34" charset="-120"/>
              </a:rPr>
              <a:t>Want a palette that is yours? Pick one color, ask for background, text, and accent that pass contrast checks, and write the three hex codes in project-state.md.</a:t>
            </a:r>
            <a:endParaRPr lang="en-US" sz="1400" dirty="0"/>
          </a:p>
        </p:txBody>
      </p:sp>
      <p:sp>
        <p:nvSpPr>
          <p:cNvPr id="58" name="Text 5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5 · LAYOUT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11:08 – 11:12</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Two layouts. Centered or sidebar.</a:t>
            </a:r>
            <a:endParaRPr lang="en-US" sz="3200" dirty="0"/>
          </a:p>
        </p:txBody>
      </p:sp>
      <p:pic>
        <p:nvPicPr>
          <p:cNvPr id="8" name="Image 1" descr="assets/wireframes/site-centered.png">    </p:cNvPr>
          <p:cNvPicPr>
            <a:picLocks noChangeAspect="1"/>
          </p:cNvPicPr>
          <p:nvPr/>
        </p:nvPicPr>
        <p:blipFill>
          <a:blip r:embed="rId2"/>
          <a:stretch>
            <a:fillRect/>
          </a:stretch>
        </p:blipFill>
        <p:spPr>
          <a:xfrm>
            <a:off x="1005840" y="1783080"/>
            <a:ext cx="1920240" cy="3410712"/>
          </a:xfrm>
          <a:prstGeom prst="rect">
            <a:avLst/>
          </a:prstGeom>
        </p:spPr>
      </p:pic>
      <p:pic>
        <p:nvPicPr>
          <p:cNvPr id="9" name="Image 2" descr="assets/wireframes/site-sidebar.png">    </p:cNvPr>
          <p:cNvPicPr>
            <a:picLocks noChangeAspect="1"/>
          </p:cNvPicPr>
          <p:nvPr/>
        </p:nvPicPr>
        <p:blipFill>
          <a:blip r:embed="rId3"/>
          <a:stretch>
            <a:fillRect/>
          </a:stretch>
        </p:blipFill>
        <p:spPr>
          <a:xfrm>
            <a:off x="4206240" y="1783080"/>
            <a:ext cx="2788920" cy="1828800"/>
          </a:xfrm>
          <a:prstGeom prst="rect">
            <a:avLst/>
          </a:prstGeom>
        </p:spPr>
      </p:pic>
      <p:sp>
        <p:nvSpPr>
          <p:cNvPr id="10" name="Text 4"/>
          <p:cNvSpPr txBox="1"/>
          <p:nvPr/>
        </p:nvSpPr>
        <p:spPr>
          <a:xfrm>
            <a:off x="1005840" y="5257800"/>
            <a:ext cx="1920240" cy="274320"/>
          </a:xfrm>
          <a:prstGeom prst="rect">
            <a:avLst/>
          </a:prstGeom>
          <a:noFill/>
          <a:ln/>
        </p:spPr>
        <p:txBody>
          <a:bodyPr wrap="square" lIns="0" tIns="0" rIns="0" bIns="0" rtlCol="0" anchor="t"/>
          <a:lstStyle/>
          <a:p>
            <a:pPr algn="ctr" indent="0" marL="0">
              <a:lnSpc>
                <a:spcPct val="115000"/>
              </a:lnSpc>
              <a:buNone/>
            </a:pPr>
            <a:r>
              <a:rPr lang="en-US" sz="1300" b="1" dirty="0">
                <a:solidFill>
                  <a:srgbClr val="0D1219"/>
                </a:solidFill>
                <a:latin typeface="Courier New" pitchFamily="34" charset="0"/>
                <a:ea typeface="Courier New" pitchFamily="34" charset="-122"/>
                <a:cs typeface="Courier New" pitchFamily="34" charset="-120"/>
              </a:rPr>
              <a:t>centered</a:t>
            </a:r>
            <a:endParaRPr lang="en-US" sz="1300" dirty="0"/>
          </a:p>
        </p:txBody>
      </p:sp>
      <p:sp>
        <p:nvSpPr>
          <p:cNvPr id="11" name="Text 5"/>
          <p:cNvSpPr txBox="1"/>
          <p:nvPr/>
        </p:nvSpPr>
        <p:spPr>
          <a:xfrm>
            <a:off x="640080" y="5532120"/>
            <a:ext cx="2651760" cy="54864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Reads top to bottom. Same on a phone and a laptop.</a:t>
            </a:r>
            <a:endParaRPr lang="en-US" sz="1200" dirty="0"/>
          </a:p>
        </p:txBody>
      </p:sp>
      <p:sp>
        <p:nvSpPr>
          <p:cNvPr id="12" name="Text 6"/>
          <p:cNvSpPr txBox="1"/>
          <p:nvPr/>
        </p:nvSpPr>
        <p:spPr>
          <a:xfrm>
            <a:off x="4206240" y="3657600"/>
            <a:ext cx="2788920" cy="274320"/>
          </a:xfrm>
          <a:prstGeom prst="rect">
            <a:avLst/>
          </a:prstGeom>
          <a:noFill/>
          <a:ln/>
        </p:spPr>
        <p:txBody>
          <a:bodyPr wrap="square" lIns="0" tIns="0" rIns="0" bIns="0" rtlCol="0" anchor="t"/>
          <a:lstStyle/>
          <a:p>
            <a:pPr algn="ctr" indent="0" marL="0">
              <a:lnSpc>
                <a:spcPct val="115000"/>
              </a:lnSpc>
              <a:buNone/>
            </a:pPr>
            <a:r>
              <a:rPr lang="en-US" sz="1300" b="1" dirty="0">
                <a:solidFill>
                  <a:srgbClr val="0D1219"/>
                </a:solidFill>
                <a:latin typeface="Courier New" pitchFamily="34" charset="0"/>
                <a:ea typeface="Courier New" pitchFamily="34" charset="-122"/>
                <a:cs typeface="Courier New" pitchFamily="34" charset="-120"/>
              </a:rPr>
              <a:t>sidebar</a:t>
            </a:r>
            <a:endParaRPr lang="en-US" sz="1300" dirty="0"/>
          </a:p>
        </p:txBody>
      </p:sp>
      <p:sp>
        <p:nvSpPr>
          <p:cNvPr id="13" name="Text 7"/>
          <p:cNvSpPr txBox="1"/>
          <p:nvPr/>
        </p:nvSpPr>
        <p:spPr>
          <a:xfrm>
            <a:off x="4023360" y="3931920"/>
            <a:ext cx="3154680" cy="548640"/>
          </a:xfrm>
          <a:prstGeom prst="rect">
            <a:avLst/>
          </a:prstGeom>
          <a:noFill/>
          <a:ln/>
        </p:spPr>
        <p:txBody>
          <a:bodyPr wrap="square" lIns="0" tIns="0" rIns="0" bIns="0" rtlCol="0" anchor="t"/>
          <a:lstStyle/>
          <a:p>
            <a:pPr algn="ctr" indent="0" marL="0">
              <a:lnSpc>
                <a:spcPct val="115000"/>
              </a:lnSpc>
              <a:buNone/>
            </a:pPr>
            <a:r>
              <a:rPr lang="en-US" sz="1200" dirty="0">
                <a:solidFill>
                  <a:srgbClr val="5B6675"/>
                </a:solidFill>
                <a:latin typeface="Arial" pitchFamily="34" charset="0"/>
                <a:ea typeface="Arial" pitchFamily="34" charset="-122"/>
                <a:cs typeface="Arial" pitchFamily="34" charset="-120"/>
              </a:rPr>
              <a:t>Name, links, and skills stay visible on a laptop. Centered on a phone.</a:t>
            </a:r>
            <a:endParaRPr lang="en-US" sz="1200" dirty="0"/>
          </a:p>
        </p:txBody>
      </p:sp>
      <p:sp>
        <p:nvSpPr>
          <p:cNvPr id="14" name="Text 8"/>
          <p:cNvSpPr txBox="1"/>
          <p:nvPr/>
        </p:nvSpPr>
        <p:spPr>
          <a:xfrm>
            <a:off x="7863840" y="1828800"/>
            <a:ext cx="3703320" cy="2743200"/>
          </a:xfrm>
          <a:prstGeom prst="rect">
            <a:avLst/>
          </a:prstGeom>
          <a:noFill/>
          <a:ln/>
        </p:spPr>
        <p:txBody>
          <a:bodyPr wrap="square" lIns="0" tIns="0" rIns="0" bIns="0" rtlCol="0" anchor="t"/>
          <a:lstStyle/>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Pick one. Both are tested.</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Want to change more than the palette? Sketch on one of these first and paste the sketch into your prompt.</a:t>
            </a:r>
            <a:endParaRPr lang="en-US" sz="1600" dirty="0"/>
          </a:p>
        </p:txBody>
      </p:sp>
      <p:sp>
        <p:nvSpPr>
          <p:cNvPr id="15" name="Text 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5 · LOCK IT IN</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11:08 – 11:12</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One prompt locks your choice in.</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you reload with no ?theme= in the address, the look is the same, and the footer picker is gone.</a:t>
            </a:r>
            <a:endParaRPr lang="en-US" sz="1600" dirty="0"/>
          </a:p>
        </p:txBody>
      </p:sp>
      <p:sp>
        <p:nvSpPr>
          <p:cNvPr id="9" name="Shape 5"/>
          <p:cNvSpPr/>
          <p:nvPr/>
        </p:nvSpPr>
        <p:spPr>
          <a:xfrm>
            <a:off x="640080" y="2286000"/>
            <a:ext cx="10908792" cy="1463040"/>
          </a:xfrm>
          <a:prstGeom prst="rect">
            <a:avLst/>
          </a:prstGeom>
          <a:solidFill>
            <a:srgbClr val="121B2B"/>
          </a:solidFill>
          <a:ln w="12700">
            <a:solidFill>
              <a:srgbClr val="EF8B39"/>
            </a:solidFill>
            <a:prstDash val="solid"/>
          </a:ln>
        </p:spPr>
      </p:sp>
      <p:sp>
        <p:nvSpPr>
          <p:cNvPr id="10" name="Text 6"/>
          <p:cNvSpPr/>
          <p:nvPr/>
        </p:nvSpPr>
        <p:spPr>
          <a:xfrm>
            <a:off x="868680" y="241401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PORTABLE ROUTE · REPLACE THE THREE BRACKETS · VERBATIM</a:t>
            </a:r>
            <a:endParaRPr lang="en-US" sz="1100" dirty="0"/>
          </a:p>
        </p:txBody>
      </p:sp>
      <p:sp>
        <p:nvSpPr>
          <p:cNvPr id="11" name="Text 7"/>
          <p:cNvSpPr txBox="1"/>
          <p:nvPr/>
        </p:nvSpPr>
        <p:spPr>
          <a:xfrm>
            <a:off x="868680" y="2743200"/>
            <a:ext cx="10451592" cy="868680"/>
          </a:xfrm>
          <a:prstGeom prst="rect">
            <a:avLst/>
          </a:prstGeom>
          <a:noFill/>
          <a:ln/>
        </p:spPr>
        <p:txBody>
          <a:bodyPr wrap="square" lIns="0" tIns="0" rIns="0" bIns="0" rtlCol="0" anchor="t"/>
          <a:lstStyle/>
          <a:p>
            <a:pPr indent="0" marL="0">
              <a:lnSpc>
                <a:spcPct val="120000"/>
              </a:lnSpc>
              <a:buNone/>
            </a:pPr>
            <a:r>
              <a:rPr lang="en-US" sz="1600" dirty="0">
                <a:solidFill>
                  <a:srgbClr val="E6EBF2"/>
                </a:solidFill>
                <a:latin typeface="Courier New" pitchFamily="34" charset="0"/>
                <a:ea typeface="Courier New" pitchFamily="34" charset="-122"/>
                <a:cs typeface="Courier New" pitchFamily="34" charset="-120"/>
              </a:rPr>
              <a:t>Set the theme to [ocean] and the layout to [sidebar] permanently, remove the footer picker, and change the accent color to [#0B6E4F]. Change nothing else. Return the complete file.</a:t>
            </a:r>
            <a:endParaRPr lang="en-US" sz="1600" dirty="0"/>
          </a:p>
        </p:txBody>
      </p:sp>
      <p:sp>
        <p:nvSpPr>
          <p:cNvPr id="12" name="Text 8"/>
          <p:cNvSpPr txBox="1"/>
          <p:nvPr/>
        </p:nvSpPr>
        <p:spPr>
          <a:xfrm>
            <a:off x="640080" y="4023360"/>
            <a:ext cx="10908792" cy="457200"/>
          </a:xfrm>
          <a:prstGeom prst="rect">
            <a:avLst/>
          </a:prstGeom>
          <a:noFill/>
          <a:ln/>
        </p:spPr>
        <p:txBody>
          <a:bodyPr wrap="square" lIns="0" tIns="0" rIns="0" bIns="0" rtlCol="0" anchor="t"/>
          <a:lstStyle/>
          <a:p>
            <a:pPr algn="l" indent="0" marL="0">
              <a:lnSpc>
                <a:spcPct val="115000"/>
              </a:lnSpc>
              <a:buNone/>
            </a:pPr>
            <a:r>
              <a:rPr lang="en-US" sz="1600" dirty="0">
                <a:solidFill>
                  <a:srgbClr val="0D1219"/>
                </a:solidFill>
                <a:latin typeface="Arial" pitchFamily="34" charset="0"/>
                <a:ea typeface="Arial" pitchFamily="34" charset="-122"/>
                <a:cs typeface="Arial" pitchFamily="34" charset="-120"/>
              </a:rPr>
              <a:t>“Change nothing else” is the sentence that matters. It is the difference between one edit and a rewrite.</a:t>
            </a:r>
            <a:endParaRPr lang="en-US" sz="1600" dirty="0"/>
          </a:p>
        </p:txBody>
      </p:sp>
      <p:sp>
        <p:nvSpPr>
          <p:cNvPr id="13" name="Text 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5 · LOCK IT IN · V0 ROUTE</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11:08 – 11:12</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On v0: your three hex codes, one request.</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the preview shows your colors and nothing else moved.</a:t>
            </a:r>
            <a:endParaRPr lang="en-US" sz="1600" dirty="0"/>
          </a:p>
        </p:txBody>
      </p:sp>
      <p:sp>
        <p:nvSpPr>
          <p:cNvPr id="9" name="Shape 5"/>
          <p:cNvSpPr/>
          <p:nvPr/>
        </p:nvSpPr>
        <p:spPr>
          <a:xfrm>
            <a:off x="640080" y="2286000"/>
            <a:ext cx="10908792" cy="1188720"/>
          </a:xfrm>
          <a:prstGeom prst="rect">
            <a:avLst/>
          </a:prstGeom>
          <a:solidFill>
            <a:srgbClr val="121B2B"/>
          </a:solidFill>
          <a:ln w="12700">
            <a:solidFill>
              <a:srgbClr val="307FE2"/>
            </a:solidFill>
            <a:prstDash val="solid"/>
          </a:ln>
        </p:spPr>
      </p:sp>
      <p:sp>
        <p:nvSpPr>
          <p:cNvPr id="10" name="Text 6"/>
          <p:cNvSpPr/>
          <p:nvPr/>
        </p:nvSpPr>
        <p:spPr>
          <a:xfrm>
            <a:off x="868680" y="241401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v0 ROUTE · YOUR THREE HEX CODES · VERBATIM</a:t>
            </a:r>
            <a:endParaRPr lang="en-US" sz="1100" dirty="0"/>
          </a:p>
        </p:txBody>
      </p:sp>
      <p:sp>
        <p:nvSpPr>
          <p:cNvPr id="11" name="Text 7"/>
          <p:cNvSpPr txBox="1"/>
          <p:nvPr/>
        </p:nvSpPr>
        <p:spPr>
          <a:xfrm>
            <a:off x="868680" y="2743200"/>
            <a:ext cx="10451592" cy="594360"/>
          </a:xfrm>
          <a:prstGeom prst="rect">
            <a:avLst/>
          </a:prstGeom>
          <a:noFill/>
          <a:ln/>
        </p:spPr>
        <p:txBody>
          <a:bodyPr wrap="square" lIns="0" tIns="0" rIns="0" bIns="0" rtlCol="0" anchor="t"/>
          <a:lstStyle/>
          <a:p>
            <a:pPr indent="0" marL="0">
              <a:lnSpc>
                <a:spcPct val="120000"/>
              </a:lnSpc>
              <a:buNone/>
            </a:pPr>
            <a:r>
              <a:rPr lang="en-US" sz="1600" dirty="0">
                <a:solidFill>
                  <a:srgbClr val="E6EBF2"/>
                </a:solidFill>
                <a:latin typeface="Courier New" pitchFamily="34" charset="0"/>
                <a:ea typeface="Courier New" pitchFamily="34" charset="-122"/>
                <a:cs typeface="Courier New" pitchFamily="34" charset="-120"/>
              </a:rPr>
              <a:t>Change only the colors: background #F6F3EE, text #1C2330, accent #0B6E4F. Change nothing else.</a:t>
            </a:r>
            <a:endParaRPr lang="en-US" sz="1600" dirty="0"/>
          </a:p>
        </p:txBody>
      </p:sp>
      <p:sp>
        <p:nvSpPr>
          <p:cNvPr id="12" name="Text 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6 · CHECK</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11:12 – 11:20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Six checks before it goes public. First three.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Your eyes, not the chatbot’s word. Tick each one only when you saw it.</a:t>
            </a:r>
            <a:endParaRPr lang="en-US" sz="1600" dirty="0"/>
          </a:p>
        </p:txBody>
      </p:sp>
      <p:sp>
        <p:nvSpPr>
          <p:cNvPr id="9" name="Shape 5"/>
          <p:cNvSpPr/>
          <p:nvPr/>
        </p:nvSpPr>
        <p:spPr>
          <a:xfrm>
            <a:off x="640080" y="2267712"/>
            <a:ext cx="384048" cy="384048"/>
          </a:xfrm>
          <a:prstGeom prst="rect">
            <a:avLst/>
          </a:prstGeom>
          <a:solidFill>
            <a:srgbClr val="FFFFFF"/>
          </a:solidFill>
          <a:ln w="19050">
            <a:solidFill>
              <a:srgbClr val="0D1219"/>
            </a:solidFill>
            <a:prstDash val="solid"/>
          </a:ln>
        </p:spPr>
      </p:sp>
      <p:sp>
        <p:nvSpPr>
          <p:cNvPr id="10" name="Text 6"/>
          <p:cNvSpPr txBox="1"/>
          <p:nvPr/>
        </p:nvSpPr>
        <p:spPr>
          <a:xfrm>
            <a:off x="1234440" y="2267712"/>
            <a:ext cx="457200" cy="384048"/>
          </a:xfrm>
          <a:prstGeom prst="rect">
            <a:avLst/>
          </a:prstGeom>
          <a:noFill/>
          <a:ln/>
        </p:spPr>
        <p:txBody>
          <a:bodyPr wrap="square" lIns="0" tIns="0" rIns="0" bIns="0" rtlCol="0" anchor="ctr"/>
          <a:lstStyle/>
          <a:p>
            <a:pPr algn="l" indent="0" marL="0">
              <a:lnSpc>
                <a:spcPct val="115000"/>
              </a:lnSpc>
              <a:buNone/>
            </a:pPr>
            <a:r>
              <a:rPr lang="en-US" sz="1400" dirty="0">
                <a:solidFill>
                  <a:srgbClr val="EF8B39"/>
                </a:solidFill>
                <a:latin typeface="Courier New" pitchFamily="34" charset="0"/>
                <a:ea typeface="Courier New" pitchFamily="34" charset="-122"/>
                <a:cs typeface="Courier New" pitchFamily="34" charset="-120"/>
              </a:rPr>
              <a:t>1</a:t>
            </a:r>
            <a:endParaRPr lang="en-US" sz="1400" dirty="0"/>
          </a:p>
        </p:txBody>
      </p:sp>
      <p:sp>
        <p:nvSpPr>
          <p:cNvPr id="11" name="Text 7"/>
          <p:cNvSpPr txBox="1"/>
          <p:nvPr/>
        </p:nvSpPr>
        <p:spPr>
          <a:xfrm>
            <a:off x="1737360" y="2194560"/>
            <a:ext cx="9811512" cy="548640"/>
          </a:xfrm>
          <a:prstGeom prst="rect">
            <a:avLst/>
          </a:prstGeom>
          <a:noFill/>
          <a:ln/>
        </p:spPr>
        <p:txBody>
          <a:bodyPr wrap="square" lIns="0" tIns="0" rIns="0" bIns="0" rtlCol="0" anchor="ctr"/>
          <a:lstStyle/>
          <a:p>
            <a:pPr algn="l" indent="0" marL="0">
              <a:lnSpc>
                <a:spcPct val="115000"/>
              </a:lnSpc>
              <a:buNone/>
            </a:pPr>
            <a:r>
              <a:rPr lang="en-US" sz="2000" dirty="0">
                <a:solidFill>
                  <a:srgbClr val="0D1219"/>
                </a:solidFill>
                <a:latin typeface="Arial" pitchFamily="34" charset="0"/>
                <a:ea typeface="Arial" pitchFamily="34" charset="-122"/>
                <a:cs typeface="Arial" pitchFamily="34" charset="-120"/>
              </a:rPr>
              <a:t>Every link opens the right place, including the mailto link.</a:t>
            </a:r>
            <a:endParaRPr lang="en-US" sz="2000" dirty="0"/>
          </a:p>
        </p:txBody>
      </p:sp>
      <p:sp>
        <p:nvSpPr>
          <p:cNvPr id="12" name="Shape 8"/>
          <p:cNvSpPr/>
          <p:nvPr/>
        </p:nvSpPr>
        <p:spPr>
          <a:xfrm>
            <a:off x="640080" y="3227832"/>
            <a:ext cx="384048" cy="384048"/>
          </a:xfrm>
          <a:prstGeom prst="rect">
            <a:avLst/>
          </a:prstGeom>
          <a:solidFill>
            <a:srgbClr val="FFFFFF"/>
          </a:solidFill>
          <a:ln w="19050">
            <a:solidFill>
              <a:srgbClr val="0D1219"/>
            </a:solidFill>
            <a:prstDash val="solid"/>
          </a:ln>
        </p:spPr>
      </p:sp>
      <p:sp>
        <p:nvSpPr>
          <p:cNvPr id="13" name="Text 9"/>
          <p:cNvSpPr txBox="1"/>
          <p:nvPr/>
        </p:nvSpPr>
        <p:spPr>
          <a:xfrm>
            <a:off x="1234440" y="3227832"/>
            <a:ext cx="457200" cy="384048"/>
          </a:xfrm>
          <a:prstGeom prst="rect">
            <a:avLst/>
          </a:prstGeom>
          <a:noFill/>
          <a:ln/>
        </p:spPr>
        <p:txBody>
          <a:bodyPr wrap="square" lIns="0" tIns="0" rIns="0" bIns="0" rtlCol="0" anchor="ctr"/>
          <a:lstStyle/>
          <a:p>
            <a:pPr algn="l" indent="0" marL="0">
              <a:lnSpc>
                <a:spcPct val="115000"/>
              </a:lnSpc>
              <a:buNone/>
            </a:pPr>
            <a:r>
              <a:rPr lang="en-US" sz="1400" dirty="0">
                <a:solidFill>
                  <a:srgbClr val="EF8B39"/>
                </a:solidFill>
                <a:latin typeface="Courier New" pitchFamily="34" charset="0"/>
                <a:ea typeface="Courier New" pitchFamily="34" charset="-122"/>
                <a:cs typeface="Courier New" pitchFamily="34" charset="-120"/>
              </a:rPr>
              <a:t>2</a:t>
            </a:r>
            <a:endParaRPr lang="en-US" sz="1400" dirty="0"/>
          </a:p>
        </p:txBody>
      </p:sp>
      <p:sp>
        <p:nvSpPr>
          <p:cNvPr id="14" name="Text 10"/>
          <p:cNvSpPr txBox="1"/>
          <p:nvPr/>
        </p:nvSpPr>
        <p:spPr>
          <a:xfrm>
            <a:off x="1737360" y="3154680"/>
            <a:ext cx="9811512" cy="548640"/>
          </a:xfrm>
          <a:prstGeom prst="rect">
            <a:avLst/>
          </a:prstGeom>
          <a:noFill/>
          <a:ln/>
        </p:spPr>
        <p:txBody>
          <a:bodyPr wrap="square" lIns="0" tIns="0" rIns="0" bIns="0" rtlCol="0" anchor="ctr"/>
          <a:lstStyle/>
          <a:p>
            <a:pPr algn="l" indent="0" marL="0">
              <a:lnSpc>
                <a:spcPct val="115000"/>
              </a:lnSpc>
              <a:buNone/>
            </a:pPr>
            <a:r>
              <a:rPr lang="en-US" sz="2000" dirty="0">
                <a:solidFill>
                  <a:srgbClr val="0D1219"/>
                </a:solidFill>
                <a:latin typeface="Arial" pitchFamily="34" charset="0"/>
                <a:ea typeface="Arial" pitchFamily="34" charset="-122"/>
                <a:cs typeface="Arial" pitchFamily="34" charset="-120"/>
              </a:rPr>
              <a:t>The page fits a phone with no sideways scrolling.</a:t>
            </a:r>
            <a:endParaRPr lang="en-US" sz="2000" dirty="0"/>
          </a:p>
        </p:txBody>
      </p:sp>
      <p:sp>
        <p:nvSpPr>
          <p:cNvPr id="15" name="Shape 11"/>
          <p:cNvSpPr/>
          <p:nvPr/>
        </p:nvSpPr>
        <p:spPr>
          <a:xfrm>
            <a:off x="640080" y="4187952"/>
            <a:ext cx="384048" cy="384048"/>
          </a:xfrm>
          <a:prstGeom prst="rect">
            <a:avLst/>
          </a:prstGeom>
          <a:solidFill>
            <a:srgbClr val="FFFFFF"/>
          </a:solidFill>
          <a:ln w="19050">
            <a:solidFill>
              <a:srgbClr val="0D1219"/>
            </a:solidFill>
            <a:prstDash val="solid"/>
          </a:ln>
        </p:spPr>
      </p:sp>
      <p:sp>
        <p:nvSpPr>
          <p:cNvPr id="16" name="Text 12"/>
          <p:cNvSpPr txBox="1"/>
          <p:nvPr/>
        </p:nvSpPr>
        <p:spPr>
          <a:xfrm>
            <a:off x="1234440" y="4187952"/>
            <a:ext cx="457200" cy="384048"/>
          </a:xfrm>
          <a:prstGeom prst="rect">
            <a:avLst/>
          </a:prstGeom>
          <a:noFill/>
          <a:ln/>
        </p:spPr>
        <p:txBody>
          <a:bodyPr wrap="square" lIns="0" tIns="0" rIns="0" bIns="0" rtlCol="0" anchor="ctr"/>
          <a:lstStyle/>
          <a:p>
            <a:pPr algn="l" indent="0" marL="0">
              <a:lnSpc>
                <a:spcPct val="115000"/>
              </a:lnSpc>
              <a:buNone/>
            </a:pPr>
            <a:r>
              <a:rPr lang="en-US" sz="1400" dirty="0">
                <a:solidFill>
                  <a:srgbClr val="EF8B39"/>
                </a:solidFill>
                <a:latin typeface="Courier New" pitchFamily="34" charset="0"/>
                <a:ea typeface="Courier New" pitchFamily="34" charset="-122"/>
                <a:cs typeface="Courier New" pitchFamily="34" charset="-120"/>
              </a:rPr>
              <a:t>3</a:t>
            </a:r>
            <a:endParaRPr lang="en-US" sz="1400" dirty="0"/>
          </a:p>
        </p:txBody>
      </p:sp>
      <p:sp>
        <p:nvSpPr>
          <p:cNvPr id="17" name="Text 13"/>
          <p:cNvSpPr txBox="1"/>
          <p:nvPr/>
        </p:nvSpPr>
        <p:spPr>
          <a:xfrm>
            <a:off x="1737360" y="4114800"/>
            <a:ext cx="9811512" cy="548640"/>
          </a:xfrm>
          <a:prstGeom prst="rect">
            <a:avLst/>
          </a:prstGeom>
          <a:noFill/>
          <a:ln/>
        </p:spPr>
        <p:txBody>
          <a:bodyPr wrap="square" lIns="0" tIns="0" rIns="0" bIns="0" rtlCol="0" anchor="ctr"/>
          <a:lstStyle/>
          <a:p>
            <a:pPr algn="l" indent="0" marL="0">
              <a:lnSpc>
                <a:spcPct val="115000"/>
              </a:lnSpc>
              <a:buNone/>
            </a:pPr>
            <a:r>
              <a:rPr lang="en-US" sz="2000" dirty="0">
                <a:solidFill>
                  <a:srgbClr val="0D1219"/>
                </a:solidFill>
                <a:latin typeface="Arial" pitchFamily="34" charset="0"/>
                <a:ea typeface="Arial" pitchFamily="34" charset="-122"/>
                <a:cs typeface="Arial" pitchFamily="34" charset="-120"/>
              </a:rPr>
              <a:t>Print preview shows a tidy resume with no buttons.</a:t>
            </a:r>
            <a:endParaRPr lang="en-US" sz="2000" dirty="0"/>
          </a:p>
        </p:txBody>
      </p:sp>
      <p:sp>
        <p:nvSpPr>
          <p:cNvPr id="18" name="Shape 14"/>
          <p:cNvSpPr/>
          <p:nvPr/>
        </p:nvSpPr>
        <p:spPr>
          <a:xfrm>
            <a:off x="640080" y="5971032"/>
            <a:ext cx="201168" cy="201168"/>
          </a:xfrm>
          <a:prstGeom prst="rect">
            <a:avLst/>
          </a:prstGeom>
          <a:solidFill>
            <a:srgbClr val="22C55E"/>
          </a:solidFill>
          <a:ln w="12700">
            <a:solidFill>
              <a:srgbClr val="22C55E"/>
            </a:solidFill>
            <a:prstDash val="solid"/>
          </a:ln>
        </p:spPr>
      </p:sp>
      <p:sp>
        <p:nvSpPr>
          <p:cNvPr id="19" name="Text 15"/>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20" name="Shape 16"/>
          <p:cNvSpPr/>
          <p:nvPr/>
        </p:nvSpPr>
        <p:spPr>
          <a:xfrm>
            <a:off x="4206240" y="5971032"/>
            <a:ext cx="201168" cy="201168"/>
          </a:xfrm>
          <a:prstGeom prst="rect">
            <a:avLst/>
          </a:prstGeom>
          <a:solidFill>
            <a:srgbClr val="EF4444"/>
          </a:solidFill>
          <a:ln w="12700">
            <a:solidFill>
              <a:srgbClr val="EF4444"/>
            </a:solidFill>
            <a:prstDash val="solid"/>
          </a:ln>
        </p:spPr>
      </p:sp>
      <p:sp>
        <p:nvSpPr>
          <p:cNvPr id="21" name="Text 17"/>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22" name="Text 1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6 · CHECK</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11:12 – 11:20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Six checks before it goes public. Last three.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One fails? Say exactly what you saw, ask for the smallest fix, re-check that one thing.</a:t>
            </a:r>
            <a:endParaRPr lang="en-US" sz="1600" dirty="0"/>
          </a:p>
        </p:txBody>
      </p:sp>
      <p:sp>
        <p:nvSpPr>
          <p:cNvPr id="9" name="Shape 5"/>
          <p:cNvSpPr/>
          <p:nvPr/>
        </p:nvSpPr>
        <p:spPr>
          <a:xfrm>
            <a:off x="640080" y="2267712"/>
            <a:ext cx="384048" cy="384048"/>
          </a:xfrm>
          <a:prstGeom prst="rect">
            <a:avLst/>
          </a:prstGeom>
          <a:solidFill>
            <a:srgbClr val="FFFFFF"/>
          </a:solidFill>
          <a:ln w="19050">
            <a:solidFill>
              <a:srgbClr val="0D1219"/>
            </a:solidFill>
            <a:prstDash val="solid"/>
          </a:ln>
        </p:spPr>
      </p:sp>
      <p:sp>
        <p:nvSpPr>
          <p:cNvPr id="10" name="Text 6"/>
          <p:cNvSpPr txBox="1"/>
          <p:nvPr/>
        </p:nvSpPr>
        <p:spPr>
          <a:xfrm>
            <a:off x="1234440" y="2267712"/>
            <a:ext cx="457200" cy="384048"/>
          </a:xfrm>
          <a:prstGeom prst="rect">
            <a:avLst/>
          </a:prstGeom>
          <a:noFill/>
          <a:ln/>
        </p:spPr>
        <p:txBody>
          <a:bodyPr wrap="square" lIns="0" tIns="0" rIns="0" bIns="0" rtlCol="0" anchor="ctr"/>
          <a:lstStyle/>
          <a:p>
            <a:pPr algn="l" indent="0" marL="0">
              <a:lnSpc>
                <a:spcPct val="115000"/>
              </a:lnSpc>
              <a:buNone/>
            </a:pPr>
            <a:r>
              <a:rPr lang="en-US" sz="1400" dirty="0">
                <a:solidFill>
                  <a:srgbClr val="EF8B39"/>
                </a:solidFill>
                <a:latin typeface="Courier New" pitchFamily="34" charset="0"/>
                <a:ea typeface="Courier New" pitchFamily="34" charset="-122"/>
                <a:cs typeface="Courier New" pitchFamily="34" charset="-120"/>
              </a:rPr>
              <a:t>4</a:t>
            </a:r>
            <a:endParaRPr lang="en-US" sz="1400" dirty="0"/>
          </a:p>
        </p:txBody>
      </p:sp>
      <p:sp>
        <p:nvSpPr>
          <p:cNvPr id="11" name="Text 7"/>
          <p:cNvSpPr txBox="1"/>
          <p:nvPr/>
        </p:nvSpPr>
        <p:spPr>
          <a:xfrm>
            <a:off x="1737360" y="2194560"/>
            <a:ext cx="9811512" cy="548640"/>
          </a:xfrm>
          <a:prstGeom prst="rect">
            <a:avLst/>
          </a:prstGeom>
          <a:noFill/>
          <a:ln/>
        </p:spPr>
        <p:txBody>
          <a:bodyPr wrap="square" lIns="0" tIns="0" rIns="0" bIns="0" rtlCol="0" anchor="ctr"/>
          <a:lstStyle/>
          <a:p>
            <a:pPr algn="l" indent="0" marL="0">
              <a:lnSpc>
                <a:spcPct val="115000"/>
              </a:lnSpc>
              <a:buNone/>
            </a:pPr>
            <a:r>
              <a:rPr lang="en-US" sz="2000" dirty="0">
                <a:solidFill>
                  <a:srgbClr val="0D1219"/>
                </a:solidFill>
                <a:latin typeface="Arial" pitchFamily="34" charset="0"/>
                <a:ea typeface="Arial" pitchFamily="34" charset="-122"/>
                <a:cs typeface="Arial" pitchFamily="34" charset="-120"/>
              </a:rPr>
              <a:t>Search the file for “Jordan”, “Bright Harbor”, and “example”. Find nothing.</a:t>
            </a:r>
            <a:endParaRPr lang="en-US" sz="2000" dirty="0"/>
          </a:p>
        </p:txBody>
      </p:sp>
      <p:sp>
        <p:nvSpPr>
          <p:cNvPr id="12" name="Shape 8"/>
          <p:cNvSpPr/>
          <p:nvPr/>
        </p:nvSpPr>
        <p:spPr>
          <a:xfrm>
            <a:off x="640080" y="3227832"/>
            <a:ext cx="384048" cy="384048"/>
          </a:xfrm>
          <a:prstGeom prst="rect">
            <a:avLst/>
          </a:prstGeom>
          <a:solidFill>
            <a:srgbClr val="FFFFFF"/>
          </a:solidFill>
          <a:ln w="19050">
            <a:solidFill>
              <a:srgbClr val="0D1219"/>
            </a:solidFill>
            <a:prstDash val="solid"/>
          </a:ln>
        </p:spPr>
      </p:sp>
      <p:sp>
        <p:nvSpPr>
          <p:cNvPr id="13" name="Text 9"/>
          <p:cNvSpPr txBox="1"/>
          <p:nvPr/>
        </p:nvSpPr>
        <p:spPr>
          <a:xfrm>
            <a:off x="1234440" y="3227832"/>
            <a:ext cx="457200" cy="384048"/>
          </a:xfrm>
          <a:prstGeom prst="rect">
            <a:avLst/>
          </a:prstGeom>
          <a:noFill/>
          <a:ln/>
        </p:spPr>
        <p:txBody>
          <a:bodyPr wrap="square" lIns="0" tIns="0" rIns="0" bIns="0" rtlCol="0" anchor="ctr"/>
          <a:lstStyle/>
          <a:p>
            <a:pPr algn="l" indent="0" marL="0">
              <a:lnSpc>
                <a:spcPct val="115000"/>
              </a:lnSpc>
              <a:buNone/>
            </a:pPr>
            <a:r>
              <a:rPr lang="en-US" sz="1400" dirty="0">
                <a:solidFill>
                  <a:srgbClr val="EF8B39"/>
                </a:solidFill>
                <a:latin typeface="Courier New" pitchFamily="34" charset="0"/>
                <a:ea typeface="Courier New" pitchFamily="34" charset="-122"/>
                <a:cs typeface="Courier New" pitchFamily="34" charset="-120"/>
              </a:rPr>
              <a:t>5</a:t>
            </a:r>
            <a:endParaRPr lang="en-US" sz="1400" dirty="0"/>
          </a:p>
        </p:txBody>
      </p:sp>
      <p:sp>
        <p:nvSpPr>
          <p:cNvPr id="14" name="Text 10"/>
          <p:cNvSpPr txBox="1"/>
          <p:nvPr/>
        </p:nvSpPr>
        <p:spPr>
          <a:xfrm>
            <a:off x="1737360" y="3154680"/>
            <a:ext cx="9811512" cy="548640"/>
          </a:xfrm>
          <a:prstGeom prst="rect">
            <a:avLst/>
          </a:prstGeom>
          <a:noFill/>
          <a:ln/>
        </p:spPr>
        <p:txBody>
          <a:bodyPr wrap="square" lIns="0" tIns="0" rIns="0" bIns="0" rtlCol="0" anchor="ctr"/>
          <a:lstStyle/>
          <a:p>
            <a:pPr algn="l" indent="0" marL="0">
              <a:lnSpc>
                <a:spcPct val="115000"/>
              </a:lnSpc>
              <a:buNone/>
            </a:pPr>
            <a:r>
              <a:rPr lang="en-US" sz="2000" dirty="0">
                <a:solidFill>
                  <a:srgbClr val="0D1219"/>
                </a:solidFill>
                <a:latin typeface="Arial" pitchFamily="34" charset="0"/>
                <a:ea typeface="Arial" pitchFamily="34" charset="-122"/>
                <a:cs typeface="Arial" pitchFamily="34" charset="-120"/>
              </a:rPr>
              <a:t>Nothing private is in the file, including in comments.</a:t>
            </a:r>
            <a:endParaRPr lang="en-US" sz="2000" dirty="0"/>
          </a:p>
        </p:txBody>
      </p:sp>
      <p:sp>
        <p:nvSpPr>
          <p:cNvPr id="15" name="Shape 11"/>
          <p:cNvSpPr/>
          <p:nvPr/>
        </p:nvSpPr>
        <p:spPr>
          <a:xfrm>
            <a:off x="640080" y="4187952"/>
            <a:ext cx="384048" cy="384048"/>
          </a:xfrm>
          <a:prstGeom prst="rect">
            <a:avLst/>
          </a:prstGeom>
          <a:solidFill>
            <a:srgbClr val="FFFFFF"/>
          </a:solidFill>
          <a:ln w="19050">
            <a:solidFill>
              <a:srgbClr val="EF8B39"/>
            </a:solidFill>
            <a:prstDash val="solid"/>
          </a:ln>
        </p:spPr>
      </p:sp>
      <p:sp>
        <p:nvSpPr>
          <p:cNvPr id="16" name="Text 12"/>
          <p:cNvSpPr txBox="1"/>
          <p:nvPr/>
        </p:nvSpPr>
        <p:spPr>
          <a:xfrm>
            <a:off x="1234440" y="4187952"/>
            <a:ext cx="457200" cy="384048"/>
          </a:xfrm>
          <a:prstGeom prst="rect">
            <a:avLst/>
          </a:prstGeom>
          <a:noFill/>
          <a:ln/>
        </p:spPr>
        <p:txBody>
          <a:bodyPr wrap="square" lIns="0" tIns="0" rIns="0" bIns="0" rtlCol="0" anchor="ctr"/>
          <a:lstStyle/>
          <a:p>
            <a:pPr algn="l" indent="0" marL="0">
              <a:lnSpc>
                <a:spcPct val="115000"/>
              </a:lnSpc>
              <a:buNone/>
            </a:pPr>
            <a:r>
              <a:rPr lang="en-US" sz="1400" dirty="0">
                <a:solidFill>
                  <a:srgbClr val="EF8B39"/>
                </a:solidFill>
                <a:latin typeface="Courier New" pitchFamily="34" charset="0"/>
                <a:ea typeface="Courier New" pitchFamily="34" charset="-122"/>
                <a:cs typeface="Courier New" pitchFamily="34" charset="-120"/>
              </a:rPr>
              <a:t>6</a:t>
            </a:r>
            <a:endParaRPr lang="en-US" sz="1400" dirty="0"/>
          </a:p>
        </p:txBody>
      </p:sp>
      <p:sp>
        <p:nvSpPr>
          <p:cNvPr id="17" name="Text 13"/>
          <p:cNvSpPr txBox="1"/>
          <p:nvPr/>
        </p:nvSpPr>
        <p:spPr>
          <a:xfrm>
            <a:off x="1737360" y="4114800"/>
            <a:ext cx="9811512" cy="548640"/>
          </a:xfrm>
          <a:prstGeom prst="rect">
            <a:avLst/>
          </a:prstGeom>
          <a:noFill/>
          <a:ln/>
        </p:spPr>
        <p:txBody>
          <a:bodyPr wrap="square" lIns="0" tIns="0" rIns="0" bIns="0" rtlCol="0" anchor="ctr"/>
          <a:lstStyle/>
          <a:p>
            <a:pPr algn="l" indent="0" marL="0">
              <a:lnSpc>
                <a:spcPct val="115000"/>
              </a:lnSpc>
              <a:buNone/>
            </a:pPr>
            <a:r>
              <a:rPr lang="en-US" sz="2000" b="1" dirty="0">
                <a:solidFill>
                  <a:srgbClr val="0D1219"/>
                </a:solidFill>
                <a:latin typeface="Arial" pitchFamily="34" charset="0"/>
                <a:ea typeface="Arial" pitchFamily="34" charset="-122"/>
                <a:cs typeface="Arial" pitchFamily="34" charset="-120"/>
              </a:rPr>
              <a:t>It opens on a classmate’s phone, not just yours.</a:t>
            </a:r>
            <a:endParaRPr lang="en-US" sz="2000" dirty="0"/>
          </a:p>
        </p:txBody>
      </p:sp>
      <p:sp>
        <p:nvSpPr>
          <p:cNvPr id="18" name="Shape 14"/>
          <p:cNvSpPr/>
          <p:nvPr/>
        </p:nvSpPr>
        <p:spPr>
          <a:xfrm>
            <a:off x="640080" y="5971032"/>
            <a:ext cx="201168" cy="201168"/>
          </a:xfrm>
          <a:prstGeom prst="rect">
            <a:avLst/>
          </a:prstGeom>
          <a:solidFill>
            <a:srgbClr val="22C55E"/>
          </a:solidFill>
          <a:ln w="12700">
            <a:solidFill>
              <a:srgbClr val="22C55E"/>
            </a:solidFill>
            <a:prstDash val="solid"/>
          </a:ln>
        </p:spPr>
      </p:sp>
      <p:sp>
        <p:nvSpPr>
          <p:cNvPr id="19" name="Text 15"/>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20" name="Shape 16"/>
          <p:cNvSpPr/>
          <p:nvPr/>
        </p:nvSpPr>
        <p:spPr>
          <a:xfrm>
            <a:off x="4206240" y="5971032"/>
            <a:ext cx="201168" cy="201168"/>
          </a:xfrm>
          <a:prstGeom prst="rect">
            <a:avLst/>
          </a:prstGeom>
          <a:solidFill>
            <a:srgbClr val="EF4444"/>
          </a:solidFill>
          <a:ln w="12700">
            <a:solidFill>
              <a:srgbClr val="EF4444"/>
            </a:solidFill>
            <a:prstDash val="solid"/>
          </a:ln>
        </p:spPr>
      </p:sp>
      <p:sp>
        <p:nvSpPr>
          <p:cNvPr id="21" name="Text 17"/>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22" name="Text 1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6 · SAVE</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11:20 – 11:30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Save it: upload index.html to GitHub.</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v0 route: click Deploy, then connect the project to GitHub. Every version is pushed to my-first-site. Skip the steps below.</a:t>
            </a:r>
            <a:endParaRPr lang="en-US" sz="1600" dirty="0"/>
          </a:p>
        </p:txBody>
      </p:sp>
      <p:sp>
        <p:nvSpPr>
          <p:cNvPr id="9" name="Text 5"/>
          <p:cNvSpPr txBox="1"/>
          <p:nvPr/>
        </p:nvSpPr>
        <p:spPr>
          <a:xfrm>
            <a:off x="640080" y="2286000"/>
            <a:ext cx="10908792" cy="2743200"/>
          </a:xfrm>
          <a:prstGeom prst="rect">
            <a:avLst/>
          </a:prstGeom>
          <a:noFill/>
          <a:ln/>
        </p:spPr>
        <p:txBody>
          <a:bodyPr wrap="square" lIns="0" tIns="0" rIns="0" bIns="0" rtlCol="0" anchor="t"/>
          <a:lstStyle/>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1   Open my-first-site. “Add file” → “Upload files.”</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2   Choose index.html itself. Not a ZIP. Not a folder.</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3   Commit message: “First version of my site.” Commit to main.</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4   Refresh. index.html is at the top level, lowercase.</a:t>
            </a:r>
            <a:endParaRPr lang="en-US" sz="1800" dirty="0"/>
          </a:p>
        </p:txBody>
      </p:sp>
      <p:sp>
        <p:nvSpPr>
          <p:cNvPr id="10" name="Shape 6"/>
          <p:cNvSpPr/>
          <p:nvPr/>
        </p:nvSpPr>
        <p:spPr>
          <a:xfrm>
            <a:off x="640080" y="5971032"/>
            <a:ext cx="201168" cy="201168"/>
          </a:xfrm>
          <a:prstGeom prst="rect">
            <a:avLst/>
          </a:prstGeom>
          <a:solidFill>
            <a:srgbClr val="22C55E"/>
          </a:solidFill>
          <a:ln w="12700">
            <a:solidFill>
              <a:srgbClr val="22C55E"/>
            </a:solidFill>
            <a:prstDash val="solid"/>
          </a:ln>
        </p:spPr>
      </p:sp>
      <p:sp>
        <p:nvSpPr>
          <p:cNvPr id="11" name="Text 7"/>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2" name="Shape 8"/>
          <p:cNvSpPr/>
          <p:nvPr/>
        </p:nvSpPr>
        <p:spPr>
          <a:xfrm>
            <a:off x="4206240" y="5971032"/>
            <a:ext cx="201168" cy="201168"/>
          </a:xfrm>
          <a:prstGeom prst="rect">
            <a:avLst/>
          </a:prstGeom>
          <a:solidFill>
            <a:srgbClr val="EF4444"/>
          </a:solidFill>
          <a:ln w="12700">
            <a:solidFill>
              <a:srgbClr val="EF4444"/>
            </a:solidFill>
            <a:prstDash val="solid"/>
          </a:ln>
        </p:spPr>
      </p:sp>
      <p:sp>
        <p:nvSpPr>
          <p:cNvPr id="13" name="Text 9"/>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4"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49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1 · PERSONAL WEBSITE · STEP 6 · PUBLISH</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11:20 – 11:30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Publish it: import my-first-site in Vercel.</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EF8B39"/>
                </a:solidFill>
                <a:latin typeface="Arial" pitchFamily="34" charset="0"/>
                <a:ea typeface="Arial" pitchFamily="34" charset="-122"/>
                <a:cs typeface="Arial" pitchFamily="34" charset="-120"/>
              </a:rPr>
              <a:t>Deliverable one: a live *.vercel.app address that opens on someone else’s phone.</a:t>
            </a:r>
            <a:endParaRPr lang="en-US" sz="1600" dirty="0"/>
          </a:p>
        </p:txBody>
      </p:sp>
      <p:sp>
        <p:nvSpPr>
          <p:cNvPr id="9" name="Text 5"/>
          <p:cNvSpPr txBox="1"/>
          <p:nvPr/>
        </p:nvSpPr>
        <p:spPr>
          <a:xfrm>
            <a:off x="640080" y="2286000"/>
            <a:ext cx="10908792" cy="2743200"/>
          </a:xfrm>
          <a:prstGeom prst="rect">
            <a:avLst/>
          </a:prstGeom>
          <a:noFill/>
          <a:ln/>
        </p:spPr>
        <p:txBody>
          <a:bodyPr wrap="square" lIns="0" tIns="0" rIns="0" bIns="0" rtlCol="0" anchor="t"/>
          <a:lstStyle/>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1   “Add New” → “Project” → Import my-first-site.</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2   Framework preset: Other. Build Command: override on, leave empty. Output: repository root.</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3   Deploy. Wait for the green check. Click Visit.</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4   Open the URL on a classmate’s phone. Record it in project-state.md.</a:t>
            </a:r>
            <a:endParaRPr lang="en-US" sz="1800" dirty="0"/>
          </a:p>
        </p:txBody>
      </p:sp>
      <p:sp>
        <p:nvSpPr>
          <p:cNvPr id="10" name="Shape 6"/>
          <p:cNvSpPr/>
          <p:nvPr/>
        </p:nvSpPr>
        <p:spPr>
          <a:xfrm>
            <a:off x="640080" y="5971032"/>
            <a:ext cx="201168" cy="201168"/>
          </a:xfrm>
          <a:prstGeom prst="rect">
            <a:avLst/>
          </a:prstGeom>
          <a:solidFill>
            <a:srgbClr val="22C55E"/>
          </a:solidFill>
          <a:ln w="12700">
            <a:solidFill>
              <a:srgbClr val="22C55E"/>
            </a:solidFill>
            <a:prstDash val="solid"/>
          </a:ln>
        </p:spPr>
      </p:sp>
      <p:sp>
        <p:nvSpPr>
          <p:cNvPr id="11" name="Text 7"/>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2" name="Shape 8"/>
          <p:cNvSpPr/>
          <p:nvPr/>
        </p:nvSpPr>
        <p:spPr>
          <a:xfrm>
            <a:off x="4206240" y="5971032"/>
            <a:ext cx="201168" cy="201168"/>
          </a:xfrm>
          <a:prstGeom prst="rect">
            <a:avLst/>
          </a:prstGeom>
          <a:solidFill>
            <a:srgbClr val="EF4444"/>
          </a:solidFill>
          <a:ln w="12700">
            <a:solidFill>
              <a:srgbClr val="EF4444"/>
            </a:solidFill>
            <a:prstDash val="solid"/>
          </a:ln>
        </p:spPr>
      </p:sp>
      <p:sp>
        <p:nvSpPr>
          <p:cNvPr id="13" name="Text 9"/>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4"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READING WHAT THE AGENT WROTE · 1 OF 3 · 15 MIN TOTAL</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11:30 – 11:35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A diff shows what the agent changed.</a:t>
            </a:r>
            <a:endParaRPr lang="en-US" sz="3200" dirty="0"/>
          </a:p>
        </p:txBody>
      </p:sp>
      <p:sp>
        <p:nvSpPr>
          <p:cNvPr id="8" name="Shape 4"/>
          <p:cNvSpPr/>
          <p:nvPr/>
        </p:nvSpPr>
        <p:spPr>
          <a:xfrm>
            <a:off x="640080" y="1783080"/>
            <a:ext cx="5760720" cy="3200400"/>
          </a:xfrm>
          <a:prstGeom prst="rect">
            <a:avLst/>
          </a:prstGeom>
          <a:solidFill>
            <a:srgbClr val="121B2B"/>
          </a:solidFill>
          <a:ln w="9525">
            <a:solidFill>
              <a:srgbClr val="121B2B"/>
            </a:solidFill>
            <a:prstDash val="solid"/>
          </a:ln>
        </p:spPr>
      </p:sp>
      <p:sp>
        <p:nvSpPr>
          <p:cNvPr id="9" name="Text 5"/>
          <p:cNvSpPr txBox="1"/>
          <p:nvPr/>
        </p:nvSpPr>
        <p:spPr>
          <a:xfrm>
            <a:off x="914400" y="2011680"/>
            <a:ext cx="5303520" cy="2743200"/>
          </a:xfrm>
          <a:prstGeom prst="rect">
            <a:avLst/>
          </a:prstGeom>
          <a:noFill/>
          <a:ln/>
        </p:spPr>
        <p:txBody>
          <a:bodyPr wrap="square" lIns="0" tIns="0" rIns="0" bIns="0" rtlCol="0" anchor="t"/>
          <a:lstStyle/>
          <a:p>
            <a:pPr indent="0" marL="0">
              <a:lnSpc>
                <a:spcPct val="140000"/>
              </a:lnSpc>
              <a:buNone/>
            </a:pPr>
            <a:r>
              <a:rPr lang="en-US" sz="1300" dirty="0">
                <a:solidFill>
                  <a:srgbClr val="E6EBF2"/>
                </a:solidFill>
                <a:latin typeface="Courier New" pitchFamily="34" charset="0"/>
                <a:ea typeface="Courier New" pitchFamily="34" charset="-122"/>
                <a:cs typeface="Courier New" pitchFamily="34" charset="-120"/>
              </a:rPr>
              <a:t>  &lt;h1&gt;Jordan Rivera&lt;/h1&gt;
</a:t>
            </a:r>
            <a:pPr indent="0" marL="0">
              <a:lnSpc>
                <a:spcPct val="140000"/>
              </a:lnSpc>
              <a:buNone/>
            </a:pPr>
            <a:r>
              <a:rPr lang="en-US" sz="1300" dirty="0">
                <a:solidFill>
                  <a:srgbClr val="FCA5A5"/>
                </a:solidFill>
                <a:latin typeface="Courier New" pitchFamily="34" charset="0"/>
                <a:ea typeface="Courier New" pitchFamily="34" charset="-122"/>
                <a:cs typeface="Courier New" pitchFamily="34" charset="-120"/>
              </a:rPr>
              <a:t>- &lt;p&gt;Operations Manager who turns messy…&lt;/p&gt;
</a:t>
            </a:r>
            <a:pPr indent="0" marL="0">
              <a:lnSpc>
                <a:spcPct val="140000"/>
              </a:lnSpc>
              <a:buNone/>
            </a:pPr>
            <a:r>
              <a:rPr lang="en-US" sz="1300" dirty="0">
                <a:solidFill>
                  <a:srgbClr val="86EFAC"/>
                </a:solidFill>
                <a:latin typeface="Courier New" pitchFamily="34" charset="0"/>
                <a:ea typeface="Courier New" pitchFamily="34" charset="-122"/>
                <a:cs typeface="Courier New" pitchFamily="34" charset="-120"/>
              </a:rPr>
              <a:t>+ &lt;p&gt;Project lead for community programs…&lt;/p&gt;
</a:t>
            </a:r>
            <a:pPr indent="0" marL="0">
              <a:lnSpc>
                <a:spcPct val="140000"/>
              </a:lnSpc>
              <a:buNone/>
            </a:pPr>
            <a:r>
              <a:rPr lang="en-US" sz="1300" dirty="0">
                <a:solidFill>
                  <a:srgbClr val="E6EBF2"/>
                </a:solidFill>
                <a:latin typeface="Courier New" pitchFamily="34" charset="0"/>
                <a:ea typeface="Courier New" pitchFamily="34" charset="-122"/>
                <a:cs typeface="Courier New" pitchFamily="34" charset="-120"/>
              </a:rPr>
              <a:t>  &lt;p&gt;Durham, North Carolina&lt;/p&gt;
</a:t>
            </a:r>
            <a:pPr indent="0" marL="0">
              <a:lnSpc>
                <a:spcPct val="140000"/>
              </a:lnSpc>
              <a:buNone/>
            </a:pPr>
            <a:r>
              <a:rPr lang="en-US" sz="1300" dirty="0">
                <a:solidFill>
                  <a:srgbClr val="FCA5A5"/>
                </a:solidFill>
                <a:latin typeface="Courier New" pitchFamily="34" charset="0"/>
                <a:ea typeface="Courier New" pitchFamily="34" charset="-122"/>
                <a:cs typeface="Courier New" pitchFamily="34" charset="-120"/>
              </a:rPr>
              <a:t>- &lt;a href="mailto:jordan@example.com"&gt;Email&lt;/a&gt;
</a:t>
            </a:r>
            <a:pPr indent="0" marL="0">
              <a:lnSpc>
                <a:spcPct val="140000"/>
              </a:lnSpc>
              <a:buNone/>
            </a:pPr>
            <a:r>
              <a:rPr lang="en-US" sz="1300" dirty="0">
                <a:solidFill>
                  <a:srgbClr val="86EFAC"/>
                </a:solidFill>
                <a:latin typeface="Courier New" pitchFamily="34" charset="0"/>
                <a:ea typeface="Courier New" pitchFamily="34" charset="-122"/>
                <a:cs typeface="Courier New" pitchFamily="34" charset="-120"/>
              </a:rPr>
              <a:t>+ &lt;a href="mailto:you@yourdomain.com"&gt;Email&lt;/a&gt;</a:t>
            </a:r>
            <a:endParaRPr lang="en-US" sz="1300" dirty="0"/>
          </a:p>
        </p:txBody>
      </p:sp>
      <p:sp>
        <p:nvSpPr>
          <p:cNvPr id="10" name="Text 6"/>
          <p:cNvSpPr txBox="1"/>
          <p:nvPr/>
        </p:nvSpPr>
        <p:spPr>
          <a:xfrm>
            <a:off x="6766560" y="1783080"/>
            <a:ext cx="475488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READ IT IN THIS ORDER</a:t>
            </a:r>
            <a:endParaRPr lang="en-US" sz="1100" dirty="0"/>
          </a:p>
        </p:txBody>
      </p:sp>
      <p:sp>
        <p:nvSpPr>
          <p:cNvPr id="11" name="Text 7"/>
          <p:cNvSpPr txBox="1"/>
          <p:nvPr/>
        </p:nvSpPr>
        <p:spPr>
          <a:xfrm>
            <a:off x="6766560" y="2148840"/>
            <a:ext cx="2103120" cy="86868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1  The message</a:t>
            </a:r>
            <a:endParaRPr lang="en-US" sz="1600" dirty="0"/>
          </a:p>
        </p:txBody>
      </p:sp>
      <p:sp>
        <p:nvSpPr>
          <p:cNvPr id="12" name="Text 8"/>
          <p:cNvSpPr txBox="1"/>
          <p:nvPr/>
        </p:nvSpPr>
        <p:spPr>
          <a:xfrm>
            <a:off x="9052560" y="2176272"/>
            <a:ext cx="2496312" cy="868680"/>
          </a:xfrm>
          <a:prstGeom prst="rect">
            <a:avLst/>
          </a:prstGeom>
          <a:noFill/>
          <a:ln/>
        </p:spPr>
        <p:txBody>
          <a:bodyPr wrap="square" lIns="0" tIns="0" rIns="0" bIns="0" rtlCol="0" anchor="t"/>
          <a:lstStyle/>
          <a:p>
            <a:pPr indent="0" marL="0">
              <a:lnSpc>
                <a:spcPct val="115000"/>
              </a:lnSpc>
              <a:buNone/>
            </a:pPr>
            <a:r>
              <a:rPr lang="en-US" sz="1500" dirty="0">
                <a:solidFill>
                  <a:srgbClr val="0D1219"/>
                </a:solidFill>
                <a:latin typeface="Arial" pitchFamily="34" charset="0"/>
                <a:ea typeface="Arial" pitchFamily="34" charset="-122"/>
                <a:cs typeface="Arial" pitchFamily="34" charset="-120"/>
              </a:rPr>
              <a:t>Does it say what you asked for? Not “Refactor site.”</a:t>
            </a:r>
            <a:endParaRPr lang="en-US" sz="1500" dirty="0"/>
          </a:p>
        </p:txBody>
      </p:sp>
      <p:sp>
        <p:nvSpPr>
          <p:cNvPr id="13" name="Text 9"/>
          <p:cNvSpPr txBox="1"/>
          <p:nvPr/>
        </p:nvSpPr>
        <p:spPr>
          <a:xfrm>
            <a:off x="6766560" y="3108960"/>
            <a:ext cx="2103120" cy="86868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2  The file names</a:t>
            </a:r>
            <a:endParaRPr lang="en-US" sz="1600" dirty="0"/>
          </a:p>
        </p:txBody>
      </p:sp>
      <p:sp>
        <p:nvSpPr>
          <p:cNvPr id="14" name="Text 10"/>
          <p:cNvSpPr txBox="1"/>
          <p:nvPr/>
        </p:nvSpPr>
        <p:spPr>
          <a:xfrm>
            <a:off x="9052560" y="3136392"/>
            <a:ext cx="2496312" cy="868680"/>
          </a:xfrm>
          <a:prstGeom prst="rect">
            <a:avLst/>
          </a:prstGeom>
          <a:noFill/>
          <a:ln/>
        </p:spPr>
        <p:txBody>
          <a:bodyPr wrap="square" lIns="0" tIns="0" rIns="0" bIns="0" rtlCol="0" anchor="t"/>
          <a:lstStyle/>
          <a:p>
            <a:pPr indent="0" marL="0">
              <a:lnSpc>
                <a:spcPct val="115000"/>
              </a:lnSpc>
              <a:buNone/>
            </a:pPr>
            <a:r>
              <a:rPr lang="en-US" sz="1500" dirty="0">
                <a:solidFill>
                  <a:srgbClr val="0D1219"/>
                </a:solidFill>
                <a:latin typeface="Arial" pitchFamily="34" charset="0"/>
                <a:ea typeface="Arial" pitchFamily="34" charset="-122"/>
                <a:cs typeface="Arial" pitchFamily="34" charset="-120"/>
              </a:rPr>
              <a:t>Only the files you expected. One index.html, not six.</a:t>
            </a:r>
            <a:endParaRPr lang="en-US" sz="1500" dirty="0"/>
          </a:p>
        </p:txBody>
      </p:sp>
      <p:sp>
        <p:nvSpPr>
          <p:cNvPr id="15" name="Text 11"/>
          <p:cNvSpPr txBox="1"/>
          <p:nvPr/>
        </p:nvSpPr>
        <p:spPr>
          <a:xfrm>
            <a:off x="6766560" y="4069080"/>
            <a:ext cx="2103120" cy="868680"/>
          </a:xfrm>
          <a:prstGeom prst="rect">
            <a:avLst/>
          </a:prstGeom>
          <a:noFill/>
          <a:ln/>
        </p:spPr>
        <p:txBody>
          <a:bodyPr wrap="square" lIns="0" tIns="0" rIns="0" bIns="0" rtlCol="0" anchor="t"/>
          <a:lstStyle/>
          <a:p>
            <a:pPr indent="0" marL="0">
              <a:buNone/>
            </a:pPr>
            <a:r>
              <a:rPr lang="en-US" sz="1600" b="1" dirty="0">
                <a:solidFill>
                  <a:srgbClr val="0D1219"/>
                </a:solidFill>
                <a:latin typeface="Arial" pitchFamily="34" charset="0"/>
                <a:ea typeface="Arial" pitchFamily="34" charset="-122"/>
                <a:cs typeface="Arial" pitchFamily="34" charset="-120"/>
              </a:rPr>
              <a:t>3  The lines</a:t>
            </a:r>
            <a:endParaRPr lang="en-US" sz="1600" dirty="0"/>
          </a:p>
        </p:txBody>
      </p:sp>
      <p:sp>
        <p:nvSpPr>
          <p:cNvPr id="16" name="Text 12"/>
          <p:cNvSpPr txBox="1"/>
          <p:nvPr/>
        </p:nvSpPr>
        <p:spPr>
          <a:xfrm>
            <a:off x="9052560" y="4096512"/>
            <a:ext cx="2496312" cy="868680"/>
          </a:xfrm>
          <a:prstGeom prst="rect">
            <a:avLst/>
          </a:prstGeom>
          <a:noFill/>
          <a:ln/>
        </p:spPr>
        <p:txBody>
          <a:bodyPr wrap="square" lIns="0" tIns="0" rIns="0" bIns="0" rtlCol="0" anchor="t"/>
          <a:lstStyle/>
          <a:p>
            <a:pPr indent="0" marL="0">
              <a:lnSpc>
                <a:spcPct val="115000"/>
              </a:lnSpc>
              <a:buNone/>
            </a:pPr>
            <a:r>
              <a:rPr lang="en-US" sz="1500" dirty="0">
                <a:solidFill>
                  <a:srgbClr val="0D1219"/>
                </a:solidFill>
                <a:latin typeface="Arial" pitchFamily="34" charset="0"/>
                <a:ea typeface="Arial" pitchFamily="34" charset="-122"/>
                <a:cs typeface="Arial" pitchFamily="34" charset="-120"/>
              </a:rPr>
              <a:t>Green added, red removed. Read the red closely.</a:t>
            </a:r>
            <a:endParaRPr lang="en-US" sz="1500" dirty="0"/>
          </a:p>
        </p:txBody>
      </p:sp>
      <p:sp>
        <p:nvSpPr>
          <p:cNvPr id="17" name="Text 13"/>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READING WHAT THE AGENT WROTE · 2 OF 3 · 15 MIN TOTAL</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11:35 – 11:40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The pull request is the human checkpoint.</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This afternoon: increment 2 of the game goes through a pull request. Every route.</a:t>
            </a:r>
            <a:endParaRPr lang="en-US" sz="1600" dirty="0"/>
          </a:p>
        </p:txBody>
      </p:sp>
      <p:sp>
        <p:nvSpPr>
          <p:cNvPr id="9" name="Shape 5"/>
          <p:cNvSpPr/>
          <p:nvPr/>
        </p:nvSpPr>
        <p:spPr>
          <a:xfrm>
            <a:off x="640080" y="2377440"/>
            <a:ext cx="2194560" cy="731520"/>
          </a:xfrm>
          <a:prstGeom prst="roundRect">
            <a:avLst>
              <a:gd name="adj" fmla="val 12500"/>
            </a:avLst>
          </a:prstGeom>
          <a:solidFill>
            <a:srgbClr val="307FE2"/>
          </a:solidFill>
          <a:ln w="12700">
            <a:solidFill>
              <a:srgbClr val="307FE2"/>
            </a:solidFill>
            <a:prstDash val="solid"/>
          </a:ln>
        </p:spPr>
      </p:sp>
      <p:sp>
        <p:nvSpPr>
          <p:cNvPr id="10" name="Text 6"/>
          <p:cNvSpPr/>
          <p:nvPr/>
        </p:nvSpPr>
        <p:spPr>
          <a:xfrm>
            <a:off x="640080" y="2377440"/>
            <a:ext cx="219456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Branch</a:t>
            </a:r>
            <a:endParaRPr lang="en-US" sz="1700" dirty="0"/>
          </a:p>
        </p:txBody>
      </p:sp>
      <p:sp>
        <p:nvSpPr>
          <p:cNvPr id="11" name="Text 7"/>
          <p:cNvSpPr txBox="1"/>
          <p:nvPr/>
        </p:nvSpPr>
        <p:spPr>
          <a:xfrm>
            <a:off x="640080" y="3291840"/>
            <a:ext cx="2194560" cy="10058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The agent works on a separate line. The live site is untouched.</a:t>
            </a:r>
            <a:endParaRPr lang="en-US" sz="1400" dirty="0"/>
          </a:p>
        </p:txBody>
      </p:sp>
      <p:sp>
        <p:nvSpPr>
          <p:cNvPr id="12" name="Shape 8"/>
          <p:cNvSpPr/>
          <p:nvPr/>
        </p:nvSpPr>
        <p:spPr>
          <a:xfrm>
            <a:off x="2880360" y="2743200"/>
            <a:ext cx="618744" cy="0"/>
          </a:xfrm>
          <a:prstGeom prst="line">
            <a:avLst/>
          </a:prstGeom>
          <a:noFill/>
          <a:ln w="25400">
            <a:solidFill>
              <a:srgbClr val="0D1219"/>
            </a:solidFill>
            <a:prstDash val="solid"/>
            <a:tailEnd type="triangle"/>
          </a:ln>
        </p:spPr>
      </p:sp>
      <p:sp>
        <p:nvSpPr>
          <p:cNvPr id="13" name="Shape 9"/>
          <p:cNvSpPr/>
          <p:nvPr/>
        </p:nvSpPr>
        <p:spPr>
          <a:xfrm>
            <a:off x="3544824" y="2377440"/>
            <a:ext cx="2194560" cy="731520"/>
          </a:xfrm>
          <a:prstGeom prst="roundRect">
            <a:avLst>
              <a:gd name="adj" fmla="val 12500"/>
            </a:avLst>
          </a:prstGeom>
          <a:solidFill>
            <a:srgbClr val="307FE2"/>
          </a:solidFill>
          <a:ln w="12700">
            <a:solidFill>
              <a:srgbClr val="307FE2"/>
            </a:solidFill>
            <a:prstDash val="solid"/>
          </a:ln>
        </p:spPr>
      </p:sp>
      <p:sp>
        <p:nvSpPr>
          <p:cNvPr id="14" name="Text 10"/>
          <p:cNvSpPr/>
          <p:nvPr/>
        </p:nvSpPr>
        <p:spPr>
          <a:xfrm>
            <a:off x="3544824" y="2377440"/>
            <a:ext cx="219456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Pull request</a:t>
            </a:r>
            <a:endParaRPr lang="en-US" sz="1700" dirty="0"/>
          </a:p>
        </p:txBody>
      </p:sp>
      <p:sp>
        <p:nvSpPr>
          <p:cNvPr id="15" name="Text 11"/>
          <p:cNvSpPr txBox="1"/>
          <p:nvPr/>
        </p:nvSpPr>
        <p:spPr>
          <a:xfrm>
            <a:off x="3544824" y="3291840"/>
            <a:ext cx="2194560" cy="10058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“Here is what I propose.” The diff, the message, a preview URL.</a:t>
            </a:r>
            <a:endParaRPr lang="en-US" sz="1400" dirty="0"/>
          </a:p>
        </p:txBody>
      </p:sp>
      <p:sp>
        <p:nvSpPr>
          <p:cNvPr id="16" name="Shape 12"/>
          <p:cNvSpPr/>
          <p:nvPr/>
        </p:nvSpPr>
        <p:spPr>
          <a:xfrm>
            <a:off x="5785104" y="2743200"/>
            <a:ext cx="618744" cy="0"/>
          </a:xfrm>
          <a:prstGeom prst="line">
            <a:avLst/>
          </a:prstGeom>
          <a:noFill/>
          <a:ln w="25400">
            <a:solidFill>
              <a:srgbClr val="0D1219"/>
            </a:solidFill>
            <a:prstDash val="solid"/>
            <a:tailEnd type="triangle"/>
          </a:ln>
        </p:spPr>
      </p:sp>
      <p:sp>
        <p:nvSpPr>
          <p:cNvPr id="17" name="Shape 13"/>
          <p:cNvSpPr/>
          <p:nvPr/>
        </p:nvSpPr>
        <p:spPr>
          <a:xfrm>
            <a:off x="6449568" y="2377440"/>
            <a:ext cx="2194560" cy="731520"/>
          </a:xfrm>
          <a:prstGeom prst="roundRect">
            <a:avLst>
              <a:gd name="adj" fmla="val 12500"/>
            </a:avLst>
          </a:prstGeom>
          <a:solidFill>
            <a:srgbClr val="EF8B39"/>
          </a:solidFill>
          <a:ln w="12700">
            <a:solidFill>
              <a:srgbClr val="EF8B39"/>
            </a:solidFill>
            <a:prstDash val="solid"/>
          </a:ln>
        </p:spPr>
      </p:sp>
      <p:sp>
        <p:nvSpPr>
          <p:cNvPr id="18" name="Text 14"/>
          <p:cNvSpPr/>
          <p:nvPr/>
        </p:nvSpPr>
        <p:spPr>
          <a:xfrm>
            <a:off x="6449568" y="2377440"/>
            <a:ext cx="219456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Review</a:t>
            </a:r>
            <a:endParaRPr lang="en-US" sz="1700" dirty="0"/>
          </a:p>
        </p:txBody>
      </p:sp>
      <p:sp>
        <p:nvSpPr>
          <p:cNvPr id="19" name="Text 15"/>
          <p:cNvSpPr txBox="1"/>
          <p:nvPr/>
        </p:nvSpPr>
        <p:spPr>
          <a:xfrm>
            <a:off x="6449568" y="3291840"/>
            <a:ext cx="2194560" cy="10058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You read it: message, files, lines. You click the preview.</a:t>
            </a:r>
            <a:endParaRPr lang="en-US" sz="1400" dirty="0"/>
          </a:p>
        </p:txBody>
      </p:sp>
      <p:sp>
        <p:nvSpPr>
          <p:cNvPr id="20" name="Shape 16"/>
          <p:cNvSpPr/>
          <p:nvPr/>
        </p:nvSpPr>
        <p:spPr>
          <a:xfrm>
            <a:off x="8689848" y="2743200"/>
            <a:ext cx="618744" cy="0"/>
          </a:xfrm>
          <a:prstGeom prst="line">
            <a:avLst/>
          </a:prstGeom>
          <a:noFill/>
          <a:ln w="25400">
            <a:solidFill>
              <a:srgbClr val="0D1219"/>
            </a:solidFill>
            <a:prstDash val="solid"/>
            <a:tailEnd type="triangle"/>
          </a:ln>
        </p:spPr>
      </p:sp>
      <p:sp>
        <p:nvSpPr>
          <p:cNvPr id="21" name="Shape 17"/>
          <p:cNvSpPr/>
          <p:nvPr/>
        </p:nvSpPr>
        <p:spPr>
          <a:xfrm>
            <a:off x="9354312" y="2377440"/>
            <a:ext cx="2194560" cy="731520"/>
          </a:xfrm>
          <a:prstGeom prst="roundRect">
            <a:avLst>
              <a:gd name="adj" fmla="val 12500"/>
            </a:avLst>
          </a:prstGeom>
          <a:solidFill>
            <a:srgbClr val="307FE2"/>
          </a:solidFill>
          <a:ln w="12700">
            <a:solidFill>
              <a:srgbClr val="307FE2"/>
            </a:solidFill>
            <a:prstDash val="solid"/>
          </a:ln>
        </p:spPr>
      </p:sp>
      <p:sp>
        <p:nvSpPr>
          <p:cNvPr id="22" name="Text 18"/>
          <p:cNvSpPr/>
          <p:nvPr/>
        </p:nvSpPr>
        <p:spPr>
          <a:xfrm>
            <a:off x="9354312" y="2377440"/>
            <a:ext cx="2194560" cy="73152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Merge</a:t>
            </a:r>
            <a:endParaRPr lang="en-US" sz="1700" dirty="0"/>
          </a:p>
        </p:txBody>
      </p:sp>
      <p:sp>
        <p:nvSpPr>
          <p:cNvPr id="23" name="Text 19"/>
          <p:cNvSpPr txBox="1"/>
          <p:nvPr/>
        </p:nvSpPr>
        <p:spPr>
          <a:xfrm>
            <a:off x="9354312" y="3291840"/>
            <a:ext cx="2194560" cy="10058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Yes: it goes live in about a minute.</a:t>
            </a:r>
            <a:endParaRPr lang="en-US" sz="1400" dirty="0"/>
          </a:p>
        </p:txBody>
      </p:sp>
      <p:sp>
        <p:nvSpPr>
          <p:cNvPr id="24" name="Text 20"/>
          <p:cNvSpPr txBox="1"/>
          <p:nvPr/>
        </p:nvSpPr>
        <p:spPr>
          <a:xfrm>
            <a:off x="8644128" y="2057400"/>
            <a:ext cx="710184" cy="274320"/>
          </a:xfrm>
          <a:prstGeom prst="rect">
            <a:avLst/>
          </a:prstGeom>
          <a:noFill/>
          <a:ln/>
        </p:spPr>
        <p:txBody>
          <a:bodyPr wrap="square" lIns="0" tIns="0" rIns="0" bIns="0" rtlCol="0" anchor="t"/>
          <a:lstStyle/>
          <a:p>
            <a:pPr algn="ctr" indent="0" marL="0">
              <a:lnSpc>
                <a:spcPct val="115000"/>
              </a:lnSpc>
              <a:buNone/>
            </a:pPr>
            <a:r>
              <a:rPr lang="en-US" sz="1200" b="1" dirty="0">
                <a:solidFill>
                  <a:srgbClr val="22C55E"/>
                </a:solidFill>
                <a:latin typeface="Courier New" pitchFamily="34" charset="0"/>
                <a:ea typeface="Courier New" pitchFamily="34" charset="-122"/>
                <a:cs typeface="Courier New" pitchFamily="34" charset="-120"/>
              </a:rPr>
              <a:t>yes</a:t>
            </a:r>
            <a:endParaRPr lang="en-US" sz="1200" dirty="0"/>
          </a:p>
        </p:txBody>
      </p:sp>
      <p:sp>
        <p:nvSpPr>
          <p:cNvPr id="25" name="Shape 21"/>
          <p:cNvSpPr/>
          <p:nvPr/>
        </p:nvSpPr>
        <p:spPr>
          <a:xfrm>
            <a:off x="7546848" y="4343400"/>
            <a:ext cx="0" cy="548640"/>
          </a:xfrm>
          <a:prstGeom prst="line">
            <a:avLst/>
          </a:prstGeom>
          <a:noFill/>
          <a:ln w="25400">
            <a:solidFill>
              <a:srgbClr val="EF4444"/>
            </a:solidFill>
            <a:prstDash val="solid"/>
            <a:tailEnd type="triangle"/>
          </a:ln>
        </p:spPr>
      </p:sp>
      <p:sp>
        <p:nvSpPr>
          <p:cNvPr id="26" name="Text 22"/>
          <p:cNvSpPr txBox="1"/>
          <p:nvPr/>
        </p:nvSpPr>
        <p:spPr>
          <a:xfrm>
            <a:off x="7684008" y="4389120"/>
            <a:ext cx="731520" cy="274320"/>
          </a:xfrm>
          <a:prstGeom prst="rect">
            <a:avLst/>
          </a:prstGeom>
          <a:noFill/>
          <a:ln/>
        </p:spPr>
        <p:txBody>
          <a:bodyPr wrap="square" lIns="0" tIns="0" rIns="0" bIns="0" rtlCol="0" anchor="t"/>
          <a:lstStyle/>
          <a:p>
            <a:pPr algn="l" indent="0" marL="0">
              <a:lnSpc>
                <a:spcPct val="115000"/>
              </a:lnSpc>
              <a:buNone/>
            </a:pPr>
            <a:r>
              <a:rPr lang="en-US" sz="1200" b="1" dirty="0">
                <a:solidFill>
                  <a:srgbClr val="EF4444"/>
                </a:solidFill>
                <a:latin typeface="Courier New" pitchFamily="34" charset="0"/>
                <a:ea typeface="Courier New" pitchFamily="34" charset="-122"/>
                <a:cs typeface="Courier New" pitchFamily="34" charset="-120"/>
              </a:rPr>
              <a:t>no</a:t>
            </a:r>
            <a:endParaRPr lang="en-US" sz="1200" dirty="0"/>
          </a:p>
        </p:txBody>
      </p:sp>
      <p:sp>
        <p:nvSpPr>
          <p:cNvPr id="27" name="Shape 23"/>
          <p:cNvSpPr/>
          <p:nvPr/>
        </p:nvSpPr>
        <p:spPr>
          <a:xfrm>
            <a:off x="5809488" y="4937760"/>
            <a:ext cx="3474720" cy="731520"/>
          </a:xfrm>
          <a:prstGeom prst="rect">
            <a:avLst/>
          </a:prstGeom>
          <a:solidFill>
            <a:srgbClr val="FFFFFF"/>
          </a:solidFill>
          <a:ln w="19050">
            <a:solidFill>
              <a:srgbClr val="EF4444"/>
            </a:solidFill>
            <a:prstDash val="solid"/>
          </a:ln>
        </p:spPr>
      </p:sp>
      <p:sp>
        <p:nvSpPr>
          <p:cNvPr id="28" name="Text 24"/>
          <p:cNvSpPr txBox="1"/>
          <p:nvPr/>
        </p:nvSpPr>
        <p:spPr>
          <a:xfrm>
            <a:off x="5946648" y="4937760"/>
            <a:ext cx="3200400" cy="731520"/>
          </a:xfrm>
          <a:prstGeom prst="rect">
            <a:avLst/>
          </a:prstGeom>
          <a:noFill/>
          <a:ln/>
        </p:spPr>
        <p:txBody>
          <a:bodyPr wrap="square" lIns="0" tIns="0" rIns="0" bIns="0" rtlCol="0" anchor="ctr"/>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Close it. Ask for a smaller change. The branch and its files are still there.</a:t>
            </a:r>
            <a:endParaRPr lang="en-US" sz="1300" dirty="0"/>
          </a:p>
        </p:txBody>
      </p:sp>
      <p:sp>
        <p:nvSpPr>
          <p:cNvPr id="29" name="Text 25"/>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READING WHAT THE AGENT WROTE · 2 OF 3 · 15 MIN TOTAL</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11:35 – 11:40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Four red flags. Any one of them means no.</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Saying no costs one sentence: “Redo this with only what I asked for.”</a:t>
            </a:r>
            <a:endParaRPr lang="en-US" sz="1600" dirty="0"/>
          </a:p>
        </p:txBody>
      </p:sp>
      <p:sp>
        <p:nvSpPr>
          <p:cNvPr id="9" name="Shape 5"/>
          <p:cNvSpPr/>
          <p:nvPr/>
        </p:nvSpPr>
        <p:spPr>
          <a:xfrm>
            <a:off x="640080" y="2377440"/>
            <a:ext cx="329184" cy="329184"/>
          </a:xfrm>
          <a:prstGeom prst="rect">
            <a:avLst/>
          </a:prstGeom>
          <a:solidFill>
            <a:srgbClr val="EF4444"/>
          </a:solidFill>
          <a:ln w="12700">
            <a:solidFill>
              <a:srgbClr val="EF4444"/>
            </a:solidFill>
            <a:prstDash val="solid"/>
          </a:ln>
        </p:spPr>
      </p:sp>
      <p:sp>
        <p:nvSpPr>
          <p:cNvPr id="10" name="Text 6"/>
          <p:cNvSpPr txBox="1"/>
          <p:nvPr/>
        </p:nvSpPr>
        <p:spPr>
          <a:xfrm>
            <a:off x="1234440" y="2286000"/>
            <a:ext cx="10314432" cy="512064"/>
          </a:xfrm>
          <a:prstGeom prst="rect">
            <a:avLst/>
          </a:prstGeom>
          <a:noFill/>
          <a:ln/>
        </p:spPr>
        <p:txBody>
          <a:bodyPr wrap="square" lIns="0" tIns="0" rIns="0" bIns="0" rtlCol="0" anchor="ctr"/>
          <a:lstStyle/>
          <a:p>
            <a:pPr algn="l" indent="0" marL="0">
              <a:lnSpc>
                <a:spcPct val="115000"/>
              </a:lnSpc>
              <a:buNone/>
            </a:pPr>
            <a:r>
              <a:rPr lang="en-US" sz="2200" b="1" dirty="0">
                <a:solidFill>
                  <a:srgbClr val="0D1219"/>
                </a:solidFill>
                <a:latin typeface="Arial" pitchFamily="34" charset="0"/>
                <a:ea typeface="Arial" pitchFamily="34" charset="-122"/>
                <a:cs typeface="Arial" pitchFamily="34" charset="-120"/>
              </a:rPr>
              <a:t>Changed files you did not ask about</a:t>
            </a:r>
            <a:endParaRPr lang="en-US" sz="2200" dirty="0"/>
          </a:p>
        </p:txBody>
      </p:sp>
      <p:sp>
        <p:nvSpPr>
          <p:cNvPr id="11" name="Shape 7"/>
          <p:cNvSpPr/>
          <p:nvPr/>
        </p:nvSpPr>
        <p:spPr>
          <a:xfrm>
            <a:off x="640080" y="3200400"/>
            <a:ext cx="329184" cy="329184"/>
          </a:xfrm>
          <a:prstGeom prst="rect">
            <a:avLst/>
          </a:prstGeom>
          <a:solidFill>
            <a:srgbClr val="EF4444"/>
          </a:solidFill>
          <a:ln w="12700">
            <a:solidFill>
              <a:srgbClr val="EF4444"/>
            </a:solidFill>
            <a:prstDash val="solid"/>
          </a:ln>
        </p:spPr>
      </p:sp>
      <p:sp>
        <p:nvSpPr>
          <p:cNvPr id="12" name="Text 8"/>
          <p:cNvSpPr txBox="1"/>
          <p:nvPr/>
        </p:nvSpPr>
        <p:spPr>
          <a:xfrm>
            <a:off x="1234440" y="3108960"/>
            <a:ext cx="10314432" cy="512064"/>
          </a:xfrm>
          <a:prstGeom prst="rect">
            <a:avLst/>
          </a:prstGeom>
          <a:noFill/>
          <a:ln/>
        </p:spPr>
        <p:txBody>
          <a:bodyPr wrap="square" lIns="0" tIns="0" rIns="0" bIns="0" rtlCol="0" anchor="ctr"/>
          <a:lstStyle/>
          <a:p>
            <a:pPr algn="l" indent="0" marL="0">
              <a:lnSpc>
                <a:spcPct val="115000"/>
              </a:lnSpc>
              <a:buNone/>
            </a:pPr>
            <a:r>
              <a:rPr lang="en-US" sz="2200" b="1" dirty="0">
                <a:solidFill>
                  <a:srgbClr val="0D1219"/>
                </a:solidFill>
                <a:latin typeface="Arial" pitchFamily="34" charset="0"/>
                <a:ea typeface="Arial" pitchFamily="34" charset="-122"/>
                <a:cs typeface="Arial" pitchFamily="34" charset="-120"/>
              </a:rPr>
              <a:t>Deleted tests or checks</a:t>
            </a:r>
            <a:endParaRPr lang="en-US" sz="2200" dirty="0"/>
          </a:p>
        </p:txBody>
      </p:sp>
      <p:sp>
        <p:nvSpPr>
          <p:cNvPr id="13" name="Shape 9"/>
          <p:cNvSpPr/>
          <p:nvPr/>
        </p:nvSpPr>
        <p:spPr>
          <a:xfrm>
            <a:off x="640080" y="4023360"/>
            <a:ext cx="329184" cy="329184"/>
          </a:xfrm>
          <a:prstGeom prst="rect">
            <a:avLst/>
          </a:prstGeom>
          <a:solidFill>
            <a:srgbClr val="EF4444"/>
          </a:solidFill>
          <a:ln w="12700">
            <a:solidFill>
              <a:srgbClr val="EF4444"/>
            </a:solidFill>
            <a:prstDash val="solid"/>
          </a:ln>
        </p:spPr>
      </p:sp>
      <p:sp>
        <p:nvSpPr>
          <p:cNvPr id="14" name="Text 10"/>
          <p:cNvSpPr txBox="1"/>
          <p:nvPr/>
        </p:nvSpPr>
        <p:spPr>
          <a:xfrm>
            <a:off x="1234440" y="3931920"/>
            <a:ext cx="10314432" cy="512064"/>
          </a:xfrm>
          <a:prstGeom prst="rect">
            <a:avLst/>
          </a:prstGeom>
          <a:noFill/>
          <a:ln/>
        </p:spPr>
        <p:txBody>
          <a:bodyPr wrap="square" lIns="0" tIns="0" rIns="0" bIns="0" rtlCol="0" anchor="ctr"/>
          <a:lstStyle/>
          <a:p>
            <a:pPr algn="l" indent="0" marL="0">
              <a:lnSpc>
                <a:spcPct val="115000"/>
              </a:lnSpc>
              <a:buNone/>
            </a:pPr>
            <a:r>
              <a:rPr lang="en-US" sz="2200" b="1" dirty="0">
                <a:solidFill>
                  <a:srgbClr val="0D1219"/>
                </a:solidFill>
                <a:latin typeface="Arial" pitchFamily="34" charset="0"/>
                <a:ea typeface="Arial" pitchFamily="34" charset="-122"/>
                <a:cs typeface="Arial" pitchFamily="34" charset="-120"/>
              </a:rPr>
              <a:t>Secrets or keys in the code</a:t>
            </a:r>
            <a:endParaRPr lang="en-US" sz="2200" dirty="0"/>
          </a:p>
        </p:txBody>
      </p:sp>
      <p:sp>
        <p:nvSpPr>
          <p:cNvPr id="15" name="Shape 11"/>
          <p:cNvSpPr/>
          <p:nvPr/>
        </p:nvSpPr>
        <p:spPr>
          <a:xfrm>
            <a:off x="640080" y="4846320"/>
            <a:ext cx="329184" cy="329184"/>
          </a:xfrm>
          <a:prstGeom prst="rect">
            <a:avLst/>
          </a:prstGeom>
          <a:solidFill>
            <a:srgbClr val="EF4444"/>
          </a:solidFill>
          <a:ln w="12700">
            <a:solidFill>
              <a:srgbClr val="EF4444"/>
            </a:solidFill>
            <a:prstDash val="solid"/>
          </a:ln>
        </p:spPr>
      </p:sp>
      <p:sp>
        <p:nvSpPr>
          <p:cNvPr id="16" name="Text 12"/>
          <p:cNvSpPr txBox="1"/>
          <p:nvPr/>
        </p:nvSpPr>
        <p:spPr>
          <a:xfrm>
            <a:off x="1234440" y="4754880"/>
            <a:ext cx="10314432" cy="512064"/>
          </a:xfrm>
          <a:prstGeom prst="rect">
            <a:avLst/>
          </a:prstGeom>
          <a:noFill/>
          <a:ln/>
        </p:spPr>
        <p:txBody>
          <a:bodyPr wrap="square" lIns="0" tIns="0" rIns="0" bIns="0" rtlCol="0" anchor="ctr"/>
          <a:lstStyle/>
          <a:p>
            <a:pPr algn="l" indent="0" marL="0">
              <a:lnSpc>
                <a:spcPct val="115000"/>
              </a:lnSpc>
              <a:buNone/>
            </a:pPr>
            <a:r>
              <a:rPr lang="en-US" sz="2200" b="1" dirty="0">
                <a:solidFill>
                  <a:srgbClr val="0D1219"/>
                </a:solidFill>
                <a:latin typeface="Arial" pitchFamily="34" charset="0"/>
                <a:ea typeface="Arial" pitchFamily="34" charset="-122"/>
                <a:cs typeface="Arial" pitchFamily="34" charset="-120"/>
              </a:rPr>
              <a:t>A scope bigger than the prompt</a:t>
            </a:r>
            <a:endParaRPr lang="en-US" sz="2200" dirty="0"/>
          </a:p>
        </p:txBody>
      </p:sp>
      <p:sp>
        <p:nvSpPr>
          <p:cNvPr id="17" name="Text 13"/>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READING WHAT THE AGENT WROTE · 3 OF 3 · 15 MIN TOTAL</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11:40 – 11:45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Nothing is lost if it’s in GitHub.</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Never fix a broken file by hand. Go back to the last good version and ask for a smaller change.</a:t>
            </a:r>
            <a:endParaRPr lang="en-US" sz="1600" dirty="0"/>
          </a:p>
        </p:txBody>
      </p:sp>
      <p:sp>
        <p:nvSpPr>
          <p:cNvPr id="9" name="Text 5"/>
          <p:cNvSpPr txBox="1"/>
          <p:nvPr/>
        </p:nvSpPr>
        <p:spPr>
          <a:xfrm>
            <a:off x="640080" y="2194560"/>
            <a:ext cx="3331464"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GITHUB · REVERT</a:t>
            </a:r>
            <a:endParaRPr lang="en-US" sz="1100" dirty="0"/>
          </a:p>
        </p:txBody>
      </p:sp>
      <p:sp>
        <p:nvSpPr>
          <p:cNvPr id="10" name="Text 6"/>
          <p:cNvSpPr txBox="1"/>
          <p:nvPr/>
        </p:nvSpPr>
        <p:spPr>
          <a:xfrm>
            <a:off x="640080" y="2542032"/>
            <a:ext cx="3331464" cy="2743200"/>
          </a:xfrm>
          <a:prstGeom prst="rect">
            <a:avLst/>
          </a:prstGeom>
          <a:noFill/>
          <a:ln/>
        </p:spPr>
        <p:txBody>
          <a:bodyPr wrap="square" lIns="0" tIns="0" rIns="0" bIns="0" rtlCol="0" anchor="t"/>
          <a:lstStyle/>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1   Open the merged pull request that broke it.</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2   Click “Revert.” Merge the new pull request.</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3   Vercel ships the previous version.</a:t>
            </a:r>
            <a:endParaRPr lang="en-US" sz="1500" dirty="0"/>
          </a:p>
        </p:txBody>
      </p:sp>
      <p:sp>
        <p:nvSpPr>
          <p:cNvPr id="11" name="Text 7"/>
          <p:cNvSpPr txBox="1"/>
          <p:nvPr/>
        </p:nvSpPr>
        <p:spPr>
          <a:xfrm>
            <a:off x="4428744" y="219456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V0 · RESTORE A VERSION</a:t>
            </a:r>
            <a:endParaRPr lang="en-US" sz="1100" dirty="0"/>
          </a:p>
        </p:txBody>
      </p:sp>
      <p:sp>
        <p:nvSpPr>
          <p:cNvPr id="12" name="Text 8"/>
          <p:cNvSpPr txBox="1"/>
          <p:nvPr/>
        </p:nvSpPr>
        <p:spPr>
          <a:xfrm>
            <a:off x="4428744" y="2542032"/>
            <a:ext cx="3331464" cy="2743200"/>
          </a:xfrm>
          <a:prstGeom prst="rect">
            <a:avLst/>
          </a:prstGeom>
          <a:noFill/>
          <a:ln/>
        </p:spPr>
        <p:txBody>
          <a:bodyPr wrap="square" lIns="0" tIns="0" rIns="0" bIns="0" rtlCol="0" anchor="t"/>
          <a:lstStyle/>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1   Every generation is a version. Open the history.</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2   Restore the one that worked.</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3   Push; GitHub and the live URL follow.</a:t>
            </a:r>
            <a:endParaRPr lang="en-US" sz="1500" dirty="0"/>
          </a:p>
        </p:txBody>
      </p:sp>
      <p:sp>
        <p:nvSpPr>
          <p:cNvPr id="13" name="Text 9"/>
          <p:cNvSpPr txBox="1"/>
          <p:nvPr/>
        </p:nvSpPr>
        <p:spPr>
          <a:xfrm>
            <a:off x="8217408" y="219456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VERCEL · PROMOTE</a:t>
            </a:r>
            <a:endParaRPr lang="en-US" sz="1100" dirty="0"/>
          </a:p>
        </p:txBody>
      </p:sp>
      <p:sp>
        <p:nvSpPr>
          <p:cNvPr id="14" name="Text 10"/>
          <p:cNvSpPr txBox="1"/>
          <p:nvPr/>
        </p:nvSpPr>
        <p:spPr>
          <a:xfrm>
            <a:off x="8217408" y="2542032"/>
            <a:ext cx="3331464" cy="2743200"/>
          </a:xfrm>
          <a:prstGeom prst="rect">
            <a:avLst/>
          </a:prstGeom>
          <a:noFill/>
          <a:ln/>
        </p:spPr>
        <p:txBody>
          <a:bodyPr wrap="square" lIns="0" tIns="0" rIns="0" bIns="0" rtlCol="0" anchor="t"/>
          <a:lstStyle/>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1   Open the Deployments list.</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2   Pick an earlier successful deploy.</a:t>
            </a:r>
            <a:endParaRPr lang="en-US" sz="1500" dirty="0"/>
          </a:p>
          <a:p>
            <a:pPr indent="0" marL="0">
              <a:lnSpc>
                <a:spcPct val="120000"/>
              </a:lnSpc>
              <a:spcAft>
                <a:spcPts val="900"/>
              </a:spcAft>
              <a:buNone/>
            </a:pPr>
            <a:r>
              <a:rPr lang="en-US" sz="1500" dirty="0">
                <a:solidFill>
                  <a:srgbClr val="0D1219"/>
                </a:solidFill>
                <a:latin typeface="Arial" pitchFamily="34" charset="0"/>
                <a:ea typeface="Arial" pitchFamily="34" charset="-122"/>
                <a:cs typeface="Arial" pitchFamily="34" charset="-120"/>
              </a:rPr>
              <a:t>3   Promote it while you fix the new one.</a:t>
            </a:r>
            <a:endParaRPr lang="en-US" sz="1500" dirty="0"/>
          </a:p>
        </p:txBody>
      </p:sp>
      <p:sp>
        <p:nvSpPr>
          <p:cNvPr id="15" name="Text 11"/>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SKILLS · DOCS/SKILLS-GUIDE.MD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11:45 – 11:51</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A skill is a folder with one file in it: SKILL.md.</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Instructions you’d otherwise retype, saved once, so the next session and the next model behave the same.</a:t>
            </a:r>
            <a:endParaRPr lang="en-US" sz="1600" dirty="0"/>
          </a:p>
        </p:txBody>
      </p:sp>
      <p:sp>
        <p:nvSpPr>
          <p:cNvPr id="9" name="Shape 5"/>
          <p:cNvSpPr/>
          <p:nvPr/>
        </p:nvSpPr>
        <p:spPr>
          <a:xfrm>
            <a:off x="640080" y="1920240"/>
            <a:ext cx="1463040" cy="274320"/>
          </a:xfrm>
          <a:prstGeom prst="rect">
            <a:avLst/>
          </a:prstGeom>
          <a:solidFill>
            <a:srgbClr val="E8EEF7"/>
          </a:solidFill>
          <a:ln w="12700">
            <a:solidFill>
              <a:srgbClr val="0D1219"/>
            </a:solidFill>
            <a:prstDash val="solid"/>
          </a:ln>
        </p:spPr>
      </p:sp>
      <p:sp>
        <p:nvSpPr>
          <p:cNvPr id="10" name="Text 6"/>
          <p:cNvSpPr txBox="1"/>
          <p:nvPr/>
        </p:nvSpPr>
        <p:spPr>
          <a:xfrm>
            <a:off x="749808" y="1920240"/>
            <a:ext cx="1463040" cy="274320"/>
          </a:xfrm>
          <a:prstGeom prst="rect">
            <a:avLst/>
          </a:prstGeom>
          <a:noFill/>
          <a:ln/>
        </p:spPr>
        <p:txBody>
          <a:bodyPr wrap="square" lIns="0" tIns="0" rIns="0" bIns="0" rtlCol="0" anchor="ctr"/>
          <a:lstStyle/>
          <a:p>
            <a:pPr algn="l" indent="0" marL="0">
              <a:lnSpc>
                <a:spcPct val="115000"/>
              </a:lnSpc>
              <a:buNone/>
            </a:pPr>
            <a:r>
              <a:rPr lang="en-US" sz="1100" dirty="0">
                <a:solidFill>
                  <a:srgbClr val="0D1219"/>
                </a:solidFill>
                <a:latin typeface="Courier New" pitchFamily="34" charset="0"/>
                <a:ea typeface="Courier New" pitchFamily="34" charset="-122"/>
                <a:cs typeface="Courier New" pitchFamily="34" charset="-120"/>
              </a:rPr>
              <a:t>vc-plan-first/</a:t>
            </a:r>
            <a:endParaRPr lang="en-US" sz="1100" dirty="0"/>
          </a:p>
        </p:txBody>
      </p:sp>
      <p:sp>
        <p:nvSpPr>
          <p:cNvPr id="11" name="Shape 7"/>
          <p:cNvSpPr/>
          <p:nvPr/>
        </p:nvSpPr>
        <p:spPr>
          <a:xfrm>
            <a:off x="640080" y="2194560"/>
            <a:ext cx="4754880" cy="3566160"/>
          </a:xfrm>
          <a:prstGeom prst="rect">
            <a:avLst/>
          </a:prstGeom>
          <a:solidFill>
            <a:srgbClr val="FFFFFF"/>
          </a:solidFill>
          <a:ln w="12700">
            <a:solidFill>
              <a:srgbClr val="0D1219"/>
            </a:solidFill>
            <a:prstDash val="solid"/>
          </a:ln>
        </p:spPr>
      </p:sp>
      <p:sp>
        <p:nvSpPr>
          <p:cNvPr id="12" name="Text 8"/>
          <p:cNvSpPr txBox="1"/>
          <p:nvPr/>
        </p:nvSpPr>
        <p:spPr>
          <a:xfrm>
            <a:off x="822960" y="2286000"/>
            <a:ext cx="1828800" cy="274320"/>
          </a:xfrm>
          <a:prstGeom prst="rect">
            <a:avLst/>
          </a:prstGeom>
          <a:noFill/>
          <a:ln/>
        </p:spPr>
        <p:txBody>
          <a:bodyPr wrap="square" lIns="0" tIns="0" rIns="0" bIns="0" rtlCol="0" anchor="t"/>
          <a:lstStyle/>
          <a:p>
            <a:pPr algn="l" indent="0" marL="0">
              <a:lnSpc>
                <a:spcPct val="115000"/>
              </a:lnSpc>
              <a:buNone/>
            </a:pPr>
            <a:r>
              <a:rPr lang="en-US" sz="1200" b="1" dirty="0">
                <a:solidFill>
                  <a:srgbClr val="EF8B39"/>
                </a:solidFill>
                <a:latin typeface="Courier New" pitchFamily="34" charset="0"/>
                <a:ea typeface="Courier New" pitchFamily="34" charset="-122"/>
                <a:cs typeface="Courier New" pitchFamily="34" charset="-120"/>
              </a:rPr>
              <a:t>SKILL.md</a:t>
            </a:r>
            <a:endParaRPr lang="en-US" sz="1200" dirty="0"/>
          </a:p>
        </p:txBody>
      </p:sp>
      <p:sp>
        <p:nvSpPr>
          <p:cNvPr id="13" name="Shape 9"/>
          <p:cNvSpPr/>
          <p:nvPr/>
        </p:nvSpPr>
        <p:spPr>
          <a:xfrm>
            <a:off x="822960" y="2606040"/>
            <a:ext cx="4389120" cy="566928"/>
          </a:xfrm>
          <a:prstGeom prst="rect">
            <a:avLst/>
          </a:prstGeom>
          <a:solidFill>
            <a:srgbClr val="F3F6FB"/>
          </a:solidFill>
          <a:ln w="9525">
            <a:solidFill>
              <a:srgbClr val="F3F6FB"/>
            </a:solidFill>
            <a:prstDash val="solid"/>
          </a:ln>
        </p:spPr>
      </p:sp>
      <p:sp>
        <p:nvSpPr>
          <p:cNvPr id="14" name="Text 10"/>
          <p:cNvSpPr txBox="1"/>
          <p:nvPr/>
        </p:nvSpPr>
        <p:spPr>
          <a:xfrm>
            <a:off x="914400" y="2624328"/>
            <a:ext cx="4206240" cy="548640"/>
          </a:xfrm>
          <a:prstGeom prst="rect">
            <a:avLst/>
          </a:prstGeom>
          <a:noFill/>
          <a:ln/>
        </p:spPr>
        <p:txBody>
          <a:bodyPr wrap="square" lIns="0" tIns="0" rIns="0" bIns="0" rtlCol="0" anchor="t"/>
          <a:lstStyle/>
          <a:p>
            <a:pPr algn="l" indent="0" marL="0">
              <a:lnSpc>
                <a:spcPct val="100000"/>
              </a:lnSpc>
              <a:buNone/>
            </a:pPr>
            <a:r>
              <a:rPr lang="en-US" sz="1100" dirty="0">
                <a:solidFill>
                  <a:srgbClr val="5B6675"/>
                </a:solidFill>
                <a:latin typeface="Courier New" pitchFamily="34" charset="0"/>
                <a:ea typeface="Courier New" pitchFamily="34" charset="-122"/>
                <a:cs typeface="Courier New" pitchFamily="34" charset="-120"/>
              </a:rPr>
              <a:t>---</a:t>
            </a:r>
            <a:endParaRPr lang="en-US" sz="1100" dirty="0"/>
          </a:p>
          <a:p>
            <a:pPr algn="l" indent="0" marL="0">
              <a:lnSpc>
                <a:spcPct val="100000"/>
              </a:lnSpc>
              <a:buNone/>
            </a:pPr>
            <a:r>
              <a:rPr lang="en-US" sz="1100" dirty="0">
                <a:solidFill>
                  <a:srgbClr val="5B6675"/>
                </a:solidFill>
                <a:latin typeface="Courier New" pitchFamily="34" charset="0"/>
                <a:ea typeface="Courier New" pitchFamily="34" charset="-122"/>
                <a:cs typeface="Courier New" pitchFamily="34" charset="-120"/>
              </a:rPr>
              <a:t>name: vc-plan-first</a:t>
            </a:r>
            <a:endParaRPr lang="en-US" sz="1100" dirty="0"/>
          </a:p>
          <a:p>
            <a:pPr algn="l" indent="0" marL="0">
              <a:lnSpc>
                <a:spcPct val="100000"/>
              </a:lnSpc>
              <a:buNone/>
            </a:pPr>
            <a:r>
              <a:rPr lang="en-US" sz="1100" dirty="0">
                <a:solidFill>
                  <a:srgbClr val="5B6675"/>
                </a:solidFill>
                <a:latin typeface="Courier New" pitchFamily="34" charset="0"/>
                <a:ea typeface="Courier New" pitchFamily="34" charset="-122"/>
                <a:cs typeface="Courier New" pitchFamily="34" charset="-120"/>
              </a:rPr>
              <a:t>description: what it does, and the trigger phrases</a:t>
            </a:r>
            <a:endParaRPr lang="en-US" sz="1100" dirty="0"/>
          </a:p>
          <a:p>
            <a:pPr algn="l" indent="0" marL="0">
              <a:lnSpc>
                <a:spcPct val="100000"/>
              </a:lnSpc>
              <a:buNone/>
            </a:pPr>
            <a:r>
              <a:rPr lang="en-US" sz="1100" dirty="0">
                <a:solidFill>
                  <a:srgbClr val="5B6675"/>
                </a:solidFill>
                <a:latin typeface="Courier New" pitchFamily="34" charset="0"/>
                <a:ea typeface="Courier New" pitchFamily="34" charset="-122"/>
                <a:cs typeface="Courier New" pitchFamily="34" charset="-120"/>
              </a:rPr>
              <a:t>---</a:t>
            </a:r>
            <a:endParaRPr lang="en-US" sz="1100" dirty="0"/>
          </a:p>
        </p:txBody>
      </p:sp>
      <p:sp>
        <p:nvSpPr>
          <p:cNvPr id="15" name="Text 11"/>
          <p:cNvSpPr txBox="1"/>
          <p:nvPr/>
        </p:nvSpPr>
        <p:spPr>
          <a:xfrm>
            <a:off x="868680" y="3291840"/>
            <a:ext cx="365760" cy="365760"/>
          </a:xfrm>
          <a:prstGeom prst="rect">
            <a:avLst/>
          </a:prstGeom>
          <a:noFill/>
          <a:ln/>
        </p:spPr>
        <p:txBody>
          <a:bodyPr wrap="square" lIns="0" tIns="0" rIns="0" bIns="0" rtlCol="0" anchor="ctr"/>
          <a:lstStyle/>
          <a:p>
            <a:pPr algn="l" indent="0" marL="0">
              <a:lnSpc>
                <a:spcPct val="115000"/>
              </a:lnSpc>
              <a:buNone/>
            </a:pPr>
            <a:r>
              <a:rPr lang="en-US" sz="1300" b="1" dirty="0">
                <a:solidFill>
                  <a:srgbClr val="EF8B39"/>
                </a:solidFill>
                <a:latin typeface="Courier New" pitchFamily="34" charset="0"/>
                <a:ea typeface="Courier New" pitchFamily="34" charset="-122"/>
                <a:cs typeface="Courier New" pitchFamily="34" charset="-120"/>
              </a:rPr>
              <a:t>1</a:t>
            </a:r>
            <a:endParaRPr lang="en-US" sz="1300" dirty="0"/>
          </a:p>
        </p:txBody>
      </p:sp>
      <p:sp>
        <p:nvSpPr>
          <p:cNvPr id="16" name="Text 12"/>
          <p:cNvSpPr txBox="1"/>
          <p:nvPr/>
        </p:nvSpPr>
        <p:spPr>
          <a:xfrm>
            <a:off x="1234440" y="3291840"/>
            <a:ext cx="3931920" cy="3657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Who you’re helping and what the job is</a:t>
            </a:r>
            <a:endParaRPr lang="en-US" sz="1400" dirty="0"/>
          </a:p>
        </p:txBody>
      </p:sp>
      <p:sp>
        <p:nvSpPr>
          <p:cNvPr id="17" name="Text 13"/>
          <p:cNvSpPr txBox="1"/>
          <p:nvPr/>
        </p:nvSpPr>
        <p:spPr>
          <a:xfrm>
            <a:off x="868680" y="3694176"/>
            <a:ext cx="365760" cy="365760"/>
          </a:xfrm>
          <a:prstGeom prst="rect">
            <a:avLst/>
          </a:prstGeom>
          <a:noFill/>
          <a:ln/>
        </p:spPr>
        <p:txBody>
          <a:bodyPr wrap="square" lIns="0" tIns="0" rIns="0" bIns="0" rtlCol="0" anchor="ctr"/>
          <a:lstStyle/>
          <a:p>
            <a:pPr algn="l" indent="0" marL="0">
              <a:lnSpc>
                <a:spcPct val="115000"/>
              </a:lnSpc>
              <a:buNone/>
            </a:pPr>
            <a:r>
              <a:rPr lang="en-US" sz="1300" b="1" dirty="0">
                <a:solidFill>
                  <a:srgbClr val="EF8B39"/>
                </a:solidFill>
                <a:latin typeface="Courier New" pitchFamily="34" charset="0"/>
                <a:ea typeface="Courier New" pitchFamily="34" charset="-122"/>
                <a:cs typeface="Courier New" pitchFamily="34" charset="-120"/>
              </a:rPr>
              <a:t>2</a:t>
            </a:r>
            <a:endParaRPr lang="en-US" sz="1300" dirty="0"/>
          </a:p>
        </p:txBody>
      </p:sp>
      <p:sp>
        <p:nvSpPr>
          <p:cNvPr id="18" name="Text 14"/>
          <p:cNvSpPr txBox="1"/>
          <p:nvPr/>
        </p:nvSpPr>
        <p:spPr>
          <a:xfrm>
            <a:off x="1234440" y="3694176"/>
            <a:ext cx="3931920" cy="3657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When this applies, and when it doesn’t</a:t>
            </a:r>
            <a:endParaRPr lang="en-US" sz="1400" dirty="0"/>
          </a:p>
        </p:txBody>
      </p:sp>
      <p:sp>
        <p:nvSpPr>
          <p:cNvPr id="19" name="Text 15"/>
          <p:cNvSpPr txBox="1"/>
          <p:nvPr/>
        </p:nvSpPr>
        <p:spPr>
          <a:xfrm>
            <a:off x="868680" y="4096512"/>
            <a:ext cx="365760" cy="365760"/>
          </a:xfrm>
          <a:prstGeom prst="rect">
            <a:avLst/>
          </a:prstGeom>
          <a:noFill/>
          <a:ln/>
        </p:spPr>
        <p:txBody>
          <a:bodyPr wrap="square" lIns="0" tIns="0" rIns="0" bIns="0" rtlCol="0" anchor="ctr"/>
          <a:lstStyle/>
          <a:p>
            <a:pPr algn="l" indent="0" marL="0">
              <a:lnSpc>
                <a:spcPct val="115000"/>
              </a:lnSpc>
              <a:buNone/>
            </a:pPr>
            <a:r>
              <a:rPr lang="en-US" sz="1300" b="1" dirty="0">
                <a:solidFill>
                  <a:srgbClr val="EF8B39"/>
                </a:solidFill>
                <a:latin typeface="Courier New" pitchFamily="34" charset="0"/>
                <a:ea typeface="Courier New" pitchFamily="34" charset="-122"/>
                <a:cs typeface="Courier New" pitchFamily="34" charset="-120"/>
              </a:rPr>
              <a:t>3</a:t>
            </a:r>
            <a:endParaRPr lang="en-US" sz="1300" dirty="0"/>
          </a:p>
        </p:txBody>
      </p:sp>
      <p:sp>
        <p:nvSpPr>
          <p:cNvPr id="20" name="Text 16"/>
          <p:cNvSpPr txBox="1"/>
          <p:nvPr/>
        </p:nvSpPr>
        <p:spPr>
          <a:xfrm>
            <a:off x="1234440" y="4096512"/>
            <a:ext cx="3931920" cy="3657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Steps, each ending in something you can see</a:t>
            </a:r>
            <a:endParaRPr lang="en-US" sz="1400" dirty="0"/>
          </a:p>
        </p:txBody>
      </p:sp>
      <p:sp>
        <p:nvSpPr>
          <p:cNvPr id="21" name="Text 17"/>
          <p:cNvSpPr txBox="1"/>
          <p:nvPr/>
        </p:nvSpPr>
        <p:spPr>
          <a:xfrm>
            <a:off x="868680" y="4498848"/>
            <a:ext cx="365760" cy="365760"/>
          </a:xfrm>
          <a:prstGeom prst="rect">
            <a:avLst/>
          </a:prstGeom>
          <a:noFill/>
          <a:ln/>
        </p:spPr>
        <p:txBody>
          <a:bodyPr wrap="square" lIns="0" tIns="0" rIns="0" bIns="0" rtlCol="0" anchor="ctr"/>
          <a:lstStyle/>
          <a:p>
            <a:pPr algn="l" indent="0" marL="0">
              <a:lnSpc>
                <a:spcPct val="115000"/>
              </a:lnSpc>
              <a:buNone/>
            </a:pPr>
            <a:r>
              <a:rPr lang="en-US" sz="1300" b="1" dirty="0">
                <a:solidFill>
                  <a:srgbClr val="EF8B39"/>
                </a:solidFill>
                <a:latin typeface="Courier New" pitchFamily="34" charset="0"/>
                <a:ea typeface="Courier New" pitchFamily="34" charset="-122"/>
                <a:cs typeface="Courier New" pitchFamily="34" charset="-120"/>
              </a:rPr>
              <a:t>4</a:t>
            </a:r>
            <a:endParaRPr lang="en-US" sz="1300" dirty="0"/>
          </a:p>
        </p:txBody>
      </p:sp>
      <p:sp>
        <p:nvSpPr>
          <p:cNvPr id="22" name="Text 18"/>
          <p:cNvSpPr txBox="1"/>
          <p:nvPr/>
        </p:nvSpPr>
        <p:spPr>
          <a:xfrm>
            <a:off x="1234440" y="4498848"/>
            <a:ext cx="3931920" cy="3657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Rules: the short never-do-this list</a:t>
            </a:r>
            <a:endParaRPr lang="en-US" sz="1400" dirty="0"/>
          </a:p>
        </p:txBody>
      </p:sp>
      <p:sp>
        <p:nvSpPr>
          <p:cNvPr id="23" name="Text 19"/>
          <p:cNvSpPr txBox="1"/>
          <p:nvPr/>
        </p:nvSpPr>
        <p:spPr>
          <a:xfrm>
            <a:off x="868680" y="4901184"/>
            <a:ext cx="365760" cy="365760"/>
          </a:xfrm>
          <a:prstGeom prst="rect">
            <a:avLst/>
          </a:prstGeom>
          <a:noFill/>
          <a:ln/>
        </p:spPr>
        <p:txBody>
          <a:bodyPr wrap="square" lIns="0" tIns="0" rIns="0" bIns="0" rtlCol="0" anchor="ctr"/>
          <a:lstStyle/>
          <a:p>
            <a:pPr algn="l" indent="0" marL="0">
              <a:lnSpc>
                <a:spcPct val="115000"/>
              </a:lnSpc>
              <a:buNone/>
            </a:pPr>
            <a:r>
              <a:rPr lang="en-US" sz="1300" b="1" dirty="0">
                <a:solidFill>
                  <a:srgbClr val="EF8B39"/>
                </a:solidFill>
                <a:latin typeface="Courier New" pitchFamily="34" charset="0"/>
                <a:ea typeface="Courier New" pitchFamily="34" charset="-122"/>
                <a:cs typeface="Courier New" pitchFamily="34" charset="-120"/>
              </a:rPr>
              <a:t>5</a:t>
            </a:r>
            <a:endParaRPr lang="en-US" sz="1300" dirty="0"/>
          </a:p>
        </p:txBody>
      </p:sp>
      <p:sp>
        <p:nvSpPr>
          <p:cNvPr id="24" name="Text 20"/>
          <p:cNvSpPr txBox="1"/>
          <p:nvPr/>
        </p:nvSpPr>
        <p:spPr>
          <a:xfrm>
            <a:off x="1234440" y="4901184"/>
            <a:ext cx="3931920" cy="3657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One worked example</a:t>
            </a:r>
            <a:endParaRPr lang="en-US" sz="1400" dirty="0"/>
          </a:p>
        </p:txBody>
      </p:sp>
      <p:sp>
        <p:nvSpPr>
          <p:cNvPr id="25" name="Text 21"/>
          <p:cNvSpPr txBox="1"/>
          <p:nvPr/>
        </p:nvSpPr>
        <p:spPr>
          <a:xfrm>
            <a:off x="868680" y="5303520"/>
            <a:ext cx="365760" cy="365760"/>
          </a:xfrm>
          <a:prstGeom prst="rect">
            <a:avLst/>
          </a:prstGeom>
          <a:noFill/>
          <a:ln/>
        </p:spPr>
        <p:txBody>
          <a:bodyPr wrap="square" lIns="0" tIns="0" rIns="0" bIns="0" rtlCol="0" anchor="ctr"/>
          <a:lstStyle/>
          <a:p>
            <a:pPr algn="l" indent="0" marL="0">
              <a:lnSpc>
                <a:spcPct val="115000"/>
              </a:lnSpc>
              <a:buNone/>
            </a:pPr>
            <a:r>
              <a:rPr lang="en-US" sz="1300" b="1" dirty="0">
                <a:solidFill>
                  <a:srgbClr val="EF8B39"/>
                </a:solidFill>
                <a:latin typeface="Courier New" pitchFamily="34" charset="0"/>
                <a:ea typeface="Courier New" pitchFamily="34" charset="-122"/>
                <a:cs typeface="Courier New" pitchFamily="34" charset="-120"/>
              </a:rPr>
              <a:t>6</a:t>
            </a:r>
            <a:endParaRPr lang="en-US" sz="1300" dirty="0"/>
          </a:p>
        </p:txBody>
      </p:sp>
      <p:sp>
        <p:nvSpPr>
          <p:cNvPr id="26" name="Text 22"/>
          <p:cNvSpPr txBox="1"/>
          <p:nvPr/>
        </p:nvSpPr>
        <p:spPr>
          <a:xfrm>
            <a:off x="1234440" y="5303520"/>
            <a:ext cx="3931920" cy="365760"/>
          </a:xfrm>
          <a:prstGeom prst="rect">
            <a:avLst/>
          </a:prstGeom>
          <a:noFill/>
          <a:ln/>
        </p:spPr>
        <p:txBody>
          <a:bodyPr wrap="square" lIns="0" tIns="0" rIns="0" bIns="0" rtlCol="0" anchor="ctr"/>
          <a:lstStyle/>
          <a:p>
            <a:pPr algn="l" indent="0" marL="0">
              <a:lnSpc>
                <a:spcPct val="115000"/>
              </a:lnSpc>
              <a:buNone/>
            </a:pPr>
            <a:r>
              <a:rPr lang="en-US" sz="1400" dirty="0">
                <a:solidFill>
                  <a:srgbClr val="0D1219"/>
                </a:solidFill>
                <a:latin typeface="Arial" pitchFamily="34" charset="0"/>
                <a:ea typeface="Arial" pitchFamily="34" charset="-122"/>
                <a:cs typeface="Arial" pitchFamily="34" charset="-120"/>
              </a:rPr>
              <a:t>Checks that it worked</a:t>
            </a:r>
            <a:endParaRPr lang="en-US" sz="1400" dirty="0"/>
          </a:p>
        </p:txBody>
      </p:sp>
      <p:sp>
        <p:nvSpPr>
          <p:cNvPr id="27" name="Text 23"/>
          <p:cNvSpPr txBox="1"/>
          <p:nvPr/>
        </p:nvSpPr>
        <p:spPr>
          <a:xfrm>
            <a:off x="5943600" y="2194560"/>
            <a:ext cx="5605272" cy="3291840"/>
          </a:xfrm>
          <a:prstGeom prst="rect">
            <a:avLst/>
          </a:prstGeom>
          <a:noFill/>
          <a:ln/>
        </p:spPr>
        <p:txBody>
          <a:bodyPr wrap="square" lIns="0" tIns="0" rIns="0" bIns="0" rtlCol="0" anchor="t"/>
          <a:lstStyle/>
          <a:p>
            <a:pPr indent="0" marL="0">
              <a:lnSpc>
                <a:spcPct val="120000"/>
              </a:lnSpc>
              <a:spcAft>
                <a:spcPts val="1400"/>
              </a:spcAft>
              <a:buNone/>
            </a:pPr>
            <a:r>
              <a:rPr lang="en-US" sz="1600" dirty="0">
                <a:solidFill>
                  <a:srgbClr val="0D1219"/>
                </a:solidFill>
                <a:latin typeface="Arial" pitchFamily="34" charset="0"/>
                <a:ea typeface="Arial" pitchFamily="34" charset="-122"/>
                <a:cs typeface="Arial" pitchFamily="34" charset="-120"/>
              </a:rPr>
              <a:t>The front matter: a name, and a description that says when to use it. Put the trigger phrases in.</a:t>
            </a:r>
            <a:endParaRPr lang="en-US" sz="1600" dirty="0"/>
          </a:p>
          <a:p>
            <a:pPr indent="0" marL="0">
              <a:lnSpc>
                <a:spcPct val="120000"/>
              </a:lnSpc>
              <a:spcAft>
                <a:spcPts val="1400"/>
              </a:spcAft>
              <a:buNone/>
            </a:pPr>
            <a:r>
              <a:rPr lang="en-US" sz="1600" dirty="0">
                <a:solidFill>
                  <a:srgbClr val="0D1219"/>
                </a:solidFill>
                <a:latin typeface="Arial" pitchFamily="34" charset="0"/>
                <a:ea typeface="Arial" pitchFamily="34" charset="-122"/>
                <a:cs typeface="Arial" pitchFamily="34" charset="-120"/>
              </a:rPr>
              <a:t>The body: six parts, in this order.</a:t>
            </a:r>
            <a:endParaRPr lang="en-US" sz="1600" dirty="0"/>
          </a:p>
          <a:p>
            <a:pPr indent="0" marL="0">
              <a:lnSpc>
                <a:spcPct val="120000"/>
              </a:lnSpc>
              <a:spcAft>
                <a:spcPts val="1400"/>
              </a:spcAft>
              <a:buNone/>
            </a:pPr>
            <a:r>
              <a:rPr lang="en-US" sz="1600" dirty="0">
                <a:solidFill>
                  <a:srgbClr val="0D1219"/>
                </a:solidFill>
                <a:latin typeface="Arial" pitchFamily="34" charset="0"/>
                <a:ea typeface="Arial" pitchFamily="34" charset="-122"/>
                <a:cs typeface="Arial" pitchFamily="34" charset="-120"/>
              </a:rPr>
              <a:t>Open skills/vc-plan-first/SKILL.md. That exact shape. Copy it from templates/SKILL-template.md.</a:t>
            </a:r>
            <a:endParaRPr lang="en-US" sz="16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SKILLS · DOCS/SKILLS-GUIDE.MD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11:45 – 11:51</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What makes a skill good: six things.</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The test: hand it and the same request to two different chatbots. Same shape of answer? It’s working.</a:t>
            </a:r>
            <a:endParaRPr lang="en-US" sz="1600" dirty="0"/>
          </a:p>
        </p:txBody>
      </p:sp>
      <p:sp>
        <p:nvSpPr>
          <p:cNvPr id="9" name="Text 5"/>
          <p:cNvSpPr txBox="1"/>
          <p:nvPr/>
        </p:nvSpPr>
        <p:spPr>
          <a:xfrm>
            <a:off x="640080" y="2194560"/>
            <a:ext cx="10908792" cy="3291840"/>
          </a:xfrm>
          <a:prstGeom prst="rect">
            <a:avLst/>
          </a:prstGeom>
          <a:noFill/>
          <a:ln/>
        </p:spPr>
        <p:txBody>
          <a:bodyPr wrap="square" lIns="0" tIns="0" rIns="0" bIns="0" rtlCol="0" anchor="t"/>
          <a:lstStyle/>
          <a:p>
            <a:pPr indent="0" marL="0">
              <a:lnSpc>
                <a:spcPct val="120000"/>
              </a:lnSpc>
              <a:spcAft>
                <a:spcPts val="800"/>
              </a:spcAft>
              <a:buNone/>
            </a:pPr>
            <a:r>
              <a:rPr lang="en-US" sz="2000" dirty="0">
                <a:solidFill>
                  <a:srgbClr val="0D1219"/>
                </a:solidFill>
                <a:latin typeface="Arial" pitchFamily="34" charset="0"/>
                <a:ea typeface="Arial" pitchFamily="34" charset="-122"/>
                <a:cs typeface="Arial" pitchFamily="34" charset="-120"/>
              </a:rPr>
              <a:t>1   One job. “Write the brief.”</a:t>
            </a:r>
            <a:endParaRPr lang="en-US" sz="2000" dirty="0"/>
          </a:p>
          <a:p>
            <a:pPr indent="0" marL="0">
              <a:lnSpc>
                <a:spcPct val="120000"/>
              </a:lnSpc>
              <a:spcAft>
                <a:spcPts val="800"/>
              </a:spcAft>
              <a:buNone/>
            </a:pPr>
            <a:r>
              <a:rPr lang="en-US" sz="2000" dirty="0">
                <a:solidFill>
                  <a:srgbClr val="0D1219"/>
                </a:solidFill>
                <a:latin typeface="Arial" pitchFamily="34" charset="0"/>
                <a:ea typeface="Arial" pitchFamily="34" charset="-122"/>
                <a:cs typeface="Arial" pitchFamily="34" charset="-120"/>
              </a:rPr>
              <a:t>2   Triggers in the description.</a:t>
            </a:r>
            <a:endParaRPr lang="en-US" sz="2000" dirty="0"/>
          </a:p>
          <a:p>
            <a:pPr indent="0" marL="0">
              <a:lnSpc>
                <a:spcPct val="120000"/>
              </a:lnSpc>
              <a:spcAft>
                <a:spcPts val="800"/>
              </a:spcAft>
              <a:buNone/>
            </a:pPr>
            <a:r>
              <a:rPr lang="en-US" sz="2000" dirty="0">
                <a:solidFill>
                  <a:srgbClr val="0D1219"/>
                </a:solidFill>
                <a:latin typeface="Arial" pitchFamily="34" charset="0"/>
                <a:ea typeface="Arial" pitchFamily="34" charset="-122"/>
                <a:cs typeface="Arial" pitchFamily="34" charset="-120"/>
              </a:rPr>
              <a:t>3   Steps end in something you can see.</a:t>
            </a:r>
            <a:endParaRPr lang="en-US" sz="2000" dirty="0"/>
          </a:p>
          <a:p>
            <a:pPr indent="0" marL="0">
              <a:lnSpc>
                <a:spcPct val="120000"/>
              </a:lnSpc>
              <a:spcAft>
                <a:spcPts val="800"/>
              </a:spcAft>
              <a:buNone/>
            </a:pPr>
            <a:r>
              <a:rPr lang="en-US" sz="2000" dirty="0">
                <a:solidFill>
                  <a:srgbClr val="0D1219"/>
                </a:solidFill>
                <a:latin typeface="Arial" pitchFamily="34" charset="0"/>
                <a:ea typeface="Arial" pitchFamily="34" charset="-122"/>
                <a:cs typeface="Arial" pitchFamily="34" charset="-120"/>
              </a:rPr>
              <a:t>4   A rules list with the three ways it goes wrong.</a:t>
            </a:r>
            <a:endParaRPr lang="en-US" sz="2000" dirty="0"/>
          </a:p>
          <a:p>
            <a:pPr indent="0" marL="0">
              <a:lnSpc>
                <a:spcPct val="120000"/>
              </a:lnSpc>
              <a:spcAft>
                <a:spcPts val="800"/>
              </a:spcAft>
              <a:buNone/>
            </a:pPr>
            <a:r>
              <a:rPr lang="en-US" sz="2000" dirty="0">
                <a:solidFill>
                  <a:srgbClr val="0D1219"/>
                </a:solidFill>
                <a:latin typeface="Arial" pitchFamily="34" charset="0"/>
                <a:ea typeface="Arial" pitchFamily="34" charset="-122"/>
                <a:cs typeface="Arial" pitchFamily="34" charset="-120"/>
              </a:rPr>
              <a:t>5   One worked example.</a:t>
            </a:r>
            <a:endParaRPr lang="en-US" sz="2000" dirty="0"/>
          </a:p>
          <a:p>
            <a:pPr indent="0" marL="0">
              <a:lnSpc>
                <a:spcPct val="120000"/>
              </a:lnSpc>
              <a:spcAft>
                <a:spcPts val="800"/>
              </a:spcAft>
              <a:buNone/>
            </a:pPr>
            <a:r>
              <a:rPr lang="en-US" sz="2000" dirty="0">
                <a:solidFill>
                  <a:srgbClr val="0D1219"/>
                </a:solidFill>
                <a:latin typeface="Arial" pitchFamily="34" charset="0"/>
                <a:ea typeface="Arial" pitchFamily="34" charset="-122"/>
                <a:cs typeface="Arial" pitchFamily="34" charset="-120"/>
              </a:rPr>
              <a:t>6   Under about 300 lines.</a:t>
            </a:r>
            <a:endParaRPr lang="en-US" sz="2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SKILLS · DOCS/SKILLS-GUIDE.MD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11:45 – 11:51</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Install it where you work. Three ways in each.</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A skill is text. Any chatbot that can read a file or a paste can use one. The rows differ in how automatically it loads.</a:t>
            </a:r>
            <a:endParaRPr lang="en-US" sz="1600" dirty="0"/>
          </a:p>
        </p:txBody>
      </p:sp>
      <p:sp>
        <p:nvSpPr>
          <p:cNvPr id="9" name="Text 5"/>
          <p:cNvSpPr txBox="1"/>
          <p:nvPr/>
        </p:nvSpPr>
        <p:spPr>
          <a:xfrm>
            <a:off x="640080" y="2148840"/>
            <a:ext cx="5225796" cy="365760"/>
          </a:xfrm>
          <a:prstGeom prst="rect">
            <a:avLst/>
          </a:prstGeom>
          <a:noFill/>
          <a:ln/>
        </p:spPr>
        <p:txBody>
          <a:bodyPr wrap="square" lIns="0" tIns="0" rIns="0" bIns="0" rtlCol="0" anchor="t"/>
          <a:lstStyle/>
          <a:p>
            <a:pPr algn="l" indent="0" marL="0">
              <a:lnSpc>
                <a:spcPct val="115000"/>
              </a:lnSpc>
              <a:buNone/>
            </a:pPr>
            <a:r>
              <a:rPr lang="en-US" sz="2200" b="1" dirty="0">
                <a:solidFill>
                  <a:srgbClr val="0D1219"/>
                </a:solidFill>
                <a:latin typeface="Arial" pitchFamily="34" charset="0"/>
                <a:ea typeface="Arial" pitchFamily="34" charset="-122"/>
                <a:cs typeface="Arial" pitchFamily="34" charset="-120"/>
              </a:rPr>
              <a:t>Claude</a:t>
            </a:r>
            <a:endParaRPr lang="en-US" sz="2200" dirty="0"/>
          </a:p>
        </p:txBody>
      </p:sp>
      <p:sp>
        <p:nvSpPr>
          <p:cNvPr id="10" name="Text 6"/>
          <p:cNvSpPr txBox="1"/>
          <p:nvPr/>
        </p:nvSpPr>
        <p:spPr>
          <a:xfrm>
            <a:off x="640080" y="2606040"/>
            <a:ext cx="5225796" cy="27432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EF8B39"/>
                </a:solidFill>
                <a:latin typeface="Courier New" pitchFamily="34" charset="0"/>
                <a:ea typeface="Courier New" pitchFamily="34" charset="-122"/>
                <a:cs typeface="Courier New" pitchFamily="34" charset="-120"/>
              </a:rPr>
              <a:t>Claude.ai, any plan</a:t>
            </a:r>
            <a:endParaRPr lang="en-US" sz="1100" dirty="0"/>
          </a:p>
        </p:txBody>
      </p:sp>
      <p:sp>
        <p:nvSpPr>
          <p:cNvPr id="11" name="Text 7"/>
          <p:cNvSpPr txBox="1"/>
          <p:nvPr/>
        </p:nvSpPr>
        <p:spPr>
          <a:xfrm>
            <a:off x="640080" y="2880360"/>
            <a:ext cx="5225796" cy="77724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Open a Project. Add SKILL.md to its knowledge. One line in the project instructions: “Follow the attached skills when their trigger phrases apply.”</a:t>
            </a:r>
            <a:endParaRPr lang="en-US" sz="1300" dirty="0"/>
          </a:p>
        </p:txBody>
      </p:sp>
      <p:sp>
        <p:nvSpPr>
          <p:cNvPr id="12" name="Text 8"/>
          <p:cNvSpPr txBox="1"/>
          <p:nvPr/>
        </p:nvSpPr>
        <p:spPr>
          <a:xfrm>
            <a:off x="640080" y="3657600"/>
            <a:ext cx="5225796" cy="27432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EF8B39"/>
                </a:solidFill>
                <a:latin typeface="Courier New" pitchFamily="34" charset="0"/>
                <a:ea typeface="Courier New" pitchFamily="34" charset="-122"/>
                <a:cs typeface="Courier New" pitchFamily="34" charset="-120"/>
              </a:rPr>
              <a:t>Claude.ai, plans with Skills</a:t>
            </a:r>
            <a:endParaRPr lang="en-US" sz="1100" dirty="0"/>
          </a:p>
        </p:txBody>
      </p:sp>
      <p:sp>
        <p:nvSpPr>
          <p:cNvPr id="13" name="Text 9"/>
          <p:cNvSpPr txBox="1"/>
          <p:nvPr/>
        </p:nvSpPr>
        <p:spPr>
          <a:xfrm>
            <a:off x="640080" y="3931920"/>
            <a:ext cx="5225796" cy="77724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Settings → Capabilities → Skills. Upload the skill folder as a ZIP. Toggle it on. It loads itself when the description matches.</a:t>
            </a:r>
            <a:endParaRPr lang="en-US" sz="1300" dirty="0"/>
          </a:p>
        </p:txBody>
      </p:sp>
      <p:sp>
        <p:nvSpPr>
          <p:cNvPr id="14" name="Text 10"/>
          <p:cNvSpPr txBox="1"/>
          <p:nvPr/>
        </p:nvSpPr>
        <p:spPr>
          <a:xfrm>
            <a:off x="640080" y="4709160"/>
            <a:ext cx="5225796" cy="27432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EF8B39"/>
                </a:solidFill>
                <a:latin typeface="Courier New" pitchFamily="34" charset="0"/>
                <a:ea typeface="Courier New" pitchFamily="34" charset="-122"/>
                <a:cs typeface="Courier New" pitchFamily="34" charset="-120"/>
              </a:rPr>
              <a:t>Claude Code and Cowork</a:t>
            </a:r>
            <a:endParaRPr lang="en-US" sz="1100" dirty="0"/>
          </a:p>
        </p:txBody>
      </p:sp>
      <p:sp>
        <p:nvSpPr>
          <p:cNvPr id="15" name="Text 11"/>
          <p:cNvSpPr txBox="1"/>
          <p:nvPr/>
        </p:nvSpPr>
        <p:spPr>
          <a:xfrm>
            <a:off x="640080" y="4983480"/>
            <a:ext cx="5225796" cy="77724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Put the folder at .claude/skills/&lt;name&gt;/SKILL.md in your project. It appears as /&lt;name&gt;. Nothing to upload.</a:t>
            </a:r>
            <a:endParaRPr lang="en-US" sz="1300" dirty="0"/>
          </a:p>
        </p:txBody>
      </p:sp>
      <p:sp>
        <p:nvSpPr>
          <p:cNvPr id="16" name="Text 12"/>
          <p:cNvSpPr txBox="1"/>
          <p:nvPr/>
        </p:nvSpPr>
        <p:spPr>
          <a:xfrm>
            <a:off x="6323076" y="2148840"/>
            <a:ext cx="5225796" cy="365760"/>
          </a:xfrm>
          <a:prstGeom prst="rect">
            <a:avLst/>
          </a:prstGeom>
          <a:noFill/>
          <a:ln/>
        </p:spPr>
        <p:txBody>
          <a:bodyPr wrap="square" lIns="0" tIns="0" rIns="0" bIns="0" rtlCol="0" anchor="t"/>
          <a:lstStyle/>
          <a:p>
            <a:pPr algn="l" indent="0" marL="0">
              <a:lnSpc>
                <a:spcPct val="115000"/>
              </a:lnSpc>
              <a:buNone/>
            </a:pPr>
            <a:r>
              <a:rPr lang="en-US" sz="2200" b="1" dirty="0">
                <a:solidFill>
                  <a:srgbClr val="0D1219"/>
                </a:solidFill>
                <a:latin typeface="Arial" pitchFamily="34" charset="0"/>
                <a:ea typeface="Arial" pitchFamily="34" charset="-122"/>
                <a:cs typeface="Arial" pitchFamily="34" charset="-120"/>
              </a:rPr>
              <a:t>ChatGPT</a:t>
            </a:r>
            <a:endParaRPr lang="en-US" sz="2200" dirty="0"/>
          </a:p>
        </p:txBody>
      </p:sp>
      <p:sp>
        <p:nvSpPr>
          <p:cNvPr id="17" name="Text 13"/>
          <p:cNvSpPr txBox="1"/>
          <p:nvPr/>
        </p:nvSpPr>
        <p:spPr>
          <a:xfrm>
            <a:off x="6323076" y="2606040"/>
            <a:ext cx="5225796" cy="27432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EF8B39"/>
                </a:solidFill>
                <a:latin typeface="Courier New" pitchFamily="34" charset="0"/>
                <a:ea typeface="Courier New" pitchFamily="34" charset="-122"/>
                <a:cs typeface="Courier New" pitchFamily="34" charset="-120"/>
              </a:rPr>
              <a:t>Any chat, any plan</a:t>
            </a:r>
            <a:endParaRPr lang="en-US" sz="1100" dirty="0"/>
          </a:p>
        </p:txBody>
      </p:sp>
      <p:sp>
        <p:nvSpPr>
          <p:cNvPr id="18" name="Text 14"/>
          <p:cNvSpPr txBox="1"/>
          <p:nvPr/>
        </p:nvSpPr>
        <p:spPr>
          <a:xfrm>
            <a:off x="6323076" y="2880360"/>
            <a:ext cx="5225796" cy="77724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Paste SKILL.md after the one-line instruction on the next slide. Lasts one conversation.</a:t>
            </a:r>
            <a:endParaRPr lang="en-US" sz="1300" dirty="0"/>
          </a:p>
        </p:txBody>
      </p:sp>
      <p:sp>
        <p:nvSpPr>
          <p:cNvPr id="19" name="Text 15"/>
          <p:cNvSpPr txBox="1"/>
          <p:nvPr/>
        </p:nvSpPr>
        <p:spPr>
          <a:xfrm>
            <a:off x="6323076" y="3657600"/>
            <a:ext cx="5225796" cy="27432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EF8B39"/>
                </a:solidFill>
                <a:latin typeface="Courier New" pitchFamily="34" charset="0"/>
                <a:ea typeface="Courier New" pitchFamily="34" charset="-122"/>
                <a:cs typeface="Courier New" pitchFamily="34" charset="-120"/>
              </a:rPr>
              <a:t>A Project</a:t>
            </a:r>
            <a:endParaRPr lang="en-US" sz="1100" dirty="0"/>
          </a:p>
        </p:txBody>
      </p:sp>
      <p:sp>
        <p:nvSpPr>
          <p:cNvPr id="20" name="Text 16"/>
          <p:cNvSpPr txBox="1"/>
          <p:nvPr/>
        </p:nvSpPr>
        <p:spPr>
          <a:xfrm>
            <a:off x="6323076" y="3931920"/>
            <a:ext cx="5225796" cy="77724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Create a Project. Upload the SKILL.md files. In the instructions: “Follow the attached skills when their trigger phrases apply. Say which one you are using.”</a:t>
            </a:r>
            <a:endParaRPr lang="en-US" sz="1300" dirty="0"/>
          </a:p>
        </p:txBody>
      </p:sp>
      <p:sp>
        <p:nvSpPr>
          <p:cNvPr id="21" name="Text 17"/>
          <p:cNvSpPr txBox="1"/>
          <p:nvPr/>
        </p:nvSpPr>
        <p:spPr>
          <a:xfrm>
            <a:off x="6323076" y="4709160"/>
            <a:ext cx="5225796" cy="274320"/>
          </a:xfrm>
          <a:prstGeom prst="rect">
            <a:avLst/>
          </a:prstGeom>
          <a:noFill/>
          <a:ln/>
        </p:spPr>
        <p:txBody>
          <a:bodyPr wrap="square" lIns="0" tIns="0" rIns="0" bIns="0" rtlCol="0" anchor="t"/>
          <a:lstStyle/>
          <a:p>
            <a:pPr algn="l" indent="0" marL="0">
              <a:lnSpc>
                <a:spcPct val="115000"/>
              </a:lnSpc>
              <a:buNone/>
            </a:pPr>
            <a:r>
              <a:rPr lang="en-US" sz="1100" b="1" spc="100" kern="0" dirty="0">
                <a:solidFill>
                  <a:srgbClr val="EF8B39"/>
                </a:solidFill>
                <a:latin typeface="Courier New" pitchFamily="34" charset="0"/>
                <a:ea typeface="Courier New" pitchFamily="34" charset="-122"/>
                <a:cs typeface="Courier New" pitchFamily="34" charset="-120"/>
              </a:rPr>
              <a:t>A custom GPT</a:t>
            </a:r>
            <a:endParaRPr lang="en-US" sz="1100" dirty="0"/>
          </a:p>
        </p:txBody>
      </p:sp>
      <p:sp>
        <p:nvSpPr>
          <p:cNvPr id="22" name="Text 18"/>
          <p:cNvSpPr txBox="1"/>
          <p:nvPr/>
        </p:nvSpPr>
        <p:spPr>
          <a:xfrm>
            <a:off x="6323076" y="4983480"/>
            <a:ext cx="5225796" cy="777240"/>
          </a:xfrm>
          <a:prstGeom prst="rect">
            <a:avLst/>
          </a:prstGeom>
          <a:noFill/>
          <a:ln/>
        </p:spPr>
        <p:txBody>
          <a:bodyPr wrap="square" lIns="0" tIns="0" rIns="0" bIns="0" rtlCol="0" anchor="t"/>
          <a:lstStyle/>
          <a:p>
            <a:pPr algn="l" indent="0" marL="0">
              <a:lnSpc>
                <a:spcPct val="115000"/>
              </a:lnSpc>
              <a:buNone/>
            </a:pPr>
            <a:r>
              <a:rPr lang="en-US" sz="1300" dirty="0">
                <a:solidFill>
                  <a:srgbClr val="0D1219"/>
                </a:solidFill>
                <a:latin typeface="Arial" pitchFamily="34" charset="0"/>
                <a:ea typeface="Arial" pitchFamily="34" charset="-122"/>
                <a:cs typeface="Arial" pitchFamily="34" charset="-120"/>
              </a:rPr>
              <a:t>Create a GPT. Upload the skills as Knowledge. Same line in its instructions. Share it with your team.</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LIVE HACKING · SPRINT 1 · YOUR CHATBOT, YOUR KEYBOARD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11:51 – 12:00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Pick one row. Load one skill. Check it.</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Open source, use them after class: github.com/mrhinkle/aienterprise-skills · github.com/mrhinkle/VibeCoding-a-Website</a:t>
            </a:r>
            <a:endParaRPr lang="en-US" sz="1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640080" y="2103120"/>
          <a:ext cx="7132320" cy="914400"/>
        </p:xfrm>
        <a:graphic>
          <a:graphicData uri="http://schemas.openxmlformats.org/drawingml/2006/table">
            <a:tbl>
              <a:tblPr/>
              <a:tblGrid>
                <a:gridCol w="411480"/>
                <a:gridCol w="4709160"/>
                <a:gridCol w="2011680"/>
              </a:tblGrid>
              <a:tr h="338328">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FEATURE YOU GET</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SKILL</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Your own colors, fonts, and look, recorded so they never drift</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site-customizer</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2</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A headline and About section that sell without sounding salesy</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copy-editor</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Writing that sounds like a person, not a chatbot</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ai-slop-killer</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A prompt for a hero or background image</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brand-to-images</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5</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A contact form that actually delivers</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aie-web-forms</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Your name finds your site in Google and in AI answers</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aie-web-seo</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7</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Every link, image, and anchor works</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aie-web-links</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A usability review from a stranger’s point of view</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aie-web-ux</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9</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The “does it actually work” gate before you share it</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aie-web-qa</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338328">
                <a:tc>
                  <a:txBody>
                    <a:bodyPr/>
                    <a:lstStyle/>
                    <a:p>
                      <a:pPr indent="0" marL="0">
                        <a:buNone/>
                      </a:pPr>
                      <a:r>
                        <a:rPr lang="en-US" sz="1150" dirty="0">
                          <a:solidFill>
                            <a:srgbClr val="5B6675"/>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Arial" pitchFamily="34" charset="0"/>
                          <a:ea typeface="Arial" pitchFamily="34" charset="-122"/>
                          <a:cs typeface="Arial" pitchFamily="34" charset="-120"/>
                        </a:rPr>
                        <a:t>A LinkedIn post that announces the site in your voice</a:t>
                      </a:r>
                      <a:endParaRPr lang="en-US" sz="115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150" dirty="0">
                          <a:solidFill>
                            <a:srgbClr val="5B6675"/>
                          </a:solidFill>
                          <a:latin typeface="Courier New" pitchFamily="34" charset="0"/>
                          <a:ea typeface="Courier New" pitchFamily="34" charset="-122"/>
                          <a:cs typeface="Courier New" pitchFamily="34" charset="-120"/>
                        </a:rPr>
                        <a:t>aie-social-linkedin</a:t>
                      </a:r>
                      <a:endParaRPr lang="en-US" sz="115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bl>
          </a:graphicData>
        </a:graphic>
      </p:graphicFrame>
      <p:sp>
        <p:nvSpPr>
          <p:cNvPr id="10" name="Shape 5"/>
          <p:cNvSpPr/>
          <p:nvPr/>
        </p:nvSpPr>
        <p:spPr>
          <a:xfrm>
            <a:off x="8001000" y="2103120"/>
            <a:ext cx="3547872" cy="2011680"/>
          </a:xfrm>
          <a:prstGeom prst="rect">
            <a:avLst/>
          </a:prstGeom>
          <a:solidFill>
            <a:srgbClr val="121B2B"/>
          </a:solidFill>
          <a:ln w="12700">
            <a:solidFill>
              <a:srgbClr val="EF8B39"/>
            </a:solidFill>
            <a:prstDash val="solid"/>
          </a:ln>
        </p:spPr>
      </p:sp>
      <p:sp>
        <p:nvSpPr>
          <p:cNvPr id="11" name="Text 6"/>
          <p:cNvSpPr/>
          <p:nvPr/>
        </p:nvSpPr>
        <p:spPr>
          <a:xfrm>
            <a:off x="8229600" y="2231136"/>
            <a:ext cx="309067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PASTE THE SKILL BELOW THIS</a:t>
            </a:r>
            <a:endParaRPr lang="en-US" sz="1100" dirty="0"/>
          </a:p>
        </p:txBody>
      </p:sp>
      <p:sp>
        <p:nvSpPr>
          <p:cNvPr id="12" name="Text 7"/>
          <p:cNvSpPr txBox="1"/>
          <p:nvPr/>
        </p:nvSpPr>
        <p:spPr>
          <a:xfrm>
            <a:off x="8229600" y="2560320"/>
            <a:ext cx="3090672" cy="141732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Use the following instructions as a skill for my next request. Read them, confirm what you will and will not do, then wait for my task.</a:t>
            </a:r>
            <a:endParaRPr lang="en-US" sz="1400" dirty="0"/>
          </a:p>
        </p:txBody>
      </p:sp>
      <p:sp>
        <p:nvSpPr>
          <p:cNvPr id="13" name="Text 8"/>
          <p:cNvSpPr txBox="1"/>
          <p:nvPr/>
        </p:nvSpPr>
        <p:spPr>
          <a:xfrm>
            <a:off x="8001000" y="4297680"/>
            <a:ext cx="3547872" cy="1280160"/>
          </a:xfrm>
          <a:prstGeom prst="rect">
            <a:avLst/>
          </a:prstGeom>
          <a:noFill/>
          <a:ln/>
        </p:spPr>
        <p:txBody>
          <a:bodyPr wrap="square" lIns="0" tIns="0" rIns="0" bIns="0" rtlCol="0" anchor="t"/>
          <a:lstStyle/>
          <a:p>
            <a:pPr algn="l" indent="0" marL="0">
              <a:lnSpc>
                <a:spcPct val="115000"/>
              </a:lnSpc>
              <a:buNone/>
            </a:pPr>
            <a:r>
              <a:rPr lang="en-US" sz="1400" dirty="0">
                <a:solidFill>
                  <a:srgbClr val="5B6675"/>
                </a:solidFill>
                <a:latin typeface="Arial" pitchFamily="34" charset="0"/>
                <a:ea typeface="Arial" pitchFamily="34" charset="-122"/>
                <a:cs typeface="Arial" pitchFamily="34" charset="-120"/>
              </a:rPr>
              <a:t>Raw links and task prompts: docs/website-skills-menu.md. Save a copy of index.html first. One skill, one task, one complete file.</a:t>
            </a:r>
            <a:endParaRPr lang="en-US" sz="1400" dirty="0"/>
          </a:p>
        </p:txBody>
      </p:sp>
      <p:sp>
        <p:nvSpPr>
          <p:cNvPr id="14" name="Text 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h-white.png">    </p:cNvPr>
          <p:cNvPicPr>
            <a:picLocks noChangeAspect="1"/>
          </p:cNvPicPr>
          <p:nvPr/>
        </p:nvPicPr>
        <p:blipFill>
          <a:blip r:embed="rId2"/>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LUNCH</a:t>
            </a:r>
            <a:endParaRPr lang="en-US" sz="1100" dirty="0"/>
          </a:p>
        </p:txBody>
      </p:sp>
      <p:sp>
        <p:nvSpPr>
          <p:cNvPr id="6" name="Text 2"/>
          <p:cNvSpPr txBox="1"/>
          <p:nvPr/>
        </p:nvSpPr>
        <p:spPr>
          <a:xfrm>
            <a:off x="640080" y="1371600"/>
            <a:ext cx="10908792"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12:00 – 12:45</a:t>
            </a:r>
            <a:endParaRPr lang="en-US" sz="5400" dirty="0"/>
          </a:p>
        </p:txBody>
      </p:sp>
      <p:sp>
        <p:nvSpPr>
          <p:cNvPr id="7" name="Text 3"/>
          <p:cNvSpPr txBox="1"/>
          <p:nvPr/>
        </p:nvSpPr>
        <p:spPr>
          <a:xfrm>
            <a:off x="640080" y="2514600"/>
            <a:ext cx="10908792" cy="548640"/>
          </a:xfrm>
          <a:prstGeom prst="rect">
            <a:avLst/>
          </a:prstGeom>
          <a:noFill/>
          <a:ln/>
        </p:spPr>
        <p:txBody>
          <a:bodyPr wrap="square" lIns="0" tIns="0" rIns="0" bIns="0" rtlCol="0" anchor="ctr"/>
          <a:lstStyle/>
          <a:p>
            <a:pPr indent="0" marL="0">
              <a:buNone/>
            </a:pPr>
            <a:r>
              <a:rPr lang="en-US" sz="1800" dirty="0">
                <a:solidFill>
                  <a:srgbClr val="EF8B39"/>
                </a:solidFill>
                <a:latin typeface="Courier New" pitchFamily="34" charset="0"/>
                <a:ea typeface="Courier New" pitchFamily="34" charset="-122"/>
                <a:cs typeface="Courier New" pitchFamily="34" charset="-120"/>
              </a:rPr>
              <a:t>Back at 12:45. The afternoon is the game.</a:t>
            </a:r>
            <a:endParaRPr lang="en-US" sz="1800" dirty="0"/>
          </a:p>
        </p:txBody>
      </p:sp>
      <p:sp>
        <p:nvSpPr>
          <p:cNvPr id="8" name="Text 4"/>
          <p:cNvSpPr txBox="1"/>
          <p:nvPr/>
        </p:nvSpPr>
        <p:spPr>
          <a:xfrm>
            <a:off x="640080" y="3566160"/>
            <a:ext cx="731520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WHEN YOU SIT BACK DOWN, HAVE THIS</a:t>
            </a:r>
            <a:endParaRPr lang="en-US" sz="1100" dirty="0"/>
          </a:p>
        </p:txBody>
      </p:sp>
      <p:sp>
        <p:nvSpPr>
          <p:cNvPr id="9" name="Text 5"/>
          <p:cNvSpPr txBox="1"/>
          <p:nvPr/>
        </p:nvSpPr>
        <p:spPr>
          <a:xfrm>
            <a:off x="640080" y="3931920"/>
            <a:ext cx="8686800" cy="1828800"/>
          </a:xfrm>
          <a:prstGeom prst="rect">
            <a:avLst/>
          </a:prstGeom>
          <a:noFill/>
          <a:ln/>
        </p:spPr>
        <p:txBody>
          <a:bodyPr wrap="square" lIns="0" tIns="0" rIns="0" bIns="0" rtlCol="0" anchor="t"/>
          <a:lstStyle/>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1   Your website URL in project-state.md</a:t>
            </a:r>
            <a:endParaRPr lang="en-US" sz="1800" dirty="0"/>
          </a:p>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2   examples/alien-tic-tac-toe/checkpoint-3-complete/index.html open; play one round</a:t>
            </a:r>
            <a:endParaRPr lang="en-US" sz="1800" dirty="0"/>
          </a:p>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3   Think about two emoji that are easy to tell apart</a:t>
            </a:r>
            <a:endParaRPr 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59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CHOOSE A TRACK</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12:45 – 12:50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Two tracks after lunch. Same gates, same deadline.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Both tracks: a brief with checks by 1:40, a pull request per increment, live by 4:35.</a:t>
            </a:r>
            <a:endParaRPr lang="en-US" sz="1600" dirty="0"/>
          </a:p>
        </p:txBody>
      </p:sp>
      <p:sp>
        <p:nvSpPr>
          <p:cNvPr id="9" name="Text 5"/>
          <p:cNvSpPr txBox="1"/>
          <p:nvPr/>
        </p:nvSpPr>
        <p:spPr>
          <a:xfrm>
            <a:off x="640080" y="2194560"/>
            <a:ext cx="5225796"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TRACK A · THE GUIDED GAME</a:t>
            </a:r>
            <a:endParaRPr lang="en-US" sz="1100" dirty="0"/>
          </a:p>
        </p:txBody>
      </p:sp>
      <p:sp>
        <p:nvSpPr>
          <p:cNvPr id="10" name="Text 6"/>
          <p:cNvSpPr txBox="1"/>
          <p:nvPr/>
        </p:nvSpPr>
        <p:spPr>
          <a:xfrm>
            <a:off x="640080" y="2542032"/>
            <a:ext cx="5225796" cy="45720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Themed tic-tac-toe battle game</a:t>
            </a:r>
            <a:endParaRPr lang="en-US" sz="2000" dirty="0"/>
          </a:p>
        </p:txBody>
      </p:sp>
      <p:sp>
        <p:nvSpPr>
          <p:cNvPr id="11" name="Text 7"/>
          <p:cNvSpPr txBox="1"/>
          <p:nvPr/>
        </p:nvSpPr>
        <p:spPr>
          <a:xfrm>
            <a:off x="640080" y="3108960"/>
            <a:ext cx="5225796" cy="2377440"/>
          </a:xfrm>
          <a:prstGeom prst="rect">
            <a:avLst/>
          </a:prstGeom>
          <a:noFill/>
          <a:ln/>
        </p:spPr>
        <p:txBody>
          <a:bodyPr wrap="square" lIns="0" tIns="0" rIns="0" bIns="0" rtlCol="0" anchor="t"/>
          <a:lstStyle/>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Tested checkpoints at every stage. Eight themes.</a:t>
            </a:r>
            <a:endParaRPr lang="en-US" sz="1600" dirty="0"/>
          </a:p>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Board, then battle, then connected. Theme, playtest, publish.</a:t>
            </a:r>
            <a:endParaRPr lang="en-US" sz="1600" dirty="0"/>
          </a:p>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Pick it if you want to be sure you ship.</a:t>
            </a:r>
            <a:endParaRPr lang="en-US" sz="1600" dirty="0"/>
          </a:p>
        </p:txBody>
      </p:sp>
      <p:sp>
        <p:nvSpPr>
          <p:cNvPr id="12" name="Text 8"/>
          <p:cNvSpPr txBox="1"/>
          <p:nvPr/>
        </p:nvSpPr>
        <p:spPr>
          <a:xfrm>
            <a:off x="6323076" y="2194560"/>
            <a:ext cx="5225796"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TRACK B · YOUR OWN SMALL PROJECT</a:t>
            </a:r>
            <a:endParaRPr lang="en-US" sz="1100" dirty="0"/>
          </a:p>
        </p:txBody>
      </p:sp>
      <p:sp>
        <p:nvSpPr>
          <p:cNvPr id="13" name="Text 9"/>
          <p:cNvSpPr txBox="1"/>
          <p:nvPr/>
        </p:nvSpPr>
        <p:spPr>
          <a:xfrm>
            <a:off x="6323076" y="2542032"/>
            <a:ext cx="5225796" cy="45720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The thing you brought</a:t>
            </a:r>
            <a:endParaRPr lang="en-US" sz="2000" dirty="0"/>
          </a:p>
        </p:txBody>
      </p:sp>
      <p:sp>
        <p:nvSpPr>
          <p:cNvPr id="14" name="Text 10"/>
          <p:cNvSpPr txBox="1"/>
          <p:nvPr/>
        </p:nvSpPr>
        <p:spPr>
          <a:xfrm>
            <a:off x="6323076" y="3108960"/>
            <a:ext cx="5225796" cy="2377440"/>
          </a:xfrm>
          <a:prstGeom prst="rect">
            <a:avLst/>
          </a:prstGeom>
          <a:noFill/>
          <a:ln/>
        </p:spPr>
        <p:txBody>
          <a:bodyPr wrap="square" lIns="0" tIns="0" rIns="0" bIns="0" rtlCol="0" anchor="t"/>
          <a:lstStyle/>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A tool for your team, a dashboard, a prototype.</a:t>
            </a:r>
            <a:endParaRPr lang="en-US" sz="1600" dirty="0"/>
          </a:p>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One screen, one input, one result. Nothing more today.</a:t>
            </a:r>
            <a:endParaRPr lang="en-US" sz="1600" dirty="0"/>
          </a:p>
          <a:p>
            <a:pPr indent="0" marL="0">
              <a:lnSpc>
                <a:spcPct val="120000"/>
              </a:lnSpc>
              <a:spcAft>
                <a:spcPts val="1000"/>
              </a:spcAft>
              <a:buNone/>
            </a:pPr>
            <a:r>
              <a:rPr lang="en-US" sz="1600" dirty="0">
                <a:solidFill>
                  <a:srgbClr val="0D1219"/>
                </a:solidFill>
                <a:latin typeface="Arial" pitchFamily="34" charset="0"/>
                <a:ea typeface="Arial" pitchFamily="34" charset="-122"/>
                <a:cs typeface="Arial" pitchFamily="34" charset="-120"/>
              </a:rPr>
              <a:t>Built with v0, one pull request per increment. Back tables.</a:t>
            </a:r>
            <a:endParaRPr lang="en-US" sz="1600" dirty="0"/>
          </a:p>
        </p:txBody>
      </p:sp>
      <p:sp>
        <p:nvSpPr>
          <p:cNvPr id="15" name="Text 11"/>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TRACK B · YOUR OWN PROJECT · DOCS/YOUR-OWN-PROJECT.MD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12:50 – 4:35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Track B: one screen, one input, one result.</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Write the “later” list in project-state.md. Half of it you will not need.</a:t>
            </a:r>
            <a:endParaRPr lang="en-US" sz="1600" dirty="0"/>
          </a:p>
        </p:txBody>
      </p:sp>
      <p:sp>
        <p:nvSpPr>
          <p:cNvPr id="9" name="Text 5"/>
          <p:cNvSpPr txBox="1"/>
          <p:nvPr/>
        </p:nvSpPr>
        <p:spPr>
          <a:xfrm>
            <a:off x="640080" y="2194560"/>
            <a:ext cx="5225796" cy="274320"/>
          </a:xfrm>
          <a:prstGeom prst="rect">
            <a:avLst/>
          </a:prstGeom>
          <a:noFill/>
          <a:ln/>
        </p:spPr>
        <p:txBody>
          <a:bodyPr wrap="square" lIns="0" tIns="0" rIns="0" bIns="0" rtlCol="0" anchor="ctr"/>
          <a:lstStyle/>
          <a:p>
            <a:pPr indent="0" marL="0">
              <a:buNone/>
            </a:pPr>
            <a:r>
              <a:rPr lang="en-US" sz="1100" b="1" spc="150" kern="0" dirty="0">
                <a:solidFill>
                  <a:srgbClr val="22C55E"/>
                </a:solidFill>
                <a:latin typeface="Courier New" pitchFamily="34" charset="0"/>
                <a:ea typeface="Courier New" pitchFamily="34" charset="-122"/>
                <a:cs typeface="Courier New" pitchFamily="34" charset="-120"/>
              </a:rPr>
              <a:t>FITS VERSION ONE</a:t>
            </a:r>
            <a:endParaRPr lang="en-US" sz="1100" dirty="0"/>
          </a:p>
        </p:txBody>
      </p:sp>
      <p:sp>
        <p:nvSpPr>
          <p:cNvPr id="10" name="Text 6"/>
          <p:cNvSpPr txBox="1"/>
          <p:nvPr/>
        </p:nvSpPr>
        <p:spPr>
          <a:xfrm>
            <a:off x="640080" y="2542032"/>
            <a:ext cx="5225796" cy="2926080"/>
          </a:xfrm>
          <a:prstGeom prst="rect">
            <a:avLst/>
          </a:prstGeom>
          <a:noFill/>
          <a:ln/>
        </p:spPr>
        <p:txBody>
          <a:bodyPr wrap="square" lIns="0" tIns="0" rIns="0" bIns="0" rtlCol="0" anchor="t"/>
          <a:lstStyle/>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 meeting-cost calculator.</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 which-form-do-I-need chooser for your team.</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 checklist, or a dashboard you paste numbers into.</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 pitch page with a signup button that is a mailto link.</a:t>
            </a:r>
            <a:endParaRPr lang="en-US" sz="1700" dirty="0"/>
          </a:p>
        </p:txBody>
      </p:sp>
      <p:sp>
        <p:nvSpPr>
          <p:cNvPr id="11" name="Text 7"/>
          <p:cNvSpPr txBox="1"/>
          <p:nvPr/>
        </p:nvSpPr>
        <p:spPr>
          <a:xfrm>
            <a:off x="6323076" y="2194560"/>
            <a:ext cx="5225796" cy="274320"/>
          </a:xfrm>
          <a:prstGeom prst="rect">
            <a:avLst/>
          </a:prstGeom>
          <a:noFill/>
          <a:ln/>
        </p:spPr>
        <p:txBody>
          <a:bodyPr wrap="square" lIns="0" tIns="0" rIns="0" bIns="0" rtlCol="0" anchor="ctr"/>
          <a:lstStyle/>
          <a:p>
            <a:pPr indent="0" marL="0">
              <a:buNone/>
            </a:pPr>
            <a:r>
              <a:rPr lang="en-US" sz="1100" b="1" spc="150" kern="0" dirty="0">
                <a:solidFill>
                  <a:srgbClr val="EF4444"/>
                </a:solidFill>
                <a:latin typeface="Courier New" pitchFamily="34" charset="0"/>
                <a:ea typeface="Courier New" pitchFamily="34" charset="-122"/>
                <a:cs typeface="Courier New" pitchFamily="34" charset="-120"/>
              </a:rPr>
              <a:t>WAITS FOR LATER, NO MATTER HOW REASONABLE</a:t>
            </a:r>
            <a:endParaRPr lang="en-US" sz="1100" dirty="0"/>
          </a:p>
        </p:txBody>
      </p:sp>
      <p:sp>
        <p:nvSpPr>
          <p:cNvPr id="12" name="Text 8"/>
          <p:cNvSpPr txBox="1"/>
          <p:nvPr/>
        </p:nvSpPr>
        <p:spPr>
          <a:xfrm>
            <a:off x="6323076" y="2542032"/>
            <a:ext cx="5225796" cy="2926080"/>
          </a:xfrm>
          <a:prstGeom prst="rect">
            <a:avLst/>
          </a:prstGeom>
          <a:noFill/>
          <a:ln/>
        </p:spPr>
        <p:txBody>
          <a:bodyPr wrap="square" lIns="0" tIns="0" rIns="0" bIns="0" rtlCol="0" anchor="t"/>
          <a:lstStyle/>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Sign-in.</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 database, payments, or email sending.</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Anything that calls another company’s system.</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Anything that stores other people’s data.</a:t>
            </a:r>
            <a:endParaRPr lang="en-US" sz="1700" dirty="0"/>
          </a:p>
        </p:txBody>
      </p:sp>
      <p:sp>
        <p:nvSpPr>
          <p:cNvPr id="13" name="Text 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TRACK B · YOUR OWN PROJECT · DOCS/YOUR-OWN-PROJECT.MD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12:50 – 1:40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Track B: plan mode again, from scratch.</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Biggest model. Fill the scope template, draw one wireframe, type this. Cut anything not on the wireframe.</a:t>
            </a:r>
            <a:endParaRPr lang="en-US" sz="1600" dirty="0"/>
          </a:p>
        </p:txBody>
      </p:sp>
      <p:sp>
        <p:nvSpPr>
          <p:cNvPr id="9" name="Shape 5"/>
          <p:cNvSpPr/>
          <p:nvPr/>
        </p:nvSpPr>
        <p:spPr>
          <a:xfrm>
            <a:off x="640080" y="2286000"/>
            <a:ext cx="10908792" cy="1737360"/>
          </a:xfrm>
          <a:prstGeom prst="rect">
            <a:avLst/>
          </a:prstGeom>
          <a:solidFill>
            <a:srgbClr val="121B2B"/>
          </a:solidFill>
          <a:ln w="12700">
            <a:solidFill>
              <a:srgbClr val="EF8B39"/>
            </a:solidFill>
            <a:prstDash val="solid"/>
          </a:ln>
        </p:spPr>
      </p:sp>
      <p:sp>
        <p:nvSpPr>
          <p:cNvPr id="10" name="Text 6"/>
          <p:cNvSpPr/>
          <p:nvPr/>
        </p:nvSpPr>
        <p:spPr>
          <a:xfrm>
            <a:off x="868680" y="241401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12:50 · BRIEF AND PLAN · ATTACH SCOPE + WIREFRAME · VERBATIM</a:t>
            </a:r>
            <a:endParaRPr lang="en-US" sz="1100" dirty="0"/>
          </a:p>
        </p:txBody>
      </p:sp>
      <p:sp>
        <p:nvSpPr>
          <p:cNvPr id="11" name="Text 7"/>
          <p:cNvSpPr txBox="1"/>
          <p:nvPr/>
        </p:nvSpPr>
        <p:spPr>
          <a:xfrm>
            <a:off x="868680" y="2743200"/>
            <a:ext cx="10451592" cy="114300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Here is my brief, scope, and a wireframe. Version 1 is one screen, one input, one result, no sign-in, no database, no external services. Tell me the plan: which files you will create, what each does, and three checks I can perform by hand to know it works. Do not build yet.</a:t>
            </a:r>
            <a:endParaRPr lang="en-US" sz="1400" dirty="0"/>
          </a:p>
        </p:txBody>
      </p:sp>
      <p:sp>
        <p:nvSpPr>
          <p:cNvPr id="12" name="Text 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TRACK B · YOUR OWN PROJECT · DOCS/YOUR-OWN-PROJECT.MD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1:40 – 4:35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Track B: build increment 1, then the afternoon.</a:t>
            </a:r>
            <a:endParaRPr lang="en-US" sz="3200" dirty="0"/>
          </a:p>
        </p:txBody>
      </p:sp>
      <p:sp>
        <p:nvSpPr>
          <p:cNvPr id="8" name="Shape 4"/>
          <p:cNvSpPr/>
          <p:nvPr/>
        </p:nvSpPr>
        <p:spPr>
          <a:xfrm>
            <a:off x="640080" y="1691640"/>
            <a:ext cx="10908792" cy="1280160"/>
          </a:xfrm>
          <a:prstGeom prst="rect">
            <a:avLst/>
          </a:prstGeom>
          <a:solidFill>
            <a:srgbClr val="121B2B"/>
          </a:solidFill>
          <a:ln w="12700">
            <a:solidFill>
              <a:srgbClr val="307FE2"/>
            </a:solidFill>
            <a:prstDash val="solid"/>
          </a:ln>
        </p:spPr>
      </p:sp>
      <p:sp>
        <p:nvSpPr>
          <p:cNvPr id="9" name="Text 5"/>
          <p:cNvSpPr/>
          <p:nvPr/>
        </p:nvSpPr>
        <p:spPr>
          <a:xfrm>
            <a:off x="868680" y="181965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1:40 · BUILD INCREMENT 1 · VERBATIM</a:t>
            </a:r>
            <a:endParaRPr lang="en-US" sz="1100" dirty="0"/>
          </a:p>
        </p:txBody>
      </p:sp>
      <p:sp>
        <p:nvSpPr>
          <p:cNvPr id="10" name="Text 6"/>
          <p:cNvSpPr txBox="1"/>
          <p:nvPr/>
        </p:nvSpPr>
        <p:spPr>
          <a:xfrm>
            <a:off x="868680" y="2148840"/>
            <a:ext cx="10451592" cy="68580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Build the plan as described. Keep it to the files you listed. Plain, readable code with short comments. Fits a phone. Return the complete files.</a:t>
            </a:r>
            <a:endParaRPr lang="en-US" sz="1400" dirty="0"/>
          </a:p>
        </p:txBody>
      </p:sp>
      <p:sp>
        <p:nvSpPr>
          <p:cNvPr id="11" name="Text 7"/>
          <p:cNvSpPr txBox="1"/>
          <p:nvPr/>
        </p:nvSpPr>
        <p:spPr>
          <a:xfrm>
            <a:off x="640080" y="3246120"/>
            <a:ext cx="2743200" cy="530352"/>
          </a:xfrm>
          <a:prstGeom prst="rect">
            <a:avLst/>
          </a:prstGeom>
          <a:noFill/>
          <a:ln/>
        </p:spPr>
        <p:txBody>
          <a:bodyPr wrap="square" lIns="0" tIns="0" rIns="0" bIns="0" rtlCol="0" anchor="t"/>
          <a:lstStyle/>
          <a:p>
            <a:pPr indent="0" marL="0">
              <a:buNone/>
            </a:pPr>
            <a:r>
              <a:rPr lang="en-US" sz="1600" b="1" dirty="0">
                <a:solidFill>
                  <a:srgbClr val="0D1219"/>
                </a:solidFill>
                <a:latin typeface="Courier New" pitchFamily="34" charset="0"/>
                <a:ea typeface="Courier New" pitchFamily="34" charset="-122"/>
                <a:cs typeface="Courier New" pitchFamily="34" charset="-120"/>
              </a:rPr>
              <a:t>1:40</a:t>
            </a:r>
            <a:endParaRPr lang="en-US" sz="1600" dirty="0"/>
          </a:p>
        </p:txBody>
      </p:sp>
      <p:sp>
        <p:nvSpPr>
          <p:cNvPr id="12" name="Text 8"/>
          <p:cNvSpPr txBox="1"/>
          <p:nvPr/>
        </p:nvSpPr>
        <p:spPr>
          <a:xfrm>
            <a:off x="3566160" y="3273552"/>
            <a:ext cx="7982712" cy="530352"/>
          </a:xfrm>
          <a:prstGeom prst="rect">
            <a:avLst/>
          </a:prstGeom>
          <a:noFill/>
          <a:ln/>
        </p:spPr>
        <p:txBody>
          <a:bodyPr wrap="square" lIns="0" tIns="0" rIns="0" bIns="0" rtlCol="0" anchor="t"/>
          <a:lstStyle/>
          <a:p>
            <a:pPr indent="0" marL="0">
              <a:lnSpc>
                <a:spcPct val="115000"/>
              </a:lnSpc>
              <a:buNone/>
            </a:pPr>
            <a:r>
              <a:rPr lang="en-US" sz="1500" dirty="0">
                <a:solidFill>
                  <a:srgbClr val="0D1219"/>
                </a:solidFill>
                <a:latin typeface="Arial" pitchFamily="34" charset="0"/>
                <a:ea typeface="Arial" pitchFamily="34" charset="-122"/>
                <a:cs typeface="Arial" pitchFamily="34" charset="-120"/>
              </a:rPr>
              <a:t>Increment 1. Deploy. Three checks pass on the live URL.</a:t>
            </a:r>
            <a:endParaRPr lang="en-US" sz="1500" dirty="0"/>
          </a:p>
        </p:txBody>
      </p:sp>
      <p:sp>
        <p:nvSpPr>
          <p:cNvPr id="13" name="Text 9"/>
          <p:cNvSpPr txBox="1"/>
          <p:nvPr/>
        </p:nvSpPr>
        <p:spPr>
          <a:xfrm>
            <a:off x="640080" y="3867912"/>
            <a:ext cx="2743200" cy="530352"/>
          </a:xfrm>
          <a:prstGeom prst="rect">
            <a:avLst/>
          </a:prstGeom>
          <a:noFill/>
          <a:ln/>
        </p:spPr>
        <p:txBody>
          <a:bodyPr wrap="square" lIns="0" tIns="0" rIns="0" bIns="0" rtlCol="0" anchor="t"/>
          <a:lstStyle/>
          <a:p>
            <a:pPr indent="0" marL="0">
              <a:buNone/>
            </a:pPr>
            <a:r>
              <a:rPr lang="en-US" sz="1600" b="1" dirty="0">
                <a:solidFill>
                  <a:srgbClr val="0D1219"/>
                </a:solidFill>
                <a:latin typeface="Courier New" pitchFamily="34" charset="0"/>
                <a:ea typeface="Courier New" pitchFamily="34" charset="-122"/>
                <a:cs typeface="Courier New" pitchFamily="34" charset="-120"/>
              </a:rPr>
              <a:t>3:00</a:t>
            </a:r>
            <a:endParaRPr lang="en-US" sz="1600" dirty="0"/>
          </a:p>
        </p:txBody>
      </p:sp>
      <p:sp>
        <p:nvSpPr>
          <p:cNvPr id="14" name="Text 10"/>
          <p:cNvSpPr txBox="1"/>
          <p:nvPr/>
        </p:nvSpPr>
        <p:spPr>
          <a:xfrm>
            <a:off x="3566160" y="3895344"/>
            <a:ext cx="7982712" cy="530352"/>
          </a:xfrm>
          <a:prstGeom prst="rect">
            <a:avLst/>
          </a:prstGeom>
          <a:noFill/>
          <a:ln/>
        </p:spPr>
        <p:txBody>
          <a:bodyPr wrap="square" lIns="0" tIns="0" rIns="0" bIns="0" rtlCol="0" anchor="t"/>
          <a:lstStyle/>
          <a:p>
            <a:pPr indent="0" marL="0">
              <a:lnSpc>
                <a:spcPct val="115000"/>
              </a:lnSpc>
              <a:buNone/>
            </a:pPr>
            <a:r>
              <a:rPr lang="en-US" sz="1500" dirty="0">
                <a:solidFill>
                  <a:srgbClr val="0D1219"/>
                </a:solidFill>
                <a:latin typeface="Arial" pitchFamily="34" charset="0"/>
                <a:ea typeface="Arial" pitchFamily="34" charset="-122"/>
                <a:cs typeface="Arial" pitchFamily="34" charset="-120"/>
              </a:rPr>
              <a:t>One improvement through a pull request. A two-minute stranger test. One fix through another PR.</a:t>
            </a:r>
            <a:endParaRPr lang="en-US" sz="1500" dirty="0"/>
          </a:p>
        </p:txBody>
      </p:sp>
      <p:sp>
        <p:nvSpPr>
          <p:cNvPr id="15" name="Text 11"/>
          <p:cNvSpPr txBox="1"/>
          <p:nvPr/>
        </p:nvSpPr>
        <p:spPr>
          <a:xfrm>
            <a:off x="640080" y="4489704"/>
            <a:ext cx="2743200" cy="530352"/>
          </a:xfrm>
          <a:prstGeom prst="rect">
            <a:avLst/>
          </a:prstGeom>
          <a:noFill/>
          <a:ln/>
        </p:spPr>
        <p:txBody>
          <a:bodyPr wrap="square" lIns="0" tIns="0" rIns="0" bIns="0" rtlCol="0" anchor="t"/>
          <a:lstStyle/>
          <a:p>
            <a:pPr indent="0" marL="0">
              <a:buNone/>
            </a:pPr>
            <a:r>
              <a:rPr lang="en-US" sz="1600" b="1" dirty="0">
                <a:solidFill>
                  <a:srgbClr val="0D1219"/>
                </a:solidFill>
                <a:latin typeface="Courier New" pitchFamily="34" charset="0"/>
                <a:ea typeface="Courier New" pitchFamily="34" charset="-122"/>
                <a:cs typeface="Courier New" pitchFamily="34" charset="-120"/>
              </a:rPr>
              <a:t>4:10</a:t>
            </a:r>
            <a:endParaRPr lang="en-US" sz="1600" dirty="0"/>
          </a:p>
        </p:txBody>
      </p:sp>
      <p:sp>
        <p:nvSpPr>
          <p:cNvPr id="16" name="Text 12"/>
          <p:cNvSpPr txBox="1"/>
          <p:nvPr/>
        </p:nvSpPr>
        <p:spPr>
          <a:xfrm>
            <a:off x="3566160" y="4517136"/>
            <a:ext cx="7982712" cy="530352"/>
          </a:xfrm>
          <a:prstGeom prst="rect">
            <a:avLst/>
          </a:prstGeom>
          <a:noFill/>
          <a:ln/>
        </p:spPr>
        <p:txBody>
          <a:bodyPr wrap="square" lIns="0" tIns="0" rIns="0" bIns="0" rtlCol="0" anchor="t"/>
          <a:lstStyle/>
          <a:p>
            <a:pPr indent="0" marL="0">
              <a:lnSpc>
                <a:spcPct val="115000"/>
              </a:lnSpc>
              <a:buNone/>
            </a:pPr>
            <a:r>
              <a:rPr lang="en-US" sz="1500" dirty="0">
                <a:solidFill>
                  <a:srgbClr val="0D1219"/>
                </a:solidFill>
                <a:latin typeface="Arial" pitchFamily="34" charset="0"/>
                <a:ea typeface="Arial" pitchFamily="34" charset="-122"/>
                <a:cs typeface="Arial" pitchFamily="34" charset="-120"/>
              </a:rPr>
              <a:t>Publish. Five-line README. The “later” list in project-state.md.</a:t>
            </a:r>
            <a:endParaRPr lang="en-US" sz="1500" dirty="0"/>
          </a:p>
        </p:txBody>
      </p:sp>
      <p:sp>
        <p:nvSpPr>
          <p:cNvPr id="17" name="Text 13"/>
          <p:cNvSpPr txBox="1"/>
          <p:nvPr/>
        </p:nvSpPr>
        <p:spPr>
          <a:xfrm>
            <a:off x="640080" y="5111496"/>
            <a:ext cx="2743200" cy="530352"/>
          </a:xfrm>
          <a:prstGeom prst="rect">
            <a:avLst/>
          </a:prstGeom>
          <a:noFill/>
          <a:ln/>
        </p:spPr>
        <p:txBody>
          <a:bodyPr wrap="square" lIns="0" tIns="0" rIns="0" bIns="0" rtlCol="0" anchor="t"/>
          <a:lstStyle/>
          <a:p>
            <a:pPr indent="0" marL="0">
              <a:buNone/>
            </a:pPr>
            <a:r>
              <a:rPr lang="en-US" sz="1600" b="1" dirty="0">
                <a:solidFill>
                  <a:srgbClr val="0D1219"/>
                </a:solidFill>
                <a:latin typeface="Courier New" pitchFamily="34" charset="0"/>
                <a:ea typeface="Courier New" pitchFamily="34" charset="-122"/>
                <a:cs typeface="Courier New" pitchFamily="34" charset="-120"/>
              </a:rPr>
              <a:t>3:30, nothing live?</a:t>
            </a:r>
            <a:endParaRPr lang="en-US" sz="1600" dirty="0"/>
          </a:p>
        </p:txBody>
      </p:sp>
      <p:sp>
        <p:nvSpPr>
          <p:cNvPr id="18" name="Text 14"/>
          <p:cNvSpPr txBox="1"/>
          <p:nvPr/>
        </p:nvSpPr>
        <p:spPr>
          <a:xfrm>
            <a:off x="3566160" y="5138928"/>
            <a:ext cx="7982712" cy="530352"/>
          </a:xfrm>
          <a:prstGeom prst="rect">
            <a:avLst/>
          </a:prstGeom>
          <a:noFill/>
          <a:ln/>
        </p:spPr>
        <p:txBody>
          <a:bodyPr wrap="square" lIns="0" tIns="0" rIns="0" bIns="0" rtlCol="0" anchor="t"/>
          <a:lstStyle/>
          <a:p>
            <a:pPr indent="0" marL="0">
              <a:lnSpc>
                <a:spcPct val="115000"/>
              </a:lnSpc>
              <a:buNone/>
            </a:pPr>
            <a:r>
              <a:rPr lang="en-US" sz="1500" dirty="0">
                <a:solidFill>
                  <a:srgbClr val="0D1219"/>
                </a:solidFill>
                <a:latin typeface="Arial" pitchFamily="34" charset="0"/>
                <a:ea typeface="Arial" pitchFamily="34" charset="-122"/>
                <a:cs typeface="Arial" pitchFamily="34" charset="-120"/>
              </a:rPr>
              <a:t>Switch to game checkpoint 3 and ship that. Come back to your idea after class.</a:t>
            </a:r>
            <a:endParaRPr lang="en-US" sz="1500" dirty="0"/>
          </a:p>
        </p:txBody>
      </p:sp>
      <p:sp>
        <p:nvSpPr>
          <p:cNvPr id="19" name="Text 15"/>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ARCADE TOUR AND CHOOSE</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12:50 – 12:58</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Pick one of three games.</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The rest of this deck follows the featured game. No accounts, databases, leaderboards, or downloaded art in class.</a:t>
            </a:r>
            <a:endParaRPr lang="en-US" sz="1600" dirty="0"/>
          </a:p>
        </p:txBody>
      </p:sp>
      <p:sp>
        <p:nvSpPr>
          <p:cNvPr id="9" name="Text 5"/>
          <p:cNvSpPr txBox="1"/>
          <p:nvPr/>
        </p:nvSpPr>
        <p:spPr>
          <a:xfrm>
            <a:off x="640080" y="224028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FEATURED</a:t>
            </a:r>
            <a:endParaRPr lang="en-US" sz="1100" dirty="0"/>
          </a:p>
        </p:txBody>
      </p:sp>
      <p:sp>
        <p:nvSpPr>
          <p:cNvPr id="10" name="Text 6"/>
          <p:cNvSpPr txBox="1"/>
          <p:nvPr/>
        </p:nvSpPr>
        <p:spPr>
          <a:xfrm>
            <a:off x="640080" y="2587752"/>
            <a:ext cx="3331464" cy="457200"/>
          </a:xfrm>
          <a:prstGeom prst="rect">
            <a:avLst/>
          </a:prstGeom>
          <a:noFill/>
          <a:ln/>
        </p:spPr>
        <p:txBody>
          <a:bodyPr wrap="square" lIns="0" tIns="0" rIns="0" bIns="0" rtlCol="0" anchor="t"/>
          <a:lstStyle/>
          <a:p>
            <a:pPr indent="0" marL="0">
              <a:buNone/>
            </a:pPr>
            <a:r>
              <a:rPr lang="en-US" sz="1900" b="1" dirty="0">
                <a:solidFill>
                  <a:srgbClr val="0D1219"/>
                </a:solidFill>
                <a:latin typeface="Arial" pitchFamily="34" charset="0"/>
                <a:ea typeface="Arial" pitchFamily="34" charset="-122"/>
                <a:cs typeface="Arial" pitchFamily="34" charset="-120"/>
              </a:rPr>
              <a:t>Alien Tic-Tac-Toe</a:t>
            </a:r>
            <a:endParaRPr lang="en-US" sz="1900" dirty="0"/>
          </a:p>
        </p:txBody>
      </p:sp>
      <p:sp>
        <p:nvSpPr>
          <p:cNvPr id="11" name="Text 7"/>
          <p:cNvSpPr txBox="1"/>
          <p:nvPr/>
        </p:nvSpPr>
        <p:spPr>
          <a:xfrm>
            <a:off x="640080" y="3154680"/>
            <a:ext cx="3331464" cy="2743200"/>
          </a:xfrm>
          <a:prstGeom prst="rect">
            <a:avLst/>
          </a:prstGeom>
          <a:noFill/>
          <a:ln/>
        </p:spPr>
        <p:txBody>
          <a:bodyPr wrap="square" lIns="0" tIns="0" rIns="0" bIns="0" rtlCol="0" anchor="t"/>
          <a:lstStyle/>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The player chooses a board cell and wins or loses a short alien battle to claim it.</a:t>
            </a:r>
            <a:endParaRPr lang="en-US" sz="1400" dirty="0"/>
          </a:p>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Why: a familiar board plus a small battle system.</a:t>
            </a:r>
            <a:endParaRPr lang="en-US" sz="1400" dirty="0"/>
          </a:p>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Test: a battle awards exactly one cell and the board ends correctly.</a:t>
            </a:r>
            <a:endParaRPr lang="en-US" sz="1400" dirty="0"/>
          </a:p>
        </p:txBody>
      </p:sp>
      <p:sp>
        <p:nvSpPr>
          <p:cNvPr id="12" name="Text 8"/>
          <p:cNvSpPr txBox="1"/>
          <p:nvPr/>
        </p:nvSpPr>
        <p:spPr>
          <a:xfrm>
            <a:off x="4428744" y="2240280"/>
            <a:ext cx="3331464"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SIMPLEST</a:t>
            </a:r>
            <a:endParaRPr lang="en-US" sz="1100" dirty="0"/>
          </a:p>
        </p:txBody>
      </p:sp>
      <p:sp>
        <p:nvSpPr>
          <p:cNvPr id="13" name="Text 9"/>
          <p:cNvSpPr txBox="1"/>
          <p:nvPr/>
        </p:nvSpPr>
        <p:spPr>
          <a:xfrm>
            <a:off x="4428744" y="2587752"/>
            <a:ext cx="3331464" cy="457200"/>
          </a:xfrm>
          <a:prstGeom prst="rect">
            <a:avLst/>
          </a:prstGeom>
          <a:noFill/>
          <a:ln/>
        </p:spPr>
        <p:txBody>
          <a:bodyPr wrap="square" lIns="0" tIns="0" rIns="0" bIns="0" rtlCol="0" anchor="t"/>
          <a:lstStyle/>
          <a:p>
            <a:pPr indent="0" marL="0">
              <a:buNone/>
            </a:pPr>
            <a:r>
              <a:rPr lang="en-US" sz="1900" b="1" dirty="0">
                <a:solidFill>
                  <a:srgbClr val="0D1219"/>
                </a:solidFill>
                <a:latin typeface="Arial" pitchFamily="34" charset="0"/>
                <a:ea typeface="Arial" pitchFamily="34" charset="-122"/>
                <a:cs typeface="Arial" pitchFamily="34" charset="-120"/>
              </a:rPr>
              <a:t>Five-question quiz</a:t>
            </a:r>
            <a:endParaRPr lang="en-US" sz="1900" dirty="0"/>
          </a:p>
        </p:txBody>
      </p:sp>
      <p:sp>
        <p:nvSpPr>
          <p:cNvPr id="14" name="Text 10"/>
          <p:cNvSpPr txBox="1"/>
          <p:nvPr/>
        </p:nvSpPr>
        <p:spPr>
          <a:xfrm>
            <a:off x="4428744" y="3154680"/>
            <a:ext cx="3331464" cy="2743200"/>
          </a:xfrm>
          <a:prstGeom prst="rect">
            <a:avLst/>
          </a:prstGeom>
          <a:noFill/>
          <a:ln/>
        </p:spPr>
        <p:txBody>
          <a:bodyPr wrap="square" lIns="0" tIns="0" rIns="0" bIns="0" rtlCol="0" anchor="t"/>
          <a:lstStyle/>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The player answers one question at a time, sees feedback, and tries again.</a:t>
            </a:r>
            <a:endParaRPr lang="en-US" sz="1400" dirty="0"/>
          </a:p>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Why: the simplest complete game, no movement. A good scope cut if you are behind.</a:t>
            </a:r>
            <a:endParaRPr lang="en-US" sz="1400" dirty="0"/>
          </a:p>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Test: one answer scores once; final score and replay are right.</a:t>
            </a:r>
            <a:endParaRPr lang="en-US" sz="1400" dirty="0"/>
          </a:p>
        </p:txBody>
      </p:sp>
      <p:sp>
        <p:nvSpPr>
          <p:cNvPr id="15" name="Text 11"/>
          <p:cNvSpPr txBox="1"/>
          <p:nvPr/>
        </p:nvSpPr>
        <p:spPr>
          <a:xfrm>
            <a:off x="8217408" y="2240280"/>
            <a:ext cx="3331464"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MOST MOTION</a:t>
            </a:r>
            <a:endParaRPr lang="en-US" sz="1100" dirty="0"/>
          </a:p>
        </p:txBody>
      </p:sp>
      <p:sp>
        <p:nvSpPr>
          <p:cNvPr id="16" name="Text 12"/>
          <p:cNvSpPr txBox="1"/>
          <p:nvPr/>
        </p:nvSpPr>
        <p:spPr>
          <a:xfrm>
            <a:off x="8217408" y="2587752"/>
            <a:ext cx="3331464" cy="457200"/>
          </a:xfrm>
          <a:prstGeom prst="rect">
            <a:avLst/>
          </a:prstGeom>
          <a:noFill/>
          <a:ln/>
        </p:spPr>
        <p:txBody>
          <a:bodyPr wrap="square" lIns="0" tIns="0" rIns="0" bIns="0" rtlCol="0" anchor="t"/>
          <a:lstStyle/>
          <a:p>
            <a:pPr indent="0" marL="0">
              <a:buNone/>
            </a:pPr>
            <a:r>
              <a:rPr lang="en-US" sz="1900" b="1" dirty="0">
                <a:solidFill>
                  <a:srgbClr val="0D1219"/>
                </a:solidFill>
                <a:latin typeface="Arial" pitchFamily="34" charset="0"/>
                <a:ea typeface="Arial" pitchFamily="34" charset="-122"/>
                <a:cs typeface="Arial" pitchFamily="34" charset="-120"/>
              </a:rPr>
              <a:t>One-button space dodger</a:t>
            </a:r>
            <a:endParaRPr lang="en-US" sz="1900" dirty="0"/>
          </a:p>
        </p:txBody>
      </p:sp>
      <p:sp>
        <p:nvSpPr>
          <p:cNvPr id="17" name="Text 13"/>
          <p:cNvSpPr txBox="1"/>
          <p:nvPr/>
        </p:nvSpPr>
        <p:spPr>
          <a:xfrm>
            <a:off x="8217408" y="3154680"/>
            <a:ext cx="3331464" cy="2743200"/>
          </a:xfrm>
          <a:prstGeom prst="rect">
            <a:avLst/>
          </a:prstGeom>
          <a:noFill/>
          <a:ln/>
        </p:spPr>
        <p:txBody>
          <a:bodyPr wrap="square" lIns="0" tIns="0" rIns="0" bIns="0" rtlCol="0" anchor="t"/>
          <a:lstStyle/>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The player taps or presses a key to rise between obstacles.</a:t>
            </a:r>
            <a:endParaRPr lang="en-US" sz="1400" dirty="0"/>
          </a:p>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Why: one control and a theme you can customize. The most motion to debug.</a:t>
            </a:r>
            <a:endParaRPr lang="en-US" sz="1400" dirty="0"/>
          </a:p>
          <a:p>
            <a:pPr indent="0" marL="0">
              <a:lnSpc>
                <a:spcPct val="120000"/>
              </a:lnSpc>
              <a:spcAft>
                <a:spcPts val="800"/>
              </a:spcAft>
              <a:buNone/>
            </a:pPr>
            <a:r>
              <a:rPr lang="en-US" sz="1400" dirty="0">
                <a:solidFill>
                  <a:srgbClr val="0D1219"/>
                </a:solidFill>
                <a:latin typeface="Arial" pitchFamily="34" charset="0"/>
                <a:ea typeface="Arial" pitchFamily="34" charset="-122"/>
                <a:cs typeface="Arial" pitchFamily="34" charset="-120"/>
              </a:rPr>
              <a:t>Test: motion, collisions, scoring, and restart work every time.</a:t>
            </a:r>
            <a:endParaRPr lang="en-US" sz="14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CHOOSE A THEME</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12:58 – 1:05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800" b="1" dirty="0">
                <a:solidFill>
                  <a:srgbClr val="0D1219"/>
                </a:solidFill>
                <a:latin typeface="Arial" pitchFamily="34" charset="0"/>
                <a:ea typeface="Arial" pitchFamily="34" charset="-122"/>
                <a:cs typeface="Arial" pitchFamily="34" charset="-120"/>
              </a:rPr>
              <a:t>Same game, eight looks. Renaming is all a theme does.</a:t>
            </a:r>
            <a:endParaRPr lang="en-US" sz="28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Try one on the checkpoint:   checkpoint-3-complete/index.html?theme=ghosts-pumpkins</a:t>
            </a:r>
            <a:endParaRPr lang="en-US" sz="1600" dirty="0"/>
          </a:p>
        </p:txBody>
      </p:sp>
      <p:sp>
        <p:nvSpPr>
          <p:cNvPr id="9" name="Shape 5"/>
          <p:cNvSpPr/>
          <p:nvPr/>
        </p:nvSpPr>
        <p:spPr>
          <a:xfrm>
            <a:off x="640080" y="2240280"/>
            <a:ext cx="2514600" cy="1600200"/>
          </a:xfrm>
          <a:prstGeom prst="rect">
            <a:avLst/>
          </a:prstGeom>
          <a:solidFill>
            <a:srgbClr val="0B1020"/>
          </a:solidFill>
          <a:ln w="9525">
            <a:solidFill>
              <a:srgbClr val="0B1020"/>
            </a:solidFill>
            <a:prstDash val="solid"/>
          </a:ln>
        </p:spPr>
      </p:sp>
      <p:sp>
        <p:nvSpPr>
          <p:cNvPr id="10" name="Text 6"/>
          <p:cNvSpPr/>
          <p:nvPr/>
        </p:nvSpPr>
        <p:spPr>
          <a:xfrm>
            <a:off x="640080" y="23774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11" name="Text 7"/>
          <p:cNvSpPr/>
          <p:nvPr/>
        </p:nvSpPr>
        <p:spPr>
          <a:xfrm>
            <a:off x="640080" y="3291840"/>
            <a:ext cx="2514600" cy="411480"/>
          </a:xfrm>
          <a:prstGeom prst="rect">
            <a:avLst/>
          </a:prstGeom>
          <a:noFill/>
          <a:ln/>
        </p:spPr>
        <p:txBody>
          <a:bodyPr wrap="square" lIns="0" tIns="0" rIns="0" bIns="0" rtlCol="0" anchor="ctr"/>
          <a:lstStyle/>
          <a:p>
            <a:pPr algn="ctr" indent="0" marL="0">
              <a:buNone/>
            </a:pPr>
            <a:r>
              <a:rPr lang="en-US" sz="1300" b="1" dirty="0">
                <a:solidFill>
                  <a:srgbClr val="7DD3FC"/>
                </a:solidFill>
                <a:latin typeface="Courier New" pitchFamily="34" charset="0"/>
                <a:ea typeface="Courier New" pitchFamily="34" charset="-122"/>
                <a:cs typeface="Courier New" pitchFamily="34" charset="-120"/>
              </a:rPr>
              <a:t>space-invasion · default</a:t>
            </a:r>
            <a:endParaRPr lang="en-US" sz="1300" dirty="0"/>
          </a:p>
        </p:txBody>
      </p:sp>
      <p:sp>
        <p:nvSpPr>
          <p:cNvPr id="12" name="Shape 8"/>
          <p:cNvSpPr/>
          <p:nvPr/>
        </p:nvSpPr>
        <p:spPr>
          <a:xfrm>
            <a:off x="3438144" y="2240280"/>
            <a:ext cx="2514600" cy="1600200"/>
          </a:xfrm>
          <a:prstGeom prst="rect">
            <a:avLst/>
          </a:prstGeom>
          <a:solidFill>
            <a:srgbClr val="1F1410"/>
          </a:solidFill>
          <a:ln w="9525">
            <a:solidFill>
              <a:srgbClr val="1F1410"/>
            </a:solidFill>
            <a:prstDash val="solid"/>
          </a:ln>
        </p:spPr>
      </p:sp>
      <p:sp>
        <p:nvSpPr>
          <p:cNvPr id="13" name="Text 9"/>
          <p:cNvSpPr/>
          <p:nvPr/>
        </p:nvSpPr>
        <p:spPr>
          <a:xfrm>
            <a:off x="3438144" y="23774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14" name="Text 10"/>
          <p:cNvSpPr/>
          <p:nvPr/>
        </p:nvSpPr>
        <p:spPr>
          <a:xfrm>
            <a:off x="3438144" y="3291840"/>
            <a:ext cx="2514600" cy="411480"/>
          </a:xfrm>
          <a:prstGeom prst="rect">
            <a:avLst/>
          </a:prstGeom>
          <a:noFill/>
          <a:ln/>
        </p:spPr>
        <p:txBody>
          <a:bodyPr wrap="square" lIns="0" tIns="0" rIns="0" bIns="0" rtlCol="0" anchor="ctr"/>
          <a:lstStyle/>
          <a:p>
            <a:pPr algn="ctr" indent="0" marL="0">
              <a:buNone/>
            </a:pPr>
            <a:r>
              <a:rPr lang="en-US" sz="1300" b="1" dirty="0">
                <a:solidFill>
                  <a:srgbClr val="FDBA74"/>
                </a:solidFill>
                <a:latin typeface="Courier New" pitchFamily="34" charset="0"/>
                <a:ea typeface="Courier New" pitchFamily="34" charset="-122"/>
                <a:cs typeface="Courier New" pitchFamily="34" charset="-120"/>
              </a:rPr>
              <a:t>cats-dogs</a:t>
            </a:r>
            <a:endParaRPr lang="en-US" sz="1300" dirty="0"/>
          </a:p>
        </p:txBody>
      </p:sp>
      <p:sp>
        <p:nvSpPr>
          <p:cNvPr id="15" name="Shape 11"/>
          <p:cNvSpPr/>
          <p:nvPr/>
        </p:nvSpPr>
        <p:spPr>
          <a:xfrm>
            <a:off x="6236208" y="2240280"/>
            <a:ext cx="2514600" cy="1600200"/>
          </a:xfrm>
          <a:prstGeom prst="rect">
            <a:avLst/>
          </a:prstGeom>
          <a:solidFill>
            <a:srgbClr val="2A0F0F"/>
          </a:solidFill>
          <a:ln w="9525">
            <a:solidFill>
              <a:srgbClr val="2A0F0F"/>
            </a:solidFill>
            <a:prstDash val="solid"/>
          </a:ln>
        </p:spPr>
      </p:sp>
      <p:sp>
        <p:nvSpPr>
          <p:cNvPr id="16" name="Text 12"/>
          <p:cNvSpPr/>
          <p:nvPr/>
        </p:nvSpPr>
        <p:spPr>
          <a:xfrm>
            <a:off x="6236208" y="23774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17" name="Text 13"/>
          <p:cNvSpPr/>
          <p:nvPr/>
        </p:nvSpPr>
        <p:spPr>
          <a:xfrm>
            <a:off x="6236208" y="3291840"/>
            <a:ext cx="2514600" cy="411480"/>
          </a:xfrm>
          <a:prstGeom prst="rect">
            <a:avLst/>
          </a:prstGeom>
          <a:noFill/>
          <a:ln/>
        </p:spPr>
        <p:txBody>
          <a:bodyPr wrap="square" lIns="0" tIns="0" rIns="0" bIns="0" rtlCol="0" anchor="ctr"/>
          <a:lstStyle/>
          <a:p>
            <a:pPr algn="ctr" indent="0" marL="0">
              <a:buNone/>
            </a:pPr>
            <a:r>
              <a:rPr lang="en-US" sz="1300" b="1" dirty="0">
                <a:solidFill>
                  <a:srgbClr val="FDE047"/>
                </a:solidFill>
                <a:latin typeface="Courier New" pitchFamily="34" charset="0"/>
                <a:ea typeface="Courier New" pitchFamily="34" charset="-122"/>
                <a:cs typeface="Courier New" pitchFamily="34" charset="-120"/>
              </a:rPr>
              <a:t>pizza-tacos</a:t>
            </a:r>
            <a:endParaRPr lang="en-US" sz="1300" dirty="0"/>
          </a:p>
        </p:txBody>
      </p:sp>
      <p:sp>
        <p:nvSpPr>
          <p:cNvPr id="18" name="Shape 14"/>
          <p:cNvSpPr/>
          <p:nvPr/>
        </p:nvSpPr>
        <p:spPr>
          <a:xfrm>
            <a:off x="9034272" y="2240280"/>
            <a:ext cx="2514600" cy="1600200"/>
          </a:xfrm>
          <a:prstGeom prst="rect">
            <a:avLst/>
          </a:prstGeom>
          <a:solidFill>
            <a:srgbClr val="0F1F14"/>
          </a:solidFill>
          <a:ln w="9525">
            <a:solidFill>
              <a:srgbClr val="0F1F14"/>
            </a:solidFill>
            <a:prstDash val="solid"/>
          </a:ln>
        </p:spPr>
      </p:sp>
      <p:sp>
        <p:nvSpPr>
          <p:cNvPr id="19" name="Text 15"/>
          <p:cNvSpPr/>
          <p:nvPr/>
        </p:nvSpPr>
        <p:spPr>
          <a:xfrm>
            <a:off x="9034272" y="23774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20" name="Text 16"/>
          <p:cNvSpPr/>
          <p:nvPr/>
        </p:nvSpPr>
        <p:spPr>
          <a:xfrm>
            <a:off x="9034272" y="3291840"/>
            <a:ext cx="2514600" cy="411480"/>
          </a:xfrm>
          <a:prstGeom prst="rect">
            <a:avLst/>
          </a:prstGeom>
          <a:noFill/>
          <a:ln/>
        </p:spPr>
        <p:txBody>
          <a:bodyPr wrap="square" lIns="0" tIns="0" rIns="0" bIns="0" rtlCol="0" anchor="ctr"/>
          <a:lstStyle/>
          <a:p>
            <a:pPr algn="ctr" indent="0" marL="0">
              <a:buNone/>
            </a:pPr>
            <a:r>
              <a:rPr lang="en-US" sz="1300" b="1" dirty="0">
                <a:solidFill>
                  <a:srgbClr val="86EFAC"/>
                </a:solidFill>
                <a:latin typeface="Courier New" pitchFamily="34" charset="0"/>
                <a:ea typeface="Courier New" pitchFamily="34" charset="-122"/>
                <a:cs typeface="Courier New" pitchFamily="34" charset="-120"/>
              </a:rPr>
              <a:t>robots-dinos</a:t>
            </a:r>
            <a:endParaRPr lang="en-US" sz="1300" dirty="0"/>
          </a:p>
        </p:txBody>
      </p:sp>
      <p:sp>
        <p:nvSpPr>
          <p:cNvPr id="21" name="Shape 17"/>
          <p:cNvSpPr/>
          <p:nvPr/>
        </p:nvSpPr>
        <p:spPr>
          <a:xfrm>
            <a:off x="640080" y="4069080"/>
            <a:ext cx="2514600" cy="1600200"/>
          </a:xfrm>
          <a:prstGeom prst="rect">
            <a:avLst/>
          </a:prstGeom>
          <a:solidFill>
            <a:srgbClr val="140A1F"/>
          </a:solidFill>
          <a:ln w="9525">
            <a:solidFill>
              <a:srgbClr val="140A1F"/>
            </a:solidFill>
            <a:prstDash val="solid"/>
          </a:ln>
        </p:spPr>
      </p:sp>
      <p:sp>
        <p:nvSpPr>
          <p:cNvPr id="22" name="Text 18"/>
          <p:cNvSpPr/>
          <p:nvPr/>
        </p:nvSpPr>
        <p:spPr>
          <a:xfrm>
            <a:off x="640080" y="42062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23" name="Text 19"/>
          <p:cNvSpPr/>
          <p:nvPr/>
        </p:nvSpPr>
        <p:spPr>
          <a:xfrm>
            <a:off x="640080" y="5120640"/>
            <a:ext cx="2514600" cy="411480"/>
          </a:xfrm>
          <a:prstGeom prst="rect">
            <a:avLst/>
          </a:prstGeom>
          <a:noFill/>
          <a:ln/>
        </p:spPr>
        <p:txBody>
          <a:bodyPr wrap="square" lIns="0" tIns="0" rIns="0" bIns="0" rtlCol="0" anchor="ctr"/>
          <a:lstStyle/>
          <a:p>
            <a:pPr algn="ctr" indent="0" marL="0">
              <a:buNone/>
            </a:pPr>
            <a:r>
              <a:rPr lang="en-US" sz="1300" b="1" dirty="0">
                <a:solidFill>
                  <a:srgbClr val="FB923C"/>
                </a:solidFill>
                <a:latin typeface="Courier New" pitchFamily="34" charset="0"/>
                <a:ea typeface="Courier New" pitchFamily="34" charset="-122"/>
                <a:cs typeface="Courier New" pitchFamily="34" charset="-120"/>
              </a:rPr>
              <a:t>ghosts-pumpkins</a:t>
            </a:r>
            <a:endParaRPr lang="en-US" sz="1300" dirty="0"/>
          </a:p>
        </p:txBody>
      </p:sp>
      <p:sp>
        <p:nvSpPr>
          <p:cNvPr id="24" name="Shape 20"/>
          <p:cNvSpPr/>
          <p:nvPr/>
        </p:nvSpPr>
        <p:spPr>
          <a:xfrm>
            <a:off x="3438144" y="4069080"/>
            <a:ext cx="2514600" cy="1600200"/>
          </a:xfrm>
          <a:prstGeom prst="rect">
            <a:avLst/>
          </a:prstGeom>
          <a:solidFill>
            <a:srgbClr val="101A33"/>
          </a:solidFill>
          <a:ln w="9525">
            <a:solidFill>
              <a:srgbClr val="101A33"/>
            </a:solidFill>
            <a:prstDash val="solid"/>
          </a:ln>
        </p:spPr>
      </p:sp>
      <p:sp>
        <p:nvSpPr>
          <p:cNvPr id="25" name="Text 21"/>
          <p:cNvSpPr/>
          <p:nvPr/>
        </p:nvSpPr>
        <p:spPr>
          <a:xfrm>
            <a:off x="3438144" y="42062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26" name="Text 22"/>
          <p:cNvSpPr/>
          <p:nvPr/>
        </p:nvSpPr>
        <p:spPr>
          <a:xfrm>
            <a:off x="3438144" y="5120640"/>
            <a:ext cx="2514600" cy="411480"/>
          </a:xfrm>
          <a:prstGeom prst="rect">
            <a:avLst/>
          </a:prstGeom>
          <a:noFill/>
          <a:ln/>
        </p:spPr>
        <p:txBody>
          <a:bodyPr wrap="square" lIns="0" tIns="0" rIns="0" bIns="0" rtlCol="0" anchor="ctr"/>
          <a:lstStyle/>
          <a:p>
            <a:pPr algn="ctr" indent="0" marL="0">
              <a:buNone/>
            </a:pPr>
            <a:r>
              <a:rPr lang="en-US" sz="1300" b="1" dirty="0">
                <a:solidFill>
                  <a:srgbClr val="FDE68A"/>
                </a:solidFill>
                <a:latin typeface="Courier New" pitchFamily="34" charset="0"/>
                <a:ea typeface="Courier New" pitchFamily="34" charset="-122"/>
                <a:cs typeface="Courier New" pitchFamily="34" charset="-120"/>
              </a:rPr>
              <a:t>sun-moon</a:t>
            </a:r>
            <a:endParaRPr lang="en-US" sz="1300" dirty="0"/>
          </a:p>
        </p:txBody>
      </p:sp>
      <p:sp>
        <p:nvSpPr>
          <p:cNvPr id="27" name="Shape 23"/>
          <p:cNvSpPr/>
          <p:nvPr/>
        </p:nvSpPr>
        <p:spPr>
          <a:xfrm>
            <a:off x="6236208" y="4069080"/>
            <a:ext cx="2514600" cy="1600200"/>
          </a:xfrm>
          <a:prstGeom prst="rect">
            <a:avLst/>
          </a:prstGeom>
          <a:solidFill>
            <a:srgbClr val="1A0F2A"/>
          </a:solidFill>
          <a:ln w="9525">
            <a:solidFill>
              <a:srgbClr val="1A0F2A"/>
            </a:solidFill>
            <a:prstDash val="solid"/>
          </a:ln>
        </p:spPr>
      </p:sp>
      <p:sp>
        <p:nvSpPr>
          <p:cNvPr id="28" name="Text 24"/>
          <p:cNvSpPr/>
          <p:nvPr/>
        </p:nvSpPr>
        <p:spPr>
          <a:xfrm>
            <a:off x="6236208" y="42062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29" name="Text 25"/>
          <p:cNvSpPr/>
          <p:nvPr/>
        </p:nvSpPr>
        <p:spPr>
          <a:xfrm>
            <a:off x="6236208" y="5120640"/>
            <a:ext cx="2514600" cy="411480"/>
          </a:xfrm>
          <a:prstGeom prst="rect">
            <a:avLst/>
          </a:prstGeom>
          <a:noFill/>
          <a:ln/>
        </p:spPr>
        <p:txBody>
          <a:bodyPr wrap="square" lIns="0" tIns="0" rIns="0" bIns="0" rtlCol="0" anchor="ctr"/>
          <a:lstStyle/>
          <a:p>
            <a:pPr algn="ctr" indent="0" marL="0">
              <a:buNone/>
            </a:pPr>
            <a:r>
              <a:rPr lang="en-US" sz="1300" b="1" dirty="0">
                <a:solidFill>
                  <a:srgbClr val="C4B5FD"/>
                </a:solidFill>
                <a:latin typeface="Courier New" pitchFamily="34" charset="0"/>
                <a:ea typeface="Courier New" pitchFamily="34" charset="-122"/>
                <a:cs typeface="Courier New" pitchFamily="34" charset="-120"/>
              </a:rPr>
              <a:t>wizards-dragons</a:t>
            </a:r>
            <a:endParaRPr lang="en-US" sz="1300" dirty="0"/>
          </a:p>
        </p:txBody>
      </p:sp>
      <p:sp>
        <p:nvSpPr>
          <p:cNvPr id="30" name="Shape 26"/>
          <p:cNvSpPr/>
          <p:nvPr/>
        </p:nvSpPr>
        <p:spPr>
          <a:xfrm>
            <a:off x="9034272" y="4069080"/>
            <a:ext cx="2514600" cy="1600200"/>
          </a:xfrm>
          <a:prstGeom prst="rect">
            <a:avLst/>
          </a:prstGeom>
          <a:solidFill>
            <a:srgbClr val="1C120C"/>
          </a:solidFill>
          <a:ln w="9525">
            <a:solidFill>
              <a:srgbClr val="1C120C"/>
            </a:solidFill>
            <a:prstDash val="solid"/>
          </a:ln>
        </p:spPr>
      </p:sp>
      <p:sp>
        <p:nvSpPr>
          <p:cNvPr id="31" name="Text 27"/>
          <p:cNvSpPr/>
          <p:nvPr/>
        </p:nvSpPr>
        <p:spPr>
          <a:xfrm>
            <a:off x="9034272" y="4206240"/>
            <a:ext cx="2514600" cy="868680"/>
          </a:xfrm>
          <a:prstGeom prst="rect">
            <a:avLst/>
          </a:prstGeom>
          <a:noFill/>
          <a:ln/>
        </p:spPr>
        <p:txBody>
          <a:bodyPr wrap="square" lIns="0" tIns="0" rIns="0" bIns="0" rtlCol="0" anchor="ctr"/>
          <a:lstStyle/>
          <a:p>
            <a:pPr algn="ctr" indent="0" marL="0">
              <a:buNone/>
            </a:pPr>
            <a:r>
              <a:rPr lang="en-US" sz="3400" dirty="0">
                <a:solidFill>
                  <a:srgbClr val="FFFFFF"/>
                </a:solidFill>
              </a:rPr>
              <a:t>☕   🍩</a:t>
            </a:r>
            <a:endParaRPr lang="en-US" sz="3400" dirty="0"/>
          </a:p>
        </p:txBody>
      </p:sp>
      <p:sp>
        <p:nvSpPr>
          <p:cNvPr id="32" name="Text 28"/>
          <p:cNvSpPr/>
          <p:nvPr/>
        </p:nvSpPr>
        <p:spPr>
          <a:xfrm>
            <a:off x="9034272" y="5120640"/>
            <a:ext cx="2514600" cy="411480"/>
          </a:xfrm>
          <a:prstGeom prst="rect">
            <a:avLst/>
          </a:prstGeom>
          <a:noFill/>
          <a:ln/>
        </p:spPr>
        <p:txBody>
          <a:bodyPr wrap="square" lIns="0" tIns="0" rIns="0" bIns="0" rtlCol="0" anchor="ctr"/>
          <a:lstStyle/>
          <a:p>
            <a:pPr algn="ctr" indent="0" marL="0">
              <a:buNone/>
            </a:pPr>
            <a:r>
              <a:rPr lang="en-US" sz="1300" b="1" dirty="0">
                <a:solidFill>
                  <a:srgbClr val="F9A8D4"/>
                </a:solidFill>
                <a:latin typeface="Courier New" pitchFamily="34" charset="0"/>
                <a:ea typeface="Courier New" pitchFamily="34" charset="-122"/>
                <a:cs typeface="Courier New" pitchFamily="34" charset="-120"/>
              </a:rPr>
              <a:t>coffee-donuts</a:t>
            </a:r>
            <a:endParaRPr lang="en-US" sz="1300" dirty="0"/>
          </a:p>
        </p:txBody>
      </p:sp>
      <p:sp>
        <p:nvSpPr>
          <p:cNvPr id="33" name="Text 2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YOUR OWN THEME</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1:05 – 1:10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Making your own? Fill this in first.</a:t>
            </a:r>
            <a:endParaRPr lang="en-US" sz="3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766560" cy="914400"/>
        </p:xfrm>
        <a:graphic>
          <a:graphicData uri="http://schemas.openxmlformats.org/drawingml/2006/table">
            <a:tbl>
              <a:tblPr/>
              <a:tblGrid>
                <a:gridCol w="3383280"/>
                <a:gridCol w="3383280"/>
              </a:tblGrid>
              <a:tr h="457200">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FIELD</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YOUR ANSWER</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457200">
                <a:tc>
                  <a:txBody>
                    <a:bodyPr/>
                    <a:lstStyle/>
                    <a:p>
                      <a:pPr indent="0" marL="0">
                        <a:buNone/>
                      </a:pPr>
                      <a:r>
                        <a:rPr lang="en-US" sz="1300" dirty="0">
                          <a:solidFill>
                            <a:srgbClr val="0D1219"/>
                          </a:solidFill>
                          <a:latin typeface="Arial" pitchFamily="34" charset="0"/>
                          <a:ea typeface="Arial" pitchFamily="34" charset="-122"/>
                          <a:cs typeface="Arial" pitchFamily="34" charset="-120"/>
                        </a:rPr>
                        <a:t>Theme id (lowercase, hyphens)</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1300" dirty="0">
                          <a:solidFill>
                            <a:srgbClr val="0D1219"/>
                          </a:solidFill>
                          <a:latin typeface="Arial" pitchFamily="34" charset="0"/>
                          <a:ea typeface="Arial" pitchFamily="34" charset="-122"/>
                          <a:cs typeface="Arial" pitchFamily="34" charset="-120"/>
                        </a:rPr>
                        <a:t>You (emoji + name)</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D1219"/>
                          </a:solidFill>
                          <a:latin typeface="Arial" pitchFamily="34" charset="0"/>
                          <a:ea typeface="Arial" pitchFamily="34" charset="-122"/>
                          <a:cs typeface="Arial" pitchFamily="34" charset="-120"/>
                        </a:rPr>
                        <a:t>Opponent (emoji + name)</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1300" dirty="0">
                          <a:solidFill>
                            <a:srgbClr val="0D1219"/>
                          </a:solidFill>
                          <a:latin typeface="Arial" pitchFamily="34" charset="0"/>
                          <a:ea typeface="Arial" pitchFamily="34" charset="-122"/>
                          <a:cs typeface="Arial" pitchFamily="34" charset="-120"/>
                        </a:rPr>
                        <a:t>Attack 1 → counter 1</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D1219"/>
                          </a:solidFill>
                          <a:latin typeface="Arial" pitchFamily="34" charset="0"/>
                          <a:ea typeface="Arial" pitchFamily="34" charset="-122"/>
                          <a:cs typeface="Arial" pitchFamily="34" charset="-120"/>
                        </a:rPr>
                        <a:t>Attack 2 → counter 2</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457200">
                <a:tc>
                  <a:txBody>
                    <a:bodyPr/>
                    <a:lstStyle/>
                    <a:p>
                      <a:pPr indent="0" marL="0">
                        <a:buNone/>
                      </a:pPr>
                      <a:r>
                        <a:rPr lang="en-US" sz="1300" dirty="0">
                          <a:solidFill>
                            <a:srgbClr val="0D1219"/>
                          </a:solidFill>
                          <a:latin typeface="Arial" pitchFamily="34" charset="0"/>
                          <a:ea typeface="Arial" pitchFamily="34" charset="-122"/>
                          <a:cs typeface="Arial" pitchFamily="34" charset="-120"/>
                        </a:rPr>
                        <a:t>Attack 3 → counter 3</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D1219"/>
                          </a:solidFill>
                          <a:latin typeface="Arial" pitchFamily="34" charset="0"/>
                          <a:ea typeface="Arial" pitchFamily="34" charset="-122"/>
                          <a:cs typeface="Arial" pitchFamily="34" charset="-120"/>
                        </a:rPr>
                        <a:t>Background, accent, and text colors</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bl>
          </a:graphicData>
        </a:graphic>
      </p:graphicFrame>
      <p:sp>
        <p:nvSpPr>
          <p:cNvPr id="9" name="Text 4"/>
          <p:cNvSpPr txBox="1"/>
          <p:nvPr/>
        </p:nvSpPr>
        <p:spPr>
          <a:xfrm>
            <a:off x="7955280" y="1828800"/>
            <a:ext cx="356616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4444"/>
                </a:solidFill>
                <a:latin typeface="Courier New" pitchFamily="34" charset="0"/>
                <a:ea typeface="Courier New" pitchFamily="34" charset="-122"/>
                <a:cs typeface="Courier New" pitchFamily="34" charset="-120"/>
              </a:rPr>
              <a:t>AVOID</a:t>
            </a:r>
            <a:endParaRPr lang="en-US" sz="1100" dirty="0"/>
          </a:p>
        </p:txBody>
      </p:sp>
      <p:sp>
        <p:nvSpPr>
          <p:cNvPr id="10" name="Text 5"/>
          <p:cNvSpPr txBox="1"/>
          <p:nvPr/>
        </p:nvSpPr>
        <p:spPr>
          <a:xfrm>
            <a:off x="7955280" y="2194560"/>
            <a:ext cx="3593592" cy="2743200"/>
          </a:xfrm>
          <a:prstGeom prst="rect">
            <a:avLst/>
          </a:prstGeom>
          <a:noFill/>
          <a:ln/>
        </p:spPr>
        <p:txBody>
          <a:bodyPr wrap="square" lIns="0" tIns="0" rIns="0" bIns="0" rtlCol="0" anchor="t"/>
          <a:lstStyle/>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Pairs that look alike (🐱 and 🐯).</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One emoji that is mostly the background color.</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Anything that only reads as “mine” versus “theirs” by color.</a:t>
            </a:r>
            <a:endParaRPr lang="en-US" sz="1600" dirty="0"/>
          </a:p>
        </p:txBody>
      </p:sp>
      <p:sp>
        <p:nvSpPr>
          <p:cNvPr id="11" name="Text 6"/>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WIREFRAMES</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1:10 – 1:20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Draw the three screens first. Five minutes.</a:t>
            </a:r>
            <a:endParaRPr lang="en-US" sz="3200" dirty="0"/>
          </a:p>
        </p:txBody>
      </p:sp>
      <p:pic>
        <p:nvPicPr>
          <p:cNvPr id="8" name="Image 1" descr="assets/wireframes/game-instructions.png">    </p:cNvPr>
          <p:cNvPicPr>
            <a:picLocks noChangeAspect="1"/>
          </p:cNvPicPr>
          <p:nvPr/>
        </p:nvPicPr>
        <p:blipFill>
          <a:blip r:embed="rId2"/>
          <a:stretch>
            <a:fillRect/>
          </a:stretch>
        </p:blipFill>
        <p:spPr>
          <a:xfrm>
            <a:off x="640080" y="1783080"/>
            <a:ext cx="1828800" cy="3255264"/>
          </a:xfrm>
          <a:prstGeom prst="rect">
            <a:avLst/>
          </a:prstGeom>
        </p:spPr>
      </p:pic>
      <p:pic>
        <p:nvPicPr>
          <p:cNvPr id="9" name="Image 2" descr="assets/wireframes/game-board.png">    </p:cNvPr>
          <p:cNvPicPr>
            <a:picLocks noChangeAspect="1"/>
          </p:cNvPicPr>
          <p:nvPr/>
        </p:nvPicPr>
        <p:blipFill>
          <a:blip r:embed="rId3"/>
          <a:stretch>
            <a:fillRect/>
          </a:stretch>
        </p:blipFill>
        <p:spPr>
          <a:xfrm>
            <a:off x="2651760" y="1783080"/>
            <a:ext cx="1828800" cy="3255264"/>
          </a:xfrm>
          <a:prstGeom prst="rect">
            <a:avLst/>
          </a:prstGeom>
        </p:spPr>
      </p:pic>
      <p:pic>
        <p:nvPicPr>
          <p:cNvPr id="10" name="Image 3" descr="assets/wireframes/game-battle.png">    </p:cNvPr>
          <p:cNvPicPr>
            <a:picLocks noChangeAspect="1"/>
          </p:cNvPicPr>
          <p:nvPr/>
        </p:nvPicPr>
        <p:blipFill>
          <a:blip r:embed="rId4"/>
          <a:stretch>
            <a:fillRect/>
          </a:stretch>
        </p:blipFill>
        <p:spPr>
          <a:xfrm>
            <a:off x="4663440" y="1783080"/>
            <a:ext cx="1828800" cy="3255264"/>
          </a:xfrm>
          <a:prstGeom prst="rect">
            <a:avLst/>
          </a:prstGeom>
        </p:spPr>
      </p:pic>
      <p:sp>
        <p:nvSpPr>
          <p:cNvPr id="11" name="Text 4"/>
          <p:cNvSpPr txBox="1"/>
          <p:nvPr/>
        </p:nvSpPr>
        <p:spPr>
          <a:xfrm>
            <a:off x="640080" y="5120640"/>
            <a:ext cx="1828800" cy="274320"/>
          </a:xfrm>
          <a:prstGeom prst="rect">
            <a:avLst/>
          </a:prstGeom>
          <a:noFill/>
          <a:ln/>
        </p:spPr>
        <p:txBody>
          <a:bodyPr wrap="square" lIns="0" tIns="0" rIns="0" bIns="0" rtlCol="0" anchor="t"/>
          <a:lstStyle/>
          <a:p>
            <a:pPr algn="ctr" indent="0" marL="0">
              <a:lnSpc>
                <a:spcPct val="115000"/>
              </a:lnSpc>
              <a:buNone/>
            </a:pPr>
            <a:r>
              <a:rPr lang="en-US" sz="1200" dirty="0">
                <a:solidFill>
                  <a:srgbClr val="EF8B39"/>
                </a:solidFill>
                <a:latin typeface="Courier New" pitchFamily="34" charset="0"/>
                <a:ea typeface="Courier New" pitchFamily="34" charset="-122"/>
                <a:cs typeface="Courier New" pitchFamily="34" charset="-120"/>
              </a:rPr>
              <a:t>1 · Instructions</a:t>
            </a:r>
            <a:endParaRPr lang="en-US" sz="1200" dirty="0"/>
          </a:p>
        </p:txBody>
      </p:sp>
      <p:sp>
        <p:nvSpPr>
          <p:cNvPr id="12" name="Text 5"/>
          <p:cNvSpPr txBox="1"/>
          <p:nvPr/>
        </p:nvSpPr>
        <p:spPr>
          <a:xfrm>
            <a:off x="2651760" y="5120640"/>
            <a:ext cx="1828800" cy="274320"/>
          </a:xfrm>
          <a:prstGeom prst="rect">
            <a:avLst/>
          </a:prstGeom>
          <a:noFill/>
          <a:ln/>
        </p:spPr>
        <p:txBody>
          <a:bodyPr wrap="square" lIns="0" tIns="0" rIns="0" bIns="0" rtlCol="0" anchor="t"/>
          <a:lstStyle/>
          <a:p>
            <a:pPr algn="ctr" indent="0" marL="0">
              <a:lnSpc>
                <a:spcPct val="115000"/>
              </a:lnSpc>
              <a:buNone/>
            </a:pPr>
            <a:r>
              <a:rPr lang="en-US" sz="1200" dirty="0">
                <a:solidFill>
                  <a:srgbClr val="EF8B39"/>
                </a:solidFill>
                <a:latin typeface="Courier New" pitchFamily="34" charset="0"/>
                <a:ea typeface="Courier New" pitchFamily="34" charset="-122"/>
                <a:cs typeface="Courier New" pitchFamily="34" charset="-120"/>
              </a:rPr>
              <a:t>2 · Board</a:t>
            </a:r>
            <a:endParaRPr lang="en-US" sz="1200" dirty="0"/>
          </a:p>
        </p:txBody>
      </p:sp>
      <p:sp>
        <p:nvSpPr>
          <p:cNvPr id="13" name="Text 6"/>
          <p:cNvSpPr txBox="1"/>
          <p:nvPr/>
        </p:nvSpPr>
        <p:spPr>
          <a:xfrm>
            <a:off x="4663440" y="5120640"/>
            <a:ext cx="1828800" cy="274320"/>
          </a:xfrm>
          <a:prstGeom prst="rect">
            <a:avLst/>
          </a:prstGeom>
          <a:noFill/>
          <a:ln/>
        </p:spPr>
        <p:txBody>
          <a:bodyPr wrap="square" lIns="0" tIns="0" rIns="0" bIns="0" rtlCol="0" anchor="t"/>
          <a:lstStyle/>
          <a:p>
            <a:pPr algn="ctr" indent="0" marL="0">
              <a:lnSpc>
                <a:spcPct val="115000"/>
              </a:lnSpc>
              <a:buNone/>
            </a:pPr>
            <a:r>
              <a:rPr lang="en-US" sz="1200" dirty="0">
                <a:solidFill>
                  <a:srgbClr val="EF8B39"/>
                </a:solidFill>
                <a:latin typeface="Courier New" pitchFamily="34" charset="0"/>
                <a:ea typeface="Courier New" pitchFamily="34" charset="-122"/>
                <a:cs typeface="Courier New" pitchFamily="34" charset="-120"/>
              </a:rPr>
              <a:t>3 · Battle</a:t>
            </a:r>
            <a:endParaRPr lang="en-US" sz="1200" dirty="0"/>
          </a:p>
        </p:txBody>
      </p:sp>
      <p:sp>
        <p:nvSpPr>
          <p:cNvPr id="14" name="Text 7"/>
          <p:cNvSpPr txBox="1"/>
          <p:nvPr/>
        </p:nvSpPr>
        <p:spPr>
          <a:xfrm>
            <a:off x="7132320" y="1828800"/>
            <a:ext cx="438912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EVERY SKETCH HAS</a:t>
            </a:r>
            <a:endParaRPr lang="en-US" sz="1100" dirty="0"/>
          </a:p>
        </p:txBody>
      </p:sp>
      <p:sp>
        <p:nvSpPr>
          <p:cNvPr id="15" name="Text 8"/>
          <p:cNvSpPr txBox="1"/>
          <p:nvPr/>
        </p:nvSpPr>
        <p:spPr>
          <a:xfrm>
            <a:off x="7132320" y="2194560"/>
            <a:ext cx="4416552" cy="2926080"/>
          </a:xfrm>
          <a:prstGeom prst="rect">
            <a:avLst/>
          </a:prstGeom>
          <a:noFill/>
          <a:ln/>
        </p:spPr>
        <p:txBody>
          <a:bodyPr wrap="square" lIns="0" tIns="0" rIns="0" bIns="0" rtlCol="0" anchor="t"/>
          <a:lstStyle/>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A title, a status line in words, one obvious next button.</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Health written as text: “You: 2 of 2.”</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Nothing that depends on color alone.</a:t>
            </a:r>
            <a:endParaRPr lang="en-US" sz="1600" dirty="0"/>
          </a:p>
          <a:p>
            <a:pPr indent="0" marL="0">
              <a:lnSpc>
                <a:spcPct val="120000"/>
              </a:lnSpc>
              <a:spcAft>
                <a:spcPts val="1200"/>
              </a:spcAft>
              <a:buNone/>
            </a:pPr>
            <a:r>
              <a:rPr lang="en-US" sz="1600" dirty="0">
                <a:solidFill>
                  <a:srgbClr val="0D1219"/>
                </a:solidFill>
                <a:latin typeface="Arial" pitchFamily="34" charset="0"/>
                <a:ea typeface="Arial" pitchFamily="34" charset="-122"/>
                <a:cs typeface="Arial" pitchFamily="34" charset="-120"/>
              </a:rPr>
              <a:t>A board that fits a phone held upright.</a:t>
            </a:r>
            <a:endParaRPr lang="en-US" sz="1600" dirty="0"/>
          </a:p>
        </p:txBody>
      </p:sp>
      <p:sp>
        <p:nvSpPr>
          <p:cNvPr id="16" name="Text 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BRIEF · VC-GAME-BRIEF</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1:20 – 1:30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Describe the game once, with your theme.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Done when: game-brief.md has your theme and at least five checks you could show a partner. Nothing built yet.</a:t>
            </a:r>
            <a:endParaRPr lang="en-US" sz="1600" dirty="0"/>
          </a:p>
        </p:txBody>
      </p:sp>
      <p:sp>
        <p:nvSpPr>
          <p:cNvPr id="9" name="Shape 5"/>
          <p:cNvSpPr/>
          <p:nvPr/>
        </p:nvSpPr>
        <p:spPr>
          <a:xfrm>
            <a:off x="640080" y="2194560"/>
            <a:ext cx="10908792" cy="2148840"/>
          </a:xfrm>
          <a:prstGeom prst="rect">
            <a:avLst/>
          </a:prstGeom>
          <a:solidFill>
            <a:srgbClr val="121B2B"/>
          </a:solidFill>
          <a:ln w="12700">
            <a:solidFill>
              <a:srgbClr val="EF8B39"/>
            </a:solidFill>
            <a:prstDash val="solid"/>
          </a:ln>
        </p:spPr>
      </p:sp>
      <p:sp>
        <p:nvSpPr>
          <p:cNvPr id="10" name="Text 6"/>
          <p:cNvSpPr/>
          <p:nvPr/>
        </p:nvSpPr>
        <p:spPr>
          <a:xfrm>
            <a:off x="868680" y="23225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ATTACH alien-tic-tac-toe.md + vc-game-brief · REPLACE THE BRACKETS · VERBATIM</a:t>
            </a:r>
            <a:endParaRPr lang="en-US" sz="1100" dirty="0"/>
          </a:p>
        </p:txBody>
      </p:sp>
      <p:sp>
        <p:nvSpPr>
          <p:cNvPr id="11" name="Text 7"/>
          <p:cNvSpPr txBox="1"/>
          <p:nvPr/>
        </p:nvSpPr>
        <p:spPr>
          <a:xfrm>
            <a:off x="868680" y="2651760"/>
            <a:ext cx="10451592" cy="155448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Write game-brief.md for a themed tic-tac-toe battle game using the rules in alien-tic-tac-toe.md exactly. Theme: I am [🐱 Cat], the opponent is [🐶 Dog]. The opponent's attacks are [Bark, Pounce, Slobber] and my correct counters are [Hiss, Climb, Shake Off], in that order. Colors: [dark brown background, peach accent, light text]. Rename only; do not change the health, exchange, or board rules. Give me observable completion checks. Do not build yet.</a:t>
            </a:r>
            <a:endParaRPr lang="en-US" sz="1400" dirty="0"/>
          </a:p>
        </p:txBody>
      </p:sp>
      <p:sp>
        <p:nvSpPr>
          <p:cNvPr id="12" name="Text 8"/>
          <p:cNvSpPr txBox="1"/>
          <p:nvPr/>
        </p:nvSpPr>
        <p:spPr>
          <a:xfrm>
            <a:off x="640080" y="4572000"/>
            <a:ext cx="10908792" cy="548640"/>
          </a:xfrm>
          <a:prstGeom prst="rect">
            <a:avLst/>
          </a:prstGeom>
          <a:noFill/>
          <a:ln/>
        </p:spPr>
        <p:txBody>
          <a:bodyPr wrap="square" lIns="0" tIns="0" rIns="0" bIns="0" rtlCol="0" anchor="t"/>
          <a:lstStyle/>
          <a:p>
            <a:pPr algn="l" indent="0" marL="0">
              <a:lnSpc>
                <a:spcPct val="115000"/>
              </a:lnSpc>
              <a:buNone/>
            </a:pPr>
            <a:r>
              <a:rPr lang="en-US" sz="1500" dirty="0">
                <a:solidFill>
                  <a:srgbClr val="5B6675"/>
                </a:solidFill>
                <a:latin typeface="Arial" pitchFamily="34" charset="0"/>
                <a:ea typeface="Arial" pitchFamily="34" charset="-122"/>
                <a:cs typeface="Arial" pitchFamily="34" charset="-120"/>
              </a:rPr>
              <a:t>Observable means you can see it on screen: “three of my marks in a row shows You won.” If a check isn’t observable, ask for one that is.</a:t>
            </a:r>
            <a:endParaRPr lang="en-US" sz="1500" dirty="0"/>
          </a:p>
        </p:txBody>
      </p:sp>
      <p:sp>
        <p:nvSpPr>
          <p:cNvPr id="13" name="Shape 9"/>
          <p:cNvSpPr/>
          <p:nvPr/>
        </p:nvSpPr>
        <p:spPr>
          <a:xfrm>
            <a:off x="640080" y="5971032"/>
            <a:ext cx="201168" cy="201168"/>
          </a:xfrm>
          <a:prstGeom prst="rect">
            <a:avLst/>
          </a:prstGeom>
          <a:solidFill>
            <a:srgbClr val="22C55E"/>
          </a:solidFill>
          <a:ln w="12700">
            <a:solidFill>
              <a:srgbClr val="22C55E"/>
            </a:solidFill>
            <a:prstDash val="solid"/>
          </a:ln>
        </p:spPr>
      </p:sp>
      <p:sp>
        <p:nvSpPr>
          <p:cNvPr id="14" name="Text 10"/>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5" name="Shape 11"/>
          <p:cNvSpPr/>
          <p:nvPr/>
        </p:nvSpPr>
        <p:spPr>
          <a:xfrm>
            <a:off x="4206240" y="5971032"/>
            <a:ext cx="201168" cy="201168"/>
          </a:xfrm>
          <a:prstGeom prst="rect">
            <a:avLst/>
          </a:prstGeom>
          <a:solidFill>
            <a:srgbClr val="EF4444"/>
          </a:solidFill>
          <a:ln w="12700">
            <a:solidFill>
              <a:srgbClr val="EF4444"/>
            </a:solidFill>
            <a:prstDash val="solid"/>
          </a:ln>
        </p:spPr>
      </p:sp>
      <p:sp>
        <p:nvSpPr>
          <p:cNvPr id="16" name="Text 12"/>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7" name="Text 13"/>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RULES · VC-GAME-RULES</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1:30 – 1:40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List every state the game can be in.</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This list is what you test against all afternoon.</a:t>
            </a:r>
            <a:endParaRPr lang="en-US" sz="1600" dirty="0"/>
          </a:p>
        </p:txBody>
      </p:sp>
      <p:sp>
        <p:nvSpPr>
          <p:cNvPr id="9" name="Shape 5"/>
          <p:cNvSpPr/>
          <p:nvPr/>
        </p:nvSpPr>
        <p:spPr>
          <a:xfrm>
            <a:off x="640080" y="2194560"/>
            <a:ext cx="10908792" cy="1691640"/>
          </a:xfrm>
          <a:prstGeom prst="rect">
            <a:avLst/>
          </a:prstGeom>
          <a:solidFill>
            <a:srgbClr val="121B2B"/>
          </a:solidFill>
          <a:ln w="12700">
            <a:solidFill>
              <a:srgbClr val="EF8B39"/>
            </a:solidFill>
            <a:prstDash val="solid"/>
          </a:ln>
        </p:spPr>
      </p:sp>
      <p:sp>
        <p:nvSpPr>
          <p:cNvPr id="10" name="Text 6"/>
          <p:cNvSpPr/>
          <p:nvPr/>
        </p:nvSpPr>
        <p:spPr>
          <a:xfrm>
            <a:off x="868680" y="23225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PASTE YOUR THREE WIREFRAMES BELOW IT · TYPE THIS, VERBATIM</a:t>
            </a:r>
            <a:endParaRPr lang="en-US" sz="1100" dirty="0"/>
          </a:p>
        </p:txBody>
      </p:sp>
      <p:sp>
        <p:nvSpPr>
          <p:cNvPr id="11" name="Text 7"/>
          <p:cNvSpPr txBox="1"/>
          <p:nvPr/>
        </p:nvSpPr>
        <p:spPr>
          <a:xfrm>
            <a:off x="868680" y="2651760"/>
            <a:ext cx="10451592" cy="109728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Using the brief, list every state the game can be in and what the player sees and can do in each. Use my three wireframes below as the screens. Confirm there is no automatic opponent move after a battle and that Restart game is available in every active state.</a:t>
            </a:r>
            <a:endParaRPr lang="en-US" sz="1400" dirty="0"/>
          </a:p>
        </p:txBody>
      </p:sp>
      <p:sp>
        <p:nvSpPr>
          <p:cNvPr id="12" name="Text 8"/>
          <p:cNvSpPr txBox="1"/>
          <p:nvPr/>
        </p:nvSpPr>
        <p:spPr>
          <a:xfrm>
            <a:off x="640080" y="411480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TWO THINGS IT MUST CONFIRM</a:t>
            </a:r>
            <a:endParaRPr lang="en-US" sz="1100" dirty="0"/>
          </a:p>
        </p:txBody>
      </p:sp>
      <p:sp>
        <p:nvSpPr>
          <p:cNvPr id="13" name="Text 9"/>
          <p:cNvSpPr txBox="1"/>
          <p:nvPr/>
        </p:nvSpPr>
        <p:spPr>
          <a:xfrm>
            <a:off x="640080" y="4434840"/>
            <a:ext cx="10908792" cy="1097280"/>
          </a:xfrm>
          <a:prstGeom prst="rect">
            <a:avLst/>
          </a:prstGeom>
          <a:noFill/>
          <a:ln/>
        </p:spPr>
        <p:txBody>
          <a:bodyPr wrap="square" lIns="0" tIns="0" rIns="0" bIns="0" rtlCol="0" anchor="t"/>
          <a:lstStyle/>
          <a:p>
            <a:pPr indent="0" marL="0">
              <a:lnSpc>
                <a:spcPct val="120000"/>
              </a:lnSpc>
              <a:spcAft>
                <a:spcPts val="600"/>
              </a:spcAft>
              <a:buNone/>
            </a:pPr>
            <a:r>
              <a:rPr lang="en-US" sz="1700" dirty="0">
                <a:solidFill>
                  <a:srgbClr val="0D1219"/>
                </a:solidFill>
                <a:latin typeface="Arial" pitchFamily="34" charset="0"/>
                <a:ea typeface="Arial" pitchFamily="34" charset="-122"/>
                <a:cs typeface="Arial" pitchFamily="34" charset="-120"/>
              </a:rPr>
              <a:t>1   No automatic opponent move after a battle.</a:t>
            </a:r>
            <a:endParaRPr lang="en-US" sz="1700" dirty="0"/>
          </a:p>
          <a:p>
            <a:pPr indent="0" marL="0">
              <a:lnSpc>
                <a:spcPct val="120000"/>
              </a:lnSpc>
              <a:spcAft>
                <a:spcPts val="600"/>
              </a:spcAft>
              <a:buNone/>
            </a:pPr>
            <a:r>
              <a:rPr lang="en-US" sz="1700" dirty="0">
                <a:solidFill>
                  <a:srgbClr val="0D1219"/>
                </a:solidFill>
                <a:latin typeface="Arial" pitchFamily="34" charset="0"/>
                <a:ea typeface="Arial" pitchFamily="34" charset="-122"/>
                <a:cs typeface="Arial" pitchFamily="34" charset="-120"/>
              </a:rPr>
              <a:t>2   Restart game is available in every active state.</a:t>
            </a:r>
            <a:endParaRPr lang="en-US" sz="1700" dirty="0"/>
          </a:p>
        </p:txBody>
      </p:sp>
      <p:sp>
        <p:nvSpPr>
          <p:cNvPr id="14"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69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BUILD 1 OF 3 · THE BOARD · VC-GAME-BUILD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1:40 – 2:00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Build the board alone.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Behind at 2:00? Download checkpoint-1-board/index.html and build the battle next.</a:t>
            </a:r>
            <a:endParaRPr lang="en-US" sz="1600" dirty="0"/>
          </a:p>
        </p:txBody>
      </p:sp>
      <p:sp>
        <p:nvSpPr>
          <p:cNvPr id="9" name="Shape 5"/>
          <p:cNvSpPr/>
          <p:nvPr/>
        </p:nvSpPr>
        <p:spPr>
          <a:xfrm>
            <a:off x="640080" y="2194560"/>
            <a:ext cx="10908792" cy="1920240"/>
          </a:xfrm>
          <a:prstGeom prst="rect">
            <a:avLst/>
          </a:prstGeom>
          <a:solidFill>
            <a:srgbClr val="121B2B"/>
          </a:solidFill>
          <a:ln w="12700">
            <a:solidFill>
              <a:srgbClr val="EF8B39"/>
            </a:solidFill>
            <a:prstDash val="solid"/>
          </a:ln>
        </p:spPr>
      </p:sp>
      <p:sp>
        <p:nvSpPr>
          <p:cNvPr id="10" name="Text 6"/>
          <p:cNvSpPr/>
          <p:nvPr/>
        </p:nvSpPr>
        <p:spPr>
          <a:xfrm>
            <a:off x="868680" y="23225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PASTE THE BOARD WIREFRAME BELOW IT · REPLACE THE BRACKETS · VERBATIM</a:t>
            </a:r>
            <a:endParaRPr lang="en-US" sz="1100" dirty="0"/>
          </a:p>
        </p:txBody>
      </p:sp>
      <p:sp>
        <p:nvSpPr>
          <p:cNvPr id="11" name="Text 7"/>
          <p:cNvSpPr txBox="1"/>
          <p:nvPr/>
        </p:nvSpPr>
        <p:spPr>
          <a:xfrm>
            <a:off x="868680" y="2651760"/>
            <a:ext cx="10451592" cy="132588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Build only the board screen as one index.html with inline CSS and JavaScript and no external files. Cells show [🐱] for my marks and [🐶] for the opponent's, each with a visually hidden "X" or "O" label. For now, two buttons "Award to me" and "Award to opponent" stand in for the battle. Detect the eight lines, a draw, Play again, and Restart game. Return the complete file.</a:t>
            </a:r>
            <a:endParaRPr lang="en-US" sz="1400" dirty="0"/>
          </a:p>
        </p:txBody>
      </p:sp>
      <p:sp>
        <p:nvSpPr>
          <p:cNvPr id="12" name="Text 8"/>
          <p:cNvSpPr txBox="1"/>
          <p:nvPr/>
        </p:nvSpPr>
        <p:spPr>
          <a:xfrm>
            <a:off x="640080" y="429768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22C55E"/>
                </a:solidFill>
                <a:latin typeface="Courier New" pitchFamily="34" charset="0"/>
                <a:ea typeface="Courier New" pitchFamily="34" charset="-122"/>
                <a:cs typeface="Courier New" pitchFamily="34" charset="-120"/>
              </a:rPr>
              <a:t>CHECKPOINT 1 · WHAT YOU MUST SEE</a:t>
            </a:r>
            <a:endParaRPr lang="en-US" sz="1100" dirty="0"/>
          </a:p>
        </p:txBody>
      </p:sp>
      <p:sp>
        <p:nvSpPr>
          <p:cNvPr id="13" name="Text 9"/>
          <p:cNvSpPr txBox="1"/>
          <p:nvPr/>
        </p:nvSpPr>
        <p:spPr>
          <a:xfrm>
            <a:off x="640080" y="4617720"/>
            <a:ext cx="10908792" cy="1188720"/>
          </a:xfrm>
          <a:prstGeom prst="rect">
            <a:avLst/>
          </a:prstGeom>
          <a:noFill/>
          <a:ln/>
        </p:spPr>
        <p:txBody>
          <a:bodyPr wrap="square" lIns="0" tIns="0" rIns="0" bIns="0" rtlCol="0" anchor="t"/>
          <a:lstStyle/>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1   Three of your marks in a row shows “You won.” Three of theirs: you lost.</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2   A full board with no line shows Draw. Play again and Restart both work.</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3   Test the diagonals: 1-5-9 and 3-5-7.</a:t>
            </a:r>
            <a:endParaRPr lang="en-US" sz="1500" dirty="0"/>
          </a:p>
        </p:txBody>
      </p:sp>
      <p:sp>
        <p:nvSpPr>
          <p:cNvPr id="14" name="Shape 10"/>
          <p:cNvSpPr/>
          <p:nvPr/>
        </p:nvSpPr>
        <p:spPr>
          <a:xfrm>
            <a:off x="640080" y="5971032"/>
            <a:ext cx="201168" cy="201168"/>
          </a:xfrm>
          <a:prstGeom prst="rect">
            <a:avLst/>
          </a:prstGeom>
          <a:solidFill>
            <a:srgbClr val="22C55E"/>
          </a:solidFill>
          <a:ln w="12700">
            <a:solidFill>
              <a:srgbClr val="22C55E"/>
            </a:solidFill>
            <a:prstDash val="solid"/>
          </a:ln>
        </p:spPr>
      </p:sp>
      <p:sp>
        <p:nvSpPr>
          <p:cNvPr id="15" name="Text 11"/>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6" name="Shape 12"/>
          <p:cNvSpPr/>
          <p:nvPr/>
        </p:nvSpPr>
        <p:spPr>
          <a:xfrm>
            <a:off x="4206240" y="5971032"/>
            <a:ext cx="201168" cy="201168"/>
          </a:xfrm>
          <a:prstGeom prst="rect">
            <a:avLst/>
          </a:prstGeom>
          <a:solidFill>
            <a:srgbClr val="EF4444"/>
          </a:solidFill>
          <a:ln w="12700">
            <a:solidFill>
              <a:srgbClr val="EF4444"/>
            </a:solidFill>
            <a:prstDash val="solid"/>
          </a:ln>
        </p:spPr>
      </p:sp>
      <p:sp>
        <p:nvSpPr>
          <p:cNvPr id="17" name="Text 13"/>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BUILD 2 OF 3 · THE BATTLE · VC-GAME-BUILD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2:00 – 2:15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Build the battle as its own file, on a branch.</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EF8B39"/>
                </a:solidFill>
                <a:latin typeface="Arial" pitchFamily="34" charset="0"/>
                <a:ea typeface="Arial" pitchFamily="34" charset="-122"/>
                <a:cs typeface="Arial" pitchFamily="34" charset="-120"/>
              </a:rPr>
              <a:t>This one goes through a pull request: branch, upload, “Compare &amp; pull request,” read message, files, lines, then merge.</a:t>
            </a:r>
            <a:endParaRPr lang="en-US" sz="1600" dirty="0"/>
          </a:p>
        </p:txBody>
      </p:sp>
      <p:sp>
        <p:nvSpPr>
          <p:cNvPr id="9" name="Shape 5"/>
          <p:cNvSpPr/>
          <p:nvPr/>
        </p:nvSpPr>
        <p:spPr>
          <a:xfrm>
            <a:off x="640080" y="2240280"/>
            <a:ext cx="10908792" cy="1920240"/>
          </a:xfrm>
          <a:prstGeom prst="rect">
            <a:avLst/>
          </a:prstGeom>
          <a:solidFill>
            <a:srgbClr val="121B2B"/>
          </a:solidFill>
          <a:ln w="12700">
            <a:solidFill>
              <a:srgbClr val="EF8B39"/>
            </a:solidFill>
            <a:prstDash val="solid"/>
          </a:ln>
        </p:spPr>
      </p:sp>
      <p:sp>
        <p:nvSpPr>
          <p:cNvPr id="10" name="Text 6"/>
          <p:cNvSpPr/>
          <p:nvPr/>
        </p:nvSpPr>
        <p:spPr>
          <a:xfrm>
            <a:off x="868680" y="236829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PASTE THE BATTLE WIREFRAME BELOW · REPLACE THE BRACKETS · VERBATIM</a:t>
            </a:r>
            <a:endParaRPr lang="en-US" sz="1100" dirty="0"/>
          </a:p>
        </p:txBody>
      </p:sp>
      <p:sp>
        <p:nvSpPr>
          <p:cNvPr id="11" name="Text 7"/>
          <p:cNvSpPr txBox="1"/>
          <p:nvPr/>
        </p:nvSpPr>
        <p:spPr>
          <a:xfrm>
            <a:off x="868680" y="2697480"/>
            <a:ext cx="10451592" cy="132588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Build the battle screen as its own index.html. Both sides start with 2 health shown as text. The opponent's attacks cycle [Bark → Pounce → Slobber]. One accepted answer per exchange; disable the answer buttons after I click; show an explicit Next exchange button only while both sides still have health; end immediately when either side reaches zero. Return the complete file.</a:t>
            </a:r>
            <a:endParaRPr lang="en-US" sz="1400" dirty="0"/>
          </a:p>
        </p:txBody>
      </p:sp>
      <p:sp>
        <p:nvSpPr>
          <p:cNvPr id="12" name="Text 8"/>
          <p:cNvSpPr txBox="1"/>
          <p:nvPr/>
        </p:nvSpPr>
        <p:spPr>
          <a:xfrm>
            <a:off x="640080" y="434340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22C55E"/>
                </a:solidFill>
                <a:latin typeface="Courier New" pitchFamily="34" charset="0"/>
                <a:ea typeface="Courier New" pitchFamily="34" charset="-122"/>
                <a:cs typeface="Courier New" pitchFamily="34" charset="-120"/>
              </a:rPr>
              <a:t>CHECKPOINT 2 · WHAT YOU MUST SEE</a:t>
            </a:r>
            <a:endParaRPr lang="en-US" sz="1100" dirty="0"/>
          </a:p>
        </p:txBody>
      </p:sp>
      <p:sp>
        <p:nvSpPr>
          <p:cNvPr id="13" name="Text 9"/>
          <p:cNvSpPr txBox="1"/>
          <p:nvPr/>
        </p:nvSpPr>
        <p:spPr>
          <a:xfrm>
            <a:off x="640080" y="4663440"/>
            <a:ext cx="10908792" cy="1188720"/>
          </a:xfrm>
          <a:prstGeom prst="rect">
            <a:avLst/>
          </a:prstGeom>
          <a:noFill/>
          <a:ln/>
        </p:spPr>
        <p:txBody>
          <a:bodyPr wrap="square" lIns="0" tIns="0" rIns="0" bIns="0" rtlCol="0" anchor="t"/>
          <a:lstStyle/>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1   Answer correctly twice: the battle ends in two exchanges, with no Next exchange button after the win.</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2   A wrong answer costs you one health, shown as text.</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3   Buttons disable after one click.</a:t>
            </a:r>
            <a:endParaRPr lang="en-US" sz="1500" dirty="0"/>
          </a:p>
        </p:txBody>
      </p:sp>
      <p:sp>
        <p:nvSpPr>
          <p:cNvPr id="14" name="Shape 10"/>
          <p:cNvSpPr/>
          <p:nvPr/>
        </p:nvSpPr>
        <p:spPr>
          <a:xfrm>
            <a:off x="640080" y="5971032"/>
            <a:ext cx="201168" cy="201168"/>
          </a:xfrm>
          <a:prstGeom prst="rect">
            <a:avLst/>
          </a:prstGeom>
          <a:solidFill>
            <a:srgbClr val="22C55E"/>
          </a:solidFill>
          <a:ln w="12700">
            <a:solidFill>
              <a:srgbClr val="22C55E"/>
            </a:solidFill>
            <a:prstDash val="solid"/>
          </a:ln>
        </p:spPr>
      </p:sp>
      <p:sp>
        <p:nvSpPr>
          <p:cNvPr id="15" name="Text 11"/>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6" name="Shape 12"/>
          <p:cNvSpPr/>
          <p:nvPr/>
        </p:nvSpPr>
        <p:spPr>
          <a:xfrm>
            <a:off x="4206240" y="5971032"/>
            <a:ext cx="201168" cy="201168"/>
          </a:xfrm>
          <a:prstGeom prst="rect">
            <a:avLst/>
          </a:prstGeom>
          <a:solidFill>
            <a:srgbClr val="EF4444"/>
          </a:solidFill>
          <a:ln w="12700">
            <a:solidFill>
              <a:srgbClr val="EF4444"/>
            </a:solidFill>
            <a:prstDash val="solid"/>
          </a:ln>
        </p:spPr>
      </p:sp>
      <p:sp>
        <p:nvSpPr>
          <p:cNvPr id="17" name="Text 13"/>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STUCK? START HERE · DOCS/STUCK.MD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ANY TIME</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Stuck? Grab the rung for where you are.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Say what you see. Try the fix in stuck.md. Grab a checkpoint. Raise a hand. Using one is not cheating.</a:t>
            </a:r>
            <a:endParaRPr lang="en-US" sz="1600" dirty="0"/>
          </a:p>
        </p:txBody>
      </p:sp>
      <p:sp>
        <p:nvSpPr>
          <p:cNvPr id="9" name="Text 5"/>
          <p:cNvSpPr txBox="1"/>
          <p:nvPr/>
        </p:nvSpPr>
        <p:spPr>
          <a:xfrm>
            <a:off x="640080" y="2075688"/>
            <a:ext cx="3337560" cy="274320"/>
          </a:xfrm>
          <a:prstGeom prst="rect">
            <a:avLst/>
          </a:prstGeom>
          <a:noFill/>
          <a:ln/>
        </p:spPr>
        <p:txBody>
          <a:bodyPr wrap="square" lIns="0" tIns="0" rIns="0" bIns="0" rtlCol="0" anchor="t"/>
          <a:lstStyle/>
          <a:p>
            <a:pPr algn="r"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WHERE YOU ARE</a:t>
            </a:r>
            <a:endParaRPr lang="en-US" sz="1100" dirty="0"/>
          </a:p>
        </p:txBody>
      </p:sp>
      <p:sp>
        <p:nvSpPr>
          <p:cNvPr id="10" name="Text 6"/>
          <p:cNvSpPr txBox="1"/>
          <p:nvPr/>
        </p:nvSpPr>
        <p:spPr>
          <a:xfrm>
            <a:off x="4160520" y="2075688"/>
            <a:ext cx="3108960" cy="274320"/>
          </a:xfrm>
          <a:prstGeom prst="rect">
            <a:avLst/>
          </a:prstGeom>
          <a:noFill/>
          <a:ln/>
        </p:spPr>
        <p:txBody>
          <a:bodyPr wrap="square" lIns="0" tIns="0" rIns="0" bIns="0" rtlCol="0" anchor="t"/>
          <a:lstStyle/>
          <a:p>
            <a:pPr algn="ctr"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DOWNLOAD THIS</a:t>
            </a:r>
            <a:endParaRPr lang="en-US" sz="1100" dirty="0"/>
          </a:p>
        </p:txBody>
      </p:sp>
      <p:sp>
        <p:nvSpPr>
          <p:cNvPr id="11" name="Text 7"/>
          <p:cNvSpPr txBox="1"/>
          <p:nvPr/>
        </p:nvSpPr>
        <p:spPr>
          <a:xfrm>
            <a:off x="7498080" y="2075688"/>
            <a:ext cx="42793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THEN CONTINUE WITH</a:t>
            </a:r>
            <a:endParaRPr lang="en-US" sz="1100" dirty="0"/>
          </a:p>
        </p:txBody>
      </p:sp>
      <p:sp>
        <p:nvSpPr>
          <p:cNvPr id="12" name="Shape 8"/>
          <p:cNvSpPr/>
          <p:nvPr/>
        </p:nvSpPr>
        <p:spPr>
          <a:xfrm>
            <a:off x="4160520" y="2377440"/>
            <a:ext cx="0" cy="3374136"/>
          </a:xfrm>
          <a:prstGeom prst="line">
            <a:avLst/>
          </a:prstGeom>
          <a:noFill/>
          <a:ln w="31750">
            <a:solidFill>
              <a:srgbClr val="0D1219"/>
            </a:solidFill>
            <a:prstDash val="solid"/>
          </a:ln>
        </p:spPr>
      </p:sp>
      <p:sp>
        <p:nvSpPr>
          <p:cNvPr id="13" name="Shape 9"/>
          <p:cNvSpPr/>
          <p:nvPr/>
        </p:nvSpPr>
        <p:spPr>
          <a:xfrm>
            <a:off x="7269480" y="2377440"/>
            <a:ext cx="0" cy="3374136"/>
          </a:xfrm>
          <a:prstGeom prst="line">
            <a:avLst/>
          </a:prstGeom>
          <a:noFill/>
          <a:ln w="31750">
            <a:solidFill>
              <a:srgbClr val="0D1219"/>
            </a:solidFill>
            <a:prstDash val="solid"/>
          </a:ln>
        </p:spPr>
      </p:sp>
      <p:sp>
        <p:nvSpPr>
          <p:cNvPr id="14" name="Shape 10"/>
          <p:cNvSpPr/>
          <p:nvPr/>
        </p:nvSpPr>
        <p:spPr>
          <a:xfrm>
            <a:off x="4160520" y="2514600"/>
            <a:ext cx="3108960" cy="310896"/>
          </a:xfrm>
          <a:prstGeom prst="rect">
            <a:avLst/>
          </a:prstGeom>
          <a:solidFill>
            <a:srgbClr val="E8EEF7"/>
          </a:solidFill>
          <a:ln w="12700">
            <a:solidFill>
              <a:srgbClr val="0D1219"/>
            </a:solidFill>
            <a:prstDash val="solid"/>
          </a:ln>
        </p:spPr>
      </p:sp>
      <p:sp>
        <p:nvSpPr>
          <p:cNvPr id="15" name="Text 11"/>
          <p:cNvSpPr txBox="1"/>
          <p:nvPr/>
        </p:nvSpPr>
        <p:spPr>
          <a:xfrm>
            <a:off x="4160520" y="2514600"/>
            <a:ext cx="3108960" cy="310896"/>
          </a:xfrm>
          <a:prstGeom prst="rect">
            <a:avLst/>
          </a:prstGeom>
          <a:noFill/>
          <a:ln/>
        </p:spPr>
        <p:txBody>
          <a:bodyPr wrap="square" lIns="0" tIns="0" rIns="0" bIns="0" rtlCol="0" anchor="ctr"/>
          <a:lstStyle/>
          <a:p>
            <a:pPr algn="ctr" indent="0" marL="0">
              <a:lnSpc>
                <a:spcPct val="115000"/>
              </a:lnSpc>
              <a:buNone/>
            </a:pPr>
            <a:r>
              <a:rPr lang="en-US" sz="1200" b="1" dirty="0">
                <a:solidFill>
                  <a:srgbClr val="0D1219"/>
                </a:solidFill>
                <a:latin typeface="Courier New" pitchFamily="34" charset="0"/>
                <a:ea typeface="Courier New" pitchFamily="34" charset="-122"/>
                <a:cs typeface="Courier New" pitchFamily="34" charset="-120"/>
              </a:rPr>
              <a:t>personal-website/index.html</a:t>
            </a:r>
            <a:endParaRPr lang="en-US" sz="1200" dirty="0"/>
          </a:p>
        </p:txBody>
      </p:sp>
      <p:sp>
        <p:nvSpPr>
          <p:cNvPr id="16" name="Text 12"/>
          <p:cNvSpPr txBox="1"/>
          <p:nvPr/>
        </p:nvSpPr>
        <p:spPr>
          <a:xfrm>
            <a:off x="640080" y="2496312"/>
            <a:ext cx="3337560" cy="365760"/>
          </a:xfrm>
          <a:prstGeom prst="rect">
            <a:avLst/>
          </a:prstGeom>
          <a:noFill/>
          <a:ln/>
        </p:spPr>
        <p:txBody>
          <a:bodyPr wrap="square" lIns="0" tIns="0" rIns="0" bIns="0" rtlCol="0" anchor="ctr"/>
          <a:lstStyle/>
          <a:p>
            <a:pPr algn="r" indent="0" marL="0">
              <a:lnSpc>
                <a:spcPct val="115000"/>
              </a:lnSpc>
              <a:buNone/>
            </a:pPr>
            <a:r>
              <a:rPr lang="en-US" sz="1300" dirty="0">
                <a:solidFill>
                  <a:srgbClr val="0D1219"/>
                </a:solidFill>
                <a:latin typeface="Arial" pitchFamily="34" charset="0"/>
                <a:ea typeface="Arial" pitchFamily="34" charset="-122"/>
                <a:cs typeface="Arial" pitchFamily="34" charset="-120"/>
              </a:rPr>
              <a:t>Website: nothing works yet</a:t>
            </a:r>
            <a:endParaRPr lang="en-US" sz="1300" dirty="0"/>
          </a:p>
        </p:txBody>
      </p:sp>
      <p:sp>
        <p:nvSpPr>
          <p:cNvPr id="17" name="Text 13"/>
          <p:cNvSpPr txBox="1"/>
          <p:nvPr/>
        </p:nvSpPr>
        <p:spPr>
          <a:xfrm>
            <a:off x="7498080" y="2478024"/>
            <a:ext cx="4050792" cy="402336"/>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Replace Jordan Rivera’s content with yours, section by section.</a:t>
            </a:r>
            <a:endParaRPr lang="en-US" sz="1200" dirty="0"/>
          </a:p>
        </p:txBody>
      </p:sp>
      <p:sp>
        <p:nvSpPr>
          <p:cNvPr id="18" name="Shape 14"/>
          <p:cNvSpPr/>
          <p:nvPr/>
        </p:nvSpPr>
        <p:spPr>
          <a:xfrm>
            <a:off x="4160520" y="2990088"/>
            <a:ext cx="3108960" cy="310896"/>
          </a:xfrm>
          <a:prstGeom prst="rect">
            <a:avLst/>
          </a:prstGeom>
          <a:solidFill>
            <a:srgbClr val="E8EEF7"/>
          </a:solidFill>
          <a:ln w="12700">
            <a:solidFill>
              <a:srgbClr val="0D1219"/>
            </a:solidFill>
            <a:prstDash val="solid"/>
          </a:ln>
        </p:spPr>
      </p:sp>
      <p:sp>
        <p:nvSpPr>
          <p:cNvPr id="19" name="Text 15"/>
          <p:cNvSpPr txBox="1"/>
          <p:nvPr/>
        </p:nvSpPr>
        <p:spPr>
          <a:xfrm>
            <a:off x="4160520" y="2990088"/>
            <a:ext cx="3108960" cy="310896"/>
          </a:xfrm>
          <a:prstGeom prst="rect">
            <a:avLst/>
          </a:prstGeom>
          <a:noFill/>
          <a:ln/>
        </p:spPr>
        <p:txBody>
          <a:bodyPr wrap="square" lIns="0" tIns="0" rIns="0" bIns="0" rtlCol="0" anchor="ctr"/>
          <a:lstStyle/>
          <a:p>
            <a:pPr algn="ctr" indent="0" marL="0">
              <a:lnSpc>
                <a:spcPct val="115000"/>
              </a:lnSpc>
              <a:buNone/>
            </a:pPr>
            <a:r>
              <a:rPr lang="en-US" sz="1200" b="1" dirty="0">
                <a:solidFill>
                  <a:srgbClr val="0D1219"/>
                </a:solidFill>
                <a:latin typeface="Courier New" pitchFamily="34" charset="0"/>
                <a:ea typeface="Courier New" pitchFamily="34" charset="-122"/>
                <a:cs typeface="Courier New" pitchFamily="34" charset="-120"/>
              </a:rPr>
              <a:t>the same file, fresh</a:t>
            </a:r>
            <a:endParaRPr lang="en-US" sz="1200" dirty="0"/>
          </a:p>
        </p:txBody>
      </p:sp>
      <p:sp>
        <p:nvSpPr>
          <p:cNvPr id="20" name="Text 16"/>
          <p:cNvSpPr txBox="1"/>
          <p:nvPr/>
        </p:nvSpPr>
        <p:spPr>
          <a:xfrm>
            <a:off x="640080" y="2971800"/>
            <a:ext cx="3337560" cy="365760"/>
          </a:xfrm>
          <a:prstGeom prst="rect">
            <a:avLst/>
          </a:prstGeom>
          <a:noFill/>
          <a:ln/>
        </p:spPr>
        <p:txBody>
          <a:bodyPr wrap="square" lIns="0" tIns="0" rIns="0" bIns="0" rtlCol="0" anchor="ctr"/>
          <a:lstStyle/>
          <a:p>
            <a:pPr algn="r" indent="0" marL="0">
              <a:lnSpc>
                <a:spcPct val="115000"/>
              </a:lnSpc>
              <a:buNone/>
            </a:pPr>
            <a:r>
              <a:rPr lang="en-US" sz="1300" dirty="0">
                <a:solidFill>
                  <a:srgbClr val="0D1219"/>
                </a:solidFill>
                <a:latin typeface="Arial" pitchFamily="34" charset="0"/>
                <a:ea typeface="Arial" pitchFamily="34" charset="-122"/>
                <a:cs typeface="Arial" pitchFamily="34" charset="-120"/>
              </a:rPr>
              <a:t>Website: content in, look is broken</a:t>
            </a:r>
            <a:endParaRPr lang="en-US" sz="1300" dirty="0"/>
          </a:p>
        </p:txBody>
      </p:sp>
      <p:sp>
        <p:nvSpPr>
          <p:cNvPr id="21" name="Text 17"/>
          <p:cNvSpPr txBox="1"/>
          <p:nvPr/>
        </p:nvSpPr>
        <p:spPr>
          <a:xfrm>
            <a:off x="7498080" y="2953512"/>
            <a:ext cx="4050792" cy="402336"/>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Paste your text into the fresh file instead of fixing the broken one.</a:t>
            </a:r>
            <a:endParaRPr lang="en-US" sz="1200" dirty="0"/>
          </a:p>
        </p:txBody>
      </p:sp>
      <p:sp>
        <p:nvSpPr>
          <p:cNvPr id="22" name="Shape 18"/>
          <p:cNvSpPr/>
          <p:nvPr/>
        </p:nvSpPr>
        <p:spPr>
          <a:xfrm>
            <a:off x="4160520" y="3465576"/>
            <a:ext cx="3108960" cy="310896"/>
          </a:xfrm>
          <a:prstGeom prst="rect">
            <a:avLst/>
          </a:prstGeom>
          <a:solidFill>
            <a:srgbClr val="E8EEF7"/>
          </a:solidFill>
          <a:ln w="12700">
            <a:solidFill>
              <a:srgbClr val="0D1219"/>
            </a:solidFill>
            <a:prstDash val="solid"/>
          </a:ln>
        </p:spPr>
      </p:sp>
      <p:sp>
        <p:nvSpPr>
          <p:cNvPr id="23" name="Text 19"/>
          <p:cNvSpPr txBox="1"/>
          <p:nvPr/>
        </p:nvSpPr>
        <p:spPr>
          <a:xfrm>
            <a:off x="4160520" y="3465576"/>
            <a:ext cx="3108960" cy="310896"/>
          </a:xfrm>
          <a:prstGeom prst="rect">
            <a:avLst/>
          </a:prstGeom>
          <a:noFill/>
          <a:ln/>
        </p:spPr>
        <p:txBody>
          <a:bodyPr wrap="square" lIns="0" tIns="0" rIns="0" bIns="0" rtlCol="0" anchor="ctr"/>
          <a:lstStyle/>
          <a:p>
            <a:pPr algn="ctr" indent="0" marL="0">
              <a:lnSpc>
                <a:spcPct val="115000"/>
              </a:lnSpc>
              <a:buNone/>
            </a:pPr>
            <a:r>
              <a:rPr lang="en-US" sz="1200" b="1" dirty="0">
                <a:solidFill>
                  <a:srgbClr val="0D1219"/>
                </a:solidFill>
                <a:latin typeface="Courier New" pitchFamily="34" charset="0"/>
                <a:ea typeface="Courier New" pitchFamily="34" charset="-122"/>
                <a:cs typeface="Courier New" pitchFamily="34" charset="-120"/>
              </a:rPr>
              <a:t>your own file</a:t>
            </a:r>
            <a:endParaRPr lang="en-US" sz="1200" dirty="0"/>
          </a:p>
        </p:txBody>
      </p:sp>
      <p:sp>
        <p:nvSpPr>
          <p:cNvPr id="24" name="Text 20"/>
          <p:cNvSpPr txBox="1"/>
          <p:nvPr/>
        </p:nvSpPr>
        <p:spPr>
          <a:xfrm>
            <a:off x="640080" y="3447288"/>
            <a:ext cx="3337560" cy="365760"/>
          </a:xfrm>
          <a:prstGeom prst="rect">
            <a:avLst/>
          </a:prstGeom>
          <a:noFill/>
          <a:ln/>
        </p:spPr>
        <p:txBody>
          <a:bodyPr wrap="square" lIns="0" tIns="0" rIns="0" bIns="0" rtlCol="0" anchor="ctr"/>
          <a:lstStyle/>
          <a:p>
            <a:pPr algn="r" indent="0" marL="0">
              <a:lnSpc>
                <a:spcPct val="115000"/>
              </a:lnSpc>
              <a:buNone/>
            </a:pPr>
            <a:r>
              <a:rPr lang="en-US" sz="1300" dirty="0">
                <a:solidFill>
                  <a:srgbClr val="0D1219"/>
                </a:solidFill>
                <a:latin typeface="Arial" pitchFamily="34" charset="0"/>
                <a:ea typeface="Arial" pitchFamily="34" charset="-122"/>
                <a:cs typeface="Arial" pitchFamily="34" charset="-120"/>
              </a:rPr>
              <a:t>Website: looks fine, cannot publish</a:t>
            </a:r>
            <a:endParaRPr lang="en-US" sz="1300" dirty="0"/>
          </a:p>
        </p:txBody>
      </p:sp>
      <p:sp>
        <p:nvSpPr>
          <p:cNvPr id="25" name="Text 21"/>
          <p:cNvSpPr txBox="1"/>
          <p:nvPr/>
        </p:nvSpPr>
        <p:spPr>
          <a:xfrm>
            <a:off x="7498080" y="3429000"/>
            <a:ext cx="4050792" cy="402336"/>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Setup guide: recover from common setup failures.</a:t>
            </a:r>
            <a:endParaRPr lang="en-US" sz="1200" dirty="0"/>
          </a:p>
        </p:txBody>
      </p:sp>
      <p:sp>
        <p:nvSpPr>
          <p:cNvPr id="26" name="Shape 22"/>
          <p:cNvSpPr/>
          <p:nvPr/>
        </p:nvSpPr>
        <p:spPr>
          <a:xfrm>
            <a:off x="4160520" y="3941064"/>
            <a:ext cx="3108960" cy="310896"/>
          </a:xfrm>
          <a:prstGeom prst="rect">
            <a:avLst/>
          </a:prstGeom>
          <a:solidFill>
            <a:srgbClr val="E8EEF7"/>
          </a:solidFill>
          <a:ln w="12700">
            <a:solidFill>
              <a:srgbClr val="0D1219"/>
            </a:solidFill>
            <a:prstDash val="solid"/>
          </a:ln>
        </p:spPr>
      </p:sp>
      <p:sp>
        <p:nvSpPr>
          <p:cNvPr id="27" name="Text 23"/>
          <p:cNvSpPr txBox="1"/>
          <p:nvPr/>
        </p:nvSpPr>
        <p:spPr>
          <a:xfrm>
            <a:off x="4160520" y="3941064"/>
            <a:ext cx="3108960" cy="310896"/>
          </a:xfrm>
          <a:prstGeom prst="rect">
            <a:avLst/>
          </a:prstGeom>
          <a:noFill/>
          <a:ln/>
        </p:spPr>
        <p:txBody>
          <a:bodyPr wrap="square" lIns="0" tIns="0" rIns="0" bIns="0" rtlCol="0" anchor="ctr"/>
          <a:lstStyle/>
          <a:p>
            <a:pPr algn="ctr" indent="0" marL="0">
              <a:lnSpc>
                <a:spcPct val="115000"/>
              </a:lnSpc>
              <a:buNone/>
            </a:pPr>
            <a:r>
              <a:rPr lang="en-US" sz="1200" b="1" dirty="0">
                <a:solidFill>
                  <a:srgbClr val="0D1219"/>
                </a:solidFill>
                <a:latin typeface="Courier New" pitchFamily="34" charset="0"/>
                <a:ea typeface="Courier New" pitchFamily="34" charset="-122"/>
                <a:cs typeface="Courier New" pitchFamily="34" charset="-120"/>
              </a:rPr>
              <a:t>checkpoint-1-board</a:t>
            </a:r>
            <a:endParaRPr lang="en-US" sz="1200" dirty="0"/>
          </a:p>
        </p:txBody>
      </p:sp>
      <p:sp>
        <p:nvSpPr>
          <p:cNvPr id="28" name="Text 24"/>
          <p:cNvSpPr txBox="1"/>
          <p:nvPr/>
        </p:nvSpPr>
        <p:spPr>
          <a:xfrm>
            <a:off x="640080" y="3922776"/>
            <a:ext cx="3337560" cy="365760"/>
          </a:xfrm>
          <a:prstGeom prst="rect">
            <a:avLst/>
          </a:prstGeom>
          <a:noFill/>
          <a:ln/>
        </p:spPr>
        <p:txBody>
          <a:bodyPr wrap="square" lIns="0" tIns="0" rIns="0" bIns="0" rtlCol="0" anchor="ctr"/>
          <a:lstStyle/>
          <a:p>
            <a:pPr algn="r" indent="0" marL="0">
              <a:lnSpc>
                <a:spcPct val="115000"/>
              </a:lnSpc>
              <a:buNone/>
            </a:pPr>
            <a:r>
              <a:rPr lang="en-US" sz="1300" dirty="0">
                <a:solidFill>
                  <a:srgbClr val="0D1219"/>
                </a:solidFill>
                <a:latin typeface="Arial" pitchFamily="34" charset="0"/>
                <a:ea typeface="Arial" pitchFamily="34" charset="-122"/>
                <a:cs typeface="Arial" pitchFamily="34" charset="-120"/>
              </a:rPr>
              <a:t>Game: board does not detect wins</a:t>
            </a:r>
            <a:endParaRPr lang="en-US" sz="1300" dirty="0"/>
          </a:p>
        </p:txBody>
      </p:sp>
      <p:sp>
        <p:nvSpPr>
          <p:cNvPr id="29" name="Text 25"/>
          <p:cNvSpPr txBox="1"/>
          <p:nvPr/>
        </p:nvSpPr>
        <p:spPr>
          <a:xfrm>
            <a:off x="7498080" y="3904488"/>
            <a:ext cx="4050792" cy="402336"/>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Build the battle next.</a:t>
            </a:r>
            <a:endParaRPr lang="en-US" sz="1200" dirty="0"/>
          </a:p>
        </p:txBody>
      </p:sp>
      <p:sp>
        <p:nvSpPr>
          <p:cNvPr id="30" name="Shape 26"/>
          <p:cNvSpPr/>
          <p:nvPr/>
        </p:nvSpPr>
        <p:spPr>
          <a:xfrm>
            <a:off x="4160520" y="4416552"/>
            <a:ext cx="3108960" cy="310896"/>
          </a:xfrm>
          <a:prstGeom prst="rect">
            <a:avLst/>
          </a:prstGeom>
          <a:solidFill>
            <a:srgbClr val="E8EEF7"/>
          </a:solidFill>
          <a:ln w="12700">
            <a:solidFill>
              <a:srgbClr val="0D1219"/>
            </a:solidFill>
            <a:prstDash val="solid"/>
          </a:ln>
        </p:spPr>
      </p:sp>
      <p:sp>
        <p:nvSpPr>
          <p:cNvPr id="31" name="Text 27"/>
          <p:cNvSpPr txBox="1"/>
          <p:nvPr/>
        </p:nvSpPr>
        <p:spPr>
          <a:xfrm>
            <a:off x="4160520" y="4416552"/>
            <a:ext cx="3108960" cy="310896"/>
          </a:xfrm>
          <a:prstGeom prst="rect">
            <a:avLst/>
          </a:prstGeom>
          <a:noFill/>
          <a:ln/>
        </p:spPr>
        <p:txBody>
          <a:bodyPr wrap="square" lIns="0" tIns="0" rIns="0" bIns="0" rtlCol="0" anchor="ctr"/>
          <a:lstStyle/>
          <a:p>
            <a:pPr algn="ctr" indent="0" marL="0">
              <a:lnSpc>
                <a:spcPct val="115000"/>
              </a:lnSpc>
              <a:buNone/>
            </a:pPr>
            <a:r>
              <a:rPr lang="en-US" sz="1200" b="1" dirty="0">
                <a:solidFill>
                  <a:srgbClr val="0D1219"/>
                </a:solidFill>
                <a:latin typeface="Courier New" pitchFamily="34" charset="0"/>
                <a:ea typeface="Courier New" pitchFamily="34" charset="-122"/>
                <a:cs typeface="Courier New" pitchFamily="34" charset="-120"/>
              </a:rPr>
              <a:t>checkpoint-2-battle</a:t>
            </a:r>
            <a:endParaRPr lang="en-US" sz="1200" dirty="0"/>
          </a:p>
        </p:txBody>
      </p:sp>
      <p:sp>
        <p:nvSpPr>
          <p:cNvPr id="32" name="Text 28"/>
          <p:cNvSpPr txBox="1"/>
          <p:nvPr/>
        </p:nvSpPr>
        <p:spPr>
          <a:xfrm>
            <a:off x="640080" y="4398264"/>
            <a:ext cx="3337560" cy="365760"/>
          </a:xfrm>
          <a:prstGeom prst="rect">
            <a:avLst/>
          </a:prstGeom>
          <a:noFill/>
          <a:ln/>
        </p:spPr>
        <p:txBody>
          <a:bodyPr wrap="square" lIns="0" tIns="0" rIns="0" bIns="0" rtlCol="0" anchor="ctr"/>
          <a:lstStyle/>
          <a:p>
            <a:pPr algn="r" indent="0" marL="0">
              <a:lnSpc>
                <a:spcPct val="115000"/>
              </a:lnSpc>
              <a:buNone/>
            </a:pPr>
            <a:r>
              <a:rPr lang="en-US" sz="1300" dirty="0">
                <a:solidFill>
                  <a:srgbClr val="0D1219"/>
                </a:solidFill>
                <a:latin typeface="Arial" pitchFamily="34" charset="0"/>
                <a:ea typeface="Arial" pitchFamily="34" charset="-122"/>
                <a:cs typeface="Arial" pitchFamily="34" charset="-120"/>
              </a:rPr>
              <a:t>Game: battle logic is wrong</a:t>
            </a:r>
            <a:endParaRPr lang="en-US" sz="1300" dirty="0"/>
          </a:p>
        </p:txBody>
      </p:sp>
      <p:sp>
        <p:nvSpPr>
          <p:cNvPr id="33" name="Text 29"/>
          <p:cNvSpPr txBox="1"/>
          <p:nvPr/>
        </p:nvSpPr>
        <p:spPr>
          <a:xfrm>
            <a:off x="7498080" y="4379976"/>
            <a:ext cx="4050792" cy="402336"/>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Connect it to the board.</a:t>
            </a:r>
            <a:endParaRPr lang="en-US" sz="1200" dirty="0"/>
          </a:p>
        </p:txBody>
      </p:sp>
      <p:sp>
        <p:nvSpPr>
          <p:cNvPr id="34" name="Shape 30"/>
          <p:cNvSpPr/>
          <p:nvPr/>
        </p:nvSpPr>
        <p:spPr>
          <a:xfrm>
            <a:off x="4160520" y="4892040"/>
            <a:ext cx="3108960" cy="310896"/>
          </a:xfrm>
          <a:prstGeom prst="rect">
            <a:avLst/>
          </a:prstGeom>
          <a:solidFill>
            <a:srgbClr val="E8EEF7"/>
          </a:solidFill>
          <a:ln w="12700">
            <a:solidFill>
              <a:srgbClr val="0D1219"/>
            </a:solidFill>
            <a:prstDash val="solid"/>
          </a:ln>
        </p:spPr>
      </p:sp>
      <p:sp>
        <p:nvSpPr>
          <p:cNvPr id="35" name="Text 31"/>
          <p:cNvSpPr txBox="1"/>
          <p:nvPr/>
        </p:nvSpPr>
        <p:spPr>
          <a:xfrm>
            <a:off x="4160520" y="4892040"/>
            <a:ext cx="3108960" cy="310896"/>
          </a:xfrm>
          <a:prstGeom prst="rect">
            <a:avLst/>
          </a:prstGeom>
          <a:noFill/>
          <a:ln/>
        </p:spPr>
        <p:txBody>
          <a:bodyPr wrap="square" lIns="0" tIns="0" rIns="0" bIns="0" rtlCol="0" anchor="ctr"/>
          <a:lstStyle/>
          <a:p>
            <a:pPr algn="ctr" indent="0" marL="0">
              <a:lnSpc>
                <a:spcPct val="115000"/>
              </a:lnSpc>
              <a:buNone/>
            </a:pPr>
            <a:r>
              <a:rPr lang="en-US" sz="1200" b="1" dirty="0">
                <a:solidFill>
                  <a:srgbClr val="0D1219"/>
                </a:solidFill>
                <a:latin typeface="Courier New" pitchFamily="34" charset="0"/>
                <a:ea typeface="Courier New" pitchFamily="34" charset="-122"/>
                <a:cs typeface="Courier New" pitchFamily="34" charset="-120"/>
              </a:rPr>
              <a:t>checkpoint-3-complete</a:t>
            </a:r>
            <a:endParaRPr lang="en-US" sz="1200" dirty="0"/>
          </a:p>
        </p:txBody>
      </p:sp>
      <p:sp>
        <p:nvSpPr>
          <p:cNvPr id="36" name="Text 32"/>
          <p:cNvSpPr txBox="1"/>
          <p:nvPr/>
        </p:nvSpPr>
        <p:spPr>
          <a:xfrm>
            <a:off x="640080" y="4873752"/>
            <a:ext cx="3337560" cy="365760"/>
          </a:xfrm>
          <a:prstGeom prst="rect">
            <a:avLst/>
          </a:prstGeom>
          <a:noFill/>
          <a:ln/>
        </p:spPr>
        <p:txBody>
          <a:bodyPr wrap="square" lIns="0" tIns="0" rIns="0" bIns="0" rtlCol="0" anchor="ctr"/>
          <a:lstStyle/>
          <a:p>
            <a:pPr algn="r" indent="0" marL="0">
              <a:lnSpc>
                <a:spcPct val="115000"/>
              </a:lnSpc>
              <a:buNone/>
            </a:pPr>
            <a:r>
              <a:rPr lang="en-US" sz="1300" dirty="0">
                <a:solidFill>
                  <a:srgbClr val="0D1219"/>
                </a:solidFill>
                <a:latin typeface="Arial" pitchFamily="34" charset="0"/>
                <a:ea typeface="Arial" pitchFamily="34" charset="-122"/>
                <a:cs typeface="Arial" pitchFamily="34" charset="-120"/>
              </a:rPr>
              <a:t>Game: board and battle will not connect</a:t>
            </a:r>
            <a:endParaRPr lang="en-US" sz="1300" dirty="0"/>
          </a:p>
        </p:txBody>
      </p:sp>
      <p:sp>
        <p:nvSpPr>
          <p:cNvPr id="37" name="Text 33"/>
          <p:cNvSpPr txBox="1"/>
          <p:nvPr/>
        </p:nvSpPr>
        <p:spPr>
          <a:xfrm>
            <a:off x="7498080" y="4855464"/>
            <a:ext cx="4050792" cy="402336"/>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Pick your theme with ?theme= and go straight to look and feel and playtest.</a:t>
            </a:r>
            <a:endParaRPr lang="en-US" sz="1200" dirty="0"/>
          </a:p>
        </p:txBody>
      </p:sp>
      <p:sp>
        <p:nvSpPr>
          <p:cNvPr id="38" name="Shape 34"/>
          <p:cNvSpPr/>
          <p:nvPr/>
        </p:nvSpPr>
        <p:spPr>
          <a:xfrm>
            <a:off x="4160520" y="5367528"/>
            <a:ext cx="3108960" cy="310896"/>
          </a:xfrm>
          <a:prstGeom prst="rect">
            <a:avLst/>
          </a:prstGeom>
          <a:solidFill>
            <a:srgbClr val="E8EEF7"/>
          </a:solidFill>
          <a:ln w="12700">
            <a:solidFill>
              <a:srgbClr val="0D1219"/>
            </a:solidFill>
            <a:prstDash val="solid"/>
          </a:ln>
        </p:spPr>
      </p:sp>
      <p:sp>
        <p:nvSpPr>
          <p:cNvPr id="39" name="Text 35"/>
          <p:cNvSpPr txBox="1"/>
          <p:nvPr/>
        </p:nvSpPr>
        <p:spPr>
          <a:xfrm>
            <a:off x="4160520" y="5367528"/>
            <a:ext cx="3108960" cy="310896"/>
          </a:xfrm>
          <a:prstGeom prst="rect">
            <a:avLst/>
          </a:prstGeom>
          <a:noFill/>
          <a:ln/>
        </p:spPr>
        <p:txBody>
          <a:bodyPr wrap="square" lIns="0" tIns="0" rIns="0" bIns="0" rtlCol="0" anchor="ctr"/>
          <a:lstStyle/>
          <a:p>
            <a:pPr algn="ctr" indent="0" marL="0">
              <a:lnSpc>
                <a:spcPct val="115000"/>
              </a:lnSpc>
              <a:buNone/>
            </a:pPr>
            <a:r>
              <a:rPr lang="en-US" sz="1200" b="1" dirty="0">
                <a:solidFill>
                  <a:srgbClr val="0D1219"/>
                </a:solidFill>
                <a:latin typeface="Courier New" pitchFamily="34" charset="0"/>
                <a:ea typeface="Courier New" pitchFamily="34" charset="-122"/>
                <a:cs typeface="Courier New" pitchFamily="34" charset="-120"/>
              </a:rPr>
              <a:t>checkpoint-3-complete</a:t>
            </a:r>
            <a:endParaRPr lang="en-US" sz="1200" dirty="0"/>
          </a:p>
        </p:txBody>
      </p:sp>
      <p:sp>
        <p:nvSpPr>
          <p:cNvPr id="40" name="Text 36"/>
          <p:cNvSpPr txBox="1"/>
          <p:nvPr/>
        </p:nvSpPr>
        <p:spPr>
          <a:xfrm>
            <a:off x="640080" y="5349240"/>
            <a:ext cx="3337560" cy="365760"/>
          </a:xfrm>
          <a:prstGeom prst="rect">
            <a:avLst/>
          </a:prstGeom>
          <a:noFill/>
          <a:ln/>
        </p:spPr>
        <p:txBody>
          <a:bodyPr wrap="square" lIns="0" tIns="0" rIns="0" bIns="0" rtlCol="0" anchor="ctr"/>
          <a:lstStyle/>
          <a:p>
            <a:pPr algn="r" indent="0" marL="0">
              <a:lnSpc>
                <a:spcPct val="115000"/>
              </a:lnSpc>
              <a:buNone/>
            </a:pPr>
            <a:r>
              <a:rPr lang="en-US" sz="1300" dirty="0">
                <a:solidFill>
                  <a:srgbClr val="0D1219"/>
                </a:solidFill>
                <a:latin typeface="Arial" pitchFamily="34" charset="0"/>
                <a:ea typeface="Arial" pitchFamily="34" charset="-122"/>
                <a:cs typeface="Arial" pitchFamily="34" charset="-120"/>
              </a:rPr>
              <a:t>Game: everything works but it is 4:30</a:t>
            </a:r>
            <a:endParaRPr lang="en-US" sz="1300" dirty="0"/>
          </a:p>
        </p:txBody>
      </p:sp>
      <p:sp>
        <p:nvSpPr>
          <p:cNvPr id="41" name="Text 37"/>
          <p:cNvSpPr txBox="1"/>
          <p:nvPr/>
        </p:nvSpPr>
        <p:spPr>
          <a:xfrm>
            <a:off x="7498080" y="5330952"/>
            <a:ext cx="4050792" cy="402336"/>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Change the theme, publish it, record the rest as “later.”</a:t>
            </a:r>
            <a:endParaRPr lang="en-US" sz="1200" dirty="0"/>
          </a:p>
        </p:txBody>
      </p:sp>
      <p:sp>
        <p:nvSpPr>
          <p:cNvPr id="42" name="Text 38"/>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BUILD 3 OF 3 · CONNECT · VC-GAME-BUILD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2:15 – 2:45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Connect them. Now it’s a game.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Compare with checkpoint-3-complete/index.html. At 3:00 everyone may continue from it.</a:t>
            </a:r>
            <a:endParaRPr lang="en-US" sz="1600" dirty="0"/>
          </a:p>
        </p:txBody>
      </p:sp>
      <p:sp>
        <p:nvSpPr>
          <p:cNvPr id="9" name="Shape 5"/>
          <p:cNvSpPr/>
          <p:nvPr/>
        </p:nvSpPr>
        <p:spPr>
          <a:xfrm>
            <a:off x="640080" y="2194560"/>
            <a:ext cx="10908792" cy="1920240"/>
          </a:xfrm>
          <a:prstGeom prst="rect">
            <a:avLst/>
          </a:prstGeom>
          <a:solidFill>
            <a:srgbClr val="121B2B"/>
          </a:solidFill>
          <a:ln w="12700">
            <a:solidFill>
              <a:srgbClr val="EF8B39"/>
            </a:solidFill>
            <a:prstDash val="solid"/>
          </a:ln>
        </p:spPr>
      </p:sp>
      <p:sp>
        <p:nvSpPr>
          <p:cNvPr id="10" name="Text 6"/>
          <p:cNvSpPr/>
          <p:nvPr/>
        </p:nvSpPr>
        <p:spPr>
          <a:xfrm>
            <a:off x="868680" y="23225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ATTACH BOTH FILES + THE INSTRUCTIONS WIREFRAME · TYPE THIS, VERBATIM</a:t>
            </a:r>
            <a:endParaRPr lang="en-US" sz="1100" dirty="0"/>
          </a:p>
        </p:txBody>
      </p:sp>
      <p:sp>
        <p:nvSpPr>
          <p:cNvPr id="11" name="Text 7"/>
          <p:cNvSpPr txBox="1"/>
          <p:nvPr/>
        </p:nvSpPr>
        <p:spPr>
          <a:xfrm>
            <a:off x="868680" y="2651760"/>
            <a:ext cx="10451592" cy="132588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Connect the board and the battle into one index.html. Selecting an empty cell locks the board and starts a battle for that cell. A battle win places my mark, a loss places the opponent's mark, exactly once, then the board is evaluated. Add the instructions screen from my wireframe with the theme table. Keep Restart game available everywhere. Return the complete file.</a:t>
            </a:r>
            <a:endParaRPr lang="en-US" sz="1400" dirty="0"/>
          </a:p>
        </p:txBody>
      </p:sp>
      <p:sp>
        <p:nvSpPr>
          <p:cNvPr id="12" name="Text 8"/>
          <p:cNvSpPr txBox="1"/>
          <p:nvPr/>
        </p:nvSpPr>
        <p:spPr>
          <a:xfrm>
            <a:off x="640080" y="429768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22C55E"/>
                </a:solidFill>
                <a:latin typeface="Courier New" pitchFamily="34" charset="0"/>
                <a:ea typeface="Courier New" pitchFamily="34" charset="-122"/>
                <a:cs typeface="Courier New" pitchFamily="34" charset="-120"/>
              </a:rPr>
              <a:t>CHECKPOINT 3 · WHAT YOU MUST SEE</a:t>
            </a:r>
            <a:endParaRPr lang="en-US" sz="1100" dirty="0"/>
          </a:p>
        </p:txBody>
      </p:sp>
      <p:sp>
        <p:nvSpPr>
          <p:cNvPr id="13" name="Text 9"/>
          <p:cNvSpPr txBox="1"/>
          <p:nvPr/>
        </p:nvSpPr>
        <p:spPr>
          <a:xfrm>
            <a:off x="640080" y="4617720"/>
            <a:ext cx="10908792" cy="1188720"/>
          </a:xfrm>
          <a:prstGeom prst="rect">
            <a:avLst/>
          </a:prstGeom>
          <a:noFill/>
          <a:ln/>
        </p:spPr>
        <p:txBody>
          <a:bodyPr wrap="square" lIns="0" tIns="0" rIns="0" bIns="0" rtlCol="0" anchor="t"/>
          <a:lstStyle/>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1   Win three battles on squares 1, 2, and 3: the game says you won.</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2   Restart in the middle of a battle: empty board, no battle.</a:t>
            </a:r>
            <a:endParaRPr lang="en-US" sz="1500" dirty="0"/>
          </a:p>
          <a:p>
            <a:pPr indent="0" marL="0">
              <a:lnSpc>
                <a:spcPct val="120000"/>
              </a:lnSpc>
              <a:spcAft>
                <a:spcPts val="500"/>
              </a:spcAft>
              <a:buNone/>
            </a:pPr>
            <a:r>
              <a:rPr lang="en-US" sz="1500" dirty="0">
                <a:solidFill>
                  <a:srgbClr val="0D1219"/>
                </a:solidFill>
                <a:latin typeface="Arial" pitchFamily="34" charset="0"/>
                <a:ea typeface="Arial" pitchFamily="34" charset="-122"/>
                <a:cs typeface="Arial" pitchFamily="34" charset="-120"/>
              </a:rPr>
              <a:t>3   One finished battle fills exactly one cell.</a:t>
            </a:r>
            <a:endParaRPr lang="en-US" sz="1500" dirty="0"/>
          </a:p>
        </p:txBody>
      </p:sp>
      <p:sp>
        <p:nvSpPr>
          <p:cNvPr id="14" name="Shape 10"/>
          <p:cNvSpPr/>
          <p:nvPr/>
        </p:nvSpPr>
        <p:spPr>
          <a:xfrm>
            <a:off x="640080" y="5971032"/>
            <a:ext cx="201168" cy="201168"/>
          </a:xfrm>
          <a:prstGeom prst="rect">
            <a:avLst/>
          </a:prstGeom>
          <a:solidFill>
            <a:srgbClr val="22C55E"/>
          </a:solidFill>
          <a:ln w="12700">
            <a:solidFill>
              <a:srgbClr val="22C55E"/>
            </a:solidFill>
            <a:prstDash val="solid"/>
          </a:ln>
        </p:spPr>
      </p:sp>
      <p:sp>
        <p:nvSpPr>
          <p:cNvPr id="15" name="Text 11"/>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6" name="Shape 12"/>
          <p:cNvSpPr/>
          <p:nvPr/>
        </p:nvSpPr>
        <p:spPr>
          <a:xfrm>
            <a:off x="4206240" y="5971032"/>
            <a:ext cx="201168" cy="201168"/>
          </a:xfrm>
          <a:prstGeom prst="rect">
            <a:avLst/>
          </a:prstGeom>
          <a:solidFill>
            <a:srgbClr val="EF4444"/>
          </a:solidFill>
          <a:ln w="12700">
            <a:solidFill>
              <a:srgbClr val="EF4444"/>
            </a:solidFill>
            <a:prstDash val="solid"/>
          </a:ln>
        </p:spPr>
      </p:sp>
      <p:sp>
        <p:nvSpPr>
          <p:cNvPr id="17" name="Text 13"/>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h-white.png">    </p:cNvPr>
          <p:cNvPicPr>
            <a:picLocks noChangeAspect="1"/>
          </p:cNvPicPr>
          <p:nvPr/>
        </p:nvPicPr>
        <p:blipFill>
          <a:blip r:embed="rId2"/>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BREAK</a:t>
            </a:r>
            <a:endParaRPr lang="en-US" sz="1100" dirty="0"/>
          </a:p>
        </p:txBody>
      </p:sp>
      <p:sp>
        <p:nvSpPr>
          <p:cNvPr id="6" name="Text 2"/>
          <p:cNvSpPr txBox="1"/>
          <p:nvPr/>
        </p:nvSpPr>
        <p:spPr>
          <a:xfrm>
            <a:off x="640080" y="1371600"/>
            <a:ext cx="10908792"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2:45 – 3:00</a:t>
            </a:r>
            <a:endParaRPr lang="en-US" sz="5400" dirty="0"/>
          </a:p>
        </p:txBody>
      </p:sp>
      <p:sp>
        <p:nvSpPr>
          <p:cNvPr id="7" name="Text 3"/>
          <p:cNvSpPr txBox="1"/>
          <p:nvPr/>
        </p:nvSpPr>
        <p:spPr>
          <a:xfrm>
            <a:off x="640080" y="2514600"/>
            <a:ext cx="10908792" cy="548640"/>
          </a:xfrm>
          <a:prstGeom prst="rect">
            <a:avLst/>
          </a:prstGeom>
          <a:noFill/>
          <a:ln/>
        </p:spPr>
        <p:txBody>
          <a:bodyPr wrap="square" lIns="0" tIns="0" rIns="0" bIns="0" rtlCol="0" anchor="ctr"/>
          <a:lstStyle/>
          <a:p>
            <a:pPr indent="0" marL="0">
              <a:buNone/>
            </a:pPr>
            <a:r>
              <a:rPr lang="en-US" sz="1800" dirty="0">
                <a:solidFill>
                  <a:srgbClr val="EF8B39"/>
                </a:solidFill>
                <a:latin typeface="Courier New" pitchFamily="34" charset="0"/>
                <a:ea typeface="Courier New" pitchFamily="34" charset="-122"/>
                <a:cs typeface="Courier New" pitchFamily="34" charset="-120"/>
              </a:rPr>
              <a:t>Back at 3:00. Then theme, phone fit, and playtest.</a:t>
            </a:r>
            <a:endParaRPr lang="en-US" sz="1800" dirty="0"/>
          </a:p>
        </p:txBody>
      </p:sp>
      <p:sp>
        <p:nvSpPr>
          <p:cNvPr id="8" name="Text 4"/>
          <p:cNvSpPr txBox="1"/>
          <p:nvPr/>
        </p:nvSpPr>
        <p:spPr>
          <a:xfrm>
            <a:off x="640080" y="3566160"/>
            <a:ext cx="731520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WHEN YOU SIT BACK DOWN, HAVE THIS</a:t>
            </a:r>
            <a:endParaRPr lang="en-US" sz="1100" dirty="0"/>
          </a:p>
        </p:txBody>
      </p:sp>
      <p:sp>
        <p:nvSpPr>
          <p:cNvPr id="9" name="Text 5"/>
          <p:cNvSpPr txBox="1"/>
          <p:nvPr/>
        </p:nvSpPr>
        <p:spPr>
          <a:xfrm>
            <a:off x="640080" y="3931920"/>
            <a:ext cx="8686800" cy="1828800"/>
          </a:xfrm>
          <a:prstGeom prst="rect">
            <a:avLst/>
          </a:prstGeom>
          <a:noFill/>
          <a:ln/>
        </p:spPr>
        <p:txBody>
          <a:bodyPr wrap="square" lIns="0" tIns="0" rIns="0" bIns="0" rtlCol="0" anchor="t"/>
          <a:lstStyle/>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1   A playable round, or checkpoint 3 open with your ?theme=</a:t>
            </a:r>
            <a:endParaRPr lang="en-US" sz="1800" dirty="0"/>
          </a:p>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2   Your three colors written down</a:t>
            </a:r>
            <a:endParaRPr lang="en-US" sz="1800" dirty="0"/>
          </a:p>
          <a:p>
            <a:pPr indent="0" marL="0">
              <a:lnSpc>
                <a:spcPct val="120000"/>
              </a:lnSpc>
              <a:spcAft>
                <a:spcPts val="1000"/>
              </a:spcAft>
              <a:buNone/>
            </a:pPr>
            <a:r>
              <a:rPr lang="en-US" sz="1800" dirty="0">
                <a:solidFill>
                  <a:srgbClr val="FFFFFF"/>
                </a:solidFill>
                <a:latin typeface="Arial" pitchFamily="34" charset="0"/>
                <a:ea typeface="Arial" pitchFamily="34" charset="-122"/>
                <a:cs typeface="Arial" pitchFamily="34" charset="-120"/>
              </a:rPr>
              <a:t>3   Swap who types</a:t>
            </a:r>
            <a:endParaRPr lang="en-US" sz="1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LOOK AND FEEL · VC-GAME-LOOK-FEEL · VC-GAME-FEEDBACK</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3:00 – 3:30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Your colors, and it fits a phone.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Then play one round on a phone, held upright, with your thumb.</a:t>
            </a:r>
            <a:endParaRPr lang="en-US" sz="1600" dirty="0"/>
          </a:p>
        </p:txBody>
      </p:sp>
      <p:sp>
        <p:nvSpPr>
          <p:cNvPr id="9" name="Shape 5"/>
          <p:cNvSpPr/>
          <p:nvPr/>
        </p:nvSpPr>
        <p:spPr>
          <a:xfrm>
            <a:off x="640080" y="2194560"/>
            <a:ext cx="10908792" cy="1371600"/>
          </a:xfrm>
          <a:prstGeom prst="rect">
            <a:avLst/>
          </a:prstGeom>
          <a:solidFill>
            <a:srgbClr val="121B2B"/>
          </a:solidFill>
          <a:ln w="12700">
            <a:solidFill>
              <a:srgbClr val="EF8B39"/>
            </a:solidFill>
            <a:prstDash val="solid"/>
          </a:ln>
        </p:spPr>
      </p:sp>
      <p:sp>
        <p:nvSpPr>
          <p:cNvPr id="10" name="Text 6"/>
          <p:cNvSpPr/>
          <p:nvPr/>
        </p:nvSpPr>
        <p:spPr>
          <a:xfrm>
            <a:off x="868680" y="23225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ATTACH YOUR CURRENT index.html · TYPE THIS, VERBATIM</a:t>
            </a:r>
            <a:endParaRPr lang="en-US" sz="1100" dirty="0"/>
          </a:p>
        </p:txBody>
      </p:sp>
      <p:sp>
        <p:nvSpPr>
          <p:cNvPr id="11" name="Text 7"/>
          <p:cNvSpPr txBox="1"/>
          <p:nvPr/>
        </p:nvSpPr>
        <p:spPr>
          <a:xfrm>
            <a:off x="868680" y="2651760"/>
            <a:ext cx="10451592" cy="777240"/>
          </a:xfrm>
          <a:prstGeom prst="rect">
            <a:avLst/>
          </a:prstGeom>
          <a:noFill/>
          <a:ln/>
        </p:spPr>
        <p:txBody>
          <a:bodyPr wrap="square" lIns="0" tIns="0" rIns="0" bIns="0" rtlCol="0" anchor="t"/>
          <a:lstStyle/>
          <a:p>
            <a:pPr indent="0" marL="0">
              <a:lnSpc>
                <a:spcPct val="120000"/>
              </a:lnSpc>
              <a:buNone/>
            </a:pPr>
            <a:r>
              <a:rPr lang="en-US" sz="1600" dirty="0">
                <a:solidFill>
                  <a:srgbClr val="E6EBF2"/>
                </a:solidFill>
                <a:latin typeface="Courier New" pitchFamily="34" charset="0"/>
                <a:ea typeface="Courier New" pitchFamily="34" charset="-122"/>
                <a:cs typeface="Courier New" pitchFamily="34" charset="-120"/>
              </a:rPr>
              <a:t>Apply my theme colors and make the board fit a 375 pixel wide phone. Buttons at least 44 pixels tall. Keep every status message in words. Do not change any rule.</a:t>
            </a:r>
            <a:endParaRPr lang="en-US" sz="1600" dirty="0"/>
          </a:p>
        </p:txBody>
      </p:sp>
      <p:sp>
        <p:nvSpPr>
          <p:cNvPr id="12" name="Text 8"/>
          <p:cNvSpPr txBox="1"/>
          <p:nvPr/>
        </p:nvSpPr>
        <p:spPr>
          <a:xfrm>
            <a:off x="640080" y="3794760"/>
            <a:ext cx="10908792"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THEN FEEDBACK: EVERY CLICK ANSWERS YOU</a:t>
            </a:r>
            <a:endParaRPr lang="en-US" sz="1100" dirty="0"/>
          </a:p>
        </p:txBody>
      </p:sp>
      <p:sp>
        <p:nvSpPr>
          <p:cNvPr id="13" name="Text 9"/>
          <p:cNvSpPr txBox="1"/>
          <p:nvPr/>
        </p:nvSpPr>
        <p:spPr>
          <a:xfrm>
            <a:off x="640080" y="4114800"/>
            <a:ext cx="3291840" cy="438912"/>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Every click answers</a:t>
            </a:r>
            <a:endParaRPr lang="en-US" sz="1500" dirty="0"/>
          </a:p>
        </p:txBody>
      </p:sp>
      <p:sp>
        <p:nvSpPr>
          <p:cNvPr id="14" name="Text 10"/>
          <p:cNvSpPr txBox="1"/>
          <p:nvPr/>
        </p:nvSpPr>
        <p:spPr>
          <a:xfrm>
            <a:off x="4114800" y="4142232"/>
            <a:ext cx="7434072" cy="438912"/>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“Correct! Dog −1.” “Square 5 is yours.” “You won!” In words, not only color.</a:t>
            </a:r>
            <a:endParaRPr lang="en-US" sz="1400" dirty="0"/>
          </a:p>
        </p:txBody>
      </p:sp>
      <p:sp>
        <p:nvSpPr>
          <p:cNvPr id="15" name="Text 11"/>
          <p:cNvSpPr txBox="1"/>
          <p:nvPr/>
        </p:nvSpPr>
        <p:spPr>
          <a:xfrm>
            <a:off x="640080" y="4645152"/>
            <a:ext cx="3291840" cy="438912"/>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Health is text</a:t>
            </a:r>
            <a:endParaRPr lang="en-US" sz="1500" dirty="0"/>
          </a:p>
        </p:txBody>
      </p:sp>
      <p:sp>
        <p:nvSpPr>
          <p:cNvPr id="16" name="Text 12"/>
          <p:cNvSpPr txBox="1"/>
          <p:nvPr/>
        </p:nvSpPr>
        <p:spPr>
          <a:xfrm>
            <a:off x="4114800" y="4672584"/>
            <a:ext cx="7434072" cy="438912"/>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“You: 2 of 2.” Icons may reinforce it; they never replace it.</a:t>
            </a:r>
            <a:endParaRPr lang="en-US" sz="1400" dirty="0"/>
          </a:p>
        </p:txBody>
      </p:sp>
      <p:sp>
        <p:nvSpPr>
          <p:cNvPr id="17" name="Text 13"/>
          <p:cNvSpPr txBox="1"/>
          <p:nvPr/>
        </p:nvSpPr>
        <p:spPr>
          <a:xfrm>
            <a:off x="640080" y="5175504"/>
            <a:ext cx="3291840" cy="438912"/>
          </a:xfrm>
          <a:prstGeom prst="rect">
            <a:avLst/>
          </a:prstGeom>
          <a:noFill/>
          <a:ln/>
        </p:spPr>
        <p:txBody>
          <a:bodyPr wrap="square" lIns="0" tIns="0" rIns="0" bIns="0" rtlCol="0" anchor="t"/>
          <a:lstStyle/>
          <a:p>
            <a:pPr indent="0" marL="0">
              <a:buNone/>
            </a:pPr>
            <a:r>
              <a:rPr lang="en-US" sz="1500" b="1" dirty="0">
                <a:solidFill>
                  <a:srgbClr val="0D1219"/>
                </a:solidFill>
                <a:latin typeface="Arial" pitchFamily="34" charset="0"/>
                <a:ea typeface="Arial" pitchFamily="34" charset="-122"/>
                <a:cs typeface="Arial" pitchFamily="34" charset="-120"/>
              </a:rPr>
              <a:t>One obvious next button</a:t>
            </a:r>
            <a:endParaRPr lang="en-US" sz="1500" dirty="0"/>
          </a:p>
        </p:txBody>
      </p:sp>
      <p:sp>
        <p:nvSpPr>
          <p:cNvPr id="18" name="Text 14"/>
          <p:cNvSpPr txBox="1"/>
          <p:nvPr/>
        </p:nvSpPr>
        <p:spPr>
          <a:xfrm>
            <a:off x="4114800" y="5202936"/>
            <a:ext cx="7434072" cy="438912"/>
          </a:xfrm>
          <a:prstGeom prst="rect">
            <a:avLst/>
          </a:prstGeom>
          <a:noFill/>
          <a:ln/>
        </p:spPr>
        <p:txBody>
          <a:bodyPr wrap="square" lIns="0" tIns="0" rIns="0" bIns="0" rtlCol="0" anchor="t"/>
          <a:lstStyle/>
          <a:p>
            <a:pPr indent="0" marL="0">
              <a:lnSpc>
                <a:spcPct val="115000"/>
              </a:lnSpc>
              <a:buNone/>
            </a:pPr>
            <a:r>
              <a:rPr lang="en-US" sz="1400" dirty="0">
                <a:solidFill>
                  <a:srgbClr val="0D1219"/>
                </a:solidFill>
                <a:latin typeface="Arial" pitchFamily="34" charset="0"/>
                <a:ea typeface="Arial" pitchFamily="34" charset="-122"/>
                <a:cs typeface="Arial" pitchFamily="34" charset="-120"/>
              </a:rPr>
              <a:t>Next exchange, Return to board, Play again. Never two choices at once.</a:t>
            </a:r>
            <a:endParaRPr lang="en-US" sz="1400" dirty="0"/>
          </a:p>
        </p:txBody>
      </p:sp>
      <p:sp>
        <p:nvSpPr>
          <p:cNvPr id="19" name="Shape 15"/>
          <p:cNvSpPr/>
          <p:nvPr/>
        </p:nvSpPr>
        <p:spPr>
          <a:xfrm>
            <a:off x="640080" y="5971032"/>
            <a:ext cx="201168" cy="201168"/>
          </a:xfrm>
          <a:prstGeom prst="rect">
            <a:avLst/>
          </a:prstGeom>
          <a:solidFill>
            <a:srgbClr val="22C55E"/>
          </a:solidFill>
          <a:ln w="12700">
            <a:solidFill>
              <a:srgbClr val="22C55E"/>
            </a:solidFill>
            <a:prstDash val="solid"/>
          </a:ln>
        </p:spPr>
      </p:sp>
      <p:sp>
        <p:nvSpPr>
          <p:cNvPr id="20" name="Text 16"/>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21" name="Shape 17"/>
          <p:cNvSpPr/>
          <p:nvPr/>
        </p:nvSpPr>
        <p:spPr>
          <a:xfrm>
            <a:off x="4206240" y="5971032"/>
            <a:ext cx="201168" cy="201168"/>
          </a:xfrm>
          <a:prstGeom prst="rect">
            <a:avLst/>
          </a:prstGeom>
          <a:solidFill>
            <a:srgbClr val="EF4444"/>
          </a:solidFill>
          <a:ln w="12700">
            <a:solidFill>
              <a:srgbClr val="EF4444"/>
            </a:solidFill>
            <a:prstDash val="solid"/>
          </a:ln>
        </p:spPr>
      </p:sp>
      <p:sp>
        <p:nvSpPr>
          <p:cNvPr id="22" name="Text 18"/>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23" name="Text 1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PLAYTEST · VC-GAME-PLAYTEST</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3:30 – 4:10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Swap laptops. Say nothing. Watch. Fix one thing.</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If you have to explain the game to your tester, that is the finding.</a:t>
            </a:r>
            <a:endParaRPr lang="en-US" sz="1600" dirty="0"/>
          </a:p>
        </p:txBody>
      </p:sp>
      <p:sp>
        <p:nvSpPr>
          <p:cNvPr id="9" name="Text 5"/>
          <p:cNvSpPr txBox="1"/>
          <p:nvPr/>
        </p:nvSpPr>
        <p:spPr>
          <a:xfrm>
            <a:off x="640080" y="2148840"/>
            <a:ext cx="10908792" cy="1737360"/>
          </a:xfrm>
          <a:prstGeom prst="rect">
            <a:avLst/>
          </a:prstGeom>
          <a:noFill/>
          <a:ln/>
        </p:spPr>
        <p:txBody>
          <a:bodyPr wrap="square" lIns="0" tIns="0" rIns="0" bIns="0" rtlCol="0" anchor="t"/>
          <a:lstStyle/>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1   Swap with the pair next to you. Hand over the phone or laptop. Say nothing.</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2   Watch one full round. Write the moment they hesitate or click wrong.</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3   Describe that moment in the prompt. Make the one change it proposes.</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4   Re-test exactly as told. Then swap back and do theirs.</a:t>
            </a:r>
            <a:endParaRPr lang="en-US" sz="1500" dirty="0"/>
          </a:p>
        </p:txBody>
      </p:sp>
      <p:sp>
        <p:nvSpPr>
          <p:cNvPr id="10" name="Shape 6"/>
          <p:cNvSpPr/>
          <p:nvPr/>
        </p:nvSpPr>
        <p:spPr>
          <a:xfrm>
            <a:off x="640080" y="4069080"/>
            <a:ext cx="10908792" cy="1371600"/>
          </a:xfrm>
          <a:prstGeom prst="rect">
            <a:avLst/>
          </a:prstGeom>
          <a:solidFill>
            <a:srgbClr val="121B2B"/>
          </a:solidFill>
          <a:ln w="12700">
            <a:solidFill>
              <a:srgbClr val="EF8B39"/>
            </a:solidFill>
            <a:prstDash val="solid"/>
          </a:ln>
        </p:spPr>
      </p:sp>
      <p:sp>
        <p:nvSpPr>
          <p:cNvPr id="11" name="Text 7"/>
          <p:cNvSpPr/>
          <p:nvPr/>
        </p:nvSpPr>
        <p:spPr>
          <a:xfrm>
            <a:off x="868680" y="419709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REPLACE THE BRACKET WITH WHAT YOU SAW · TYPE THIS, VERBATIM</a:t>
            </a:r>
            <a:endParaRPr lang="en-US" sz="1100" dirty="0"/>
          </a:p>
        </p:txBody>
      </p:sp>
      <p:sp>
        <p:nvSpPr>
          <p:cNvPr id="12" name="Text 8"/>
          <p:cNvSpPr txBox="1"/>
          <p:nvPr/>
        </p:nvSpPr>
        <p:spPr>
          <a:xfrm>
            <a:off x="868680" y="4526280"/>
            <a:ext cx="10451592" cy="77724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Watch me describe a partner's playtest: [what confused them]. Propose the single smallest change that fixes it. Change one thing, then tell me exactly how to re-test it.</a:t>
            </a:r>
            <a:endParaRPr lang="en-US" sz="1400" dirty="0"/>
          </a:p>
        </p:txBody>
      </p:sp>
      <p:sp>
        <p:nvSpPr>
          <p:cNvPr id="13" name="Shape 9"/>
          <p:cNvSpPr/>
          <p:nvPr/>
        </p:nvSpPr>
        <p:spPr>
          <a:xfrm>
            <a:off x="640080" y="5971032"/>
            <a:ext cx="201168" cy="201168"/>
          </a:xfrm>
          <a:prstGeom prst="rect">
            <a:avLst/>
          </a:prstGeom>
          <a:solidFill>
            <a:srgbClr val="22C55E"/>
          </a:solidFill>
          <a:ln w="12700">
            <a:solidFill>
              <a:srgbClr val="22C55E"/>
            </a:solidFill>
            <a:prstDash val="solid"/>
          </a:ln>
        </p:spPr>
      </p:sp>
      <p:sp>
        <p:nvSpPr>
          <p:cNvPr id="14" name="Text 10"/>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5" name="Shape 11"/>
          <p:cNvSpPr/>
          <p:nvPr/>
        </p:nvSpPr>
        <p:spPr>
          <a:xfrm>
            <a:off x="4206240" y="5971032"/>
            <a:ext cx="201168" cy="201168"/>
          </a:xfrm>
          <a:prstGeom prst="rect">
            <a:avLst/>
          </a:prstGeom>
          <a:solidFill>
            <a:srgbClr val="EF4444"/>
          </a:solidFill>
          <a:ln w="12700">
            <a:solidFill>
              <a:srgbClr val="EF4444"/>
            </a:solidFill>
            <a:prstDash val="solid"/>
          </a:ln>
        </p:spPr>
      </p:sp>
      <p:sp>
        <p:nvSpPr>
          <p:cNvPr id="16" name="Text 12"/>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7" name="Text 13"/>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76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PUBLISH · VC-GAME-PUBLISH</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4:10 – 4:35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A second repository: my-first-game.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Same moves as this morning. Two projects, two repositories, two URLs. The game never goes in the website repository.</a:t>
            </a:r>
            <a:endParaRPr lang="en-US" sz="1600" dirty="0"/>
          </a:p>
        </p:txBody>
      </p:sp>
      <p:sp>
        <p:nvSpPr>
          <p:cNvPr id="9" name="Text 5"/>
          <p:cNvSpPr txBox="1"/>
          <p:nvPr/>
        </p:nvSpPr>
        <p:spPr>
          <a:xfrm>
            <a:off x="640080" y="2286000"/>
            <a:ext cx="10908792" cy="2743200"/>
          </a:xfrm>
          <a:prstGeom prst="rect">
            <a:avLst/>
          </a:prstGeom>
          <a:noFill/>
          <a:ln/>
        </p:spPr>
        <p:txBody>
          <a:bodyPr wrap="square" lIns="0" tIns="0" rIns="0" bIns="0" rtlCol="0" anchor="t"/>
          <a:lstStyle/>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1   GitHub: “+” → “New repository.” Name: my-first-game. Add a README.</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2   “Add file” → “Upload files.” index.html at the top level, lowercase.</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3   Commit: “First playable version.”</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4   Never upload the game into my-first-site. That replaces your website.</a:t>
            </a:r>
            <a:endParaRPr lang="en-US" sz="1800" dirty="0"/>
          </a:p>
        </p:txBody>
      </p:sp>
      <p:sp>
        <p:nvSpPr>
          <p:cNvPr id="10" name="Shape 6"/>
          <p:cNvSpPr/>
          <p:nvPr/>
        </p:nvSpPr>
        <p:spPr>
          <a:xfrm>
            <a:off x="640080" y="5971032"/>
            <a:ext cx="201168" cy="201168"/>
          </a:xfrm>
          <a:prstGeom prst="rect">
            <a:avLst/>
          </a:prstGeom>
          <a:solidFill>
            <a:srgbClr val="22C55E"/>
          </a:solidFill>
          <a:ln w="12700">
            <a:solidFill>
              <a:srgbClr val="22C55E"/>
            </a:solidFill>
            <a:prstDash val="solid"/>
          </a:ln>
        </p:spPr>
      </p:sp>
      <p:sp>
        <p:nvSpPr>
          <p:cNvPr id="11" name="Text 7"/>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2" name="Shape 8"/>
          <p:cNvSpPr/>
          <p:nvPr/>
        </p:nvSpPr>
        <p:spPr>
          <a:xfrm>
            <a:off x="4206240" y="5971032"/>
            <a:ext cx="201168" cy="201168"/>
          </a:xfrm>
          <a:prstGeom prst="rect">
            <a:avLst/>
          </a:prstGeom>
          <a:solidFill>
            <a:srgbClr val="EF4444"/>
          </a:solidFill>
          <a:ln w="12700">
            <a:solidFill>
              <a:srgbClr val="EF4444"/>
            </a:solidFill>
            <a:prstDash val="solid"/>
          </a:ln>
        </p:spPr>
      </p:sp>
      <p:sp>
        <p:nvSpPr>
          <p:cNvPr id="13" name="Text 9"/>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4"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77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PUBLISH · VC-GAME-PUBLISH</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4:10 – 4:35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A second Vercel project, a second live URL.</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EF8B39"/>
                </a:solidFill>
                <a:latin typeface="Arial" pitchFamily="34" charset="0"/>
                <a:ea typeface="Arial" pitchFamily="34" charset="-122"/>
                <a:cs typeface="Arial" pitchFamily="34" charset="-120"/>
              </a:rPr>
              <a:t>Deliverable two: a second live *.vercel.app address that plays a round on a phone.</a:t>
            </a:r>
            <a:endParaRPr lang="en-US" sz="1600" dirty="0"/>
          </a:p>
        </p:txBody>
      </p:sp>
      <p:sp>
        <p:nvSpPr>
          <p:cNvPr id="9" name="Text 5"/>
          <p:cNvSpPr txBox="1"/>
          <p:nvPr/>
        </p:nvSpPr>
        <p:spPr>
          <a:xfrm>
            <a:off x="640080" y="2286000"/>
            <a:ext cx="10908792" cy="2743200"/>
          </a:xfrm>
          <a:prstGeom prst="rect">
            <a:avLst/>
          </a:prstGeom>
          <a:noFill/>
          <a:ln/>
        </p:spPr>
        <p:txBody>
          <a:bodyPr wrap="square" lIns="0" tIns="0" rIns="0" bIns="0" rtlCol="0" anchor="t"/>
          <a:lstStyle/>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1   “Add New” → “Project” → Import my-first-game.</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2   Framework: Other. Build Command: override on, empty. Output: root.</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3   Deploy. Visit. Play one round on a phone.</a:t>
            </a:r>
            <a:endParaRPr lang="en-US" sz="1800" dirty="0"/>
          </a:p>
          <a:p>
            <a:pPr indent="0" marL="0">
              <a:lnSpc>
                <a:spcPct val="120000"/>
              </a:lnSpc>
              <a:spcAft>
                <a:spcPts val="1400"/>
              </a:spcAft>
              <a:buNone/>
            </a:pPr>
            <a:r>
              <a:rPr lang="en-US" sz="1800" dirty="0">
                <a:solidFill>
                  <a:srgbClr val="0D1219"/>
                </a:solidFill>
                <a:latin typeface="Arial" pitchFamily="34" charset="0"/>
                <a:ea typeface="Arial" pitchFamily="34" charset="-122"/>
                <a:cs typeface="Arial" pitchFamily="34" charset="-120"/>
              </a:rPr>
              <a:t>4   Try ?theme=your-theme on the live address. Record the URL in project-state.md.</a:t>
            </a:r>
            <a:endParaRPr lang="en-US" sz="1800" dirty="0"/>
          </a:p>
        </p:txBody>
      </p:sp>
      <p:sp>
        <p:nvSpPr>
          <p:cNvPr id="10" name="Shape 6"/>
          <p:cNvSpPr/>
          <p:nvPr/>
        </p:nvSpPr>
        <p:spPr>
          <a:xfrm>
            <a:off x="640080" y="5971032"/>
            <a:ext cx="201168" cy="201168"/>
          </a:xfrm>
          <a:prstGeom prst="rect">
            <a:avLst/>
          </a:prstGeom>
          <a:solidFill>
            <a:srgbClr val="22C55E"/>
          </a:solidFill>
          <a:ln w="12700">
            <a:solidFill>
              <a:srgbClr val="22C55E"/>
            </a:solidFill>
            <a:prstDash val="solid"/>
          </a:ln>
        </p:spPr>
      </p:sp>
      <p:sp>
        <p:nvSpPr>
          <p:cNvPr id="11" name="Text 7"/>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2" name="Shape 8"/>
          <p:cNvSpPr/>
          <p:nvPr/>
        </p:nvSpPr>
        <p:spPr>
          <a:xfrm>
            <a:off x="4206240" y="5971032"/>
            <a:ext cx="201168" cy="201168"/>
          </a:xfrm>
          <a:prstGeom prst="rect">
            <a:avLst/>
          </a:prstGeom>
          <a:solidFill>
            <a:srgbClr val="EF4444"/>
          </a:solidFill>
          <a:ln w="12700">
            <a:solidFill>
              <a:srgbClr val="EF4444"/>
            </a:solidFill>
            <a:prstDash val="solid"/>
          </a:ln>
        </p:spPr>
      </p:sp>
      <p:sp>
        <p:nvSpPr>
          <p:cNvPr id="13" name="Text 9"/>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4"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78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LIVE HACKING · SPRINTS 2 + 3 · YOUR CHATBOT, YOUR KEYBOARD</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4:35 – 5:05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One skill for your site, or one game extension.</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Skills menu: ten rows, same rules as sprint 1. Suggested: #5, the contact form, or #6, SEO. Or one extension below.</a:t>
            </a:r>
            <a:endParaRPr lang="en-US" sz="16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2194560"/>
                <a:gridCol w="4572000"/>
                <a:gridCol w="4142232"/>
              </a:tblGrid>
              <a:tr h="566928">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GAME EXTENSION</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WHAT CHANGES</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c>
                  <a:txBody>
                    <a:bodyPr/>
                    <a:lstStyle/>
                    <a:p>
                      <a:pPr indent="0" marL="0">
                        <a:buNone/>
                      </a:pPr>
                      <a:r>
                        <a:rPr lang="en-US" sz="1100" b="1" spc="120" kern="0" dirty="0">
                          <a:solidFill>
                            <a:srgbClr val="FFFFFF"/>
                          </a:solidFill>
                          <a:latin typeface="Courier New" pitchFamily="34" charset="0"/>
                          <a:ea typeface="Courier New" pitchFamily="34" charset="-122"/>
                          <a:cs typeface="Courier New" pitchFamily="34" charset="-120"/>
                        </a:rPr>
                        <a:t>CHECK</a:t>
                      </a:r>
                      <a:endParaRPr lang="en-US" sz="1100" dirty="0">
                        <a:latin typeface="Courier New" charset="0"/>
                        <a:ea typeface="Courier New" charset="0"/>
                        <a:cs typeface="Courier New"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307FE2"/>
                    </a:solidFill>
                  </a:tcPr>
                </a:tc>
              </a:tr>
              <a:tr h="566928">
                <a:tc>
                  <a:txBody>
                    <a:bodyPr/>
                    <a:lstStyle/>
                    <a:p>
                      <a:pPr indent="0" marL="0">
                        <a:buNone/>
                      </a:pPr>
                      <a:r>
                        <a:rPr lang="en-US" sz="1300" dirty="0">
                          <a:solidFill>
                            <a:srgbClr val="0D1219"/>
                          </a:solidFill>
                          <a:latin typeface="Arial" pitchFamily="34" charset="0"/>
                          <a:ea typeface="Arial" pitchFamily="34" charset="-122"/>
                          <a:cs typeface="Arial" pitchFamily="34" charset="-120"/>
                        </a:rPr>
                        <a:t>Random attacks</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The opponent picks any attack each exchange instead of cycling.</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Over ten exchanges you see all three attacks.</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566928">
                <a:tc>
                  <a:txBody>
                    <a:bodyPr/>
                    <a:lstStyle/>
                    <a:p>
                      <a:pPr indent="0" marL="0">
                        <a:buNone/>
                      </a:pPr>
                      <a:r>
                        <a:rPr lang="en-US" sz="1300" dirty="0">
                          <a:solidFill>
                            <a:srgbClr val="0D1219"/>
                          </a:solidFill>
                          <a:latin typeface="Arial" pitchFamily="34" charset="0"/>
                          <a:ea typeface="Arial" pitchFamily="34" charset="-122"/>
                          <a:cs typeface="Arial" pitchFamily="34" charset="-120"/>
                        </a:rPr>
                        <a:t>Score across boards</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Count boards won and lost in the session.</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Play again keeps the tally; Restart during a board does not count it.</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r h="566928">
                <a:tc>
                  <a:txBody>
                    <a:bodyPr/>
                    <a:lstStyle/>
                    <a:p>
                      <a:pPr indent="0" marL="0">
                        <a:buNone/>
                      </a:pPr>
                      <a:r>
                        <a:rPr lang="en-US" sz="1300" dirty="0">
                          <a:solidFill>
                            <a:srgbClr val="0D1219"/>
                          </a:solidFill>
                          <a:latin typeface="Arial" pitchFamily="34" charset="0"/>
                          <a:ea typeface="Arial" pitchFamily="34" charset="-122"/>
                          <a:cs typeface="Arial" pitchFamily="34" charset="-120"/>
                        </a:rPr>
                        <a:t>Two themes at once</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The player chooses the opponent separately from themselves.</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The counter table updates to match.</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3F6FB"/>
                    </a:solidFill>
                  </a:tcPr>
                </a:tc>
              </a:tr>
              <a:tr h="566928">
                <a:tc>
                  <a:txBody>
                    <a:bodyPr/>
                    <a:lstStyle/>
                    <a:p>
                      <a:pPr indent="0" marL="0">
                        <a:buNone/>
                      </a:pPr>
                      <a:r>
                        <a:rPr lang="en-US" sz="1300" dirty="0">
                          <a:solidFill>
                            <a:srgbClr val="0D1219"/>
                          </a:solidFill>
                          <a:latin typeface="Arial" pitchFamily="34" charset="0"/>
                          <a:ea typeface="Arial" pitchFamily="34" charset="-122"/>
                          <a:cs typeface="Arial" pitchFamily="34" charset="-120"/>
                        </a:rPr>
                        <a:t>Sound</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One short sound on win and one on loss, with a mute button.</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c>
                  <a:txBody>
                    <a:bodyPr/>
                    <a:lstStyle/>
                    <a:p>
                      <a:pPr indent="0" marL="0">
                        <a:buNone/>
                      </a:pPr>
                      <a:r>
                        <a:rPr lang="en-US" sz="1300" dirty="0">
                          <a:solidFill>
                            <a:srgbClr val="5B6675"/>
                          </a:solidFill>
                          <a:latin typeface="Arial" pitchFamily="34" charset="0"/>
                          <a:ea typeface="Arial" pitchFamily="34" charset="-122"/>
                          <a:cs typeface="Arial" pitchFamily="34" charset="-120"/>
                        </a:rPr>
                        <a:t>Muted stays muted after Play again.</a:t>
                      </a:r>
                      <a:endParaRPr lang="en-US" sz="1300" dirty="0">
                        <a:latin typeface="Arial" charset="0"/>
                        <a:ea typeface="Arial" charset="0"/>
                        <a:cs typeface="Arial" charset="0"/>
                      </a:endParaRPr>
                    </a:p>
                  </a:txBody>
                  <a:tcPr marL="101600" marR="101600" marT="50800" marB="50800" anchor="ctr">
                    <a:lnL w="6350" cap="flat" cmpd="sng" algn="ctr">
                      <a:solidFill>
                        <a:srgbClr val="D9E0EA"/>
                      </a:solidFill>
                      <a:prstDash val="solid"/>
                      <a:round/>
                      <a:headEnd type="none" w="med" len="med"/>
                      <a:tailEnd type="none" w="med" len="med"/>
                    </a:lnL>
                    <a:lnR w="6350" cap="flat" cmpd="sng" algn="ctr">
                      <a:solidFill>
                        <a:srgbClr val="D9E0EA"/>
                      </a:solidFill>
                      <a:prstDash val="solid"/>
                      <a:round/>
                      <a:headEnd type="none" w="med" len="med"/>
                      <a:tailEnd type="none" w="med" len="med"/>
                    </a:lnR>
                    <a:lnT w="6350" cap="flat" cmpd="sng" algn="ctr">
                      <a:solidFill>
                        <a:srgbClr val="D9E0EA"/>
                      </a:solidFill>
                      <a:prstDash val="solid"/>
                      <a:round/>
                      <a:headEnd type="none" w="med" len="med"/>
                      <a:tailEnd type="none" w="med" len="med"/>
                    </a:lnT>
                    <a:lnB w="6350" cap="flat" cmpd="sng" algn="ctr">
                      <a:solidFill>
                        <a:srgbClr val="D9E0EA"/>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640080" y="5349240"/>
            <a:ext cx="10908792" cy="365760"/>
          </a:xfrm>
          <a:prstGeom prst="rect">
            <a:avLst/>
          </a:prstGeom>
          <a:noFill/>
          <a:ln/>
        </p:spPr>
        <p:txBody>
          <a:bodyPr wrap="square" lIns="0" tIns="0" rIns="0" bIns="0" rtlCol="0" anchor="t"/>
          <a:lstStyle/>
          <a:p>
            <a:pPr algn="l" indent="0" marL="0">
              <a:lnSpc>
                <a:spcPct val="115000"/>
              </a:lnSpc>
              <a:buNone/>
            </a:pPr>
            <a:r>
              <a:rPr lang="en-US" sz="1400" dirty="0">
                <a:solidFill>
                  <a:srgbClr val="5B6675"/>
                </a:solidFill>
                <a:latin typeface="Arial" pitchFamily="34" charset="0"/>
                <a:ea typeface="Arial" pitchFamily="34" charset="-122"/>
                <a:cs typeface="Arial" pitchFamily="34" charset="-120"/>
              </a:rPr>
              <a:t>Not in class: accounts, leaderboards, a database, timers, downloaded art. Show and tell at 5:05.</a:t>
            </a:r>
            <a:endParaRPr lang="en-US" sz="1400" dirty="0"/>
          </a:p>
        </p:txBody>
      </p:sp>
      <p:sp>
        <p:nvSpPr>
          <p:cNvPr id="11" name="Shape 6"/>
          <p:cNvSpPr/>
          <p:nvPr/>
        </p:nvSpPr>
        <p:spPr>
          <a:xfrm>
            <a:off x="640080" y="5971032"/>
            <a:ext cx="201168" cy="201168"/>
          </a:xfrm>
          <a:prstGeom prst="rect">
            <a:avLst/>
          </a:prstGeom>
          <a:solidFill>
            <a:srgbClr val="22C55E"/>
          </a:solidFill>
          <a:ln w="12700">
            <a:solidFill>
              <a:srgbClr val="22C55E"/>
            </a:solidFill>
            <a:prstDash val="solid"/>
          </a:ln>
        </p:spPr>
      </p:sp>
      <p:sp>
        <p:nvSpPr>
          <p:cNvPr id="12" name="Text 7"/>
          <p:cNvSpPr txBox="1"/>
          <p:nvPr/>
        </p:nvSpPr>
        <p:spPr>
          <a:xfrm>
            <a:off x="932688" y="5943600"/>
            <a:ext cx="329184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Green sticky on your lid = done</a:t>
            </a:r>
            <a:endParaRPr lang="en-US" sz="1200" dirty="0"/>
          </a:p>
        </p:txBody>
      </p:sp>
      <p:sp>
        <p:nvSpPr>
          <p:cNvPr id="13" name="Shape 8"/>
          <p:cNvSpPr/>
          <p:nvPr/>
        </p:nvSpPr>
        <p:spPr>
          <a:xfrm>
            <a:off x="4206240" y="5971032"/>
            <a:ext cx="201168" cy="201168"/>
          </a:xfrm>
          <a:prstGeom prst="rect">
            <a:avLst/>
          </a:prstGeom>
          <a:solidFill>
            <a:srgbClr val="EF4444"/>
          </a:solidFill>
          <a:ln w="12700">
            <a:solidFill>
              <a:srgbClr val="EF4444"/>
            </a:solidFill>
            <a:prstDash val="solid"/>
          </a:ln>
        </p:spPr>
      </p:sp>
      <p:sp>
        <p:nvSpPr>
          <p:cNvPr id="14" name="Text 9"/>
          <p:cNvSpPr txBox="1"/>
          <p:nvPr/>
        </p:nvSpPr>
        <p:spPr>
          <a:xfrm>
            <a:off x="4498848" y="5943600"/>
            <a:ext cx="4114800" cy="256032"/>
          </a:xfrm>
          <a:prstGeom prst="rect">
            <a:avLst/>
          </a:prstGeom>
          <a:noFill/>
          <a:ln/>
        </p:spPr>
        <p:txBody>
          <a:bodyPr wrap="square" lIns="0" tIns="0" rIns="0" bIns="0" rtlCol="0" anchor="ctr"/>
          <a:lstStyle/>
          <a:p>
            <a:pPr algn="l" indent="0" marL="0">
              <a:lnSpc>
                <a:spcPct val="115000"/>
              </a:lnSpc>
              <a:buNone/>
            </a:pPr>
            <a:r>
              <a:rPr lang="en-US" sz="1200" dirty="0">
                <a:solidFill>
                  <a:srgbClr val="5B6675"/>
                </a:solidFill>
                <a:latin typeface="Arial" pitchFamily="34" charset="0"/>
                <a:ea typeface="Arial" pitchFamily="34" charset="-122"/>
                <a:cs typeface="Arial" pitchFamily="34" charset="-120"/>
              </a:rPr>
              <a:t>Red sticky = a helper comes to you</a:t>
            </a:r>
            <a:endParaRPr lang="en-US" sz="1200" dirty="0"/>
          </a:p>
        </p:txBody>
      </p:sp>
      <p:sp>
        <p:nvSpPr>
          <p:cNvPr id="15" name="Text 10"/>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79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 2 · THE GAME · SHOW AND TELL</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5:05 – 5:15</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Sixty seconds. Your live URL. One thing that broke.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Everyone else: one thing you noticed, on a sticky, handed to them.</a:t>
            </a:r>
            <a:endParaRPr lang="en-US" sz="1600" dirty="0"/>
          </a:p>
        </p:txBody>
      </p:sp>
      <p:sp>
        <p:nvSpPr>
          <p:cNvPr id="9" name="Text 5"/>
          <p:cNvSpPr txBox="1"/>
          <p:nvPr/>
        </p:nvSpPr>
        <p:spPr>
          <a:xfrm>
            <a:off x="640080" y="228600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1</a:t>
            </a:r>
            <a:endParaRPr lang="en-US" sz="1100" dirty="0"/>
          </a:p>
        </p:txBody>
      </p:sp>
      <p:sp>
        <p:nvSpPr>
          <p:cNvPr id="10" name="Text 6"/>
          <p:cNvSpPr txBox="1"/>
          <p:nvPr/>
        </p:nvSpPr>
        <p:spPr>
          <a:xfrm>
            <a:off x="640080" y="2633472"/>
            <a:ext cx="3331464" cy="86868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Your live URL on the big screen</a:t>
            </a:r>
            <a:endParaRPr lang="en-US" sz="2000" dirty="0"/>
          </a:p>
        </p:txBody>
      </p:sp>
      <p:sp>
        <p:nvSpPr>
          <p:cNvPr id="11" name="Text 7"/>
          <p:cNvSpPr txBox="1"/>
          <p:nvPr/>
        </p:nvSpPr>
        <p:spPr>
          <a:xfrm>
            <a:off x="640080" y="361188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Not the file on your laptop. The URL went through your gate.</a:t>
            </a:r>
            <a:endParaRPr lang="en-US" sz="1500" dirty="0"/>
          </a:p>
        </p:txBody>
      </p:sp>
      <p:sp>
        <p:nvSpPr>
          <p:cNvPr id="12" name="Text 8"/>
          <p:cNvSpPr txBox="1"/>
          <p:nvPr/>
        </p:nvSpPr>
        <p:spPr>
          <a:xfrm>
            <a:off x="4428744" y="228600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2</a:t>
            </a:r>
            <a:endParaRPr lang="en-US" sz="1100" dirty="0"/>
          </a:p>
        </p:txBody>
      </p:sp>
      <p:sp>
        <p:nvSpPr>
          <p:cNvPr id="13" name="Text 9"/>
          <p:cNvSpPr txBox="1"/>
          <p:nvPr/>
        </p:nvSpPr>
        <p:spPr>
          <a:xfrm>
            <a:off x="4428744" y="2633472"/>
            <a:ext cx="3331464" cy="86868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One move or one scroll</a:t>
            </a:r>
            <a:endParaRPr lang="en-US" sz="2000" dirty="0"/>
          </a:p>
        </p:txBody>
      </p:sp>
      <p:sp>
        <p:nvSpPr>
          <p:cNvPr id="14" name="Text 10"/>
          <p:cNvSpPr txBox="1"/>
          <p:nvPr/>
        </p:nvSpPr>
        <p:spPr>
          <a:xfrm>
            <a:off x="4428744" y="361188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Play one battle, or scroll to your About section.</a:t>
            </a:r>
            <a:endParaRPr lang="en-US" sz="1500" dirty="0"/>
          </a:p>
        </p:txBody>
      </p:sp>
      <p:sp>
        <p:nvSpPr>
          <p:cNvPr id="15" name="Text 11"/>
          <p:cNvSpPr txBox="1"/>
          <p:nvPr/>
        </p:nvSpPr>
        <p:spPr>
          <a:xfrm>
            <a:off x="8217408" y="2286000"/>
            <a:ext cx="3331464"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3</a:t>
            </a:r>
            <a:endParaRPr lang="en-US" sz="1100" dirty="0"/>
          </a:p>
        </p:txBody>
      </p:sp>
      <p:sp>
        <p:nvSpPr>
          <p:cNvPr id="16" name="Text 12"/>
          <p:cNvSpPr txBox="1"/>
          <p:nvPr/>
        </p:nvSpPr>
        <p:spPr>
          <a:xfrm>
            <a:off x="8217408" y="2633472"/>
            <a:ext cx="3331464" cy="86868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One thing that broke, and what fixed it</a:t>
            </a:r>
            <a:endParaRPr lang="en-US" sz="2000" dirty="0"/>
          </a:p>
        </p:txBody>
      </p:sp>
      <p:sp>
        <p:nvSpPr>
          <p:cNvPr id="17" name="Text 13"/>
          <p:cNvSpPr txBox="1"/>
          <p:nvPr/>
        </p:nvSpPr>
        <p:spPr>
          <a:xfrm>
            <a:off x="8217408" y="361188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The most useful sentence of the day. Everyone got stuck there too.</a:t>
            </a:r>
            <a:endParaRPr lang="en-US" sz="15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80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HANDOFF · TUESDAY</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5:15 – 5:30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800" b="1" dirty="0">
                <a:solidFill>
                  <a:srgbClr val="0D1219"/>
                </a:solidFill>
                <a:latin typeface="Arial" pitchFamily="34" charset="0"/>
                <a:ea typeface="Arial" pitchFamily="34" charset="-122"/>
                <a:cs typeface="Arial" pitchFamily="34" charset="-120"/>
              </a:rPr>
              <a:t>Tuesday morning. Three decisions to make before lunch.</a:t>
            </a:r>
            <a:endParaRPr lang="en-US" sz="28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The pull request is how you supervise. Smallest repeatable task first. Which tool after today: docs/platform-landscape.md.</a:t>
            </a:r>
            <a:endParaRPr lang="en-US" sz="1600" dirty="0"/>
          </a:p>
        </p:txBody>
      </p:sp>
      <p:sp>
        <p:nvSpPr>
          <p:cNvPr id="9" name="Text 5"/>
          <p:cNvSpPr txBox="1"/>
          <p:nvPr/>
        </p:nvSpPr>
        <p:spPr>
          <a:xfrm>
            <a:off x="640080" y="2286000"/>
            <a:ext cx="3331464"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1</a:t>
            </a:r>
            <a:endParaRPr lang="en-US" sz="1100" dirty="0"/>
          </a:p>
        </p:txBody>
      </p:sp>
      <p:sp>
        <p:nvSpPr>
          <p:cNvPr id="10" name="Text 6"/>
          <p:cNvSpPr txBox="1"/>
          <p:nvPr/>
        </p:nvSpPr>
        <p:spPr>
          <a:xfrm>
            <a:off x="640080" y="2633472"/>
            <a:ext cx="3331464" cy="86868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What goes in GitHub first</a:t>
            </a:r>
            <a:endParaRPr lang="en-US" sz="2000" dirty="0"/>
          </a:p>
        </p:txBody>
      </p:sp>
      <p:sp>
        <p:nvSpPr>
          <p:cNvPr id="11" name="Text 7"/>
          <p:cNvSpPr txBox="1"/>
          <p:nvPr/>
        </p:nvSpPr>
        <p:spPr>
          <a:xfrm>
            <a:off x="640080" y="361188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The thing your team edits most and backs up least. A checklist, a process doc. Put it in a repository.</a:t>
            </a:r>
            <a:endParaRPr lang="en-US" sz="1500" dirty="0"/>
          </a:p>
        </p:txBody>
      </p:sp>
      <p:sp>
        <p:nvSpPr>
          <p:cNvPr id="12" name="Text 8"/>
          <p:cNvSpPr txBox="1"/>
          <p:nvPr/>
        </p:nvSpPr>
        <p:spPr>
          <a:xfrm>
            <a:off x="4428744" y="2286000"/>
            <a:ext cx="3331464"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2</a:t>
            </a:r>
            <a:endParaRPr lang="en-US" sz="1100" dirty="0"/>
          </a:p>
        </p:txBody>
      </p:sp>
      <p:sp>
        <p:nvSpPr>
          <p:cNvPr id="13" name="Text 9"/>
          <p:cNvSpPr txBox="1"/>
          <p:nvPr/>
        </p:nvSpPr>
        <p:spPr>
          <a:xfrm>
            <a:off x="4428744" y="2633472"/>
            <a:ext cx="3331464" cy="86868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What to automate next</a:t>
            </a:r>
            <a:endParaRPr lang="en-US" sz="2000" dirty="0"/>
          </a:p>
        </p:txBody>
      </p:sp>
      <p:sp>
        <p:nvSpPr>
          <p:cNvPr id="14" name="Text 10"/>
          <p:cNvSpPr txBox="1"/>
          <p:nvPr/>
        </p:nvSpPr>
        <p:spPr>
          <a:xfrm>
            <a:off x="4428744" y="361188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One repeatable task, small enough to check by eye. The report you rebuild every Monday.</a:t>
            </a:r>
            <a:endParaRPr lang="en-US" sz="1500" dirty="0"/>
          </a:p>
        </p:txBody>
      </p:sp>
      <p:sp>
        <p:nvSpPr>
          <p:cNvPr id="15" name="Text 11"/>
          <p:cNvSpPr txBox="1"/>
          <p:nvPr/>
        </p:nvSpPr>
        <p:spPr>
          <a:xfrm>
            <a:off x="8217408" y="2286000"/>
            <a:ext cx="3331464" cy="274320"/>
          </a:xfrm>
          <a:prstGeom prst="rect">
            <a:avLst/>
          </a:prstGeom>
          <a:noFill/>
          <a:ln/>
        </p:spPr>
        <p:txBody>
          <a:bodyPr wrap="square" lIns="0" tIns="0" rIns="0" bIns="0" rtlCol="0" anchor="ctr"/>
          <a:lstStyle/>
          <a:p>
            <a:pPr indent="0" marL="0">
              <a:buNone/>
            </a:pPr>
            <a:r>
              <a:rPr lang="en-US" sz="1100" b="1" spc="150" kern="0" dirty="0">
                <a:solidFill>
                  <a:srgbClr val="EF4444"/>
                </a:solidFill>
                <a:latin typeface="Courier New" pitchFamily="34" charset="0"/>
                <a:ea typeface="Courier New" pitchFamily="34" charset="-122"/>
                <a:cs typeface="Courier New" pitchFamily="34" charset="-120"/>
              </a:rPr>
              <a:t>3</a:t>
            </a:r>
            <a:endParaRPr lang="en-US" sz="1100" dirty="0"/>
          </a:p>
        </p:txBody>
      </p:sp>
      <p:sp>
        <p:nvSpPr>
          <p:cNvPr id="16" name="Text 12"/>
          <p:cNvSpPr txBox="1"/>
          <p:nvPr/>
        </p:nvSpPr>
        <p:spPr>
          <a:xfrm>
            <a:off x="8217408" y="2633472"/>
            <a:ext cx="3331464" cy="868680"/>
          </a:xfrm>
          <a:prstGeom prst="rect">
            <a:avLst/>
          </a:prstGeom>
          <a:noFill/>
          <a:ln/>
        </p:spPr>
        <p:txBody>
          <a:bodyPr wrap="square" lIns="0" tIns="0" rIns="0" bIns="0" rtlCol="0" anchor="t"/>
          <a:lstStyle/>
          <a:p>
            <a:pPr indent="0" marL="0">
              <a:buNone/>
            </a:pPr>
            <a:r>
              <a:rPr lang="en-US" sz="2000" b="1" dirty="0">
                <a:solidFill>
                  <a:srgbClr val="0D1219"/>
                </a:solidFill>
                <a:latin typeface="Arial" pitchFamily="34" charset="0"/>
                <a:ea typeface="Arial" pitchFamily="34" charset="-122"/>
                <a:cs typeface="Arial" pitchFamily="34" charset="-120"/>
              </a:rPr>
              <a:t>Where agents still need adult supervision</a:t>
            </a:r>
            <a:endParaRPr lang="en-US" sz="2000" dirty="0"/>
          </a:p>
        </p:txBody>
      </p:sp>
      <p:sp>
        <p:nvSpPr>
          <p:cNvPr id="17" name="Text 13"/>
          <p:cNvSpPr txBox="1"/>
          <p:nvPr/>
        </p:nvSpPr>
        <p:spPr>
          <a:xfrm>
            <a:off x="8217408" y="3611880"/>
            <a:ext cx="3331464" cy="2377440"/>
          </a:xfrm>
          <a:prstGeom prst="rect">
            <a:avLst/>
          </a:prstGeom>
          <a:noFill/>
          <a:ln/>
        </p:spPr>
        <p:txBody>
          <a:bodyPr wrap="square" lIns="0" tIns="0" rIns="0" bIns="0" rtlCol="0" anchor="t"/>
          <a:lstStyle/>
          <a:p>
            <a:pPr indent="0" marL="0">
              <a:lnSpc>
                <a:spcPct val="120000"/>
              </a:lnSpc>
              <a:spcAft>
                <a:spcPts val="800"/>
              </a:spcAft>
              <a:buNone/>
            </a:pPr>
            <a:r>
              <a:rPr lang="en-US" sz="1500" dirty="0">
                <a:solidFill>
                  <a:srgbClr val="0D1219"/>
                </a:solidFill>
                <a:latin typeface="Arial" pitchFamily="34" charset="0"/>
                <a:ea typeface="Arial" pitchFamily="34" charset="-122"/>
                <a:cs typeface="Arial" pitchFamily="34" charset="-120"/>
              </a:rPr>
              <a:t>Secrets and keys. Customer data. Anything customer-facing. Anything you can’t test yourself.</a:t>
            </a:r>
            <a:endParaRPr lang="en-US" sz="1500" dirty="0"/>
          </a:p>
        </p:txBody>
      </p:sp>
      <p:sp>
        <p:nvSpPr>
          <p:cNvPr id="18" name="Text 14"/>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b="1" dirty="0">
                <a:solidFill>
                  <a:srgbClr val="EF8B39"/>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81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HANDOFF · WRAP-UP</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5:15 – 5:30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Write it down so Monday-you can continue.</a:t>
            </a:r>
            <a:endParaRPr lang="en-US" sz="32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Unfinished is fine. Say what works and what doesn’t. Never relabel it as done.</a:t>
            </a:r>
            <a:endParaRPr lang="en-US" sz="1600" dirty="0"/>
          </a:p>
        </p:txBody>
      </p:sp>
      <p:sp>
        <p:nvSpPr>
          <p:cNvPr id="9" name="Text 5"/>
          <p:cNvSpPr txBox="1"/>
          <p:nvPr/>
        </p:nvSpPr>
        <p:spPr>
          <a:xfrm>
            <a:off x="640080" y="2194560"/>
            <a:ext cx="5225796"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PROJECT-STATE.MD · ONE PER PROJECT</a:t>
            </a:r>
            <a:endParaRPr lang="en-US" sz="1100" dirty="0"/>
          </a:p>
        </p:txBody>
      </p:sp>
      <p:sp>
        <p:nvSpPr>
          <p:cNvPr id="10" name="Text 6"/>
          <p:cNvSpPr txBox="1"/>
          <p:nvPr/>
        </p:nvSpPr>
        <p:spPr>
          <a:xfrm>
            <a:off x="640080" y="2542032"/>
            <a:ext cx="5225796" cy="2926080"/>
          </a:xfrm>
          <a:prstGeom prst="rect">
            <a:avLst/>
          </a:prstGeom>
          <a:noFill/>
          <a:ln/>
        </p:spPr>
        <p:txBody>
          <a:bodyPr wrap="square" lIns="0" tIns="0" rIns="0" bIns="0" rtlCol="0" anchor="t"/>
          <a:lstStyle/>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Project, repository, branch, and version.</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Vercel project and URL.</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What you tested and what you saw.</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Current blocker, and one next action with its check.</a:t>
            </a:r>
            <a:endParaRPr lang="en-US" sz="1600" dirty="0"/>
          </a:p>
        </p:txBody>
      </p:sp>
      <p:sp>
        <p:nvSpPr>
          <p:cNvPr id="11" name="Text 7"/>
          <p:cNvSpPr txBox="1"/>
          <p:nvPr/>
        </p:nvSpPr>
        <p:spPr>
          <a:xfrm>
            <a:off x="6323076" y="2194560"/>
            <a:ext cx="5225796" cy="274320"/>
          </a:xfrm>
          <a:prstGeom prst="rect">
            <a:avLst/>
          </a:prstGeom>
          <a:noFill/>
          <a:ln/>
        </p:spPr>
        <p:txBody>
          <a:bodyPr wrap="square" lIns="0" tIns="0" rIns="0" bIns="0" rtlCol="0" anchor="ctr"/>
          <a:lstStyle/>
          <a:p>
            <a:pPr indent="0" marL="0">
              <a:buNone/>
            </a:pPr>
            <a:r>
              <a:rPr lang="en-US" sz="1100" b="1" spc="150" kern="0" dirty="0">
                <a:solidFill>
                  <a:srgbClr val="22C55E"/>
                </a:solidFill>
                <a:latin typeface="Courier New" pitchFamily="34" charset="0"/>
                <a:ea typeface="Courier New" pitchFamily="34" charset="-122"/>
                <a:cs typeface="Courier New" pitchFamily="34" charset="-120"/>
              </a:rPr>
              <a:t>YOU LEAVE WITH</a:t>
            </a:r>
            <a:endParaRPr lang="en-US" sz="1100" dirty="0"/>
          </a:p>
        </p:txBody>
      </p:sp>
      <p:sp>
        <p:nvSpPr>
          <p:cNvPr id="12" name="Text 8"/>
          <p:cNvSpPr txBox="1"/>
          <p:nvPr/>
        </p:nvSpPr>
        <p:spPr>
          <a:xfrm>
            <a:off x="6323076" y="2542032"/>
            <a:ext cx="5225796" cy="2926080"/>
          </a:xfrm>
          <a:prstGeom prst="rect">
            <a:avLst/>
          </a:prstGeom>
          <a:noFill/>
          <a:ln/>
        </p:spPr>
        <p:txBody>
          <a:bodyPr wrap="square" lIns="0" tIns="0" rIns="0" bIns="0" rtlCol="0" anchor="t"/>
          <a:lstStyle/>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A live website and a live game, in your Vercel.</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Two repositories, in your GitHub.</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Two state files that let any chat continue.</a:t>
            </a:r>
            <a:endParaRPr lang="en-US" sz="1600" dirty="0"/>
          </a:p>
          <a:p>
            <a:pPr indent="0" marL="0">
              <a:lnSpc>
                <a:spcPct val="120000"/>
              </a:lnSpc>
              <a:spcAft>
                <a:spcPts val="1100"/>
              </a:spcAft>
              <a:buNone/>
            </a:pPr>
            <a:r>
              <a:rPr lang="en-US" sz="1600" dirty="0">
                <a:solidFill>
                  <a:srgbClr val="0D1219"/>
                </a:solidFill>
                <a:latin typeface="Arial" pitchFamily="34" charset="0"/>
                <a:ea typeface="Arial" pitchFamily="34" charset="-122"/>
                <a:cs typeface="Arial" pitchFamily="34" charset="-120"/>
              </a:rPr>
              <a:t>A loop you can run on Monday: describe, plan, build, check, save, publish.</a:t>
            </a:r>
            <a:endParaRPr lang="en-US" sz="1600" dirty="0"/>
          </a:p>
        </p:txBody>
      </p:sp>
      <p:sp>
        <p:nvSpPr>
          <p:cNvPr id="13" name="Text 9"/>
          <p:cNvSpPr/>
          <p:nvPr/>
        </p:nvSpPr>
        <p:spPr>
          <a:xfrm>
            <a:off x="2286000" y="6309360"/>
            <a:ext cx="7616952" cy="274320"/>
          </a:xfrm>
          <a:prstGeom prst="rect">
            <a:avLst/>
          </a:prstGeom>
          <a:noFill/>
          <a:ln/>
        </p:spPr>
        <p:txBody>
          <a:bodyPr wrap="square" lIns="0" tIns="0" rIns="0" bIns="0" rtlCol="0" anchor="ctr"/>
          <a:lstStyle/>
          <a:p>
            <a:pPr algn="ctr" indent="0" marL="0">
              <a:buNone/>
            </a:pPr>
            <a:r>
              <a:rPr lang="en-US" sz="1100" dirty="0">
                <a:solidFill>
                  <a:srgbClr val="7B8594"/>
                </a:solidFill>
                <a:latin typeface="Courier New" pitchFamily="34" charset="0"/>
                <a:ea typeface="Courier New" pitchFamily="34" charset="-122"/>
                <a:cs typeface="Courier New" pitchFamily="34" charset="-120"/>
              </a:rPr>
              <a:t>DESCRIBE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PLAN</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BUILD</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CHECK</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b="1" dirty="0">
                <a:solidFill>
                  <a:srgbClr val="EF8B39"/>
                </a:solidFill>
                <a:latin typeface="Courier New" pitchFamily="34" charset="0"/>
                <a:ea typeface="Courier New" pitchFamily="34" charset="-122"/>
                <a:cs typeface="Courier New" pitchFamily="34" charset="-120"/>
              </a:rPr>
              <a:t>SAVE</a:t>
            </a:r>
            <a:pPr algn="ctr" indent="0" marL="0">
              <a:buNone/>
            </a:pPr>
            <a:r>
              <a:rPr lang="en-US" sz="1100" dirty="0">
                <a:solidFill>
                  <a:srgbClr val="7B8594"/>
                </a:solidFill>
                <a:latin typeface="Courier New" pitchFamily="34" charset="0"/>
                <a:ea typeface="Courier New" pitchFamily="34" charset="-122"/>
                <a:cs typeface="Courier New" pitchFamily="34" charset="-120"/>
              </a:rPr>
              <a:t>   ·   </a:t>
            </a:r>
            <a:pPr algn="ctr" indent="0" marL="0">
              <a:buNone/>
            </a:pPr>
            <a:r>
              <a:rPr lang="en-US" sz="1100" dirty="0">
                <a:solidFill>
                  <a:srgbClr val="7B8594"/>
                </a:solidFill>
                <a:latin typeface="Courier New" pitchFamily="34" charset="0"/>
                <a:ea typeface="Courier New" pitchFamily="34" charset="-122"/>
                <a:cs typeface="Courier New" pitchFamily="34" charset="-120"/>
              </a:rPr>
              <a:t>PUBLISH</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82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HANDOFF · OPTIONAL</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5:15 – 5:30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2800" b="1" dirty="0">
                <a:solidFill>
                  <a:srgbClr val="0D1219"/>
                </a:solidFill>
                <a:latin typeface="Arial" pitchFamily="34" charset="0"/>
                <a:ea typeface="Arial" pitchFamily="34" charset="-122"/>
                <a:cs typeface="Arial" pitchFamily="34" charset="-120"/>
              </a:rPr>
              <a:t>Optional: post about today and I’ll endorse the skill.</a:t>
            </a:r>
            <a:endParaRPr lang="en-US" sz="2800" dirty="0"/>
          </a:p>
        </p:txBody>
      </p:sp>
      <p:sp>
        <p:nvSpPr>
          <p:cNvPr id="8" name="Text 4"/>
          <p:cNvSpPr txBox="1"/>
          <p:nvPr/>
        </p:nvSpPr>
        <p:spPr>
          <a:xfrm>
            <a:off x="640080" y="1554480"/>
            <a:ext cx="10908792" cy="457200"/>
          </a:xfrm>
          <a:prstGeom prst="rect">
            <a:avLst/>
          </a:prstGeom>
          <a:noFill/>
          <a:ln/>
        </p:spPr>
        <p:txBody>
          <a:bodyPr wrap="square" lIns="0" tIns="0" rIns="0" bIns="0" rtlCol="0" anchor="t"/>
          <a:lstStyle/>
          <a:p>
            <a:pPr indent="0" marL="0">
              <a:lnSpc>
                <a:spcPct val="115000"/>
              </a:lnSpc>
              <a:buNone/>
            </a:pPr>
            <a:r>
              <a:rPr lang="en-US" sz="1600" dirty="0">
                <a:solidFill>
                  <a:srgbClr val="5B6675"/>
                </a:solidFill>
                <a:latin typeface="Arial" pitchFamily="34" charset="0"/>
                <a:ea typeface="Arial" pitchFamily="34" charset="-122"/>
                <a:cs typeface="Arial" pitchFamily="34" charset="-120"/>
              </a:rPr>
              <a:t>Recognition of a skill you practiced today, not a certification. You choose what to publish.</a:t>
            </a:r>
            <a:endParaRPr lang="en-US" sz="1600" dirty="0"/>
          </a:p>
        </p:txBody>
      </p:sp>
      <p:sp>
        <p:nvSpPr>
          <p:cNvPr id="9" name="Text 5"/>
          <p:cNvSpPr txBox="1"/>
          <p:nvPr/>
        </p:nvSpPr>
        <p:spPr>
          <a:xfrm>
            <a:off x="640080" y="2148840"/>
            <a:ext cx="10908792" cy="1737360"/>
          </a:xfrm>
          <a:prstGeom prst="rect">
            <a:avLst/>
          </a:prstGeom>
          <a:noFill/>
          <a:ln/>
        </p:spPr>
        <p:txBody>
          <a:bodyPr wrap="square" lIns="0" tIns="0" rIns="0" bIns="0" rtlCol="0" anchor="t"/>
          <a:lstStyle/>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1   Add “Vibe Coding” in your profile’s Skills section. Can’t find it? Ask me which label to use.</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2   Connect with me on LinkedIn, using the profile I show you now, not a guess.</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3   Publish a post in your own words: something you built, learned, or worked through.</a:t>
            </a:r>
            <a:endParaRPr lang="en-US" sz="1500" dirty="0"/>
          </a:p>
          <a:p>
            <a:pPr indent="0" marL="0">
              <a:lnSpc>
                <a:spcPct val="120000"/>
              </a:lnSpc>
              <a:spcAft>
                <a:spcPts val="600"/>
              </a:spcAft>
              <a:buNone/>
            </a:pPr>
            <a:r>
              <a:rPr lang="en-US" sz="1500" dirty="0">
                <a:solidFill>
                  <a:srgbClr val="0D1219"/>
                </a:solidFill>
                <a:latin typeface="Arial" pitchFamily="34" charset="0"/>
                <a:ea typeface="Arial" pitchFamily="34" charset="-122"/>
                <a:cs typeface="Arial" pitchFamily="34" charset="-120"/>
              </a:rPr>
              <a:t>4   Send me your profile URL, post URL, and the exact skill name. I endorse it personally.</a:t>
            </a:r>
            <a:endParaRPr lang="en-US" sz="1500" dirty="0"/>
          </a:p>
        </p:txBody>
      </p:sp>
      <p:sp>
        <p:nvSpPr>
          <p:cNvPr id="10" name="Shape 6"/>
          <p:cNvSpPr/>
          <p:nvPr/>
        </p:nvSpPr>
        <p:spPr>
          <a:xfrm>
            <a:off x="640080" y="4023360"/>
            <a:ext cx="10908792" cy="1645920"/>
          </a:xfrm>
          <a:prstGeom prst="rect">
            <a:avLst/>
          </a:prstGeom>
          <a:solidFill>
            <a:srgbClr val="121B2B"/>
          </a:solidFill>
          <a:ln w="12700">
            <a:solidFill>
              <a:srgbClr val="EF8B39"/>
            </a:solidFill>
            <a:prstDash val="solid"/>
          </a:ln>
        </p:spPr>
      </p:sp>
      <p:sp>
        <p:nvSpPr>
          <p:cNvPr id="11" name="Text 7"/>
          <p:cNvSpPr/>
          <p:nvPr/>
        </p:nvSpPr>
        <p:spPr>
          <a:xfrm>
            <a:off x="868680" y="4151376"/>
            <a:ext cx="10451592" cy="256032"/>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ASK YOUR CHATBOT FOR A DRAFT · VERBATIM</a:t>
            </a:r>
            <a:endParaRPr lang="en-US" sz="1100" dirty="0"/>
          </a:p>
        </p:txBody>
      </p:sp>
      <p:sp>
        <p:nvSpPr>
          <p:cNvPr id="12" name="Text 8"/>
          <p:cNvSpPr txBox="1"/>
          <p:nvPr/>
        </p:nvSpPr>
        <p:spPr>
          <a:xfrm>
            <a:off x="868680" y="4480560"/>
            <a:ext cx="10451592" cy="1051560"/>
          </a:xfrm>
          <a:prstGeom prst="rect">
            <a:avLst/>
          </a:prstGeom>
          <a:noFill/>
          <a:ln/>
        </p:spPr>
        <p:txBody>
          <a:bodyPr wrap="square" lIns="0" tIns="0" rIns="0" bIns="0" rtlCol="0" anchor="t"/>
          <a:lstStyle/>
          <a:p>
            <a:pPr indent="0" marL="0">
              <a:lnSpc>
                <a:spcPct val="120000"/>
              </a:lnSpc>
              <a:buNone/>
            </a:pPr>
            <a:r>
              <a:rPr lang="en-US" sz="1400" dirty="0">
                <a:solidFill>
                  <a:srgbClr val="E6EBF2"/>
                </a:solidFill>
                <a:latin typeface="Courier New" pitchFamily="34" charset="0"/>
                <a:ea typeface="Courier New" pitchFamily="34" charset="-122"/>
                <a:cs typeface="Courier New" pitchFamily="34" charset="-120"/>
              </a:rPr>
              <a:t>Help me draft a short LinkedIn post about this class using only these facts: [what I built, what works, what I learned, and a challenge]. Keep my voice. Mention that Mark offered a skill endorsement to participants who post about their experience. Do not invent outcomes, praise, or expertise. Give me a draft to review; do not publish it or message anyone.</a:t>
            </a:r>
            <a:endParaRPr lang="en-US" sz="14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83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HANDOFF · TWO OFFERS</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5:15 – 5:30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Everyone gets the slides. Reviewers get the book.</a:t>
            </a:r>
            <a:endParaRPr lang="en-US" sz="3200" dirty="0"/>
          </a:p>
        </p:txBody>
      </p:sp>
      <p:sp>
        <p:nvSpPr>
          <p:cNvPr id="8" name="Text 4"/>
          <p:cNvSpPr txBox="1"/>
          <p:nvPr/>
        </p:nvSpPr>
        <p:spPr>
          <a:xfrm>
            <a:off x="640080" y="1828800"/>
            <a:ext cx="786384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EVERYONE GETS THE SLIDES</a:t>
            </a:r>
            <a:endParaRPr lang="en-US" sz="1100" dirty="0"/>
          </a:p>
        </p:txBody>
      </p:sp>
      <p:sp>
        <p:nvSpPr>
          <p:cNvPr id="9" name="Text 5"/>
          <p:cNvSpPr txBox="1"/>
          <p:nvPr/>
        </p:nvSpPr>
        <p:spPr>
          <a:xfrm>
            <a:off x="640080" y="2148840"/>
            <a:ext cx="7863840" cy="548640"/>
          </a:xfrm>
          <a:prstGeom prst="rect">
            <a:avLst/>
          </a:prstGeom>
          <a:noFill/>
          <a:ln/>
        </p:spPr>
        <p:txBody>
          <a:bodyPr wrap="square" lIns="0" tIns="0" rIns="0" bIns="0" rtlCol="0" anchor="t"/>
          <a:lstStyle/>
          <a:p>
            <a:pPr algn="l" indent="0" marL="0">
              <a:lnSpc>
                <a:spcPct val="115000"/>
              </a:lnSpc>
              <a:buNone/>
            </a:pPr>
            <a:r>
              <a:rPr lang="en-US" sz="1600" dirty="0">
                <a:solidFill>
                  <a:srgbClr val="0D1219"/>
                </a:solidFill>
                <a:latin typeface="Arial" pitchFamily="34" charset="0"/>
                <a:ea typeface="Arial" pitchFamily="34" charset="-122"/>
                <a:cs typeface="Arial" pitchFamily="34" charset="-120"/>
              </a:rPr>
              <a:t>The slides and all the course materials are in the repo. PDF and PPTX in presentations/ato-2026-workshop.</a:t>
            </a:r>
            <a:endParaRPr lang="en-US" sz="1600" dirty="0"/>
          </a:p>
        </p:txBody>
      </p:sp>
      <p:sp>
        <p:nvSpPr>
          <p:cNvPr id="10" name="Text 6"/>
          <p:cNvSpPr txBox="1"/>
          <p:nvPr/>
        </p:nvSpPr>
        <p:spPr>
          <a:xfrm>
            <a:off x="640080" y="2743200"/>
            <a:ext cx="7863840" cy="365760"/>
          </a:xfrm>
          <a:prstGeom prst="rect">
            <a:avLst/>
          </a:prstGeom>
          <a:noFill/>
          <a:ln/>
        </p:spPr>
        <p:txBody>
          <a:bodyPr wrap="square" lIns="0" tIns="0" rIns="0" bIns="0" rtlCol="0" anchor="t"/>
          <a:lstStyle/>
          <a:p>
            <a:pPr algn="l" indent="0" marL="0">
              <a:lnSpc>
                <a:spcPct val="115000"/>
              </a:lnSpc>
              <a:buNone/>
            </a:pPr>
            <a:r>
              <a:rPr lang="en-US" sz="1400" b="1" dirty="0">
                <a:solidFill>
                  <a:srgbClr val="0D1219"/>
                </a:solidFill>
                <a:latin typeface="Courier New" pitchFamily="34" charset="0"/>
                <a:ea typeface="Courier New" pitchFamily="34" charset="-122"/>
                <a:cs typeface="Courier New" pitchFamily="34" charset="-120"/>
              </a:rPr>
              <a:t>github.com/mrhinkle/Vibe-Coding-for-Non-Technical-Professionals</a:t>
            </a:r>
            <a:endParaRPr lang="en-US" sz="1400" dirty="0"/>
          </a:p>
        </p:txBody>
      </p:sp>
      <p:sp>
        <p:nvSpPr>
          <p:cNvPr id="11" name="Text 7"/>
          <p:cNvSpPr txBox="1"/>
          <p:nvPr/>
        </p:nvSpPr>
        <p:spPr>
          <a:xfrm>
            <a:off x="640080" y="3520440"/>
            <a:ext cx="7863840" cy="274320"/>
          </a:xfrm>
          <a:prstGeom prst="rect">
            <a:avLst/>
          </a:prstGeom>
          <a:noFill/>
          <a:ln/>
        </p:spPr>
        <p:txBody>
          <a:bodyPr wrap="square" lIns="0" tIns="0" rIns="0" bIns="0" rtlCol="0" anchor="t"/>
          <a:lstStyle/>
          <a:p>
            <a:pPr algn="l" indent="0" marL="0">
              <a:lnSpc>
                <a:spcPct val="115000"/>
              </a:lnSpc>
              <a:buNone/>
            </a:pPr>
            <a:r>
              <a:rPr lang="en-US" sz="1100" b="1" spc="150" kern="0" dirty="0">
                <a:solidFill>
                  <a:srgbClr val="EF8B39"/>
                </a:solidFill>
                <a:latin typeface="Courier New" pitchFamily="34" charset="0"/>
                <a:ea typeface="Courier New" pitchFamily="34" charset="-122"/>
                <a:cs typeface="Courier New" pitchFamily="34" charset="-120"/>
              </a:rPr>
              <a:t>REVIEWERS GET THE BOOK</a:t>
            </a:r>
            <a:endParaRPr lang="en-US" sz="1100" dirty="0"/>
          </a:p>
        </p:txBody>
      </p:sp>
      <p:sp>
        <p:nvSpPr>
          <p:cNvPr id="12" name="Text 8"/>
          <p:cNvSpPr txBox="1"/>
          <p:nvPr/>
        </p:nvSpPr>
        <p:spPr>
          <a:xfrm>
            <a:off x="640080" y="3840480"/>
            <a:ext cx="7863840" cy="731520"/>
          </a:xfrm>
          <a:prstGeom prst="rect">
            <a:avLst/>
          </a:prstGeom>
          <a:noFill/>
          <a:ln/>
        </p:spPr>
        <p:txBody>
          <a:bodyPr wrap="square" lIns="0" tIns="0" rIns="0" bIns="0" rtlCol="0" anchor="t"/>
          <a:lstStyle/>
          <a:p>
            <a:pPr algn="l" indent="0" marL="0">
              <a:lnSpc>
                <a:spcPct val="115000"/>
              </a:lnSpc>
              <a:buNone/>
            </a:pPr>
            <a:r>
              <a:rPr lang="en-US" sz="1600" dirty="0">
                <a:solidFill>
                  <a:srgbClr val="0D1219"/>
                </a:solidFill>
                <a:latin typeface="Arial" pitchFamily="34" charset="0"/>
                <a:ea typeface="Arial" pitchFamily="34" charset="-122"/>
                <a:cs typeface="Arial" pitchFamily="34" charset="-120"/>
              </a:rPr>
              <a:t>Send me feedback, good or bad, and you get the preview release edition of Software Development for Non-Programmers: Beyond Vibecoding.</a:t>
            </a:r>
            <a:endParaRPr lang="en-US" sz="1600" dirty="0"/>
          </a:p>
        </p:txBody>
      </p:sp>
      <p:sp>
        <p:nvSpPr>
          <p:cNvPr id="13" name="Text 9"/>
          <p:cNvSpPr txBox="1"/>
          <p:nvPr/>
        </p:nvSpPr>
        <p:spPr>
          <a:xfrm>
            <a:off x="640080" y="4663440"/>
            <a:ext cx="7863840" cy="1005840"/>
          </a:xfrm>
          <a:prstGeom prst="rect">
            <a:avLst/>
          </a:prstGeom>
          <a:noFill/>
          <a:ln/>
        </p:spPr>
        <p:txBody>
          <a:bodyPr wrap="square" lIns="0" tIns="0" rIns="0" bIns="0" rtlCol="0" anchor="t"/>
          <a:lstStyle/>
          <a:p>
            <a:pPr algn="l" indent="0" marL="0">
              <a:lnSpc>
                <a:spcPct val="115000"/>
              </a:lnSpc>
              <a:buNone/>
            </a:pPr>
            <a:r>
              <a:rPr lang="en-US" sz="1400" dirty="0">
                <a:solidFill>
                  <a:srgbClr val="0D1219"/>
                </a:solidFill>
                <a:latin typeface="Courier New" pitchFamily="34" charset="0"/>
                <a:ea typeface="Courier New" pitchFamily="34" charset="-122"/>
                <a:cs typeface="Courier New" pitchFamily="34" charset="-120"/>
              </a:rPr>
              <a:t>To: mrhinkle@allthingsai.org</a:t>
            </a:r>
            <a:endParaRPr lang="en-US" sz="1400" dirty="0"/>
          </a:p>
          <a:p>
            <a:pPr algn="l" indent="0" marL="0">
              <a:lnSpc>
                <a:spcPct val="115000"/>
              </a:lnSpc>
              <a:buNone/>
            </a:pPr>
            <a:r>
              <a:rPr lang="en-US" sz="1400" dirty="0">
                <a:solidFill>
                  <a:srgbClr val="0D1219"/>
                </a:solidFill>
                <a:latin typeface="Courier New" pitchFamily="34" charset="0"/>
                <a:ea typeface="Courier New" pitchFamily="34" charset="-122"/>
                <a:cs typeface="Courier New" pitchFamily="34" charset="-120"/>
              </a:rPr>
              <a:t>Subject: ATO workshop feedback</a:t>
            </a:r>
            <a:endParaRPr lang="en-US" sz="1400" dirty="0"/>
          </a:p>
          <a:p>
            <a:pPr algn="l" indent="0" marL="0">
              <a:lnSpc>
                <a:spcPct val="115000"/>
              </a:lnSpc>
              <a:buNone/>
            </a:pPr>
            <a:r>
              <a:rPr lang="en-US" sz="1400" dirty="0">
                <a:solidFill>
                  <a:srgbClr val="0D1219"/>
                </a:solidFill>
                <a:latin typeface="Courier New" pitchFamily="34" charset="0"/>
                <a:ea typeface="Courier New" pitchFamily="34" charset="-122"/>
                <a:cs typeface="Courier New" pitchFamily="34" charset="-120"/>
              </a:rPr>
              <a:t>Or hand me the printed sheet before you leave.</a:t>
            </a:r>
            <a:endParaRPr lang="en-US" sz="1400" dirty="0"/>
          </a:p>
        </p:txBody>
      </p:sp>
      <p:pic>
        <p:nvPicPr>
          <p:cNvPr id="14" name="Image 1" descr="assets/book-cover.jpg">    </p:cNvPr>
          <p:cNvPicPr>
            <a:picLocks noChangeAspect="1"/>
          </p:cNvPicPr>
          <p:nvPr/>
        </p:nvPicPr>
        <p:blipFill>
          <a:blip r:embed="rId2"/>
          <a:stretch>
            <a:fillRect/>
          </a:stretch>
        </p:blipFill>
        <p:spPr>
          <a:xfrm>
            <a:off x="9354312" y="1783080"/>
            <a:ext cx="2194560" cy="3291840"/>
          </a:xfrm>
          <a:prstGeom prst="rect">
            <a:avLst/>
          </a:prstGeom>
        </p:spPr>
      </p:pic>
      <p:sp>
        <p:nvSpPr>
          <p:cNvPr id="15" name="Text 10"/>
          <p:cNvSpPr txBox="1"/>
          <p:nvPr/>
        </p:nvSpPr>
        <p:spPr>
          <a:xfrm>
            <a:off x="9354312" y="5120640"/>
            <a:ext cx="2194560" cy="274320"/>
          </a:xfrm>
          <a:prstGeom prst="rect">
            <a:avLst/>
          </a:prstGeom>
          <a:noFill/>
          <a:ln/>
        </p:spPr>
        <p:txBody>
          <a:bodyPr wrap="square" lIns="0" tIns="0" rIns="0" bIns="0" rtlCol="0" anchor="t"/>
          <a:lstStyle/>
          <a:p>
            <a:pPr algn="ctr" indent="0" marL="0">
              <a:lnSpc>
                <a:spcPct val="115000"/>
              </a:lnSpc>
              <a:buNone/>
            </a:pPr>
            <a:r>
              <a:rPr lang="en-US" sz="1100" dirty="0">
                <a:solidFill>
                  <a:srgbClr val="7B8594"/>
                </a:solidFill>
                <a:latin typeface="Courier New" pitchFamily="34" charset="0"/>
                <a:ea typeface="Courier New" pitchFamily="34" charset="-122"/>
                <a:cs typeface="Courier New" pitchFamily="34" charset="-120"/>
              </a:rPr>
              <a:t>Advance Release Edition</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pic>
        <p:nvPicPr>
          <p:cNvPr id="2" name="Image 0" descr="assets/logo-h.png">    </p:cNvPr>
          <p:cNvPicPr>
            <a:picLocks noChangeAspect="1"/>
          </p:cNvPicPr>
          <p:nvPr/>
        </p:nvPicPr>
        <p:blipFill>
          <a:blip r:embed="rId1"/>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84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307FE2"/>
                </a:solidFill>
                <a:latin typeface="Courier New" pitchFamily="34" charset="0"/>
                <a:ea typeface="Courier New" pitchFamily="34" charset="-122"/>
                <a:cs typeface="Courier New" pitchFamily="34" charset="-120"/>
              </a:rPr>
              <a:t>HANDOFF · ONE INVITATION</a:t>
            </a:r>
            <a:endParaRPr lang="en-US" sz="1100" dirty="0"/>
          </a:p>
        </p:txBody>
      </p:sp>
      <p:sp>
        <p:nvSpPr>
          <p:cNvPr id="6" name="Text 2"/>
          <p:cNvSpPr txBox="1"/>
          <p:nvPr/>
        </p:nvSpPr>
        <p:spPr>
          <a:xfrm>
            <a:off x="9171432" y="457200"/>
            <a:ext cx="2377440" cy="274320"/>
          </a:xfrm>
          <a:prstGeom prst="rect">
            <a:avLst/>
          </a:prstGeom>
          <a:noFill/>
          <a:ln/>
        </p:spPr>
        <p:txBody>
          <a:bodyPr wrap="square" lIns="0" tIns="0" rIns="0" bIns="0" rtlCol="0" anchor="ctr"/>
          <a:lstStyle/>
          <a:p>
            <a:pPr algn="r" indent="0" marL="0">
              <a:buNone/>
            </a:pPr>
            <a:r>
              <a:rPr lang="en-US" sz="1100" dirty="0">
                <a:solidFill>
                  <a:srgbClr val="7B8594"/>
                </a:solidFill>
                <a:latin typeface="Courier New" pitchFamily="34" charset="0"/>
                <a:ea typeface="Courier New" pitchFamily="34" charset="-122"/>
                <a:cs typeface="Courier New" pitchFamily="34" charset="-120"/>
              </a:rPr>
              <a:t>5:15 – 5:30</a:t>
            </a:r>
            <a:endParaRPr lang="en-US" sz="1100" dirty="0"/>
          </a:p>
        </p:txBody>
      </p:sp>
      <p:sp>
        <p:nvSpPr>
          <p:cNvPr id="7" name="Text 3"/>
          <p:cNvSpPr txBox="1"/>
          <p:nvPr/>
        </p:nvSpPr>
        <p:spPr>
          <a:xfrm>
            <a:off x="640080" y="822960"/>
            <a:ext cx="10908792" cy="731520"/>
          </a:xfrm>
          <a:prstGeom prst="rect">
            <a:avLst/>
          </a:prstGeom>
          <a:noFill/>
          <a:ln/>
        </p:spPr>
        <p:txBody>
          <a:bodyPr wrap="square" lIns="0" tIns="0" rIns="0" bIns="0" rtlCol="0" anchor="t"/>
          <a:lstStyle/>
          <a:p>
            <a:pPr indent="0" marL="0">
              <a:buNone/>
            </a:pPr>
            <a:r>
              <a:rPr lang="en-US" sz="3200" b="1" dirty="0">
                <a:solidFill>
                  <a:srgbClr val="0D1219"/>
                </a:solidFill>
                <a:latin typeface="Arial" pitchFamily="34" charset="0"/>
                <a:ea typeface="Arial" pitchFamily="34" charset="-122"/>
                <a:cs typeface="Arial" pitchFamily="34" charset="-120"/>
              </a:rPr>
              <a:t>See you in the spring: All Things AI.</a:t>
            </a:r>
            <a:endParaRPr lang="en-US" sz="3200" dirty="0"/>
          </a:p>
        </p:txBody>
      </p:sp>
      <p:sp>
        <p:nvSpPr>
          <p:cNvPr id="8" name="Text 4"/>
          <p:cNvSpPr txBox="1"/>
          <p:nvPr/>
        </p:nvSpPr>
        <p:spPr>
          <a:xfrm>
            <a:off x="640080" y="1828800"/>
            <a:ext cx="10908792" cy="1097280"/>
          </a:xfrm>
          <a:prstGeom prst="rect">
            <a:avLst/>
          </a:prstGeom>
          <a:noFill/>
          <a:ln/>
        </p:spPr>
        <p:txBody>
          <a:bodyPr wrap="square" lIns="0" tIns="0" rIns="0" bIns="0" rtlCol="0" anchor="ctr"/>
          <a:lstStyle/>
          <a:p>
            <a:pPr indent="0" marL="0">
              <a:buNone/>
            </a:pPr>
            <a:r>
              <a:rPr lang="en-US" sz="5400" b="1" dirty="0">
                <a:solidFill>
                  <a:srgbClr val="307FE2"/>
                </a:solidFill>
                <a:latin typeface="Arial" pitchFamily="34" charset="0"/>
                <a:ea typeface="Arial" pitchFamily="34" charset="-122"/>
                <a:cs typeface="Arial" pitchFamily="34" charset="-120"/>
              </a:rPr>
              <a:t>April 18–20, 2027</a:t>
            </a:r>
            <a:endParaRPr lang="en-US" sz="5400" dirty="0"/>
          </a:p>
        </p:txBody>
      </p:sp>
      <p:sp>
        <p:nvSpPr>
          <p:cNvPr id="9" name="Text 5"/>
          <p:cNvSpPr txBox="1"/>
          <p:nvPr/>
        </p:nvSpPr>
        <p:spPr>
          <a:xfrm>
            <a:off x="640080" y="3108960"/>
            <a:ext cx="8595360" cy="2011680"/>
          </a:xfrm>
          <a:prstGeom prst="rect">
            <a:avLst/>
          </a:prstGeom>
          <a:noFill/>
          <a:ln/>
        </p:spPr>
        <p:txBody>
          <a:bodyPr wrap="square" lIns="0" tIns="0" rIns="0" bIns="0" rtlCol="0" anchor="t"/>
          <a:lstStyle/>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All Things AI 2027, in this same building: the Atlantic Union Bank Convention Center.</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April 18 is the Agent Hackathon. April 21 is a separate, screened Executive Summit.</a:t>
            </a:r>
            <a:endParaRPr lang="en-US" sz="1700" dirty="0"/>
          </a:p>
          <a:p>
            <a:pPr indent="0" marL="0">
              <a:lnSpc>
                <a:spcPct val="120000"/>
              </a:lnSpc>
              <a:spcAft>
                <a:spcPts val="1200"/>
              </a:spcAft>
              <a:buNone/>
            </a:pPr>
            <a:r>
              <a:rPr lang="en-US" sz="1700" dirty="0">
                <a:solidFill>
                  <a:srgbClr val="0D1219"/>
                </a:solidFill>
                <a:latin typeface="Arial" pitchFamily="34" charset="0"/>
                <a:ea typeface="Arial" pitchFamily="34" charset="-122"/>
                <a:cs typeface="Arial" pitchFamily="34" charset="-120"/>
              </a:rPr>
              <a:t>allthingsai.org</a:t>
            </a:r>
            <a:endParaRPr lang="en-US" sz="1700" dirty="0"/>
          </a:p>
        </p:txBody>
      </p:sp>
      <p:pic>
        <p:nvPicPr>
          <p:cNvPr id="10" name="Image 1" descr="assets/ata-square.png">    </p:cNvPr>
          <p:cNvPicPr>
            <a:picLocks noChangeAspect="1"/>
          </p:cNvPicPr>
          <p:nvPr/>
        </p:nvPicPr>
        <p:blipFill>
          <a:blip r:embed="rId2"/>
          <a:stretch>
            <a:fillRect/>
          </a:stretch>
        </p:blipFill>
        <p:spPr>
          <a:xfrm>
            <a:off x="9354312" y="3017520"/>
            <a:ext cx="2194560" cy="219456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assets/logo-h-white.png">    </p:cNvPr>
          <p:cNvPicPr>
            <a:picLocks noChangeAspect="1"/>
          </p:cNvPicPr>
          <p:nvPr/>
        </p:nvPicPr>
        <p:blipFill>
          <a:blip r:embed="rId2"/>
          <a:stretch>
            <a:fillRect/>
          </a:stretch>
        </p:blipFill>
        <p:spPr>
          <a:xfrm>
            <a:off x="640080" y="6355080"/>
            <a:ext cx="1426464" cy="182880"/>
          </a:xfrm>
          <a:prstGeom prst="rect">
            <a:avLst/>
          </a:prstGeom>
        </p:spPr>
      </p:pic>
      <p:sp>
        <p:nvSpPr>
          <p:cNvPr id="3" name="Text 0"/>
          <p:cNvSpPr/>
          <p:nvPr/>
        </p:nvSpPr>
        <p:spPr>
          <a:xfrm>
            <a:off x="10268712" y="6309360"/>
            <a:ext cx="1280160" cy="310896"/>
          </a:xfrm>
          <a:prstGeom prst="rect">
            <a:avLst/>
          </a:prstGeom>
          <a:noFill/>
          <a:ln/>
        </p:spPr>
        <p:txBody>
          <a:bodyPr wrap="square" lIns="0" tIns="0" rIns="0" bIns="0" rtlCol="0" anchor="ctr"/>
          <a:lstStyle/>
          <a:p>
            <a:pPr algn="r" indent="0" marL="0">
              <a:buNone/>
            </a:pPr>
            <a:r>
              <a:rPr lang="en-US" sz="900" dirty="0">
                <a:solidFill>
                  <a:srgbClr val="7B8594"/>
                </a:solidFill>
                <a:latin typeface="Courier New" pitchFamily="34" charset="0"/>
                <a:ea typeface="Courier New" pitchFamily="34" charset="-122"/>
                <a:cs typeface="Courier New" pitchFamily="34" charset="-120"/>
              </a:rPr>
              <a:t>85 / 85</a:t>
            </a:r>
            <a:endParaRPr lang="en-US" sz="900" dirty="0"/>
          </a:p>
        </p:txBody>
      </p:sp>
      <p:sp>
        <p:nvSpPr>
          <p:cNvPr id="5" name="Text 1"/>
          <p:cNvSpPr txBox="1"/>
          <p:nvPr/>
        </p:nvSpPr>
        <p:spPr>
          <a:xfrm>
            <a:off x="640080" y="457200"/>
            <a:ext cx="8531352" cy="274320"/>
          </a:xfrm>
          <a:prstGeom prst="rect">
            <a:avLst/>
          </a:prstGeom>
          <a:noFill/>
          <a:ln/>
        </p:spPr>
        <p:txBody>
          <a:bodyPr wrap="square" lIns="0" tIns="0" rIns="0" bIns="0" rtlCol="0" anchor="ctr"/>
          <a:lstStyle/>
          <a:p>
            <a:pPr indent="0" marL="0">
              <a:buNone/>
            </a:pPr>
            <a:r>
              <a:rPr lang="en-US" sz="1100" b="1" spc="150" kern="0" dirty="0">
                <a:solidFill>
                  <a:srgbClr val="EF8B39"/>
                </a:solidFill>
                <a:latin typeface="Courier New" pitchFamily="34" charset="0"/>
                <a:ea typeface="Courier New" pitchFamily="34" charset="-122"/>
                <a:cs typeface="Courier New" pitchFamily="34" charset="-120"/>
              </a:rPr>
              <a:t>THAT’S THE DAY</a:t>
            </a:r>
            <a:endParaRPr lang="en-US" sz="1100" dirty="0"/>
          </a:p>
        </p:txBody>
      </p:sp>
      <p:sp>
        <p:nvSpPr>
          <p:cNvPr id="6" name="Text 2"/>
          <p:cNvSpPr txBox="1"/>
          <p:nvPr/>
        </p:nvSpPr>
        <p:spPr>
          <a:xfrm>
            <a:off x="640080" y="822960"/>
            <a:ext cx="7132320" cy="73152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Now it’s two URLs you own.</a:t>
            </a:r>
            <a:endParaRPr lang="en-US" sz="3200" dirty="0"/>
          </a:p>
        </p:txBody>
      </p:sp>
      <p:sp>
        <p:nvSpPr>
          <p:cNvPr id="7" name="Text 3"/>
          <p:cNvSpPr txBox="1"/>
          <p:nvPr/>
        </p:nvSpPr>
        <p:spPr>
          <a:xfrm>
            <a:off x="640080" y="1828800"/>
            <a:ext cx="7132320" cy="1828800"/>
          </a:xfrm>
          <a:prstGeom prst="rect">
            <a:avLst/>
          </a:prstGeom>
          <a:noFill/>
          <a:ln/>
        </p:spPr>
        <p:txBody>
          <a:bodyPr wrap="square" lIns="0" tIns="0" rIns="0" bIns="0" rtlCol="0" anchor="t"/>
          <a:lstStyle/>
          <a:p>
            <a:pPr indent="0" marL="0">
              <a:lnSpc>
                <a:spcPct val="120000"/>
              </a:lnSpc>
              <a:spcAft>
                <a:spcPts val="1200"/>
              </a:spcAft>
              <a:buNone/>
            </a:pPr>
            <a:r>
              <a:rPr lang="en-US" sz="1700" dirty="0">
                <a:solidFill>
                  <a:srgbClr val="FFFFFF"/>
                </a:solidFill>
                <a:latin typeface="Arial" pitchFamily="34" charset="0"/>
                <a:ea typeface="Arial" pitchFamily="34" charset="-122"/>
                <a:cs typeface="Arial" pitchFamily="34" charset="-120"/>
              </a:rPr>
              <a:t>A site about you, live in your Vercel. A game you drew on paper at one o’clock, playing on a phone.</a:t>
            </a:r>
            <a:endParaRPr lang="en-US" sz="1700" dirty="0"/>
          </a:p>
          <a:p>
            <a:pPr indent="0" marL="0">
              <a:lnSpc>
                <a:spcPct val="120000"/>
              </a:lnSpc>
              <a:spcAft>
                <a:spcPts val="1200"/>
              </a:spcAft>
              <a:buNone/>
            </a:pPr>
            <a:r>
              <a:rPr lang="en-US" sz="1700" dirty="0">
                <a:solidFill>
                  <a:srgbClr val="FFFFFF"/>
                </a:solidFill>
                <a:latin typeface="Arial" pitchFamily="34" charset="0"/>
                <a:ea typeface="Arial" pitchFamily="34" charset="-122"/>
                <a:cs typeface="Arial" pitchFamily="34" charset="-120"/>
              </a:rPr>
              <a:t>Run the same six steps on Monday, on something at work.</a:t>
            </a:r>
            <a:endParaRPr lang="en-US" sz="1700" dirty="0"/>
          </a:p>
        </p:txBody>
      </p:sp>
      <p:sp>
        <p:nvSpPr>
          <p:cNvPr id="8" name="Text 4"/>
          <p:cNvSpPr txBox="1"/>
          <p:nvPr/>
        </p:nvSpPr>
        <p:spPr>
          <a:xfrm>
            <a:off x="640080" y="4023360"/>
            <a:ext cx="6400800" cy="274320"/>
          </a:xfrm>
          <a:prstGeom prst="rect">
            <a:avLst/>
          </a:prstGeom>
          <a:noFill/>
          <a:ln/>
        </p:spPr>
        <p:txBody>
          <a:bodyPr wrap="square" lIns="0" tIns="0" rIns="0" bIns="0" rtlCol="0" anchor="t"/>
          <a:lstStyle/>
          <a:p>
            <a:pPr algn="l" indent="0" marL="0">
              <a:lnSpc>
                <a:spcPct val="115000"/>
              </a:lnSpc>
              <a:buNone/>
            </a:pPr>
            <a:r>
              <a:rPr lang="en-US" sz="1100" spc="150" kern="0" dirty="0">
                <a:solidFill>
                  <a:srgbClr val="EF8B39"/>
                </a:solidFill>
                <a:latin typeface="Courier New" pitchFamily="34" charset="0"/>
                <a:ea typeface="Courier New" pitchFamily="34" charset="-122"/>
                <a:cs typeface="Courier New" pitchFamily="34" charset="-120"/>
              </a:rPr>
              <a:t>MARK HINKLE</a:t>
            </a:r>
            <a:endParaRPr lang="en-US" sz="1100" dirty="0"/>
          </a:p>
        </p:txBody>
      </p:sp>
      <p:sp>
        <p:nvSpPr>
          <p:cNvPr id="9" name="Text 5"/>
          <p:cNvSpPr txBox="1"/>
          <p:nvPr/>
        </p:nvSpPr>
        <p:spPr>
          <a:xfrm>
            <a:off x="640080" y="4343400"/>
            <a:ext cx="6400800" cy="457200"/>
          </a:xfrm>
          <a:prstGeom prst="rect">
            <a:avLst/>
          </a:prstGeom>
          <a:noFill/>
          <a:ln/>
        </p:spPr>
        <p:txBody>
          <a:bodyPr wrap="square" lIns="0" tIns="0" rIns="0" bIns="0" rtlCol="0" anchor="t"/>
          <a:lstStyle/>
          <a:p>
            <a:pPr algn="l" indent="0" marL="0">
              <a:lnSpc>
                <a:spcPct val="115000"/>
              </a:lnSpc>
              <a:buNone/>
            </a:pPr>
            <a:r>
              <a:rPr lang="en-US" sz="2000" dirty="0">
                <a:solidFill>
                  <a:srgbClr val="FFFFFF"/>
                </a:solidFill>
                <a:latin typeface="Courier New" pitchFamily="34" charset="0"/>
                <a:ea typeface="Courier New" pitchFamily="34" charset="-122"/>
                <a:cs typeface="Courier New" pitchFamily="34" charset="-120"/>
              </a:rPr>
              <a:t>mrhinkle@allthingsai.org</a:t>
            </a:r>
            <a:endParaRPr lang="en-US" sz="2000" dirty="0"/>
          </a:p>
        </p:txBody>
      </p:sp>
      <p:sp>
        <p:nvSpPr>
          <p:cNvPr id="10" name="Text 6"/>
          <p:cNvSpPr txBox="1"/>
          <p:nvPr/>
        </p:nvSpPr>
        <p:spPr>
          <a:xfrm>
            <a:off x="640080" y="4846320"/>
            <a:ext cx="7680960" cy="365760"/>
          </a:xfrm>
          <a:prstGeom prst="rect">
            <a:avLst/>
          </a:prstGeom>
          <a:noFill/>
          <a:ln/>
        </p:spPr>
        <p:txBody>
          <a:bodyPr wrap="square" lIns="0" tIns="0" rIns="0" bIns="0" rtlCol="0" anchor="t"/>
          <a:lstStyle/>
          <a:p>
            <a:pPr algn="l" indent="0" marL="0">
              <a:lnSpc>
                <a:spcPct val="115000"/>
              </a:lnSpc>
              <a:buNone/>
            </a:pPr>
            <a:r>
              <a:rPr lang="en-US" sz="1200" dirty="0">
                <a:solidFill>
                  <a:srgbClr val="D6DEEA"/>
                </a:solidFill>
                <a:latin typeface="Courier New" pitchFamily="34" charset="0"/>
                <a:ea typeface="Courier New" pitchFamily="34" charset="-122"/>
                <a:cs typeface="Courier New" pitchFamily="34" charset="-120"/>
              </a:rPr>
              <a:t>All Things AI · allthingsai.org     The AIE Network · theaienterprise.io</a:t>
            </a:r>
            <a:endParaRPr lang="en-US" sz="1200" dirty="0"/>
          </a:p>
        </p:txBody>
      </p:sp>
      <p:pic>
        <p:nvPicPr>
          <p:cNvPr id="11" name="Image 1" descr="assets/ata-square.png">    </p:cNvPr>
          <p:cNvPicPr>
            <a:picLocks noChangeAspect="1"/>
          </p:cNvPicPr>
          <p:nvPr/>
        </p:nvPicPr>
        <p:blipFill>
          <a:blip r:embed="rId3"/>
          <a:stretch>
            <a:fillRect/>
          </a:stretch>
        </p:blipFill>
        <p:spPr>
          <a:xfrm>
            <a:off x="8595360" y="1828800"/>
            <a:ext cx="2377440" cy="2377440"/>
          </a:xfrm>
          <a:prstGeom prst="rect">
            <a:avLst/>
          </a:prstGeom>
        </p:spPr>
      </p:pic>
      <p:pic>
        <p:nvPicPr>
          <p:cNvPr id="12" name="Image 2" descr="assets/logo-aie-white.png">    </p:cNvPr>
          <p:cNvPicPr>
            <a:picLocks noChangeAspect="1"/>
          </p:cNvPicPr>
          <p:nvPr/>
        </p:nvPicPr>
        <p:blipFill>
          <a:blip r:embed="rId4"/>
          <a:srcRect l="0" r="0" t="0" b="0"/>
          <a:stretch/>
        </p:blipFill>
        <p:spPr>
          <a:xfrm>
            <a:off x="8321040" y="4480560"/>
            <a:ext cx="2926080" cy="731520"/>
          </a:xfrm>
          <a:prstGeom prst="rect">
            <a:avLst/>
          </a:prstGeom>
        </p:spPr>
      </p:pic>
      <p:sp>
        <p:nvSpPr>
          <p:cNvPr id="13" name="Text 7"/>
          <p:cNvSpPr txBox="1"/>
          <p:nvPr/>
        </p:nvSpPr>
        <p:spPr>
          <a:xfrm>
            <a:off x="640080" y="5440680"/>
            <a:ext cx="10908792" cy="320040"/>
          </a:xfrm>
          <a:prstGeom prst="rect">
            <a:avLst/>
          </a:prstGeom>
          <a:noFill/>
          <a:ln/>
        </p:spPr>
        <p:txBody>
          <a:bodyPr wrap="square" lIns="0" tIns="0" rIns="0" bIns="0" rtlCol="0" anchor="t"/>
          <a:lstStyle/>
          <a:p>
            <a:pPr algn="l" indent="0" marL="0">
              <a:lnSpc>
                <a:spcPct val="115000"/>
              </a:lnSpc>
              <a:buNone/>
            </a:pPr>
            <a:r>
              <a:rPr lang="en-US" sz="1400" dirty="0">
                <a:solidFill>
                  <a:srgbClr val="FFFFFF"/>
                </a:solidFill>
                <a:latin typeface="Arial" pitchFamily="34" charset="0"/>
                <a:ea typeface="Arial" pitchFamily="34" charset="-122"/>
                <a:cs typeface="Arial" pitchFamily="34" charset="-120"/>
              </a:rPr>
              <a:t>Feedback sheets on the table on your way out. Subject line: ATO workshop feedback.</a:t>
            </a:r>
            <a:endParaRPr lang="en-US" sz="1400" dirty="0"/>
          </a:p>
        </p:txBody>
      </p:sp>
      <p:sp>
        <p:nvSpPr>
          <p:cNvPr id="14" name="Text 8"/>
          <p:cNvSpPr txBox="1"/>
          <p:nvPr/>
        </p:nvSpPr>
        <p:spPr>
          <a:xfrm>
            <a:off x="640080" y="5806440"/>
            <a:ext cx="10908792" cy="274320"/>
          </a:xfrm>
          <a:prstGeom prst="rect">
            <a:avLst/>
          </a:prstGeom>
          <a:noFill/>
          <a:ln/>
        </p:spPr>
        <p:txBody>
          <a:bodyPr wrap="square" lIns="0" tIns="0" rIns="0" bIns="0" rtlCol="0" anchor="t"/>
          <a:lstStyle/>
          <a:p>
            <a:pPr algn="l" indent="0" marL="0">
              <a:lnSpc>
                <a:spcPct val="115000"/>
              </a:lnSpc>
              <a:buNone/>
            </a:pPr>
            <a:r>
              <a:rPr lang="en-US" sz="1100" dirty="0">
                <a:solidFill>
                  <a:srgbClr val="D6DEEA"/>
                </a:solidFill>
                <a:latin typeface="Courier New" pitchFamily="34" charset="0"/>
                <a:ea typeface="Courier New" pitchFamily="34" charset="-122"/>
                <a:cs typeface="Courier New" pitchFamily="34" charset="-120"/>
              </a:rPr>
              <a:t>Slides and all course materials: github.com/mrhinkle/Vibe-Coding-for-Non-Technical-Professionals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Agents &amp; Vibe Coding: All Things Open 2026 Workshop</dc:title>
  <dc:subject>PptxGenJS Presentation</dc:subject>
  <dc:creator>Mark Hinkle</dc:creator>
  <cp:lastModifiedBy>Mark Hinkle</cp:lastModifiedBy>
  <cp:revision>1</cp:revision>
  <dcterms:created xsi:type="dcterms:W3CDTF">2026-10-16T03:00:16Z</dcterms:created>
  <dcterms:modified xsi:type="dcterms:W3CDTF">2026-10-16T03:00:16Z</dcterms:modified>
</cp:coreProperties>
</file>